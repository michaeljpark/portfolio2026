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embeddedFontLst>
    <p:embeddedFont>
      <p:font typeface="Helvetica World" charset="1" panose="020B0500040000020004"/>
      <p:regular r:id="rId40"/>
    </p:embeddedFont>
    <p:embeddedFont>
      <p:font typeface="Times New Roman" charset="1" panose="02020603050405020304"/>
      <p:regular r:id="rId41"/>
    </p:embeddedFont>
    <p:embeddedFont>
      <p:font typeface="Times New Roman Bold" charset="1" panose="020208030705050203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embeddings/oleObject1.bin" Type="http://schemas.openxmlformats.org/officeDocument/2006/relationships/oleObjec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embeddings/oleObject2.bin" Type="http://schemas.openxmlformats.org/officeDocument/2006/relationships/oleObjec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embeddings/oleObject3.bin" Type="http://schemas.openxmlformats.org/officeDocument/2006/relationships/oleObjec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8813165"/>
            <a:ext cx="6641406" cy="612140"/>
          </a:xfrm>
          <a:prstGeom prst="rect">
            <a:avLst/>
          </a:prstGeom>
        </p:spPr>
        <p:txBody>
          <a:bodyPr anchor="t" rtlCol="false" tIns="0" lIns="0" bIns="0" rIns="0">
            <a:spAutoFit/>
          </a:bodyPr>
          <a:lstStyle/>
          <a:p>
            <a:pPr algn="l">
              <a:lnSpc>
                <a:spcPts val="1599"/>
              </a:lnSpc>
            </a:pPr>
            <a:r>
              <a:rPr lang="en-US" sz="1599" spc="-47">
                <a:solidFill>
                  <a:srgbClr val="000000"/>
                </a:solidFill>
                <a:latin typeface="Helvetica World"/>
                <a:ea typeface="Helvetica World"/>
                <a:cs typeface="Helvetica World"/>
                <a:sym typeface="Helvetica World"/>
              </a:rPr>
              <a:t>Term Project Phase II </a:t>
            </a:r>
          </a:p>
          <a:p>
            <a:pPr algn="l">
              <a:lnSpc>
                <a:spcPts val="1599"/>
              </a:lnSpc>
            </a:pPr>
            <a:r>
              <a:rPr lang="en-US" sz="1599" spc="-47">
                <a:solidFill>
                  <a:srgbClr val="000000"/>
                </a:solidFill>
                <a:latin typeface="Helvetica World"/>
                <a:ea typeface="Helvetica World"/>
                <a:cs typeface="Helvetica World"/>
                <a:sym typeface="Helvetica World"/>
              </a:rPr>
              <a:t>New Value Creation and Consumption Models in Virtual Worlds</a:t>
            </a:r>
          </a:p>
          <a:p>
            <a:pPr algn="l">
              <a:lnSpc>
                <a:spcPts val="1599"/>
              </a:lnSpc>
            </a:pPr>
          </a:p>
        </p:txBody>
      </p:sp>
      <p:sp>
        <p:nvSpPr>
          <p:cNvPr name="TextBox 4" id="4"/>
          <p:cNvSpPr txBox="true"/>
          <p:nvPr/>
        </p:nvSpPr>
        <p:spPr>
          <a:xfrm rot="0">
            <a:off x="1028700" y="9286875"/>
            <a:ext cx="1023111" cy="212090"/>
          </a:xfrm>
          <a:prstGeom prst="rect">
            <a:avLst/>
          </a:prstGeom>
        </p:spPr>
        <p:txBody>
          <a:bodyPr anchor="t" rtlCol="false" tIns="0" lIns="0" bIns="0" rIns="0">
            <a:spAutoFit/>
          </a:bodyPr>
          <a:lstStyle/>
          <a:p>
            <a:pPr algn="just">
              <a:lnSpc>
                <a:spcPts val="1599"/>
              </a:lnSpc>
            </a:pPr>
            <a:r>
              <a:rPr lang="en-US" sz="1599" spc="-47">
                <a:solidFill>
                  <a:srgbClr val="000000">
                    <a:alpha val="49804"/>
                  </a:srgbClr>
                </a:solidFill>
                <a:latin typeface="Helvetica World"/>
                <a:ea typeface="Helvetica World"/>
                <a:cs typeface="Helvetica World"/>
                <a:sym typeface="Helvetica World"/>
              </a:rPr>
              <a:t>Group 14</a:t>
            </a:r>
          </a:p>
        </p:txBody>
      </p:sp>
      <p:sp>
        <p:nvSpPr>
          <p:cNvPr name="TextBox 5" id="5"/>
          <p:cNvSpPr txBox="true"/>
          <p:nvPr/>
        </p:nvSpPr>
        <p:spPr>
          <a:xfrm rot="0">
            <a:off x="9885981" y="5029399"/>
            <a:ext cx="7373319" cy="737870"/>
          </a:xfrm>
          <a:prstGeom prst="rect">
            <a:avLst/>
          </a:prstGeom>
        </p:spPr>
        <p:txBody>
          <a:bodyPr anchor="t" rtlCol="false" tIns="0" lIns="0" bIns="0" rIns="0">
            <a:spAutoFit/>
          </a:bodyPr>
          <a:lstStyle/>
          <a:p>
            <a:pPr algn="r">
              <a:lnSpc>
                <a:spcPts val="2799"/>
              </a:lnSpc>
            </a:pPr>
            <a:r>
              <a:rPr lang="en-US" sz="2799" spc="-83">
                <a:solidFill>
                  <a:srgbClr val="000000"/>
                </a:solidFill>
                <a:latin typeface="Times New Roman"/>
                <a:ea typeface="Times New Roman"/>
                <a:cs typeface="Times New Roman"/>
                <a:sym typeface="Times New Roman"/>
              </a:rPr>
              <a:t>From Data Ownership to Data Economy</a:t>
            </a:r>
          </a:p>
          <a:p>
            <a:pPr algn="r">
              <a:lnSpc>
                <a:spcPts val="2799"/>
              </a:lnSpc>
            </a:pPr>
            <a:r>
              <a:rPr lang="en-US" sz="2799" spc="-83">
                <a:solidFill>
                  <a:srgbClr val="000000"/>
                </a:solidFill>
                <a:latin typeface="Times New Roman"/>
                <a:ea typeface="Times New Roman"/>
                <a:cs typeface="Times New Roman"/>
                <a:sym typeface="Times New Roman"/>
              </a:rPr>
              <a:t>A Regulatory and Operational Blueprint for tokentrust</a:t>
            </a:r>
          </a:p>
        </p:txBody>
      </p:sp>
      <p:grpSp>
        <p:nvGrpSpPr>
          <p:cNvPr name="Group 6" id="6"/>
          <p:cNvGrpSpPr/>
          <p:nvPr/>
        </p:nvGrpSpPr>
        <p:grpSpPr>
          <a:xfrm rot="0">
            <a:off x="1028700" y="3452112"/>
            <a:ext cx="8082343" cy="2685707"/>
            <a:chOff x="0" y="0"/>
            <a:chExt cx="10776457" cy="3580942"/>
          </a:xfrm>
        </p:grpSpPr>
        <p:grpSp>
          <p:nvGrpSpPr>
            <p:cNvPr name="Group 7" id="7"/>
            <p:cNvGrpSpPr/>
            <p:nvPr/>
          </p:nvGrpSpPr>
          <p:grpSpPr>
            <a:xfrm rot="0">
              <a:off x="9173516" y="0"/>
              <a:ext cx="1602940" cy="1671814"/>
              <a:chOff x="0" y="0"/>
              <a:chExt cx="584874" cy="610004"/>
            </a:xfrm>
          </p:grpSpPr>
          <p:sp>
            <p:nvSpPr>
              <p:cNvPr name="Freeform 8" id="8"/>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solidFill>
            </p:spPr>
          </p:sp>
          <p:sp>
            <p:nvSpPr>
              <p:cNvPr name="TextBox 9" id="9"/>
              <p:cNvSpPr txBox="true"/>
              <p:nvPr/>
            </p:nvSpPr>
            <p:spPr>
              <a:xfrm>
                <a:off x="137617" y="172105"/>
                <a:ext cx="309639" cy="294368"/>
              </a:xfrm>
              <a:prstGeom prst="rect">
                <a:avLst/>
              </a:prstGeom>
            </p:spPr>
            <p:txBody>
              <a:bodyPr anchor="ctr" rtlCol="false" tIns="50800" lIns="50800" bIns="50800" rIns="50800"/>
              <a:lstStyle/>
              <a:p>
                <a:pPr algn="ctr">
                  <a:lnSpc>
                    <a:spcPts val="1599"/>
                  </a:lnSpc>
                </a:pPr>
              </a:p>
            </p:txBody>
          </p:sp>
        </p:grpSp>
        <p:sp>
          <p:nvSpPr>
            <p:cNvPr name="TextBox 10" id="10"/>
            <p:cNvSpPr txBox="true"/>
            <p:nvPr/>
          </p:nvSpPr>
          <p:spPr>
            <a:xfrm rot="0">
              <a:off x="0" y="943940"/>
              <a:ext cx="9601895" cy="2637003"/>
            </a:xfrm>
            <a:prstGeom prst="rect">
              <a:avLst/>
            </a:prstGeom>
          </p:spPr>
          <p:txBody>
            <a:bodyPr anchor="t" rtlCol="false" tIns="0" lIns="0" bIns="0" rIns="0">
              <a:spAutoFit/>
            </a:bodyPr>
            <a:lstStyle/>
            <a:p>
              <a:pPr algn="ctr">
                <a:lnSpc>
                  <a:spcPts val="14020"/>
                </a:lnSpc>
              </a:pPr>
              <a:r>
                <a:rPr lang="en-US" b="true" sz="14020" spc="-560">
                  <a:solidFill>
                    <a:srgbClr val="000000"/>
                  </a:solidFill>
                  <a:latin typeface="Times New Roman Bold"/>
                  <a:ea typeface="Times New Roman Bold"/>
                  <a:cs typeface="Times New Roman Bold"/>
                  <a:sym typeface="Times New Roman Bold"/>
                </a:rPr>
                <a:t>tokentrust</a:t>
              </a:r>
            </a:p>
          </p:txBody>
        </p:sp>
      </p:grpSp>
      <p:sp>
        <p:nvSpPr>
          <p:cNvPr name="AutoShape 11" id="11"/>
          <p:cNvSpPr/>
          <p:nvPr/>
        </p:nvSpPr>
        <p:spPr>
          <a:xfrm>
            <a:off x="1028700" y="7461204"/>
            <a:ext cx="16230600" cy="0"/>
          </a:xfrm>
          <a:prstGeom prst="line">
            <a:avLst/>
          </a:prstGeom>
          <a:ln cap="flat" w="9525">
            <a:solidFill>
              <a:srgbClr val="000000">
                <a:alpha val="49804"/>
              </a:srgbClr>
            </a:solidFill>
            <a:prstDash val="solid"/>
            <a:headEnd type="none" len="sm" w="sm"/>
            <a:tailEnd type="none" len="sm" w="sm"/>
          </a:ln>
        </p:spPr>
      </p:sp>
      <p:sp>
        <p:nvSpPr>
          <p:cNvPr name="TextBox 12" id="12"/>
          <p:cNvSpPr txBox="true"/>
          <p:nvPr/>
        </p:nvSpPr>
        <p:spPr>
          <a:xfrm rot="0">
            <a:off x="12833760" y="8775065"/>
            <a:ext cx="1427336" cy="723900"/>
          </a:xfrm>
          <a:prstGeom prst="rect">
            <a:avLst/>
          </a:prstGeom>
        </p:spPr>
        <p:txBody>
          <a:bodyPr anchor="t" rtlCol="false" tIns="0" lIns="0" bIns="0" rIns="0">
            <a:spAutoFit/>
          </a:bodyPr>
          <a:lstStyle/>
          <a:p>
            <a:pPr algn="l">
              <a:lnSpc>
                <a:spcPts val="1919"/>
              </a:lnSpc>
            </a:pPr>
            <a:r>
              <a:rPr lang="en-US" sz="1599" spc="-15">
                <a:solidFill>
                  <a:srgbClr val="000000">
                    <a:alpha val="49804"/>
                  </a:srgbClr>
                </a:solidFill>
                <a:latin typeface="Helvetica World"/>
                <a:ea typeface="Helvetica World"/>
                <a:cs typeface="Helvetica World"/>
                <a:sym typeface="Helvetica World"/>
              </a:rPr>
              <a:t>Jaehong Hwang</a:t>
            </a:r>
          </a:p>
          <a:p>
            <a:pPr algn="l">
              <a:lnSpc>
                <a:spcPts val="1919"/>
              </a:lnSpc>
            </a:pPr>
            <a:r>
              <a:rPr lang="en-US" sz="1599" spc="-15">
                <a:solidFill>
                  <a:srgbClr val="000000">
                    <a:alpha val="49804"/>
                  </a:srgbClr>
                </a:solidFill>
                <a:latin typeface="Helvetica World"/>
                <a:ea typeface="Helvetica World"/>
                <a:cs typeface="Helvetica World"/>
                <a:sym typeface="Helvetica World"/>
              </a:rPr>
              <a:t>Graphic Design</a:t>
            </a:r>
          </a:p>
          <a:p>
            <a:pPr algn="l">
              <a:lnSpc>
                <a:spcPts val="1919"/>
              </a:lnSpc>
            </a:pPr>
            <a:r>
              <a:rPr lang="en-US" sz="1599" spc="-15">
                <a:solidFill>
                  <a:srgbClr val="000000">
                    <a:alpha val="49804"/>
                  </a:srgbClr>
                </a:solidFill>
                <a:latin typeface="Helvetica World"/>
                <a:ea typeface="Helvetica World"/>
                <a:cs typeface="Helvetica World"/>
                <a:sym typeface="Helvetica World"/>
              </a:rPr>
              <a:t>#3191183</a:t>
            </a:r>
          </a:p>
        </p:txBody>
      </p:sp>
      <p:sp>
        <p:nvSpPr>
          <p:cNvPr name="TextBox 13" id="13"/>
          <p:cNvSpPr txBox="true"/>
          <p:nvPr/>
        </p:nvSpPr>
        <p:spPr>
          <a:xfrm rot="0">
            <a:off x="9144000" y="8775065"/>
            <a:ext cx="2051920" cy="723900"/>
          </a:xfrm>
          <a:prstGeom prst="rect">
            <a:avLst/>
          </a:prstGeom>
        </p:spPr>
        <p:txBody>
          <a:bodyPr anchor="t" rtlCol="false" tIns="0" lIns="0" bIns="0" rIns="0">
            <a:spAutoFit/>
          </a:bodyPr>
          <a:lstStyle/>
          <a:p>
            <a:pPr algn="l">
              <a:lnSpc>
                <a:spcPts val="1919"/>
              </a:lnSpc>
            </a:pPr>
            <a:r>
              <a:rPr lang="en-US" sz="1599" spc="-15">
                <a:solidFill>
                  <a:srgbClr val="000000">
                    <a:alpha val="49804"/>
                  </a:srgbClr>
                </a:solidFill>
                <a:latin typeface="Helvetica World"/>
                <a:ea typeface="Helvetica World"/>
                <a:cs typeface="Helvetica World"/>
                <a:sym typeface="Helvetica World"/>
              </a:rPr>
              <a:t>Michael Joongmin Park</a:t>
            </a:r>
          </a:p>
          <a:p>
            <a:pPr algn="l">
              <a:lnSpc>
                <a:spcPts val="1919"/>
              </a:lnSpc>
            </a:pPr>
            <a:r>
              <a:rPr lang="en-US" sz="1599" spc="-15">
                <a:solidFill>
                  <a:srgbClr val="000000">
                    <a:alpha val="49804"/>
                  </a:srgbClr>
                </a:solidFill>
                <a:latin typeface="Helvetica World"/>
                <a:ea typeface="Helvetica World"/>
                <a:cs typeface="Helvetica World"/>
                <a:sym typeface="Helvetica World"/>
              </a:rPr>
              <a:t>Industrial Design</a:t>
            </a:r>
          </a:p>
          <a:p>
            <a:pPr algn="l">
              <a:lnSpc>
                <a:spcPts val="1919"/>
              </a:lnSpc>
            </a:pPr>
            <a:r>
              <a:rPr lang="en-US" sz="1599" spc="-15">
                <a:solidFill>
                  <a:srgbClr val="000000">
                    <a:alpha val="49804"/>
                  </a:srgbClr>
                </a:solidFill>
                <a:latin typeface="Helvetica World"/>
                <a:ea typeface="Helvetica World"/>
                <a:cs typeface="Helvetica World"/>
                <a:sym typeface="Helvetica World"/>
              </a:rPr>
              <a:t>#3187413</a:t>
            </a:r>
          </a:p>
        </p:txBody>
      </p:sp>
      <p:sp>
        <p:nvSpPr>
          <p:cNvPr name="TextBox 14" id="14"/>
          <p:cNvSpPr txBox="true"/>
          <p:nvPr/>
        </p:nvSpPr>
        <p:spPr>
          <a:xfrm rot="0">
            <a:off x="15898937" y="8775065"/>
            <a:ext cx="1360363" cy="723900"/>
          </a:xfrm>
          <a:prstGeom prst="rect">
            <a:avLst/>
          </a:prstGeom>
        </p:spPr>
        <p:txBody>
          <a:bodyPr anchor="t" rtlCol="false" tIns="0" lIns="0" bIns="0" rIns="0">
            <a:spAutoFit/>
          </a:bodyPr>
          <a:lstStyle/>
          <a:p>
            <a:pPr algn="l">
              <a:lnSpc>
                <a:spcPts val="1919"/>
              </a:lnSpc>
            </a:pPr>
            <a:r>
              <a:rPr lang="en-US" sz="1599" spc="-15">
                <a:solidFill>
                  <a:srgbClr val="000000">
                    <a:alpha val="49804"/>
                  </a:srgbClr>
                </a:solidFill>
                <a:latin typeface="Helvetica World"/>
                <a:ea typeface="Helvetica World"/>
                <a:cs typeface="Helvetica World"/>
                <a:sym typeface="Helvetica World"/>
              </a:rPr>
              <a:t>Elsie Jang</a:t>
            </a:r>
          </a:p>
          <a:p>
            <a:pPr algn="l">
              <a:lnSpc>
                <a:spcPts val="1919"/>
              </a:lnSpc>
            </a:pPr>
            <a:r>
              <a:rPr lang="en-US" sz="1599" spc="-15">
                <a:solidFill>
                  <a:srgbClr val="000000">
                    <a:alpha val="49804"/>
                  </a:srgbClr>
                </a:solidFill>
                <a:latin typeface="Helvetica World"/>
                <a:ea typeface="Helvetica World"/>
                <a:cs typeface="Helvetica World"/>
                <a:sym typeface="Helvetica World"/>
              </a:rPr>
              <a:t>Graphic Design</a:t>
            </a:r>
          </a:p>
          <a:p>
            <a:pPr algn="l">
              <a:lnSpc>
                <a:spcPts val="1919"/>
              </a:lnSpc>
            </a:pPr>
            <a:r>
              <a:rPr lang="en-US" sz="1599" spc="-15">
                <a:solidFill>
                  <a:srgbClr val="000000">
                    <a:alpha val="49804"/>
                  </a:srgbClr>
                </a:solidFill>
                <a:latin typeface="Helvetica World"/>
                <a:ea typeface="Helvetica World"/>
                <a:cs typeface="Helvetica World"/>
                <a:sym typeface="Helvetica World"/>
              </a:rPr>
              <a:t>#3197476</a:t>
            </a:r>
          </a:p>
        </p:txBody>
      </p:sp>
      <p:sp>
        <p:nvSpPr>
          <p:cNvPr name="TextBox 15" id="15"/>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Table of Contents</a:t>
            </a:r>
          </a:p>
        </p:txBody>
      </p:sp>
      <p:sp>
        <p:nvSpPr>
          <p:cNvPr name="TextBox 4" id="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02</a:t>
            </a:r>
          </a:p>
        </p:txBody>
      </p:sp>
      <p:sp>
        <p:nvSpPr>
          <p:cNvPr name="AutoShape 5" id="5"/>
          <p:cNvSpPr/>
          <p:nvPr/>
        </p:nvSpPr>
        <p:spPr>
          <a:xfrm flipH="true">
            <a:off x="1028700" y="8225199"/>
            <a:ext cx="16230600" cy="0"/>
          </a:xfrm>
          <a:prstGeom prst="line">
            <a:avLst/>
          </a:prstGeom>
          <a:ln cap="rnd" w="19050">
            <a:solidFill>
              <a:srgbClr val="FFFFFF">
                <a:alpha val="29804"/>
              </a:srgbClr>
            </a:solidFill>
            <a:prstDash val="sysDash"/>
            <a:headEnd type="none" len="sm" w="sm"/>
            <a:tailEnd type="none" len="sm" w="sm"/>
          </a:ln>
        </p:spPr>
      </p:sp>
      <p:sp>
        <p:nvSpPr>
          <p:cNvPr name="TextBox 6" id="6"/>
          <p:cNvSpPr txBox="true"/>
          <p:nvPr/>
        </p:nvSpPr>
        <p:spPr>
          <a:xfrm rot="0">
            <a:off x="1028700" y="1390809"/>
            <a:ext cx="4575426" cy="542925"/>
          </a:xfrm>
          <a:prstGeom prst="rect">
            <a:avLst/>
          </a:prstGeom>
        </p:spPr>
        <p:txBody>
          <a:bodyPr anchor="t" rtlCol="false" tIns="0" lIns="0" bIns="0" rIns="0">
            <a:spAutoFit/>
          </a:bodyPr>
          <a:lstStyle/>
          <a:p>
            <a:pPr algn="l">
              <a:lnSpc>
                <a:spcPts val="4200"/>
              </a:lnSpc>
            </a:pPr>
            <a:r>
              <a:rPr lang="en-US" sz="3000" spc="-89">
                <a:solidFill>
                  <a:srgbClr val="000000"/>
                </a:solidFill>
                <a:latin typeface="Times New Roman"/>
                <a:ea typeface="Times New Roman"/>
                <a:cs typeface="Times New Roman"/>
                <a:sym typeface="Times New Roman"/>
              </a:rPr>
              <a:t>Introduction &amp; Background</a:t>
            </a:r>
          </a:p>
        </p:txBody>
      </p:sp>
      <p:sp>
        <p:nvSpPr>
          <p:cNvPr name="TextBox 7" id="7"/>
          <p:cNvSpPr txBox="true"/>
          <p:nvPr/>
        </p:nvSpPr>
        <p:spPr>
          <a:xfrm rot="0">
            <a:off x="1028700" y="1886109"/>
            <a:ext cx="4575426" cy="283210"/>
          </a:xfrm>
          <a:prstGeom prst="rect">
            <a:avLst/>
          </a:prstGeom>
        </p:spPr>
        <p:txBody>
          <a:bodyPr anchor="t" rtlCol="false" tIns="0" lIns="0" bIns="0" rIns="0">
            <a:spAutoFit/>
          </a:bodyPr>
          <a:lstStyle/>
          <a:p>
            <a:pPr algn="l">
              <a:lnSpc>
                <a:spcPts val="2239"/>
              </a:lnSpc>
            </a:pPr>
            <a:r>
              <a:rPr lang="en-US" sz="1599" spc="-47">
                <a:solidFill>
                  <a:srgbClr val="000000">
                    <a:alpha val="49804"/>
                  </a:srgbClr>
                </a:solidFill>
                <a:latin typeface="Times New Roman"/>
                <a:ea typeface="Times New Roman"/>
                <a:cs typeface="Times New Roman"/>
                <a:sym typeface="Times New Roman"/>
              </a:rPr>
              <a:t>Operational blueprint within C</a:t>
            </a:r>
            <a:r>
              <a:rPr lang="en-US" sz="1599" spc="-47">
                <a:solidFill>
                  <a:srgbClr val="000000">
                    <a:alpha val="49804"/>
                  </a:srgbClr>
                </a:solidFill>
                <a:latin typeface="Times New Roman"/>
                <a:ea typeface="Times New Roman"/>
                <a:cs typeface="Times New Roman"/>
                <a:sym typeface="Times New Roman"/>
              </a:rPr>
              <a:t>anada's regulatory framework</a:t>
            </a:r>
          </a:p>
        </p:txBody>
      </p:sp>
      <p:sp>
        <p:nvSpPr>
          <p:cNvPr name="TextBox 8" id="8"/>
          <p:cNvSpPr txBox="true"/>
          <p:nvPr/>
        </p:nvSpPr>
        <p:spPr>
          <a:xfrm rot="0">
            <a:off x="16238711" y="1390809"/>
            <a:ext cx="1020589" cy="542925"/>
          </a:xfrm>
          <a:prstGeom prst="rect">
            <a:avLst/>
          </a:prstGeom>
        </p:spPr>
        <p:txBody>
          <a:bodyPr anchor="t" rtlCol="false" tIns="0" lIns="0" bIns="0" rIns="0">
            <a:spAutoFit/>
          </a:bodyPr>
          <a:lstStyle/>
          <a:p>
            <a:pPr algn="r">
              <a:lnSpc>
                <a:spcPts val="4200"/>
              </a:lnSpc>
            </a:pPr>
            <a:r>
              <a:rPr lang="en-US" sz="3000" spc="-89">
                <a:solidFill>
                  <a:srgbClr val="000000">
                    <a:alpha val="49804"/>
                  </a:srgbClr>
                </a:solidFill>
                <a:latin typeface="Times New Roman"/>
                <a:ea typeface="Times New Roman"/>
                <a:cs typeface="Times New Roman"/>
                <a:sym typeface="Times New Roman"/>
              </a:rPr>
              <a:t>03-07</a:t>
            </a:r>
          </a:p>
        </p:txBody>
      </p:sp>
      <p:sp>
        <p:nvSpPr>
          <p:cNvPr name="TextBox 9" id="9"/>
          <p:cNvSpPr txBox="true"/>
          <p:nvPr/>
        </p:nvSpPr>
        <p:spPr>
          <a:xfrm rot="0">
            <a:off x="13517166" y="7563733"/>
            <a:ext cx="3742134" cy="542925"/>
          </a:xfrm>
          <a:prstGeom prst="rect">
            <a:avLst/>
          </a:prstGeom>
        </p:spPr>
        <p:txBody>
          <a:bodyPr anchor="t" rtlCol="false" tIns="0" lIns="0" bIns="0" rIns="0">
            <a:spAutoFit/>
          </a:bodyPr>
          <a:lstStyle/>
          <a:p>
            <a:pPr algn="r">
              <a:lnSpc>
                <a:spcPts val="4200"/>
              </a:lnSpc>
            </a:pPr>
            <a:r>
              <a:rPr lang="en-US" sz="3000" spc="-89">
                <a:solidFill>
                  <a:srgbClr val="000000"/>
                </a:solidFill>
                <a:latin typeface="Times New Roman"/>
                <a:ea typeface="Times New Roman"/>
                <a:cs typeface="Times New Roman"/>
                <a:sym typeface="Times New Roman"/>
              </a:rPr>
              <a:t>Conclusi</a:t>
            </a:r>
            <a:r>
              <a:rPr lang="en-US" sz="3000" spc="-89">
                <a:solidFill>
                  <a:srgbClr val="000000"/>
                </a:solidFill>
                <a:latin typeface="Times New Roman"/>
                <a:ea typeface="Times New Roman"/>
                <a:cs typeface="Times New Roman"/>
                <a:sym typeface="Times New Roman"/>
              </a:rPr>
              <a:t>on &amp; Wayfinding</a:t>
            </a:r>
          </a:p>
        </p:txBody>
      </p:sp>
      <p:sp>
        <p:nvSpPr>
          <p:cNvPr name="TextBox 10" id="10"/>
          <p:cNvSpPr txBox="true"/>
          <p:nvPr/>
        </p:nvSpPr>
        <p:spPr>
          <a:xfrm rot="0">
            <a:off x="1030486" y="7559310"/>
            <a:ext cx="1085701" cy="542925"/>
          </a:xfrm>
          <a:prstGeom prst="rect">
            <a:avLst/>
          </a:prstGeom>
        </p:spPr>
        <p:txBody>
          <a:bodyPr anchor="t" rtlCol="false" tIns="0" lIns="0" bIns="0" rIns="0">
            <a:spAutoFit/>
          </a:bodyPr>
          <a:lstStyle/>
          <a:p>
            <a:pPr algn="l">
              <a:lnSpc>
                <a:spcPts val="4200"/>
              </a:lnSpc>
            </a:pPr>
            <a:r>
              <a:rPr lang="en-US" sz="3000" spc="-89">
                <a:solidFill>
                  <a:srgbClr val="000000">
                    <a:alpha val="49804"/>
                  </a:srgbClr>
                </a:solidFill>
                <a:latin typeface="Times New Roman"/>
                <a:ea typeface="Times New Roman"/>
                <a:cs typeface="Times New Roman"/>
                <a:sym typeface="Times New Roman"/>
              </a:rPr>
              <a:t>32-33</a:t>
            </a:r>
          </a:p>
        </p:txBody>
      </p:sp>
      <p:sp>
        <p:nvSpPr>
          <p:cNvPr name="TextBox 11" id="11"/>
          <p:cNvSpPr txBox="true"/>
          <p:nvPr/>
        </p:nvSpPr>
        <p:spPr>
          <a:xfrm rot="0">
            <a:off x="1028700" y="8258016"/>
            <a:ext cx="2025551" cy="542925"/>
          </a:xfrm>
          <a:prstGeom prst="rect">
            <a:avLst/>
          </a:prstGeom>
        </p:spPr>
        <p:txBody>
          <a:bodyPr anchor="t" rtlCol="false" tIns="0" lIns="0" bIns="0" rIns="0">
            <a:spAutoFit/>
          </a:bodyPr>
          <a:lstStyle/>
          <a:p>
            <a:pPr algn="l">
              <a:lnSpc>
                <a:spcPts val="4200"/>
              </a:lnSpc>
            </a:pPr>
            <a:r>
              <a:rPr lang="en-US" sz="3000" spc="-89">
                <a:solidFill>
                  <a:srgbClr val="000000"/>
                </a:solidFill>
                <a:latin typeface="Times New Roman"/>
                <a:ea typeface="Times New Roman"/>
                <a:cs typeface="Times New Roman"/>
                <a:sym typeface="Times New Roman"/>
              </a:rPr>
              <a:t>Works Cited</a:t>
            </a:r>
          </a:p>
        </p:txBody>
      </p:sp>
      <p:sp>
        <p:nvSpPr>
          <p:cNvPr name="TextBox 12" id="12"/>
          <p:cNvSpPr txBox="true"/>
          <p:nvPr/>
        </p:nvSpPr>
        <p:spPr>
          <a:xfrm rot="0">
            <a:off x="16171813" y="8267541"/>
            <a:ext cx="1085701" cy="542925"/>
          </a:xfrm>
          <a:prstGeom prst="rect">
            <a:avLst/>
          </a:prstGeom>
        </p:spPr>
        <p:txBody>
          <a:bodyPr anchor="t" rtlCol="false" tIns="0" lIns="0" bIns="0" rIns="0">
            <a:spAutoFit/>
          </a:bodyPr>
          <a:lstStyle/>
          <a:p>
            <a:pPr algn="r">
              <a:lnSpc>
                <a:spcPts val="4200"/>
              </a:lnSpc>
            </a:pPr>
            <a:r>
              <a:rPr lang="en-US" sz="3000" spc="-89">
                <a:solidFill>
                  <a:srgbClr val="000000">
                    <a:alpha val="49804"/>
                  </a:srgbClr>
                </a:solidFill>
                <a:latin typeface="Times New Roman"/>
                <a:ea typeface="Times New Roman"/>
                <a:cs typeface="Times New Roman"/>
                <a:sym typeface="Times New Roman"/>
              </a:rPr>
              <a:t>34</a:t>
            </a:r>
          </a:p>
        </p:txBody>
      </p:sp>
      <p:sp>
        <p:nvSpPr>
          <p:cNvPr name="AutoShape 13" id="13"/>
          <p:cNvSpPr/>
          <p:nvPr/>
        </p:nvSpPr>
        <p:spPr>
          <a:xfrm flipH="true">
            <a:off x="1028700" y="8234724"/>
            <a:ext cx="16230600" cy="0"/>
          </a:xfrm>
          <a:prstGeom prst="line">
            <a:avLst/>
          </a:prstGeom>
          <a:ln cap="rnd" w="19050">
            <a:solidFill>
              <a:srgbClr val="B2B2B2">
                <a:alpha val="29804"/>
              </a:srgbClr>
            </a:solidFill>
            <a:prstDash val="sysDash"/>
            <a:headEnd type="none" len="sm" w="sm"/>
            <a:tailEnd type="none" len="sm" w="sm"/>
          </a:ln>
        </p:spPr>
      </p:sp>
      <p:sp>
        <p:nvSpPr>
          <p:cNvPr name="TextBox 14" id="14"/>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
        <p:nvSpPr>
          <p:cNvPr name="AutoShape 15" id="15"/>
          <p:cNvSpPr/>
          <p:nvPr/>
        </p:nvSpPr>
        <p:spPr>
          <a:xfrm flipH="true">
            <a:off x="1028700" y="5500526"/>
            <a:ext cx="16230600" cy="0"/>
          </a:xfrm>
          <a:prstGeom prst="line">
            <a:avLst/>
          </a:prstGeom>
          <a:ln cap="rnd" w="19050">
            <a:solidFill>
              <a:srgbClr val="FFFFFF">
                <a:alpha val="29804"/>
              </a:srgbClr>
            </a:solidFill>
            <a:prstDash val="sysDash"/>
            <a:headEnd type="none" len="sm" w="sm"/>
            <a:tailEnd type="none" len="sm" w="sm"/>
          </a:ln>
        </p:spPr>
      </p:sp>
      <p:sp>
        <p:nvSpPr>
          <p:cNvPr name="AutoShape 16" id="16"/>
          <p:cNvSpPr/>
          <p:nvPr/>
        </p:nvSpPr>
        <p:spPr>
          <a:xfrm flipH="true">
            <a:off x="1028700" y="2421211"/>
            <a:ext cx="16230600" cy="0"/>
          </a:xfrm>
          <a:prstGeom prst="line">
            <a:avLst/>
          </a:prstGeom>
          <a:ln cap="rnd" w="19050">
            <a:solidFill>
              <a:srgbClr val="FFFFFF">
                <a:alpha val="29804"/>
              </a:srgbClr>
            </a:solidFill>
            <a:prstDash val="sysDash"/>
            <a:headEnd type="none" len="sm" w="sm"/>
            <a:tailEnd type="none" len="sm" w="sm"/>
          </a:ln>
        </p:spPr>
      </p:sp>
      <p:sp>
        <p:nvSpPr>
          <p:cNvPr name="TextBox 17" id="17"/>
          <p:cNvSpPr txBox="true"/>
          <p:nvPr/>
        </p:nvSpPr>
        <p:spPr>
          <a:xfrm rot="0">
            <a:off x="1028700" y="2454027"/>
            <a:ext cx="4365054" cy="542925"/>
          </a:xfrm>
          <a:prstGeom prst="rect">
            <a:avLst/>
          </a:prstGeom>
        </p:spPr>
        <p:txBody>
          <a:bodyPr anchor="t" rtlCol="false" tIns="0" lIns="0" bIns="0" rIns="0">
            <a:spAutoFit/>
          </a:bodyPr>
          <a:lstStyle/>
          <a:p>
            <a:pPr algn="l">
              <a:lnSpc>
                <a:spcPts val="4200"/>
              </a:lnSpc>
            </a:pPr>
            <a:r>
              <a:rPr lang="en-US" sz="3000" spc="-89">
                <a:solidFill>
                  <a:srgbClr val="000000"/>
                </a:solidFill>
                <a:latin typeface="Times New Roman"/>
                <a:ea typeface="Times New Roman"/>
                <a:cs typeface="Times New Roman"/>
                <a:sym typeface="Times New Roman"/>
              </a:rPr>
              <a:t>Value Axis I: Data Traceability</a:t>
            </a:r>
          </a:p>
        </p:txBody>
      </p:sp>
      <p:sp>
        <p:nvSpPr>
          <p:cNvPr name="TextBox 18" id="18"/>
          <p:cNvSpPr txBox="true"/>
          <p:nvPr/>
        </p:nvSpPr>
        <p:spPr>
          <a:xfrm rot="0">
            <a:off x="1028700" y="3423026"/>
            <a:ext cx="5600923" cy="542925"/>
          </a:xfrm>
          <a:prstGeom prst="rect">
            <a:avLst/>
          </a:prstGeom>
        </p:spPr>
        <p:txBody>
          <a:bodyPr anchor="t" rtlCol="false" tIns="0" lIns="0" bIns="0" rIns="0">
            <a:spAutoFit/>
          </a:bodyPr>
          <a:lstStyle/>
          <a:p>
            <a:pPr algn="just">
              <a:lnSpc>
                <a:spcPts val="4200"/>
              </a:lnSpc>
            </a:pPr>
            <a:r>
              <a:rPr lang="en-US" sz="3000" spc="-89">
                <a:solidFill>
                  <a:srgbClr val="000000"/>
                </a:solidFill>
                <a:latin typeface="Times New Roman"/>
                <a:ea typeface="Times New Roman"/>
                <a:cs typeface="Times New Roman"/>
                <a:sym typeface="Times New Roman"/>
              </a:rPr>
              <a:t>Value Axis II &amp; III: Value Manag</a:t>
            </a:r>
            <a:r>
              <a:rPr lang="en-US" sz="3000" spc="-89">
                <a:solidFill>
                  <a:srgbClr val="000000"/>
                </a:solidFill>
                <a:latin typeface="Times New Roman"/>
                <a:ea typeface="Times New Roman"/>
                <a:cs typeface="Times New Roman"/>
                <a:sym typeface="Times New Roman"/>
              </a:rPr>
              <a:t>ement</a:t>
            </a:r>
          </a:p>
        </p:txBody>
      </p:sp>
      <p:sp>
        <p:nvSpPr>
          <p:cNvPr name="TextBox 19" id="19"/>
          <p:cNvSpPr txBox="true"/>
          <p:nvPr/>
        </p:nvSpPr>
        <p:spPr>
          <a:xfrm rot="0">
            <a:off x="1028700" y="4392025"/>
            <a:ext cx="4916612" cy="542925"/>
          </a:xfrm>
          <a:prstGeom prst="rect">
            <a:avLst/>
          </a:prstGeom>
        </p:spPr>
        <p:txBody>
          <a:bodyPr anchor="t" rtlCol="false" tIns="0" lIns="0" bIns="0" rIns="0">
            <a:spAutoFit/>
          </a:bodyPr>
          <a:lstStyle/>
          <a:p>
            <a:pPr algn="just">
              <a:lnSpc>
                <a:spcPts val="4200"/>
              </a:lnSpc>
            </a:pPr>
            <a:r>
              <a:rPr lang="en-US" sz="3000" spc="-89">
                <a:solidFill>
                  <a:srgbClr val="000000"/>
                </a:solidFill>
                <a:latin typeface="Times New Roman"/>
                <a:ea typeface="Times New Roman"/>
                <a:cs typeface="Times New Roman"/>
                <a:sym typeface="Times New Roman"/>
              </a:rPr>
              <a:t>Valu</a:t>
            </a:r>
            <a:r>
              <a:rPr lang="en-US" sz="3000" spc="-89">
                <a:solidFill>
                  <a:srgbClr val="000000"/>
                </a:solidFill>
                <a:latin typeface="Times New Roman"/>
                <a:ea typeface="Times New Roman"/>
                <a:cs typeface="Times New Roman"/>
                <a:sym typeface="Times New Roman"/>
              </a:rPr>
              <a:t>e Axis IV: Holistic Regulation</a:t>
            </a:r>
          </a:p>
        </p:txBody>
      </p:sp>
      <p:sp>
        <p:nvSpPr>
          <p:cNvPr name="TextBox 20" id="20"/>
          <p:cNvSpPr txBox="true"/>
          <p:nvPr/>
        </p:nvSpPr>
        <p:spPr>
          <a:xfrm rot="0">
            <a:off x="1028700" y="2949327"/>
            <a:ext cx="4044330" cy="283210"/>
          </a:xfrm>
          <a:prstGeom prst="rect">
            <a:avLst/>
          </a:prstGeom>
        </p:spPr>
        <p:txBody>
          <a:bodyPr anchor="t" rtlCol="false" tIns="0" lIns="0" bIns="0" rIns="0">
            <a:spAutoFit/>
          </a:bodyPr>
          <a:lstStyle/>
          <a:p>
            <a:pPr algn="just">
              <a:lnSpc>
                <a:spcPts val="2239"/>
              </a:lnSpc>
            </a:pPr>
            <a:r>
              <a:rPr lang="en-US" sz="1599" spc="-47">
                <a:solidFill>
                  <a:srgbClr val="000000">
                    <a:alpha val="49804"/>
                  </a:srgbClr>
                </a:solidFill>
                <a:latin typeface="Times New Roman"/>
                <a:ea typeface="Times New Roman"/>
                <a:cs typeface="Times New Roman"/>
                <a:sym typeface="Times New Roman"/>
              </a:rPr>
              <a:t>Estab</a:t>
            </a:r>
            <a:r>
              <a:rPr lang="en-US" sz="1599" spc="-47">
                <a:solidFill>
                  <a:srgbClr val="000000">
                    <a:alpha val="49804"/>
                  </a:srgbClr>
                </a:solidFill>
                <a:latin typeface="Times New Roman"/>
                <a:ea typeface="Times New Roman"/>
                <a:cs typeface="Times New Roman"/>
                <a:sym typeface="Times New Roman"/>
              </a:rPr>
              <a:t>lishing measurable data worthiness and tracking</a:t>
            </a:r>
          </a:p>
        </p:txBody>
      </p:sp>
      <p:sp>
        <p:nvSpPr>
          <p:cNvPr name="TextBox 21" id="21"/>
          <p:cNvSpPr txBox="true"/>
          <p:nvPr/>
        </p:nvSpPr>
        <p:spPr>
          <a:xfrm rot="0">
            <a:off x="1028700" y="3918326"/>
            <a:ext cx="3573438" cy="283210"/>
          </a:xfrm>
          <a:prstGeom prst="rect">
            <a:avLst/>
          </a:prstGeom>
        </p:spPr>
        <p:txBody>
          <a:bodyPr anchor="t" rtlCol="false" tIns="0" lIns="0" bIns="0" rIns="0">
            <a:spAutoFit/>
          </a:bodyPr>
          <a:lstStyle/>
          <a:p>
            <a:pPr algn="l">
              <a:lnSpc>
                <a:spcPts val="2239"/>
              </a:lnSpc>
            </a:pPr>
            <a:r>
              <a:rPr lang="en-US" sz="1599" spc="-47">
                <a:solidFill>
                  <a:srgbClr val="000000">
                    <a:alpha val="49804"/>
                  </a:srgbClr>
                </a:solidFill>
                <a:latin typeface="Times New Roman"/>
                <a:ea typeface="Times New Roman"/>
                <a:cs typeface="Times New Roman"/>
                <a:sym typeface="Times New Roman"/>
              </a:rPr>
              <a:t>Circul</a:t>
            </a:r>
            <a:r>
              <a:rPr lang="en-US" sz="1599" spc="-47">
                <a:solidFill>
                  <a:srgbClr val="000000">
                    <a:alpha val="49804"/>
                  </a:srgbClr>
                </a:solidFill>
                <a:latin typeface="Times New Roman"/>
                <a:ea typeface="Times New Roman"/>
                <a:cs typeface="Times New Roman"/>
                <a:sym typeface="Times New Roman"/>
              </a:rPr>
              <a:t>ar token economy and unified value flow</a:t>
            </a:r>
          </a:p>
        </p:txBody>
      </p:sp>
      <p:sp>
        <p:nvSpPr>
          <p:cNvPr name="TextBox 22" id="22"/>
          <p:cNvSpPr txBox="true"/>
          <p:nvPr/>
        </p:nvSpPr>
        <p:spPr>
          <a:xfrm rot="0">
            <a:off x="1028700" y="4896850"/>
            <a:ext cx="3987924" cy="283210"/>
          </a:xfrm>
          <a:prstGeom prst="rect">
            <a:avLst/>
          </a:prstGeom>
        </p:spPr>
        <p:txBody>
          <a:bodyPr anchor="t" rtlCol="false" tIns="0" lIns="0" bIns="0" rIns="0">
            <a:spAutoFit/>
          </a:bodyPr>
          <a:lstStyle/>
          <a:p>
            <a:pPr algn="l">
              <a:lnSpc>
                <a:spcPts val="2239"/>
              </a:lnSpc>
            </a:pPr>
            <a:r>
              <a:rPr lang="en-US" sz="1599" spc="-47">
                <a:solidFill>
                  <a:srgbClr val="000000">
                    <a:alpha val="49804"/>
                  </a:srgbClr>
                </a:solidFill>
                <a:latin typeface="Times New Roman"/>
                <a:ea typeface="Times New Roman"/>
                <a:cs typeface="Times New Roman"/>
                <a:sym typeface="Times New Roman"/>
              </a:rPr>
              <a:t>R</a:t>
            </a:r>
            <a:r>
              <a:rPr lang="en-US" sz="1599" spc="-47">
                <a:solidFill>
                  <a:srgbClr val="000000">
                    <a:alpha val="49804"/>
                  </a:srgbClr>
                </a:solidFill>
                <a:latin typeface="Times New Roman"/>
                <a:ea typeface="Times New Roman"/>
                <a:cs typeface="Times New Roman"/>
                <a:sym typeface="Times New Roman"/>
              </a:rPr>
              <a:t>eframing compliance as foundational infrastructure</a:t>
            </a:r>
          </a:p>
        </p:txBody>
      </p:sp>
      <p:sp>
        <p:nvSpPr>
          <p:cNvPr name="TextBox 23" id="23"/>
          <p:cNvSpPr txBox="true"/>
          <p:nvPr/>
        </p:nvSpPr>
        <p:spPr>
          <a:xfrm rot="0">
            <a:off x="16173599" y="2454027"/>
            <a:ext cx="1085701" cy="542925"/>
          </a:xfrm>
          <a:prstGeom prst="rect">
            <a:avLst/>
          </a:prstGeom>
        </p:spPr>
        <p:txBody>
          <a:bodyPr anchor="t" rtlCol="false" tIns="0" lIns="0" bIns="0" rIns="0">
            <a:spAutoFit/>
          </a:bodyPr>
          <a:lstStyle/>
          <a:p>
            <a:pPr algn="r">
              <a:lnSpc>
                <a:spcPts val="4200"/>
              </a:lnSpc>
            </a:pPr>
            <a:r>
              <a:rPr lang="en-US" sz="3000" spc="-89">
                <a:solidFill>
                  <a:srgbClr val="000000">
                    <a:alpha val="49804"/>
                  </a:srgbClr>
                </a:solidFill>
                <a:latin typeface="Times New Roman"/>
                <a:ea typeface="Times New Roman"/>
                <a:cs typeface="Times New Roman"/>
                <a:sym typeface="Times New Roman"/>
              </a:rPr>
              <a:t>08</a:t>
            </a:r>
            <a:r>
              <a:rPr lang="en-US" sz="3000" spc="-89">
                <a:solidFill>
                  <a:srgbClr val="000000">
                    <a:alpha val="49804"/>
                  </a:srgbClr>
                </a:solidFill>
                <a:latin typeface="Times New Roman"/>
                <a:ea typeface="Times New Roman"/>
                <a:cs typeface="Times New Roman"/>
                <a:sym typeface="Times New Roman"/>
              </a:rPr>
              <a:t>-10</a:t>
            </a:r>
          </a:p>
        </p:txBody>
      </p:sp>
      <p:sp>
        <p:nvSpPr>
          <p:cNvPr name="TextBox 24" id="24"/>
          <p:cNvSpPr txBox="true"/>
          <p:nvPr/>
        </p:nvSpPr>
        <p:spPr>
          <a:xfrm rot="0">
            <a:off x="16172706" y="3425577"/>
            <a:ext cx="1085701" cy="542925"/>
          </a:xfrm>
          <a:prstGeom prst="rect">
            <a:avLst/>
          </a:prstGeom>
        </p:spPr>
        <p:txBody>
          <a:bodyPr anchor="t" rtlCol="false" tIns="0" lIns="0" bIns="0" rIns="0">
            <a:spAutoFit/>
          </a:bodyPr>
          <a:lstStyle/>
          <a:p>
            <a:pPr algn="r">
              <a:lnSpc>
                <a:spcPts val="4200"/>
              </a:lnSpc>
            </a:pPr>
            <a:r>
              <a:rPr lang="en-US" sz="3000" spc="-89">
                <a:solidFill>
                  <a:srgbClr val="000000">
                    <a:alpha val="49804"/>
                  </a:srgbClr>
                </a:solidFill>
                <a:latin typeface="Times New Roman"/>
                <a:ea typeface="Times New Roman"/>
                <a:cs typeface="Times New Roman"/>
                <a:sym typeface="Times New Roman"/>
              </a:rPr>
              <a:t>11</a:t>
            </a:r>
            <a:r>
              <a:rPr lang="en-US" sz="3000" spc="-89">
                <a:solidFill>
                  <a:srgbClr val="000000">
                    <a:alpha val="49804"/>
                  </a:srgbClr>
                </a:solidFill>
                <a:latin typeface="Times New Roman"/>
                <a:ea typeface="Times New Roman"/>
                <a:cs typeface="Times New Roman"/>
                <a:sym typeface="Times New Roman"/>
              </a:rPr>
              <a:t>-14</a:t>
            </a:r>
          </a:p>
        </p:txBody>
      </p:sp>
      <p:sp>
        <p:nvSpPr>
          <p:cNvPr name="TextBox 25" id="25"/>
          <p:cNvSpPr txBox="true"/>
          <p:nvPr/>
        </p:nvSpPr>
        <p:spPr>
          <a:xfrm rot="0">
            <a:off x="16171813" y="4397127"/>
            <a:ext cx="1085701" cy="1609725"/>
          </a:xfrm>
          <a:prstGeom prst="rect">
            <a:avLst/>
          </a:prstGeom>
        </p:spPr>
        <p:txBody>
          <a:bodyPr anchor="t" rtlCol="false" tIns="0" lIns="0" bIns="0" rIns="0">
            <a:spAutoFit/>
          </a:bodyPr>
          <a:lstStyle/>
          <a:p>
            <a:pPr algn="r">
              <a:lnSpc>
                <a:spcPts val="4200"/>
              </a:lnSpc>
            </a:pPr>
            <a:r>
              <a:rPr lang="en-US" sz="3000" spc="-89">
                <a:solidFill>
                  <a:srgbClr val="000000">
                    <a:alpha val="49804"/>
                  </a:srgbClr>
                </a:solidFill>
                <a:latin typeface="Times New Roman"/>
                <a:ea typeface="Times New Roman"/>
                <a:cs typeface="Times New Roman"/>
                <a:sym typeface="Times New Roman"/>
              </a:rPr>
              <a:t>15-17</a:t>
            </a:r>
          </a:p>
          <a:p>
            <a:pPr algn="r">
              <a:lnSpc>
                <a:spcPts val="4200"/>
              </a:lnSpc>
            </a:pPr>
          </a:p>
          <a:p>
            <a:pPr algn="r">
              <a:lnSpc>
                <a:spcPts val="4200"/>
              </a:lnSpc>
            </a:pPr>
          </a:p>
        </p:txBody>
      </p:sp>
      <p:sp>
        <p:nvSpPr>
          <p:cNvPr name="TextBox 26" id="26"/>
          <p:cNvSpPr txBox="true"/>
          <p:nvPr/>
        </p:nvSpPr>
        <p:spPr>
          <a:xfrm rot="0">
            <a:off x="14544005" y="5625735"/>
            <a:ext cx="2715295" cy="542925"/>
          </a:xfrm>
          <a:prstGeom prst="rect">
            <a:avLst/>
          </a:prstGeom>
        </p:spPr>
        <p:txBody>
          <a:bodyPr anchor="t" rtlCol="false" tIns="0" lIns="0" bIns="0" rIns="0">
            <a:spAutoFit/>
          </a:bodyPr>
          <a:lstStyle/>
          <a:p>
            <a:pPr algn="r">
              <a:lnSpc>
                <a:spcPts val="4200"/>
              </a:lnSpc>
            </a:pPr>
            <a:r>
              <a:rPr lang="en-US" sz="3000" spc="-89">
                <a:solidFill>
                  <a:srgbClr val="000000"/>
                </a:solidFill>
                <a:latin typeface="Times New Roman"/>
                <a:ea typeface="Times New Roman"/>
                <a:cs typeface="Times New Roman"/>
                <a:sym typeface="Times New Roman"/>
              </a:rPr>
              <a:t>Strategic </a:t>
            </a:r>
            <a:r>
              <a:rPr lang="en-US" sz="3000" spc="-89">
                <a:solidFill>
                  <a:srgbClr val="000000"/>
                </a:solidFill>
                <a:latin typeface="Times New Roman"/>
                <a:ea typeface="Times New Roman"/>
                <a:cs typeface="Times New Roman"/>
                <a:sym typeface="Times New Roman"/>
              </a:rPr>
              <a:t>Roadmap</a:t>
            </a:r>
          </a:p>
        </p:txBody>
      </p:sp>
      <p:sp>
        <p:nvSpPr>
          <p:cNvPr name="TextBox 27" id="27"/>
          <p:cNvSpPr txBox="true"/>
          <p:nvPr/>
        </p:nvSpPr>
        <p:spPr>
          <a:xfrm rot="0">
            <a:off x="12334280" y="6594734"/>
            <a:ext cx="4925020" cy="542925"/>
          </a:xfrm>
          <a:prstGeom prst="rect">
            <a:avLst/>
          </a:prstGeom>
        </p:spPr>
        <p:txBody>
          <a:bodyPr anchor="t" rtlCol="false" tIns="0" lIns="0" bIns="0" rIns="0">
            <a:spAutoFit/>
          </a:bodyPr>
          <a:lstStyle/>
          <a:p>
            <a:pPr algn="r">
              <a:lnSpc>
                <a:spcPts val="4200"/>
              </a:lnSpc>
            </a:pPr>
            <a:r>
              <a:rPr lang="en-US" sz="3000" spc="-89">
                <a:solidFill>
                  <a:srgbClr val="000000"/>
                </a:solidFill>
                <a:latin typeface="Times New Roman"/>
                <a:ea typeface="Times New Roman"/>
                <a:cs typeface="Times New Roman"/>
                <a:sym typeface="Times New Roman"/>
              </a:rPr>
              <a:t>Governan</a:t>
            </a:r>
            <a:r>
              <a:rPr lang="en-US" sz="3000" spc="-89">
                <a:solidFill>
                  <a:srgbClr val="000000"/>
                </a:solidFill>
                <a:latin typeface="Times New Roman"/>
                <a:ea typeface="Times New Roman"/>
                <a:cs typeface="Times New Roman"/>
                <a:sym typeface="Times New Roman"/>
              </a:rPr>
              <a:t>ce &amp; Stakeholder Matrix</a:t>
            </a:r>
          </a:p>
        </p:txBody>
      </p:sp>
      <p:sp>
        <p:nvSpPr>
          <p:cNvPr name="TextBox 28" id="28"/>
          <p:cNvSpPr txBox="true"/>
          <p:nvPr/>
        </p:nvSpPr>
        <p:spPr>
          <a:xfrm rot="0">
            <a:off x="13354943" y="6121035"/>
            <a:ext cx="3904357" cy="283210"/>
          </a:xfrm>
          <a:prstGeom prst="rect">
            <a:avLst/>
          </a:prstGeom>
        </p:spPr>
        <p:txBody>
          <a:bodyPr anchor="t" rtlCol="false" tIns="0" lIns="0" bIns="0" rIns="0">
            <a:spAutoFit/>
          </a:bodyPr>
          <a:lstStyle/>
          <a:p>
            <a:pPr algn="r">
              <a:lnSpc>
                <a:spcPts val="2239"/>
              </a:lnSpc>
            </a:pPr>
            <a:r>
              <a:rPr lang="en-US" sz="1599" spc="-47">
                <a:solidFill>
                  <a:srgbClr val="000000">
                    <a:alpha val="49804"/>
                  </a:srgbClr>
                </a:solidFill>
                <a:latin typeface="Times New Roman"/>
                <a:ea typeface="Times New Roman"/>
                <a:cs typeface="Times New Roman"/>
                <a:sym typeface="Times New Roman"/>
              </a:rPr>
              <a:t>Phas</a:t>
            </a:r>
            <a:r>
              <a:rPr lang="en-US" sz="1599" spc="-47">
                <a:solidFill>
                  <a:srgbClr val="000000">
                    <a:alpha val="49804"/>
                  </a:srgbClr>
                </a:solidFill>
                <a:latin typeface="Times New Roman"/>
                <a:ea typeface="Times New Roman"/>
                <a:cs typeface="Times New Roman"/>
                <a:sym typeface="Times New Roman"/>
              </a:rPr>
              <a:t>ed governance expansion across three horizons</a:t>
            </a:r>
          </a:p>
        </p:txBody>
      </p:sp>
      <p:sp>
        <p:nvSpPr>
          <p:cNvPr name="TextBox 29" id="29"/>
          <p:cNvSpPr txBox="true"/>
          <p:nvPr/>
        </p:nvSpPr>
        <p:spPr>
          <a:xfrm rot="0">
            <a:off x="11489978" y="7083060"/>
            <a:ext cx="5767536" cy="283210"/>
          </a:xfrm>
          <a:prstGeom prst="rect">
            <a:avLst/>
          </a:prstGeom>
        </p:spPr>
        <p:txBody>
          <a:bodyPr anchor="t" rtlCol="false" tIns="0" lIns="0" bIns="0" rIns="0">
            <a:spAutoFit/>
          </a:bodyPr>
          <a:lstStyle/>
          <a:p>
            <a:pPr algn="r">
              <a:lnSpc>
                <a:spcPts val="2239"/>
              </a:lnSpc>
            </a:pPr>
            <a:r>
              <a:rPr lang="en-US" sz="1599" spc="-47">
                <a:solidFill>
                  <a:srgbClr val="000000">
                    <a:alpha val="49804"/>
                  </a:srgbClr>
                </a:solidFill>
                <a:latin typeface="Times New Roman"/>
                <a:ea typeface="Times New Roman"/>
                <a:cs typeface="Times New Roman"/>
                <a:sym typeface="Times New Roman"/>
              </a:rPr>
              <a:t>In</a:t>
            </a:r>
            <a:r>
              <a:rPr lang="en-US" sz="1599" spc="-47">
                <a:solidFill>
                  <a:srgbClr val="000000">
                    <a:alpha val="49804"/>
                  </a:srgbClr>
                </a:solidFill>
                <a:latin typeface="Times New Roman"/>
                <a:ea typeface="Times New Roman"/>
                <a:cs typeface="Times New Roman"/>
                <a:sym typeface="Times New Roman"/>
              </a:rPr>
              <a:t>ternal accountability (RACI Framework) and external ecosystem mapping</a:t>
            </a:r>
          </a:p>
        </p:txBody>
      </p:sp>
      <p:sp>
        <p:nvSpPr>
          <p:cNvPr name="TextBox 30" id="30"/>
          <p:cNvSpPr txBox="true"/>
          <p:nvPr/>
        </p:nvSpPr>
        <p:spPr>
          <a:xfrm rot="0">
            <a:off x="1030486" y="5616210"/>
            <a:ext cx="1085701" cy="542925"/>
          </a:xfrm>
          <a:prstGeom prst="rect">
            <a:avLst/>
          </a:prstGeom>
        </p:spPr>
        <p:txBody>
          <a:bodyPr anchor="t" rtlCol="false" tIns="0" lIns="0" bIns="0" rIns="0">
            <a:spAutoFit/>
          </a:bodyPr>
          <a:lstStyle/>
          <a:p>
            <a:pPr algn="l">
              <a:lnSpc>
                <a:spcPts val="4200"/>
              </a:lnSpc>
            </a:pPr>
            <a:r>
              <a:rPr lang="en-US" sz="3000" spc="-89">
                <a:solidFill>
                  <a:srgbClr val="000000">
                    <a:alpha val="49804"/>
                  </a:srgbClr>
                </a:solidFill>
                <a:latin typeface="Times New Roman"/>
                <a:ea typeface="Times New Roman"/>
                <a:cs typeface="Times New Roman"/>
                <a:sym typeface="Times New Roman"/>
              </a:rPr>
              <a:t>18-21</a:t>
            </a:r>
          </a:p>
        </p:txBody>
      </p:sp>
      <p:sp>
        <p:nvSpPr>
          <p:cNvPr name="TextBox 31" id="31"/>
          <p:cNvSpPr txBox="true"/>
          <p:nvPr/>
        </p:nvSpPr>
        <p:spPr>
          <a:xfrm rot="0">
            <a:off x="1029593" y="6587760"/>
            <a:ext cx="1085701" cy="542925"/>
          </a:xfrm>
          <a:prstGeom prst="rect">
            <a:avLst/>
          </a:prstGeom>
        </p:spPr>
        <p:txBody>
          <a:bodyPr anchor="t" rtlCol="false" tIns="0" lIns="0" bIns="0" rIns="0">
            <a:spAutoFit/>
          </a:bodyPr>
          <a:lstStyle/>
          <a:p>
            <a:pPr algn="l">
              <a:lnSpc>
                <a:spcPts val="4200"/>
              </a:lnSpc>
            </a:pPr>
            <a:r>
              <a:rPr lang="en-US" sz="3000" spc="-89">
                <a:solidFill>
                  <a:srgbClr val="000000">
                    <a:alpha val="49804"/>
                  </a:srgbClr>
                </a:solidFill>
                <a:latin typeface="Times New Roman"/>
                <a:ea typeface="Times New Roman"/>
                <a:cs typeface="Times New Roman"/>
                <a:sym typeface="Times New Roman"/>
              </a:rPr>
              <a:t>22-31</a:t>
            </a:r>
          </a:p>
        </p:txBody>
      </p:sp>
      <p:sp>
        <p:nvSpPr>
          <p:cNvPr name="AutoShape 32" id="32"/>
          <p:cNvSpPr/>
          <p:nvPr/>
        </p:nvSpPr>
        <p:spPr>
          <a:xfrm flipH="true">
            <a:off x="1028700" y="2445544"/>
            <a:ext cx="16230600" cy="0"/>
          </a:xfrm>
          <a:prstGeom prst="line">
            <a:avLst/>
          </a:prstGeom>
          <a:ln cap="rnd" w="19050">
            <a:solidFill>
              <a:srgbClr val="B2B2B2">
                <a:alpha val="29804"/>
              </a:srgbClr>
            </a:solidFill>
            <a:prstDash val="sysDash"/>
            <a:headEnd type="none" len="sm" w="sm"/>
            <a:tailEnd type="none" len="sm" w="sm"/>
          </a:ln>
        </p:spPr>
      </p:sp>
      <p:sp>
        <p:nvSpPr>
          <p:cNvPr name="AutoShape 33" id="33"/>
          <p:cNvSpPr/>
          <p:nvPr/>
        </p:nvSpPr>
        <p:spPr>
          <a:xfrm flipH="true">
            <a:off x="1028700" y="5594392"/>
            <a:ext cx="16230600" cy="0"/>
          </a:xfrm>
          <a:prstGeom prst="line">
            <a:avLst/>
          </a:prstGeom>
          <a:ln cap="rnd" w="19050">
            <a:solidFill>
              <a:srgbClr val="B2B2B2">
                <a:alpha val="29804"/>
              </a:srgbClr>
            </a:solidFill>
            <a:prstDash val="sysDash"/>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03</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Introduction</a:t>
            </a:r>
          </a:p>
        </p:txBody>
      </p:sp>
      <p:sp>
        <p:nvSpPr>
          <p:cNvPr name="TextBox 5" id="5"/>
          <p:cNvSpPr txBox="true"/>
          <p:nvPr/>
        </p:nvSpPr>
        <p:spPr>
          <a:xfrm rot="0">
            <a:off x="1028700" y="7148036"/>
            <a:ext cx="16235362" cy="1339215"/>
          </a:xfrm>
          <a:prstGeom prst="rect">
            <a:avLst/>
          </a:prstGeom>
        </p:spPr>
        <p:txBody>
          <a:bodyPr anchor="t" rtlCol="false" tIns="0" lIns="0" bIns="0" rIns="0">
            <a:spAutoFit/>
          </a:bodyPr>
          <a:lstStyle/>
          <a:p>
            <a:pPr algn="r">
              <a:lnSpc>
                <a:spcPts val="9600"/>
              </a:lnSpc>
              <a:spcBef>
                <a:spcPct val="0"/>
              </a:spcBef>
            </a:pPr>
            <a:r>
              <a:rPr lang="en-US" sz="9600" spc="-288">
                <a:solidFill>
                  <a:srgbClr val="000000"/>
                </a:solidFill>
                <a:latin typeface="Times New Roman"/>
                <a:ea typeface="Times New Roman"/>
                <a:cs typeface="Times New Roman"/>
                <a:sym typeface="Times New Roman"/>
              </a:rPr>
              <a:t>"Where does our data go?</a:t>
            </a:r>
            <a:r>
              <a:rPr lang="en-US" sz="9600" spc="-288">
                <a:solidFill>
                  <a:srgbClr val="000000"/>
                </a:solidFill>
                <a:latin typeface="Times New Roman"/>
                <a:ea typeface="Times New Roman"/>
                <a:cs typeface="Times New Roman"/>
                <a:sym typeface="Times New Roman"/>
              </a:rPr>
              <a:t>"</a:t>
            </a:r>
          </a:p>
        </p:txBody>
      </p:sp>
      <p:sp>
        <p:nvSpPr>
          <p:cNvPr name="TextBox 6" id="6"/>
          <p:cNvSpPr txBox="true"/>
          <p:nvPr/>
        </p:nvSpPr>
        <p:spPr>
          <a:xfrm rot="0">
            <a:off x="2259955" y="8515826"/>
            <a:ext cx="15004107" cy="361315"/>
          </a:xfrm>
          <a:prstGeom prst="rect">
            <a:avLst/>
          </a:prstGeom>
        </p:spPr>
        <p:txBody>
          <a:bodyPr anchor="t" rtlCol="false" tIns="0" lIns="0" bIns="0" rIns="0">
            <a:spAutoFit/>
          </a:bodyPr>
          <a:lstStyle/>
          <a:p>
            <a:pPr algn="r">
              <a:lnSpc>
                <a:spcPts val="2600"/>
              </a:lnSpc>
              <a:spcBef>
                <a:spcPct val="0"/>
              </a:spcBef>
            </a:pPr>
            <a:r>
              <a:rPr lang="en-US" sz="2600" spc="-78">
                <a:solidFill>
                  <a:srgbClr val="000000"/>
                </a:solidFill>
                <a:latin typeface="Times New Roman"/>
                <a:ea typeface="Times New Roman"/>
                <a:cs typeface="Times New Roman"/>
                <a:sym typeface="Times New Roman"/>
              </a:rPr>
              <a:t>Beyond a simple ex</a:t>
            </a:r>
            <a:r>
              <a:rPr lang="en-US" sz="2600" spc="-78">
                <a:solidFill>
                  <a:srgbClr val="000000"/>
                </a:solidFill>
                <a:latin typeface="Times New Roman"/>
                <a:ea typeface="Times New Roman"/>
                <a:cs typeface="Times New Roman"/>
                <a:sym typeface="Times New Roman"/>
              </a:rPr>
              <a:t>change mechanism, position AI token commerce as the infrastructure for cross-platform value transfer.</a:t>
            </a:r>
          </a:p>
        </p:txBody>
      </p:sp>
      <p:sp>
        <p:nvSpPr>
          <p:cNvPr name="TextBox 7" id="7"/>
          <p:cNvSpPr txBox="true"/>
          <p:nvPr/>
        </p:nvSpPr>
        <p:spPr>
          <a:xfrm rot="0">
            <a:off x="12083281" y="2658269"/>
            <a:ext cx="5176019" cy="371475"/>
          </a:xfrm>
          <a:prstGeom prst="rect">
            <a:avLst/>
          </a:prstGeom>
        </p:spPr>
        <p:txBody>
          <a:bodyPr anchor="t" rtlCol="false" tIns="0" lIns="0" bIns="0" rIns="0">
            <a:spAutoFit/>
          </a:bodyPr>
          <a:lstStyle/>
          <a:p>
            <a:pPr algn="r">
              <a:lnSpc>
                <a:spcPts val="2879"/>
              </a:lnSpc>
            </a:pPr>
            <a:r>
              <a:rPr lang="en-US" sz="2400" spc="-96">
                <a:solidFill>
                  <a:srgbClr val="000000">
                    <a:alpha val="49804"/>
                  </a:srgbClr>
                </a:solidFill>
                <a:latin typeface="Times New Roman"/>
                <a:ea typeface="Times New Roman"/>
                <a:cs typeface="Times New Roman"/>
                <a:sym typeface="Times New Roman"/>
              </a:rPr>
              <a:t>GDPR - EU’s comprehensive data privacy law</a:t>
            </a:r>
          </a:p>
        </p:txBody>
      </p:sp>
      <p:sp>
        <p:nvSpPr>
          <p:cNvPr name="TextBox 8" id="8"/>
          <p:cNvSpPr txBox="true"/>
          <p:nvPr/>
        </p:nvSpPr>
        <p:spPr>
          <a:xfrm rot="0">
            <a:off x="1023938" y="2062956"/>
            <a:ext cx="3571131" cy="1514475"/>
          </a:xfrm>
          <a:prstGeom prst="rect">
            <a:avLst/>
          </a:prstGeom>
        </p:spPr>
        <p:txBody>
          <a:bodyPr anchor="t" rtlCol="false" tIns="0" lIns="0" bIns="0" rIns="0">
            <a:spAutoFit/>
          </a:bodyPr>
          <a:lstStyle/>
          <a:p>
            <a:pPr algn="l">
              <a:lnSpc>
                <a:spcPts val="11519"/>
              </a:lnSpc>
            </a:pPr>
            <a:r>
              <a:rPr lang="en-US" sz="9600" spc="-384">
                <a:solidFill>
                  <a:srgbClr val="000000"/>
                </a:solidFill>
                <a:latin typeface="Times New Roman"/>
                <a:ea typeface="Times New Roman"/>
                <a:cs typeface="Times New Roman"/>
                <a:sym typeface="Times New Roman"/>
              </a:rPr>
              <a:t>Phase I</a:t>
            </a:r>
          </a:p>
        </p:txBody>
      </p:sp>
      <p:sp>
        <p:nvSpPr>
          <p:cNvPr name="TextBox 9" id="9"/>
          <p:cNvSpPr txBox="true"/>
          <p:nvPr/>
        </p:nvSpPr>
        <p:spPr>
          <a:xfrm rot="0">
            <a:off x="1023938" y="3606006"/>
            <a:ext cx="16235362" cy="685165"/>
          </a:xfrm>
          <a:prstGeom prst="rect">
            <a:avLst/>
          </a:prstGeom>
        </p:spPr>
        <p:txBody>
          <a:bodyPr anchor="t" rtlCol="false" tIns="0" lIns="0" bIns="0" rIns="0">
            <a:spAutoFit/>
          </a:bodyPr>
          <a:lstStyle/>
          <a:p>
            <a:pPr algn="l">
              <a:lnSpc>
                <a:spcPts val="2600"/>
              </a:lnSpc>
              <a:spcBef>
                <a:spcPct val="0"/>
              </a:spcBef>
            </a:pPr>
            <a:r>
              <a:rPr lang="en-US" sz="2600" spc="-78">
                <a:solidFill>
                  <a:srgbClr val="000000">
                    <a:alpha val="49804"/>
                  </a:srgbClr>
                </a:solidFill>
                <a:latin typeface="Times New Roman"/>
                <a:ea typeface="Times New Roman"/>
                <a:cs typeface="Times New Roman"/>
                <a:sym typeface="Times New Roman"/>
              </a:rPr>
              <a:t>In Phase 1, we explored the glob</a:t>
            </a:r>
            <a:r>
              <a:rPr lang="en-US" sz="2600" spc="-78">
                <a:solidFill>
                  <a:srgbClr val="000000">
                    <a:alpha val="49804"/>
                  </a:srgbClr>
                </a:solidFill>
                <a:latin typeface="Times New Roman"/>
                <a:ea typeface="Times New Roman"/>
                <a:cs typeface="Times New Roman"/>
                <a:sym typeface="Times New Roman"/>
              </a:rPr>
              <a:t>al regulatory landscape and the potential of token economics, and established TokenTrust as a proposed solution within that framework.</a:t>
            </a:r>
          </a:p>
        </p:txBody>
      </p:sp>
      <p:sp>
        <p:nvSpPr>
          <p:cNvPr name="AutoShape 10" id="10"/>
          <p:cNvSpPr/>
          <p:nvPr/>
        </p:nvSpPr>
        <p:spPr>
          <a:xfrm>
            <a:off x="1028700" y="6149466"/>
            <a:ext cx="16230600" cy="0"/>
          </a:xfrm>
          <a:prstGeom prst="line">
            <a:avLst/>
          </a:prstGeom>
          <a:ln cap="flat" w="9525">
            <a:solidFill>
              <a:srgbClr val="000000">
                <a:alpha val="49804"/>
              </a:srgbClr>
            </a:solidFill>
            <a:prstDash val="solid"/>
            <a:headEnd type="none" len="sm" w="sm"/>
            <a:tailEnd type="none" len="sm" w="sm"/>
          </a:ln>
        </p:spPr>
      </p:sp>
      <p:sp>
        <p:nvSpPr>
          <p:cNvPr name="TextBox 11" id="11"/>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04</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Introduction</a:t>
            </a:r>
          </a:p>
        </p:txBody>
      </p:sp>
      <p:sp>
        <p:nvSpPr>
          <p:cNvPr name="TextBox 5" id="5"/>
          <p:cNvSpPr txBox="true"/>
          <p:nvPr/>
        </p:nvSpPr>
        <p:spPr>
          <a:xfrm rot="0">
            <a:off x="1028700" y="7148036"/>
            <a:ext cx="16235362" cy="1339215"/>
          </a:xfrm>
          <a:prstGeom prst="rect">
            <a:avLst/>
          </a:prstGeom>
        </p:spPr>
        <p:txBody>
          <a:bodyPr anchor="t" rtlCol="false" tIns="0" lIns="0" bIns="0" rIns="0">
            <a:spAutoFit/>
          </a:bodyPr>
          <a:lstStyle/>
          <a:p>
            <a:pPr algn="r">
              <a:lnSpc>
                <a:spcPts val="9600"/>
              </a:lnSpc>
              <a:spcBef>
                <a:spcPct val="0"/>
              </a:spcBef>
            </a:pPr>
            <a:r>
              <a:rPr lang="en-US" sz="9600" spc="-288">
                <a:solidFill>
                  <a:srgbClr val="000000"/>
                </a:solidFill>
                <a:latin typeface="Times New Roman"/>
                <a:ea typeface="Times New Roman"/>
                <a:cs typeface="Times New Roman"/>
                <a:sym typeface="Times New Roman"/>
              </a:rPr>
              <a:t>"Who owns the value it creates?</a:t>
            </a:r>
            <a:r>
              <a:rPr lang="en-US" sz="9600" spc="-288">
                <a:solidFill>
                  <a:srgbClr val="000000"/>
                </a:solidFill>
                <a:latin typeface="Times New Roman"/>
                <a:ea typeface="Times New Roman"/>
                <a:cs typeface="Times New Roman"/>
                <a:sym typeface="Times New Roman"/>
              </a:rPr>
              <a:t>"</a:t>
            </a:r>
          </a:p>
        </p:txBody>
      </p:sp>
      <p:sp>
        <p:nvSpPr>
          <p:cNvPr name="TextBox 6" id="6"/>
          <p:cNvSpPr txBox="true"/>
          <p:nvPr/>
        </p:nvSpPr>
        <p:spPr>
          <a:xfrm rot="0">
            <a:off x="5647506" y="8515826"/>
            <a:ext cx="11616556" cy="361315"/>
          </a:xfrm>
          <a:prstGeom prst="rect">
            <a:avLst/>
          </a:prstGeom>
        </p:spPr>
        <p:txBody>
          <a:bodyPr anchor="t" rtlCol="false" tIns="0" lIns="0" bIns="0" rIns="0">
            <a:spAutoFit/>
          </a:bodyPr>
          <a:lstStyle/>
          <a:p>
            <a:pPr algn="r">
              <a:lnSpc>
                <a:spcPts val="2600"/>
              </a:lnSpc>
              <a:spcBef>
                <a:spcPct val="0"/>
              </a:spcBef>
            </a:pPr>
            <a:r>
              <a:rPr lang="en-US" sz="2600" spc="-78">
                <a:solidFill>
                  <a:srgbClr val="000000"/>
                </a:solidFill>
                <a:latin typeface="Times New Roman"/>
                <a:ea typeface="Times New Roman"/>
                <a:cs typeface="Times New Roman"/>
                <a:sym typeface="Times New Roman"/>
              </a:rPr>
              <a:t>A </a:t>
            </a:r>
            <a:r>
              <a:rPr lang="en-US" sz="2600" spc="-78">
                <a:solidFill>
                  <a:srgbClr val="000000"/>
                </a:solidFill>
                <a:latin typeface="Times New Roman"/>
                <a:ea typeface="Times New Roman"/>
                <a:cs typeface="Times New Roman"/>
                <a:sym typeface="Times New Roman"/>
              </a:rPr>
              <a:t>concrete pathway to operationalize tokentrust within Canada's regulatory framework.</a:t>
            </a:r>
          </a:p>
        </p:txBody>
      </p:sp>
      <p:sp>
        <p:nvSpPr>
          <p:cNvPr name="TextBox 7" id="7"/>
          <p:cNvSpPr txBox="true"/>
          <p:nvPr/>
        </p:nvSpPr>
        <p:spPr>
          <a:xfrm rot="0">
            <a:off x="10284172" y="2658269"/>
            <a:ext cx="6975128" cy="371475"/>
          </a:xfrm>
          <a:prstGeom prst="rect">
            <a:avLst/>
          </a:prstGeom>
        </p:spPr>
        <p:txBody>
          <a:bodyPr anchor="t" rtlCol="false" tIns="0" lIns="0" bIns="0" rIns="0">
            <a:spAutoFit/>
          </a:bodyPr>
          <a:lstStyle/>
          <a:p>
            <a:pPr algn="r">
              <a:lnSpc>
                <a:spcPts val="2879"/>
              </a:lnSpc>
            </a:pPr>
            <a:r>
              <a:rPr lang="en-US" sz="2400" spc="-96">
                <a:solidFill>
                  <a:srgbClr val="000000">
                    <a:alpha val="49804"/>
                  </a:srgbClr>
                </a:solidFill>
                <a:latin typeface="Times New Roman"/>
                <a:ea typeface="Times New Roman"/>
                <a:cs typeface="Times New Roman"/>
                <a:sym typeface="Times New Roman"/>
              </a:rPr>
              <a:t>PIPEDA - Canadian federal law on private-sector personal data</a:t>
            </a:r>
          </a:p>
        </p:txBody>
      </p:sp>
      <p:sp>
        <p:nvSpPr>
          <p:cNvPr name="TextBox 8" id="8"/>
          <p:cNvSpPr txBox="true"/>
          <p:nvPr/>
        </p:nvSpPr>
        <p:spPr>
          <a:xfrm rot="0">
            <a:off x="1023938" y="2062956"/>
            <a:ext cx="3571131" cy="1514475"/>
          </a:xfrm>
          <a:prstGeom prst="rect">
            <a:avLst/>
          </a:prstGeom>
        </p:spPr>
        <p:txBody>
          <a:bodyPr anchor="t" rtlCol="false" tIns="0" lIns="0" bIns="0" rIns="0">
            <a:spAutoFit/>
          </a:bodyPr>
          <a:lstStyle/>
          <a:p>
            <a:pPr algn="l">
              <a:lnSpc>
                <a:spcPts val="11519"/>
              </a:lnSpc>
            </a:pPr>
            <a:r>
              <a:rPr lang="en-US" sz="9600" spc="-384">
                <a:solidFill>
                  <a:srgbClr val="000000"/>
                </a:solidFill>
                <a:latin typeface="Times New Roman"/>
                <a:ea typeface="Times New Roman"/>
                <a:cs typeface="Times New Roman"/>
                <a:sym typeface="Times New Roman"/>
              </a:rPr>
              <a:t>Phase II</a:t>
            </a:r>
          </a:p>
        </p:txBody>
      </p:sp>
      <p:sp>
        <p:nvSpPr>
          <p:cNvPr name="TextBox 9" id="9"/>
          <p:cNvSpPr txBox="true"/>
          <p:nvPr/>
        </p:nvSpPr>
        <p:spPr>
          <a:xfrm rot="0">
            <a:off x="1023938" y="3606006"/>
            <a:ext cx="16235362" cy="361315"/>
          </a:xfrm>
          <a:prstGeom prst="rect">
            <a:avLst/>
          </a:prstGeom>
        </p:spPr>
        <p:txBody>
          <a:bodyPr anchor="t" rtlCol="false" tIns="0" lIns="0" bIns="0" rIns="0">
            <a:spAutoFit/>
          </a:bodyPr>
          <a:lstStyle/>
          <a:p>
            <a:pPr algn="l">
              <a:lnSpc>
                <a:spcPts val="2600"/>
              </a:lnSpc>
              <a:spcBef>
                <a:spcPct val="0"/>
              </a:spcBef>
            </a:pPr>
            <a:r>
              <a:rPr lang="en-US" sz="2600" spc="-78">
                <a:solidFill>
                  <a:srgbClr val="000000">
                    <a:alpha val="49804"/>
                  </a:srgbClr>
                </a:solidFill>
                <a:latin typeface="Times New Roman"/>
                <a:ea typeface="Times New Roman"/>
                <a:cs typeface="Times New Roman"/>
                <a:sym typeface="Times New Roman"/>
              </a:rPr>
              <a:t>Canada-specific</a:t>
            </a:r>
            <a:r>
              <a:rPr lang="en-US" sz="2600" spc="-78">
                <a:solidFill>
                  <a:srgbClr val="000000">
                    <a:alpha val="49804"/>
                  </a:srgbClr>
                </a:solidFill>
                <a:latin typeface="Times New Roman"/>
                <a:ea typeface="Times New Roman"/>
                <a:cs typeface="Times New Roman"/>
                <a:sym typeface="Times New Roman"/>
              </a:rPr>
              <a:t> regulatory path defined Compliance infrastructure mapped Concept becomes operational blueprint</a:t>
            </a:r>
          </a:p>
        </p:txBody>
      </p:sp>
      <p:sp>
        <p:nvSpPr>
          <p:cNvPr name="AutoShape 10" id="10"/>
          <p:cNvSpPr/>
          <p:nvPr/>
        </p:nvSpPr>
        <p:spPr>
          <a:xfrm>
            <a:off x="1028700" y="6149466"/>
            <a:ext cx="16230600" cy="0"/>
          </a:xfrm>
          <a:prstGeom prst="line">
            <a:avLst/>
          </a:prstGeom>
          <a:ln cap="flat" w="9525">
            <a:solidFill>
              <a:srgbClr val="000000">
                <a:alpha val="49804"/>
              </a:srgbClr>
            </a:solidFill>
            <a:prstDash val="solid"/>
            <a:headEnd type="none" len="sm" w="sm"/>
            <a:tailEnd type="none" len="sm" w="sm"/>
          </a:ln>
        </p:spPr>
      </p:sp>
      <p:sp>
        <p:nvSpPr>
          <p:cNvPr name="TextBox 11" id="11"/>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Introduction</a:t>
            </a:r>
          </a:p>
        </p:txBody>
      </p:sp>
      <p:sp>
        <p:nvSpPr>
          <p:cNvPr name="TextBox 4" id="4"/>
          <p:cNvSpPr txBox="true"/>
          <p:nvPr/>
        </p:nvSpPr>
        <p:spPr>
          <a:xfrm rot="0">
            <a:off x="1028700" y="3541203"/>
            <a:ext cx="16230600" cy="2108201"/>
          </a:xfrm>
          <a:prstGeom prst="rect">
            <a:avLst/>
          </a:prstGeom>
        </p:spPr>
        <p:txBody>
          <a:bodyPr anchor="t" rtlCol="false" tIns="0" lIns="0" bIns="0" rIns="0">
            <a:spAutoFit/>
          </a:bodyPr>
          <a:lstStyle/>
          <a:p>
            <a:pPr algn="l">
              <a:lnSpc>
                <a:spcPts val="8000"/>
              </a:lnSpc>
            </a:pPr>
            <a:r>
              <a:rPr lang="en-US" sz="8000" spc="-240">
                <a:solidFill>
                  <a:srgbClr val="000000"/>
                </a:solidFill>
                <a:latin typeface="Times New Roman"/>
                <a:ea typeface="Times New Roman"/>
                <a:cs typeface="Times New Roman"/>
                <a:sym typeface="Times New Roman"/>
              </a:rPr>
              <a:t>Who owns the value created from our data in virtual environments?</a:t>
            </a:r>
          </a:p>
        </p:txBody>
      </p:sp>
      <p:sp>
        <p:nvSpPr>
          <p:cNvPr name="TextBox 5" id="5"/>
          <p:cNvSpPr txBox="true"/>
          <p:nvPr/>
        </p:nvSpPr>
        <p:spPr>
          <a:xfrm rot="0">
            <a:off x="1028700" y="6680518"/>
            <a:ext cx="16230600" cy="685165"/>
          </a:xfrm>
          <a:prstGeom prst="rect">
            <a:avLst/>
          </a:prstGeom>
        </p:spPr>
        <p:txBody>
          <a:bodyPr anchor="t" rtlCol="false" tIns="0" lIns="0" bIns="0" rIns="0">
            <a:spAutoFit/>
          </a:bodyPr>
          <a:lstStyle/>
          <a:p>
            <a:pPr algn="r">
              <a:lnSpc>
                <a:spcPts val="2600"/>
              </a:lnSpc>
            </a:pPr>
            <a:r>
              <a:rPr lang="en-US" sz="2600" spc="-78">
                <a:solidFill>
                  <a:srgbClr val="000000"/>
                </a:solidFill>
                <a:latin typeface="Times New Roman"/>
                <a:ea typeface="Times New Roman"/>
                <a:cs typeface="Times New Roman"/>
                <a:sym typeface="Times New Roman"/>
              </a:rPr>
              <a:t>"We now know data has value. But the systems that capture that value were never designed to return it. In digital and virtual environments, this asymmetry only compounds. That's the gap we're closing.</a:t>
            </a:r>
          </a:p>
        </p:txBody>
      </p:sp>
      <p:sp>
        <p:nvSpPr>
          <p:cNvPr name="TextBox 6" id="6"/>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05</a:t>
            </a:r>
          </a:p>
        </p:txBody>
      </p:sp>
      <p:sp>
        <p:nvSpPr>
          <p:cNvPr name="TextBox 7" id="7"/>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Introduction</a:t>
            </a:r>
          </a:p>
        </p:txBody>
      </p:sp>
      <p:sp>
        <p:nvSpPr>
          <p:cNvPr name="TextBox 4" id="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06</a:t>
            </a:r>
          </a:p>
        </p:txBody>
      </p:sp>
      <p:grpSp>
        <p:nvGrpSpPr>
          <p:cNvPr name="Group 5" id="5"/>
          <p:cNvGrpSpPr/>
          <p:nvPr/>
        </p:nvGrpSpPr>
        <p:grpSpPr>
          <a:xfrm rot="0">
            <a:off x="1028700" y="2359342"/>
            <a:ext cx="16230600" cy="1453515"/>
            <a:chOff x="0" y="0"/>
            <a:chExt cx="21640800" cy="1938020"/>
          </a:xfrm>
        </p:grpSpPr>
        <p:sp>
          <p:nvSpPr>
            <p:cNvPr name="TextBox 6" id="6"/>
            <p:cNvSpPr txBox="true"/>
            <p:nvPr/>
          </p:nvSpPr>
          <p:spPr>
            <a:xfrm rot="0">
              <a:off x="0" y="95250"/>
              <a:ext cx="21640800" cy="1200997"/>
            </a:xfrm>
            <a:prstGeom prst="rect">
              <a:avLst/>
            </a:prstGeom>
          </p:spPr>
          <p:txBody>
            <a:bodyPr anchor="t" rtlCol="false" tIns="0" lIns="0" bIns="0" rIns="0">
              <a:spAutoFit/>
            </a:bodyPr>
            <a:lstStyle/>
            <a:p>
              <a:pPr algn="l">
                <a:lnSpc>
                  <a:spcPts val="6399"/>
                </a:lnSpc>
              </a:pPr>
              <a:r>
                <a:rPr lang="en-US" sz="6399" spc="-191">
                  <a:solidFill>
                    <a:srgbClr val="000000">
                      <a:alpha val="49804"/>
                    </a:srgbClr>
                  </a:solidFill>
                  <a:latin typeface="Times New Roman"/>
                  <a:ea typeface="Times New Roman"/>
                  <a:cs typeface="Times New Roman"/>
                  <a:sym typeface="Times New Roman"/>
                </a:rPr>
                <a:t>AI Interplatform Services Already Exist,</a:t>
              </a:r>
            </a:p>
          </p:txBody>
        </p:sp>
        <p:sp>
          <p:nvSpPr>
            <p:cNvPr name="TextBox 7" id="7"/>
            <p:cNvSpPr txBox="true"/>
            <p:nvPr/>
          </p:nvSpPr>
          <p:spPr>
            <a:xfrm rot="0">
              <a:off x="0" y="1324822"/>
              <a:ext cx="21640800" cy="613198"/>
            </a:xfrm>
            <a:prstGeom prst="rect">
              <a:avLst/>
            </a:prstGeom>
          </p:spPr>
          <p:txBody>
            <a:bodyPr anchor="t" rtlCol="false" tIns="0" lIns="0" bIns="0" rIns="0">
              <a:spAutoFit/>
            </a:bodyPr>
            <a:lstStyle/>
            <a:p>
              <a:pPr algn="l">
                <a:lnSpc>
                  <a:spcPts val="3200"/>
                </a:lnSpc>
              </a:pPr>
              <a:r>
                <a:rPr lang="en-US" sz="3200" spc="-96">
                  <a:solidFill>
                    <a:srgbClr val="000000">
                      <a:alpha val="49804"/>
                    </a:srgbClr>
                  </a:solidFill>
                  <a:latin typeface="Times New Roman"/>
                  <a:ea typeface="Times New Roman"/>
                  <a:cs typeface="Times New Roman"/>
                  <a:sym typeface="Times New Roman"/>
                </a:rPr>
                <a:t>OpenRouter, Perplexity, Cursor, Copilot...</a:t>
              </a:r>
            </a:p>
          </p:txBody>
        </p:sp>
      </p:grpSp>
      <p:grpSp>
        <p:nvGrpSpPr>
          <p:cNvPr name="Group 8" id="8"/>
          <p:cNvGrpSpPr/>
          <p:nvPr/>
        </p:nvGrpSpPr>
        <p:grpSpPr>
          <a:xfrm rot="0">
            <a:off x="1028700" y="4953794"/>
            <a:ext cx="16230600" cy="3163570"/>
            <a:chOff x="0" y="0"/>
            <a:chExt cx="21640800" cy="4218093"/>
          </a:xfrm>
        </p:grpSpPr>
        <p:sp>
          <p:nvSpPr>
            <p:cNvPr name="TextBox 9" id="9"/>
            <p:cNvSpPr txBox="true"/>
            <p:nvPr/>
          </p:nvSpPr>
          <p:spPr>
            <a:xfrm rot="0">
              <a:off x="0" y="123825"/>
              <a:ext cx="21640800" cy="3452495"/>
            </a:xfrm>
            <a:prstGeom prst="rect">
              <a:avLst/>
            </a:prstGeom>
          </p:spPr>
          <p:txBody>
            <a:bodyPr anchor="t" rtlCol="false" tIns="0" lIns="0" bIns="0" rIns="0">
              <a:spAutoFit/>
            </a:bodyPr>
            <a:lstStyle/>
            <a:p>
              <a:pPr algn="r">
                <a:lnSpc>
                  <a:spcPts val="9600"/>
                </a:lnSpc>
              </a:pPr>
              <a:r>
                <a:rPr lang="en-US" sz="9600" spc="-288">
                  <a:solidFill>
                    <a:srgbClr val="000000"/>
                  </a:solidFill>
                  <a:latin typeface="Times New Roman"/>
                  <a:ea typeface="Times New Roman"/>
                  <a:cs typeface="Times New Roman"/>
                  <a:sym typeface="Times New Roman"/>
                </a:rPr>
                <a:t>But you have </a:t>
              </a:r>
            </a:p>
            <a:p>
              <a:pPr algn="r">
                <a:lnSpc>
                  <a:spcPts val="9600"/>
                </a:lnSpc>
              </a:pPr>
              <a:r>
                <a:rPr lang="en-US" sz="9600" spc="-288">
                  <a:solidFill>
                    <a:srgbClr val="000000"/>
                  </a:solidFill>
                  <a:latin typeface="Times New Roman"/>
                  <a:ea typeface="Times New Roman"/>
                  <a:cs typeface="Times New Roman"/>
                  <a:sym typeface="Times New Roman"/>
                </a:rPr>
                <a:t>No control over your data.</a:t>
              </a:r>
            </a:p>
          </p:txBody>
        </p:sp>
        <p:sp>
          <p:nvSpPr>
            <p:cNvPr name="TextBox 10" id="10"/>
            <p:cNvSpPr txBox="true"/>
            <p:nvPr/>
          </p:nvSpPr>
          <p:spPr>
            <a:xfrm rot="0">
              <a:off x="0" y="3604895"/>
              <a:ext cx="21640800" cy="613198"/>
            </a:xfrm>
            <a:prstGeom prst="rect">
              <a:avLst/>
            </a:prstGeom>
          </p:spPr>
          <p:txBody>
            <a:bodyPr anchor="t" rtlCol="false" tIns="0" lIns="0" bIns="0" rIns="0">
              <a:spAutoFit/>
            </a:bodyPr>
            <a:lstStyle/>
            <a:p>
              <a:pPr algn="r">
                <a:lnSpc>
                  <a:spcPts val="3200"/>
                </a:lnSpc>
              </a:pPr>
              <a:r>
                <a:rPr lang="en-US" sz="3200" spc="-96">
                  <a:solidFill>
                    <a:srgbClr val="000000"/>
                  </a:solidFill>
                  <a:latin typeface="Times New Roman"/>
                  <a:ea typeface="Times New Roman"/>
                  <a:cs typeface="Times New Roman"/>
                  <a:sym typeface="Times New Roman"/>
                </a:rPr>
                <a:t>Tokentrust is about value flow, rather than service accessibility.</a:t>
              </a:r>
            </a:p>
          </p:txBody>
        </p:sp>
      </p:grpSp>
      <p:sp>
        <p:nvSpPr>
          <p:cNvPr name="AutoShape 11" id="11"/>
          <p:cNvSpPr/>
          <p:nvPr/>
        </p:nvSpPr>
        <p:spPr>
          <a:xfrm>
            <a:off x="1028700" y="4383326"/>
            <a:ext cx="16230600" cy="0"/>
          </a:xfrm>
          <a:prstGeom prst="line">
            <a:avLst/>
          </a:prstGeom>
          <a:ln cap="flat" w="9525">
            <a:solidFill>
              <a:srgbClr val="000000">
                <a:alpha val="49804"/>
              </a:srgbClr>
            </a:solidFill>
            <a:prstDash val="solid"/>
            <a:headEnd type="none" len="sm" w="sm"/>
            <a:tailEnd type="none" len="sm" w="sm"/>
          </a:ln>
        </p:spPr>
      </p:sp>
      <p:sp>
        <p:nvSpPr>
          <p:cNvPr name="TextBox 12" id="12"/>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Introduction</a:t>
            </a:r>
          </a:p>
        </p:txBody>
      </p:sp>
      <p:sp>
        <p:nvSpPr>
          <p:cNvPr name="TextBox 4" id="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07</a:t>
            </a:r>
          </a:p>
        </p:txBody>
      </p:sp>
      <p:sp>
        <p:nvSpPr>
          <p:cNvPr name="TextBox 5" id="5"/>
          <p:cNvSpPr txBox="true"/>
          <p:nvPr/>
        </p:nvSpPr>
        <p:spPr>
          <a:xfrm rot="0">
            <a:off x="1028700" y="2457525"/>
            <a:ext cx="5452467" cy="876935"/>
          </a:xfrm>
          <a:prstGeom prst="rect">
            <a:avLst/>
          </a:prstGeom>
        </p:spPr>
        <p:txBody>
          <a:bodyPr anchor="t" rtlCol="false" tIns="0" lIns="0" bIns="0" rIns="0">
            <a:spAutoFit/>
          </a:bodyPr>
          <a:lstStyle/>
          <a:p>
            <a:pPr algn="l">
              <a:lnSpc>
                <a:spcPts val="6399"/>
              </a:lnSpc>
            </a:pPr>
            <a:r>
              <a:rPr lang="en-US" sz="6399" spc="-191">
                <a:solidFill>
                  <a:srgbClr val="000000">
                    <a:alpha val="49804"/>
                  </a:srgbClr>
                </a:solidFill>
                <a:latin typeface="Times New Roman"/>
                <a:ea typeface="Times New Roman"/>
                <a:cs typeface="Times New Roman"/>
                <a:sym typeface="Times New Roman"/>
              </a:rPr>
              <a:t>tokentrust ensures</a:t>
            </a:r>
          </a:p>
        </p:txBody>
      </p:sp>
      <p:sp>
        <p:nvSpPr>
          <p:cNvPr name="TextBox 6" id="6"/>
          <p:cNvSpPr txBox="true"/>
          <p:nvPr/>
        </p:nvSpPr>
        <p:spPr>
          <a:xfrm rot="0">
            <a:off x="1028700" y="6353968"/>
            <a:ext cx="16230600" cy="1763396"/>
          </a:xfrm>
          <a:prstGeom prst="rect">
            <a:avLst/>
          </a:prstGeom>
        </p:spPr>
        <p:txBody>
          <a:bodyPr anchor="t" rtlCol="false" tIns="0" lIns="0" bIns="0" rIns="0">
            <a:spAutoFit/>
          </a:bodyPr>
          <a:lstStyle/>
          <a:p>
            <a:pPr algn="r">
              <a:lnSpc>
                <a:spcPts val="12800"/>
              </a:lnSpc>
            </a:pPr>
            <a:r>
              <a:rPr lang="en-US" sz="12800" spc="-384">
                <a:solidFill>
                  <a:srgbClr val="000000"/>
                </a:solidFill>
                <a:latin typeface="Times New Roman"/>
                <a:ea typeface="Times New Roman"/>
                <a:cs typeface="Times New Roman"/>
                <a:sym typeface="Times New Roman"/>
              </a:rPr>
              <a:t>through data ownership</a:t>
            </a:r>
          </a:p>
        </p:txBody>
      </p:sp>
      <p:sp>
        <p:nvSpPr>
          <p:cNvPr name="TextBox 7" id="7"/>
          <p:cNvSpPr txBox="true"/>
          <p:nvPr/>
        </p:nvSpPr>
        <p:spPr>
          <a:xfrm rot="0">
            <a:off x="6790832" y="2454592"/>
            <a:ext cx="5338986" cy="876935"/>
          </a:xfrm>
          <a:prstGeom prst="rect">
            <a:avLst/>
          </a:prstGeom>
        </p:spPr>
        <p:txBody>
          <a:bodyPr anchor="t" rtlCol="false" tIns="0" lIns="0" bIns="0" rIns="0">
            <a:spAutoFit/>
          </a:bodyPr>
          <a:lstStyle/>
          <a:p>
            <a:pPr algn="r">
              <a:lnSpc>
                <a:spcPts val="6399"/>
              </a:lnSpc>
            </a:pPr>
            <a:r>
              <a:rPr lang="en-US" sz="6399" spc="-191">
                <a:solidFill>
                  <a:srgbClr val="000000"/>
                </a:solidFill>
                <a:latin typeface="Times New Roman"/>
                <a:ea typeface="Times New Roman"/>
                <a:cs typeface="Times New Roman"/>
                <a:sym typeface="Times New Roman"/>
              </a:rPr>
              <a:t>sustainable value </a:t>
            </a:r>
          </a:p>
        </p:txBody>
      </p:sp>
      <p:sp>
        <p:nvSpPr>
          <p:cNvPr name="AutoShape 8" id="8"/>
          <p:cNvSpPr/>
          <p:nvPr/>
        </p:nvSpPr>
        <p:spPr>
          <a:xfrm>
            <a:off x="1028700" y="4383326"/>
            <a:ext cx="16230600" cy="0"/>
          </a:xfrm>
          <a:prstGeom prst="line">
            <a:avLst/>
          </a:prstGeom>
          <a:ln cap="flat" w="9525">
            <a:solidFill>
              <a:srgbClr val="000000">
                <a:alpha val="49804"/>
              </a:srgbClr>
            </a:solidFill>
            <a:prstDash val="solid"/>
            <a:headEnd type="none" len="sm" w="sm"/>
            <a:tailEnd type="none" len="sm" w="sm"/>
          </a:ln>
        </p:spPr>
      </p:sp>
      <p:sp>
        <p:nvSpPr>
          <p:cNvPr name="TextBox 9" id="9"/>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Introduction</a:t>
            </a:r>
          </a:p>
        </p:txBody>
      </p:sp>
      <p:sp>
        <p:nvSpPr>
          <p:cNvPr name="TextBox 4" id="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08</a:t>
            </a:r>
          </a:p>
        </p:txBody>
      </p:sp>
      <p:grpSp>
        <p:nvGrpSpPr>
          <p:cNvPr name="Group 5" id="5"/>
          <p:cNvGrpSpPr/>
          <p:nvPr/>
        </p:nvGrpSpPr>
        <p:grpSpPr>
          <a:xfrm rot="0">
            <a:off x="1028700" y="4948555"/>
            <a:ext cx="16230600" cy="389890"/>
            <a:chOff x="0" y="0"/>
            <a:chExt cx="21640800" cy="519853"/>
          </a:xfrm>
        </p:grpSpPr>
        <p:sp>
          <p:nvSpPr>
            <p:cNvPr name="TextBox 6" id="6"/>
            <p:cNvSpPr txBox="true"/>
            <p:nvPr/>
          </p:nvSpPr>
          <p:spPr>
            <a:xfrm rot="0">
              <a:off x="0" y="28575"/>
              <a:ext cx="2819797" cy="491278"/>
            </a:xfrm>
            <a:prstGeom prst="rect">
              <a:avLst/>
            </a:prstGeom>
          </p:spPr>
          <p:txBody>
            <a:bodyPr anchor="t" rtlCol="false" tIns="0" lIns="0" bIns="0" rIns="0">
              <a:spAutoFit/>
            </a:bodyPr>
            <a:lstStyle/>
            <a:p>
              <a:pPr algn="l">
                <a:lnSpc>
                  <a:spcPts val="2600"/>
                </a:lnSpc>
              </a:pPr>
              <a:r>
                <a:rPr lang="en-US" sz="2600" spc="-78">
                  <a:solidFill>
                    <a:srgbClr val="000000"/>
                  </a:solidFill>
                  <a:latin typeface="Times New Roman"/>
                  <a:ea typeface="Times New Roman"/>
                  <a:cs typeface="Times New Roman"/>
                  <a:sym typeface="Times New Roman"/>
                </a:rPr>
                <a:t>Data Traceability</a:t>
              </a:r>
            </a:p>
          </p:txBody>
        </p:sp>
        <p:sp>
          <p:nvSpPr>
            <p:cNvPr name="TextBox 7" id="7"/>
            <p:cNvSpPr txBox="true"/>
            <p:nvPr/>
          </p:nvSpPr>
          <p:spPr>
            <a:xfrm rot="0">
              <a:off x="3900091" y="28575"/>
              <a:ext cx="4999732" cy="491278"/>
            </a:xfrm>
            <a:prstGeom prst="rect">
              <a:avLst/>
            </a:prstGeom>
          </p:spPr>
          <p:txBody>
            <a:bodyPr anchor="t" rtlCol="false" tIns="0" lIns="0" bIns="0" rIns="0">
              <a:spAutoFit/>
            </a:bodyPr>
            <a:lstStyle/>
            <a:p>
              <a:pPr algn="ctr">
                <a:lnSpc>
                  <a:spcPts val="2600"/>
                </a:lnSpc>
              </a:pPr>
              <a:r>
                <a:rPr lang="en-US" sz="2600" spc="-78">
                  <a:solidFill>
                    <a:srgbClr val="000000"/>
                  </a:solidFill>
                  <a:latin typeface="Times New Roman"/>
                  <a:ea typeface="Times New Roman"/>
                  <a:cs typeface="Times New Roman"/>
                  <a:sym typeface="Times New Roman"/>
                </a:rPr>
                <a:t>Data Refund &amp; Compensation</a:t>
              </a:r>
            </a:p>
          </p:txBody>
        </p:sp>
        <p:sp>
          <p:nvSpPr>
            <p:cNvPr name="TextBox 8" id="8"/>
            <p:cNvSpPr txBox="true"/>
            <p:nvPr/>
          </p:nvSpPr>
          <p:spPr>
            <a:xfrm rot="0">
              <a:off x="9980116" y="28575"/>
              <a:ext cx="5463480" cy="491278"/>
            </a:xfrm>
            <a:prstGeom prst="rect">
              <a:avLst/>
            </a:prstGeom>
          </p:spPr>
          <p:txBody>
            <a:bodyPr anchor="t" rtlCol="false" tIns="0" lIns="0" bIns="0" rIns="0">
              <a:spAutoFit/>
            </a:bodyPr>
            <a:lstStyle/>
            <a:p>
              <a:pPr algn="ctr">
                <a:lnSpc>
                  <a:spcPts val="2600"/>
                </a:lnSpc>
              </a:pPr>
              <a:r>
                <a:rPr lang="en-US" sz="2600" spc="-78">
                  <a:solidFill>
                    <a:srgbClr val="000000"/>
                  </a:solidFill>
                  <a:latin typeface="Times New Roman"/>
                  <a:ea typeface="Times New Roman"/>
                  <a:cs typeface="Times New Roman"/>
                  <a:sym typeface="Times New Roman"/>
                </a:rPr>
                <a:t>Interplatform Value Management</a:t>
              </a:r>
            </a:p>
          </p:txBody>
        </p:sp>
        <p:sp>
          <p:nvSpPr>
            <p:cNvPr name="TextBox 9" id="9"/>
            <p:cNvSpPr txBox="true"/>
            <p:nvPr/>
          </p:nvSpPr>
          <p:spPr>
            <a:xfrm rot="0">
              <a:off x="16523891" y="28575"/>
              <a:ext cx="5116909" cy="491278"/>
            </a:xfrm>
            <a:prstGeom prst="rect">
              <a:avLst/>
            </a:prstGeom>
          </p:spPr>
          <p:txBody>
            <a:bodyPr anchor="t" rtlCol="false" tIns="0" lIns="0" bIns="0" rIns="0">
              <a:spAutoFit/>
            </a:bodyPr>
            <a:lstStyle/>
            <a:p>
              <a:pPr algn="r">
                <a:lnSpc>
                  <a:spcPts val="2600"/>
                </a:lnSpc>
              </a:pPr>
              <a:r>
                <a:rPr lang="en-US" sz="2600" spc="-78">
                  <a:solidFill>
                    <a:srgbClr val="000000"/>
                  </a:solidFill>
                  <a:latin typeface="Times New Roman"/>
                  <a:ea typeface="Times New Roman"/>
                  <a:cs typeface="Times New Roman"/>
                  <a:sym typeface="Times New Roman"/>
                </a:rPr>
                <a:t>Holistic Regulatory Alternative</a:t>
              </a:r>
            </a:p>
          </p:txBody>
        </p:sp>
        <p:sp>
          <p:nvSpPr>
            <p:cNvPr name="AutoShape 10" id="10"/>
            <p:cNvSpPr/>
            <p:nvPr/>
          </p:nvSpPr>
          <p:spPr>
            <a:xfrm>
              <a:off x="15983744" y="0"/>
              <a:ext cx="0" cy="519853"/>
            </a:xfrm>
            <a:prstGeom prst="line">
              <a:avLst/>
            </a:prstGeom>
            <a:ln cap="flat" w="12700">
              <a:solidFill>
                <a:srgbClr val="000000"/>
              </a:solidFill>
              <a:prstDash val="solid"/>
              <a:headEnd type="none" len="sm" w="sm"/>
              <a:tailEnd type="none" len="sm" w="sm"/>
            </a:ln>
          </p:spPr>
        </p:sp>
        <p:sp>
          <p:nvSpPr>
            <p:cNvPr name="AutoShape 11" id="11"/>
            <p:cNvSpPr/>
            <p:nvPr/>
          </p:nvSpPr>
          <p:spPr>
            <a:xfrm>
              <a:off x="9439970" y="0"/>
              <a:ext cx="0" cy="519853"/>
            </a:xfrm>
            <a:prstGeom prst="line">
              <a:avLst/>
            </a:prstGeom>
            <a:ln cap="flat" w="12700">
              <a:solidFill>
                <a:srgbClr val="000000"/>
              </a:solidFill>
              <a:prstDash val="solid"/>
              <a:headEnd type="none" len="sm" w="sm"/>
              <a:tailEnd type="none" len="sm" w="sm"/>
            </a:ln>
          </p:spPr>
        </p:sp>
        <p:sp>
          <p:nvSpPr>
            <p:cNvPr name="AutoShape 12" id="12"/>
            <p:cNvSpPr/>
            <p:nvPr/>
          </p:nvSpPr>
          <p:spPr>
            <a:xfrm>
              <a:off x="3359944" y="0"/>
              <a:ext cx="0" cy="519853"/>
            </a:xfrm>
            <a:prstGeom prst="line">
              <a:avLst/>
            </a:prstGeom>
            <a:ln cap="flat" w="12700">
              <a:solidFill>
                <a:srgbClr val="000000"/>
              </a:solidFill>
              <a:prstDash val="solid"/>
              <a:headEnd type="none" len="sm" w="sm"/>
              <a:tailEnd type="none" len="sm" w="sm"/>
            </a:ln>
          </p:spPr>
        </p:sp>
      </p:grpSp>
      <p:grpSp>
        <p:nvGrpSpPr>
          <p:cNvPr name="Group 13" id="13"/>
          <p:cNvGrpSpPr/>
          <p:nvPr/>
        </p:nvGrpSpPr>
        <p:grpSpPr>
          <a:xfrm rot="0">
            <a:off x="12723156" y="7684296"/>
            <a:ext cx="4536144" cy="1507329"/>
            <a:chOff x="0" y="0"/>
            <a:chExt cx="6048192" cy="2009773"/>
          </a:xfrm>
        </p:grpSpPr>
        <p:grpSp>
          <p:nvGrpSpPr>
            <p:cNvPr name="Group 14" id="14"/>
            <p:cNvGrpSpPr/>
            <p:nvPr/>
          </p:nvGrpSpPr>
          <p:grpSpPr>
            <a:xfrm rot="0">
              <a:off x="5148556" y="0"/>
              <a:ext cx="899636" cy="938291"/>
              <a:chOff x="0" y="0"/>
              <a:chExt cx="584874" cy="610004"/>
            </a:xfrm>
          </p:grpSpPr>
          <p:sp>
            <p:nvSpPr>
              <p:cNvPr name="Freeform 15" id="15"/>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solidFill>
            </p:spPr>
          </p:sp>
          <p:sp>
            <p:nvSpPr>
              <p:cNvPr name="TextBox 16" id="16"/>
              <p:cNvSpPr txBox="true"/>
              <p:nvPr/>
            </p:nvSpPr>
            <p:spPr>
              <a:xfrm>
                <a:off x="137617" y="162580"/>
                <a:ext cx="309639" cy="303893"/>
              </a:xfrm>
              <a:prstGeom prst="rect">
                <a:avLst/>
              </a:prstGeom>
            </p:spPr>
            <p:txBody>
              <a:bodyPr anchor="ctr" rtlCol="false" tIns="28511" lIns="28511" bIns="28511" rIns="28511"/>
              <a:lstStyle/>
              <a:p>
                <a:pPr algn="ctr">
                  <a:lnSpc>
                    <a:spcPts val="1600"/>
                  </a:lnSpc>
                </a:pPr>
              </a:p>
            </p:txBody>
          </p:sp>
        </p:grpSp>
        <p:sp>
          <p:nvSpPr>
            <p:cNvPr name="TextBox 17" id="17"/>
            <p:cNvSpPr txBox="true"/>
            <p:nvPr/>
          </p:nvSpPr>
          <p:spPr>
            <a:xfrm rot="0">
              <a:off x="0" y="531816"/>
              <a:ext cx="5388980" cy="1477957"/>
            </a:xfrm>
            <a:prstGeom prst="rect">
              <a:avLst/>
            </a:prstGeom>
          </p:spPr>
          <p:txBody>
            <a:bodyPr anchor="t" rtlCol="false" tIns="0" lIns="0" bIns="0" rIns="0">
              <a:spAutoFit/>
            </a:bodyPr>
            <a:lstStyle/>
            <a:p>
              <a:pPr algn="ctr">
                <a:lnSpc>
                  <a:spcPts val="7868"/>
                </a:lnSpc>
              </a:pPr>
              <a:r>
                <a:rPr lang="en-US" b="true" sz="7868" spc="-314">
                  <a:solidFill>
                    <a:srgbClr val="000000"/>
                  </a:solidFill>
                  <a:latin typeface="Times New Roman Bold"/>
                  <a:ea typeface="Times New Roman Bold"/>
                  <a:cs typeface="Times New Roman Bold"/>
                  <a:sym typeface="Times New Roman Bold"/>
                </a:rPr>
                <a:t>tokentrust</a:t>
              </a:r>
            </a:p>
          </p:txBody>
        </p:sp>
      </p:grpSp>
      <p:sp>
        <p:nvSpPr>
          <p:cNvPr name="TextBox 18" id="18"/>
          <p:cNvSpPr txBox="true"/>
          <p:nvPr/>
        </p:nvSpPr>
        <p:spPr>
          <a:xfrm rot="0">
            <a:off x="1028700" y="7919085"/>
            <a:ext cx="5153397" cy="1339215"/>
          </a:xfrm>
          <a:prstGeom prst="rect">
            <a:avLst/>
          </a:prstGeom>
        </p:spPr>
        <p:txBody>
          <a:bodyPr anchor="t" rtlCol="false" tIns="0" lIns="0" bIns="0" rIns="0">
            <a:spAutoFit/>
          </a:bodyPr>
          <a:lstStyle/>
          <a:p>
            <a:pPr algn="l">
              <a:lnSpc>
                <a:spcPts val="9600"/>
              </a:lnSpc>
            </a:pPr>
            <a:r>
              <a:rPr lang="en-US" sz="9600" spc="-288">
                <a:solidFill>
                  <a:srgbClr val="000000"/>
                </a:solidFill>
                <a:latin typeface="Times New Roman"/>
                <a:ea typeface="Times New Roman"/>
                <a:cs typeface="Times New Roman"/>
                <a:sym typeface="Times New Roman"/>
              </a:rPr>
              <a:t>Value Axes</a:t>
            </a:r>
          </a:p>
        </p:txBody>
      </p:sp>
      <p:sp>
        <p:nvSpPr>
          <p:cNvPr name="TextBox 19" id="19"/>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Axis I: Data Traceability</a:t>
            </a:r>
          </a:p>
        </p:txBody>
      </p:sp>
      <p:sp>
        <p:nvSpPr>
          <p:cNvPr name="TextBox 4" id="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09</a:t>
            </a:r>
          </a:p>
        </p:txBody>
      </p:sp>
      <p:sp>
        <p:nvSpPr>
          <p:cNvPr name="TextBox 5" id="5"/>
          <p:cNvSpPr txBox="true"/>
          <p:nvPr/>
        </p:nvSpPr>
        <p:spPr>
          <a:xfrm rot="0">
            <a:off x="1028700" y="4535805"/>
            <a:ext cx="7809086" cy="1339215"/>
          </a:xfrm>
          <a:prstGeom prst="rect">
            <a:avLst/>
          </a:prstGeom>
        </p:spPr>
        <p:txBody>
          <a:bodyPr anchor="t" rtlCol="false" tIns="0" lIns="0" bIns="0" rIns="0">
            <a:spAutoFit/>
          </a:bodyPr>
          <a:lstStyle/>
          <a:p>
            <a:pPr algn="l">
              <a:lnSpc>
                <a:spcPts val="9600"/>
              </a:lnSpc>
            </a:pPr>
            <a:r>
              <a:rPr lang="en-US" sz="9600" spc="-288">
                <a:solidFill>
                  <a:srgbClr val="000000"/>
                </a:solidFill>
                <a:latin typeface="Times New Roman"/>
                <a:ea typeface="Times New Roman"/>
                <a:cs typeface="Times New Roman"/>
                <a:sym typeface="Times New Roman"/>
              </a:rPr>
              <a:t>Data Traceability</a:t>
            </a:r>
          </a:p>
        </p:txBody>
      </p:sp>
      <p:sp>
        <p:nvSpPr>
          <p:cNvPr name="TextBox 6" id="6"/>
          <p:cNvSpPr txBox="true"/>
          <p:nvPr/>
        </p:nvSpPr>
        <p:spPr>
          <a:xfrm rot="0">
            <a:off x="1028700" y="5903595"/>
            <a:ext cx="16230600" cy="452755"/>
          </a:xfrm>
          <a:prstGeom prst="rect">
            <a:avLst/>
          </a:prstGeom>
        </p:spPr>
        <p:txBody>
          <a:bodyPr anchor="t" rtlCol="false" tIns="0" lIns="0" bIns="0" rIns="0">
            <a:spAutoFit/>
          </a:bodyPr>
          <a:lstStyle/>
          <a:p>
            <a:pPr algn="l">
              <a:lnSpc>
                <a:spcPts val="3200"/>
              </a:lnSpc>
            </a:pPr>
            <a:r>
              <a:rPr lang="en-US" sz="3200" spc="-96">
                <a:solidFill>
                  <a:srgbClr val="000000"/>
                </a:solidFill>
                <a:latin typeface="Times New Roman"/>
                <a:ea typeface="Times New Roman"/>
                <a:cs typeface="Times New Roman"/>
                <a:sym typeface="Times New Roman"/>
              </a:rPr>
              <a:t>In today's AI ecosystem, user data becomes untraceable the moment it is submitted.</a:t>
            </a:r>
          </a:p>
        </p:txBody>
      </p:sp>
      <p:sp>
        <p:nvSpPr>
          <p:cNvPr name="TextBox 7" id="7"/>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33463" y="2385531"/>
            <a:ext cx="5806076" cy="371475"/>
          </a:xfrm>
          <a:prstGeom prst="rect">
            <a:avLst/>
          </a:prstGeom>
        </p:spPr>
        <p:txBody>
          <a:bodyPr anchor="t" rtlCol="false" tIns="0" lIns="0" bIns="0" rIns="0">
            <a:spAutoFit/>
          </a:bodyPr>
          <a:lstStyle/>
          <a:p>
            <a:pPr algn="l">
              <a:lnSpc>
                <a:spcPts val="2879"/>
              </a:lnSpc>
            </a:pPr>
            <a:r>
              <a:rPr lang="en-US" sz="2399" spc="-95">
                <a:solidFill>
                  <a:srgbClr val="000000">
                    <a:alpha val="49804"/>
                  </a:srgbClr>
                </a:solidFill>
                <a:latin typeface="Times New Roman"/>
                <a:ea typeface="Times New Roman"/>
                <a:cs typeface="Times New Roman"/>
                <a:sym typeface="Times New Roman"/>
              </a:rPr>
              <a:t>Accuracy | Completeness | Consistency | Freshness</a:t>
            </a:r>
          </a:p>
        </p:txBody>
      </p:sp>
      <p:sp>
        <p:nvSpPr>
          <p:cNvPr name="TextBox 4" id="4"/>
          <p:cNvSpPr txBox="true"/>
          <p:nvPr/>
        </p:nvSpPr>
        <p:spPr>
          <a:xfrm rot="0">
            <a:off x="104775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Axis I: Data Traceability</a:t>
            </a:r>
          </a:p>
        </p:txBody>
      </p:sp>
      <p:sp>
        <p:nvSpPr>
          <p:cNvPr name="TextBox 5" id="5"/>
          <p:cNvSpPr txBox="true"/>
          <p:nvPr/>
        </p:nvSpPr>
        <p:spPr>
          <a:xfrm rot="0">
            <a:off x="1322279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10</a:t>
            </a:r>
          </a:p>
        </p:txBody>
      </p:sp>
      <p:sp>
        <p:nvSpPr>
          <p:cNvPr name="TextBox 6" id="6"/>
          <p:cNvSpPr txBox="true"/>
          <p:nvPr/>
        </p:nvSpPr>
        <p:spPr>
          <a:xfrm rot="0">
            <a:off x="1028700" y="2985145"/>
            <a:ext cx="5017517"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DQI is not a quality metric.</a:t>
            </a:r>
          </a:p>
        </p:txBody>
      </p:sp>
      <p:sp>
        <p:nvSpPr>
          <p:cNvPr name="TextBox 7" id="7"/>
          <p:cNvSpPr txBox="true"/>
          <p:nvPr/>
        </p:nvSpPr>
        <p:spPr>
          <a:xfrm rot="0">
            <a:off x="9136856" y="3113732"/>
            <a:ext cx="8122444" cy="371475"/>
          </a:xfrm>
          <a:prstGeom prst="rect">
            <a:avLst/>
          </a:prstGeom>
        </p:spPr>
        <p:txBody>
          <a:bodyPr anchor="t" rtlCol="false" tIns="0" lIns="0" bIns="0" rIns="0">
            <a:spAutoFit/>
          </a:bodyPr>
          <a:lstStyle/>
          <a:p>
            <a:pPr algn="r">
              <a:lnSpc>
                <a:spcPts val="2879"/>
              </a:lnSpc>
            </a:pPr>
            <a:r>
              <a:rPr lang="en-US" sz="2399" spc="-95">
                <a:solidFill>
                  <a:srgbClr val="000000"/>
                </a:solidFill>
                <a:latin typeface="Times New Roman"/>
                <a:ea typeface="Times New Roman"/>
                <a:cs typeface="Times New Roman"/>
                <a:sym typeface="Times New Roman"/>
              </a:rPr>
              <a:t>Not only data quality assessment, but also Tracking Infrastructure</a:t>
            </a:r>
          </a:p>
        </p:txBody>
      </p:sp>
      <p:sp>
        <p:nvSpPr>
          <p:cNvPr name="TextBox 8" id="8"/>
          <p:cNvSpPr txBox="true"/>
          <p:nvPr/>
        </p:nvSpPr>
        <p:spPr>
          <a:xfrm rot="0">
            <a:off x="1033463" y="7114981"/>
            <a:ext cx="16235362" cy="1075944"/>
          </a:xfrm>
          <a:prstGeom prst="rect">
            <a:avLst/>
          </a:prstGeom>
        </p:spPr>
        <p:txBody>
          <a:bodyPr anchor="t" rtlCol="false" tIns="0" lIns="0" bIns="0" rIns="0">
            <a:spAutoFit/>
          </a:bodyPr>
          <a:lstStyle/>
          <a:p>
            <a:pPr algn="l">
              <a:lnSpc>
                <a:spcPts val="2808"/>
              </a:lnSpc>
            </a:pPr>
            <a:r>
              <a:rPr lang="en-US" sz="2400" spc="-72">
                <a:solidFill>
                  <a:srgbClr val="000000"/>
                </a:solidFill>
                <a:latin typeface="Times New Roman"/>
                <a:ea typeface="Times New Roman"/>
                <a:cs typeface="Times New Roman"/>
                <a:sym typeface="Times New Roman"/>
              </a:rPr>
              <a:t>In the current AI ecosystem,</a:t>
            </a:r>
            <a:r>
              <a:rPr lang="en-US" sz="2400" spc="-72">
                <a:solidFill>
                  <a:srgbClr val="000000"/>
                </a:solidFill>
                <a:latin typeface="Times New Roman"/>
                <a:ea typeface="Times New Roman"/>
                <a:cs typeface="Times New Roman"/>
                <a:sym typeface="Times New Roman"/>
              </a:rPr>
              <a:t> user data becomes untraceable the moment it is submitted. DQI assigns measurable identity to data through four dimensions: Accuracy, Completeness, Consistency, and Freshness. Measurable data carries traceable value. Without traceability, no refund, no compensation, no accountability.</a:t>
            </a:r>
          </a:p>
        </p:txBody>
      </p:sp>
      <p:sp>
        <p:nvSpPr>
          <p:cNvPr name="TextBox 9" id="9"/>
          <p:cNvSpPr txBox="true"/>
          <p:nvPr/>
        </p:nvSpPr>
        <p:spPr>
          <a:xfrm rot="0">
            <a:off x="6972443" y="4443412"/>
            <a:ext cx="10286857" cy="1352550"/>
          </a:xfrm>
          <a:prstGeom prst="rect">
            <a:avLst/>
          </a:prstGeom>
        </p:spPr>
        <p:txBody>
          <a:bodyPr anchor="t" rtlCol="false" tIns="0" lIns="0" bIns="0" rIns="0">
            <a:spAutoFit/>
          </a:bodyPr>
          <a:lstStyle/>
          <a:p>
            <a:pPr algn="r">
              <a:lnSpc>
                <a:spcPts val="10320"/>
              </a:lnSpc>
            </a:pPr>
            <a:r>
              <a:rPr lang="en-US" sz="8600" spc="-344">
                <a:solidFill>
                  <a:srgbClr val="000000"/>
                </a:solidFill>
                <a:latin typeface="Times New Roman"/>
                <a:ea typeface="Times New Roman"/>
                <a:cs typeface="Times New Roman"/>
                <a:sym typeface="Times New Roman"/>
              </a:rPr>
              <a:t>Traceability infrastructure</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Axis II: Data Refund &amp; Compensation</a:t>
            </a:r>
          </a:p>
        </p:txBody>
      </p:sp>
      <p:sp>
        <p:nvSpPr>
          <p:cNvPr name="TextBox 4" id="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11</a:t>
            </a:r>
          </a:p>
        </p:txBody>
      </p:sp>
      <p:sp>
        <p:nvSpPr>
          <p:cNvPr name="TextBox 5" id="5"/>
          <p:cNvSpPr txBox="true"/>
          <p:nvPr/>
        </p:nvSpPr>
        <p:spPr>
          <a:xfrm rot="0">
            <a:off x="1028700" y="4535805"/>
            <a:ext cx="13846150" cy="1339215"/>
          </a:xfrm>
          <a:prstGeom prst="rect">
            <a:avLst/>
          </a:prstGeom>
        </p:spPr>
        <p:txBody>
          <a:bodyPr anchor="t" rtlCol="false" tIns="0" lIns="0" bIns="0" rIns="0">
            <a:spAutoFit/>
          </a:bodyPr>
          <a:lstStyle/>
          <a:p>
            <a:pPr algn="l">
              <a:lnSpc>
                <a:spcPts val="9600"/>
              </a:lnSpc>
            </a:pPr>
            <a:r>
              <a:rPr lang="en-US" sz="9600" spc="-288">
                <a:solidFill>
                  <a:srgbClr val="000000"/>
                </a:solidFill>
                <a:latin typeface="Times New Roman"/>
                <a:ea typeface="Times New Roman"/>
                <a:cs typeface="Times New Roman"/>
                <a:sym typeface="Times New Roman"/>
              </a:rPr>
              <a:t>Data Refund &amp; Compensation</a:t>
            </a:r>
          </a:p>
        </p:txBody>
      </p:sp>
      <p:sp>
        <p:nvSpPr>
          <p:cNvPr name="TextBox 6" id="6"/>
          <p:cNvSpPr txBox="true"/>
          <p:nvPr/>
        </p:nvSpPr>
        <p:spPr>
          <a:xfrm rot="0">
            <a:off x="1028700" y="5903595"/>
            <a:ext cx="16230600" cy="852805"/>
          </a:xfrm>
          <a:prstGeom prst="rect">
            <a:avLst/>
          </a:prstGeom>
        </p:spPr>
        <p:txBody>
          <a:bodyPr anchor="t" rtlCol="false" tIns="0" lIns="0" bIns="0" rIns="0">
            <a:spAutoFit/>
          </a:bodyPr>
          <a:lstStyle/>
          <a:p>
            <a:pPr algn="l">
              <a:lnSpc>
                <a:spcPts val="3200"/>
              </a:lnSpc>
            </a:pPr>
            <a:r>
              <a:rPr lang="en-US" sz="3200" spc="-96">
                <a:solidFill>
                  <a:srgbClr val="000000"/>
                </a:solidFill>
                <a:latin typeface="Times New Roman"/>
                <a:ea typeface="Times New Roman"/>
                <a:cs typeface="Times New Roman"/>
                <a:sym typeface="Times New Roman"/>
              </a:rPr>
              <a:t>In current virtual environments, consumption is a one-way model where users spend tokens to access a service and that is the end of it.</a:t>
            </a:r>
          </a:p>
        </p:txBody>
      </p:sp>
      <p:sp>
        <p:nvSpPr>
          <p:cNvPr name="TextBox 7" id="7"/>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38225"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Axis I: Data Traceability</a:t>
            </a:r>
          </a:p>
        </p:txBody>
      </p:sp>
      <p:sp>
        <p:nvSpPr>
          <p:cNvPr name="TextBox 4" id="4"/>
          <p:cNvSpPr txBox="true"/>
          <p:nvPr/>
        </p:nvSpPr>
        <p:spPr>
          <a:xfrm rot="0">
            <a:off x="13213268"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12</a:t>
            </a:r>
          </a:p>
        </p:txBody>
      </p:sp>
      <p:sp>
        <p:nvSpPr>
          <p:cNvPr name="TextBox 5" id="5"/>
          <p:cNvSpPr txBox="true"/>
          <p:nvPr/>
        </p:nvSpPr>
        <p:spPr>
          <a:xfrm rot="0">
            <a:off x="9136856" y="3113732"/>
            <a:ext cx="8122444" cy="371475"/>
          </a:xfrm>
          <a:prstGeom prst="rect">
            <a:avLst/>
          </a:prstGeom>
        </p:spPr>
        <p:txBody>
          <a:bodyPr anchor="t" rtlCol="false" tIns="0" lIns="0" bIns="0" rIns="0">
            <a:spAutoFit/>
          </a:bodyPr>
          <a:lstStyle/>
          <a:p>
            <a:pPr algn="r">
              <a:lnSpc>
                <a:spcPts val="2879"/>
              </a:lnSpc>
            </a:pPr>
            <a:r>
              <a:rPr lang="en-US" sz="2399" spc="-95">
                <a:solidFill>
                  <a:srgbClr val="000000"/>
                </a:solidFill>
                <a:latin typeface="Times New Roman"/>
                <a:ea typeface="Times New Roman"/>
                <a:cs typeface="Times New Roman"/>
                <a:sym typeface="Times New Roman"/>
              </a:rPr>
              <a:t>Where does your value go after you spend it?</a:t>
            </a:r>
          </a:p>
        </p:txBody>
      </p:sp>
      <p:sp>
        <p:nvSpPr>
          <p:cNvPr name="TextBox 6" id="6"/>
          <p:cNvSpPr txBox="true"/>
          <p:nvPr/>
        </p:nvSpPr>
        <p:spPr>
          <a:xfrm rot="0">
            <a:off x="1033463" y="7114981"/>
            <a:ext cx="16235362" cy="1075944"/>
          </a:xfrm>
          <a:prstGeom prst="rect">
            <a:avLst/>
          </a:prstGeom>
        </p:spPr>
        <p:txBody>
          <a:bodyPr anchor="t" rtlCol="false" tIns="0" lIns="0" bIns="0" rIns="0">
            <a:spAutoFit/>
          </a:bodyPr>
          <a:lstStyle/>
          <a:p>
            <a:pPr algn="l">
              <a:lnSpc>
                <a:spcPts val="2808"/>
              </a:lnSpc>
            </a:pPr>
            <a:r>
              <a:rPr lang="en-US" sz="2400" spc="-72">
                <a:solidFill>
                  <a:srgbClr val="000000"/>
                </a:solidFill>
                <a:latin typeface="Times New Roman"/>
                <a:ea typeface="Times New Roman"/>
                <a:cs typeface="Times New Roman"/>
                <a:sym typeface="Times New Roman"/>
              </a:rPr>
              <a:t>Existing AI token economies operate on</a:t>
            </a:r>
            <a:r>
              <a:rPr lang="en-US" sz="2400" spc="-72">
                <a:solidFill>
                  <a:srgbClr val="000000"/>
                </a:solidFill>
                <a:latin typeface="Times New Roman"/>
                <a:ea typeface="Times New Roman"/>
                <a:cs typeface="Times New Roman"/>
                <a:sym typeface="Times New Roman"/>
              </a:rPr>
              <a:t> a one-way consumption model: tokens are spent, value is depleted, and the user retains nothing. TokenTrust introduces a circular model where data contribution is evaluated through DQI, compensated via Reward Token, converted into Data Credit, and reinvested into service access. Refund does not exist anywhere in the current AI token market. TokenTrust makes it structural.</a:t>
            </a:r>
          </a:p>
        </p:txBody>
      </p:sp>
      <p:sp>
        <p:nvSpPr>
          <p:cNvPr name="TextBox 7" id="7"/>
          <p:cNvSpPr txBox="true"/>
          <p:nvPr/>
        </p:nvSpPr>
        <p:spPr>
          <a:xfrm rot="0">
            <a:off x="3522836" y="4443412"/>
            <a:ext cx="13736464" cy="1352550"/>
          </a:xfrm>
          <a:prstGeom prst="rect">
            <a:avLst/>
          </a:prstGeom>
        </p:spPr>
        <p:txBody>
          <a:bodyPr anchor="t" rtlCol="false" tIns="0" lIns="0" bIns="0" rIns="0">
            <a:spAutoFit/>
          </a:bodyPr>
          <a:lstStyle/>
          <a:p>
            <a:pPr algn="r">
              <a:lnSpc>
                <a:spcPts val="10320"/>
              </a:lnSpc>
            </a:pPr>
            <a:r>
              <a:rPr lang="en-US" sz="8600" spc="-344">
                <a:solidFill>
                  <a:srgbClr val="000000"/>
                </a:solidFill>
                <a:latin typeface="Times New Roman"/>
                <a:ea typeface="Times New Roman"/>
                <a:cs typeface="Times New Roman"/>
                <a:sym typeface="Times New Roman"/>
              </a:rPr>
              <a:t>Refund &amp; Compensation Logic</a:t>
            </a:r>
          </a:p>
        </p:txBody>
      </p:sp>
      <p:sp>
        <p:nvSpPr>
          <p:cNvPr name="TextBox 8" id="8"/>
          <p:cNvSpPr txBox="true"/>
          <p:nvPr/>
        </p:nvSpPr>
        <p:spPr>
          <a:xfrm rot="0">
            <a:off x="1033463" y="2385531"/>
            <a:ext cx="5806076" cy="371475"/>
          </a:xfrm>
          <a:prstGeom prst="rect">
            <a:avLst/>
          </a:prstGeom>
        </p:spPr>
        <p:txBody>
          <a:bodyPr anchor="t" rtlCol="false" tIns="0" lIns="0" bIns="0" rIns="0">
            <a:spAutoFit/>
          </a:bodyPr>
          <a:lstStyle/>
          <a:p>
            <a:pPr algn="l">
              <a:lnSpc>
                <a:spcPts val="2879"/>
              </a:lnSpc>
            </a:pPr>
            <a:r>
              <a:rPr lang="en-US" sz="2399" spc="-95">
                <a:solidFill>
                  <a:srgbClr val="000000">
                    <a:alpha val="49804"/>
                  </a:srgbClr>
                </a:solidFill>
                <a:latin typeface="Times New Roman"/>
                <a:ea typeface="Times New Roman"/>
                <a:cs typeface="Times New Roman"/>
                <a:sym typeface="Times New Roman"/>
              </a:rPr>
              <a:t>Use → Deplete</a:t>
            </a:r>
          </a:p>
        </p:txBody>
      </p:sp>
      <p:sp>
        <p:nvSpPr>
          <p:cNvPr name="TextBox 9" id="9"/>
          <p:cNvSpPr txBox="true"/>
          <p:nvPr/>
        </p:nvSpPr>
        <p:spPr>
          <a:xfrm rot="0">
            <a:off x="1028700" y="2985145"/>
            <a:ext cx="5593631"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Use → Refund → Recirculate</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Axis III: Interplatform Value Management</a:t>
            </a:r>
          </a:p>
        </p:txBody>
      </p:sp>
      <p:sp>
        <p:nvSpPr>
          <p:cNvPr name="TextBox 4" id="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13</a:t>
            </a:r>
          </a:p>
        </p:txBody>
      </p:sp>
      <p:sp>
        <p:nvSpPr>
          <p:cNvPr name="TextBox 5" id="5"/>
          <p:cNvSpPr txBox="true"/>
          <p:nvPr/>
        </p:nvSpPr>
        <p:spPr>
          <a:xfrm rot="0">
            <a:off x="1028700" y="4535805"/>
            <a:ext cx="15130388" cy="1339215"/>
          </a:xfrm>
          <a:prstGeom prst="rect">
            <a:avLst/>
          </a:prstGeom>
        </p:spPr>
        <p:txBody>
          <a:bodyPr anchor="t" rtlCol="false" tIns="0" lIns="0" bIns="0" rIns="0">
            <a:spAutoFit/>
          </a:bodyPr>
          <a:lstStyle/>
          <a:p>
            <a:pPr algn="l">
              <a:lnSpc>
                <a:spcPts val="9600"/>
              </a:lnSpc>
            </a:pPr>
            <a:r>
              <a:rPr lang="en-US" sz="9600" spc="-288">
                <a:solidFill>
                  <a:srgbClr val="000000"/>
                </a:solidFill>
                <a:latin typeface="Times New Roman"/>
                <a:ea typeface="Times New Roman"/>
                <a:cs typeface="Times New Roman"/>
                <a:sym typeface="Times New Roman"/>
              </a:rPr>
              <a:t>Interplatform Value Management</a:t>
            </a:r>
          </a:p>
        </p:txBody>
      </p:sp>
      <p:sp>
        <p:nvSpPr>
          <p:cNvPr name="TextBox 6" id="6"/>
          <p:cNvSpPr txBox="true"/>
          <p:nvPr/>
        </p:nvSpPr>
        <p:spPr>
          <a:xfrm rot="0">
            <a:off x="1028700" y="5903595"/>
            <a:ext cx="16230600" cy="852805"/>
          </a:xfrm>
          <a:prstGeom prst="rect">
            <a:avLst/>
          </a:prstGeom>
        </p:spPr>
        <p:txBody>
          <a:bodyPr anchor="t" rtlCol="false" tIns="0" lIns="0" bIns="0" rIns="0">
            <a:spAutoFit/>
          </a:bodyPr>
          <a:lstStyle/>
          <a:p>
            <a:pPr algn="l">
              <a:lnSpc>
                <a:spcPts val="3200"/>
              </a:lnSpc>
            </a:pPr>
            <a:r>
              <a:rPr lang="en-US" sz="3200" spc="-96">
                <a:solidFill>
                  <a:srgbClr val="000000"/>
                </a:solidFill>
                <a:latin typeface="Times New Roman"/>
                <a:ea typeface="Times New Roman"/>
                <a:cs typeface="Times New Roman"/>
                <a:sym typeface="Times New Roman"/>
              </a:rPr>
              <a:t>Existing platforms aggregate services. TokenTrust consolidates value. Like VISA unified payments across banks, we unify token value across AI platforms. Your data doesn't lose worth when it moves.</a:t>
            </a:r>
          </a:p>
        </p:txBody>
      </p:sp>
      <p:sp>
        <p:nvSpPr>
          <p:cNvPr name="TextBox 7" id="7"/>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38225"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Axis I: Data Traceability</a:t>
            </a:r>
          </a:p>
        </p:txBody>
      </p:sp>
      <p:sp>
        <p:nvSpPr>
          <p:cNvPr name="TextBox 4" id="4"/>
          <p:cNvSpPr txBox="true"/>
          <p:nvPr/>
        </p:nvSpPr>
        <p:spPr>
          <a:xfrm rot="0">
            <a:off x="13213268"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14</a:t>
            </a:r>
          </a:p>
        </p:txBody>
      </p:sp>
      <p:sp>
        <p:nvSpPr>
          <p:cNvPr name="TextBox 5" id="5"/>
          <p:cNvSpPr txBox="true"/>
          <p:nvPr/>
        </p:nvSpPr>
        <p:spPr>
          <a:xfrm rot="0">
            <a:off x="9136856" y="3113732"/>
            <a:ext cx="8122444" cy="371475"/>
          </a:xfrm>
          <a:prstGeom prst="rect">
            <a:avLst/>
          </a:prstGeom>
        </p:spPr>
        <p:txBody>
          <a:bodyPr anchor="t" rtlCol="false" tIns="0" lIns="0" bIns="0" rIns="0">
            <a:spAutoFit/>
          </a:bodyPr>
          <a:lstStyle/>
          <a:p>
            <a:pPr algn="r">
              <a:lnSpc>
                <a:spcPts val="2879"/>
              </a:lnSpc>
            </a:pPr>
            <a:r>
              <a:rPr lang="en-US" sz="2399" spc="-95">
                <a:solidFill>
                  <a:srgbClr val="000000"/>
                </a:solidFill>
                <a:latin typeface="Times New Roman"/>
                <a:ea typeface="Times New Roman"/>
                <a:cs typeface="Times New Roman"/>
                <a:sym typeface="Times New Roman"/>
              </a:rPr>
              <a:t>Why TokenTrust, rather than other AI interplatforms?</a:t>
            </a:r>
          </a:p>
        </p:txBody>
      </p:sp>
      <p:sp>
        <p:nvSpPr>
          <p:cNvPr name="TextBox 6" id="6"/>
          <p:cNvSpPr txBox="true"/>
          <p:nvPr/>
        </p:nvSpPr>
        <p:spPr>
          <a:xfrm rot="0">
            <a:off x="1033463" y="7114981"/>
            <a:ext cx="16235362" cy="1075944"/>
          </a:xfrm>
          <a:prstGeom prst="rect">
            <a:avLst/>
          </a:prstGeom>
        </p:spPr>
        <p:txBody>
          <a:bodyPr anchor="t" rtlCol="false" tIns="0" lIns="0" bIns="0" rIns="0">
            <a:spAutoFit/>
          </a:bodyPr>
          <a:lstStyle/>
          <a:p>
            <a:pPr algn="l">
              <a:lnSpc>
                <a:spcPts val="2808"/>
              </a:lnSpc>
            </a:pPr>
            <a:r>
              <a:rPr lang="en-US" sz="2400" spc="-72">
                <a:solidFill>
                  <a:srgbClr val="000000"/>
                </a:solidFill>
                <a:latin typeface="Times New Roman"/>
                <a:ea typeface="Times New Roman"/>
                <a:cs typeface="Times New Roman"/>
                <a:sym typeface="Times New Roman"/>
              </a:rPr>
              <a:t>Existing interplatfor</a:t>
            </a:r>
            <a:r>
              <a:rPr lang="en-US" sz="2400" spc="-72">
                <a:solidFill>
                  <a:srgbClr val="000000"/>
                </a:solidFill>
                <a:latin typeface="Times New Roman"/>
                <a:ea typeface="Times New Roman"/>
                <a:cs typeface="Times New Roman"/>
                <a:sym typeface="Times New Roman"/>
              </a:rPr>
              <a:t>m models unify service access across AI providers. They move data, not value. TokenTrust functions as the value consolidation layer: a unified exchange infrastructure where tokens carry measurable worth across platforms, are priced by demand, and remain portable. The shift is from data pipes to value pipes.</a:t>
            </a:r>
          </a:p>
        </p:txBody>
      </p:sp>
      <p:sp>
        <p:nvSpPr>
          <p:cNvPr name="TextBox 7" id="7"/>
          <p:cNvSpPr txBox="true"/>
          <p:nvPr/>
        </p:nvSpPr>
        <p:spPr>
          <a:xfrm rot="0">
            <a:off x="3522836" y="4443412"/>
            <a:ext cx="13736464" cy="1352550"/>
          </a:xfrm>
          <a:prstGeom prst="rect">
            <a:avLst/>
          </a:prstGeom>
        </p:spPr>
        <p:txBody>
          <a:bodyPr anchor="t" rtlCol="false" tIns="0" lIns="0" bIns="0" rIns="0">
            <a:spAutoFit/>
          </a:bodyPr>
          <a:lstStyle/>
          <a:p>
            <a:pPr algn="r">
              <a:lnSpc>
                <a:spcPts val="10320"/>
              </a:lnSpc>
            </a:pPr>
            <a:r>
              <a:rPr lang="en-US" sz="8600" spc="-344">
                <a:solidFill>
                  <a:srgbClr val="000000"/>
                </a:solidFill>
                <a:latin typeface="Times New Roman"/>
                <a:ea typeface="Times New Roman"/>
                <a:cs typeface="Times New Roman"/>
                <a:sym typeface="Times New Roman"/>
              </a:rPr>
              <a:t>Unified Value Flow</a:t>
            </a:r>
          </a:p>
        </p:txBody>
      </p:sp>
      <p:sp>
        <p:nvSpPr>
          <p:cNvPr name="TextBox 8" id="8"/>
          <p:cNvSpPr txBox="true"/>
          <p:nvPr/>
        </p:nvSpPr>
        <p:spPr>
          <a:xfrm rot="0">
            <a:off x="1033463" y="2385531"/>
            <a:ext cx="5806076" cy="371475"/>
          </a:xfrm>
          <a:prstGeom prst="rect">
            <a:avLst/>
          </a:prstGeom>
        </p:spPr>
        <p:txBody>
          <a:bodyPr anchor="t" rtlCol="false" tIns="0" lIns="0" bIns="0" rIns="0">
            <a:spAutoFit/>
          </a:bodyPr>
          <a:lstStyle/>
          <a:p>
            <a:pPr algn="l">
              <a:lnSpc>
                <a:spcPts val="2879"/>
              </a:lnSpc>
            </a:pPr>
            <a:r>
              <a:rPr lang="en-US" sz="2399" spc="-95">
                <a:solidFill>
                  <a:srgbClr val="000000">
                    <a:alpha val="49804"/>
                  </a:srgbClr>
                </a:solidFill>
                <a:latin typeface="Times New Roman"/>
                <a:ea typeface="Times New Roman"/>
                <a:cs typeface="Times New Roman"/>
                <a:sym typeface="Times New Roman"/>
              </a:rPr>
              <a:t>Aggregate services</a:t>
            </a:r>
          </a:p>
        </p:txBody>
      </p:sp>
      <p:sp>
        <p:nvSpPr>
          <p:cNvPr name="TextBox 9" id="9"/>
          <p:cNvSpPr txBox="true"/>
          <p:nvPr/>
        </p:nvSpPr>
        <p:spPr>
          <a:xfrm rot="0">
            <a:off x="1028700" y="2985145"/>
            <a:ext cx="3485704"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Consolidates value</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Axis IV: Holistic Regulatory Alternative</a:t>
            </a:r>
          </a:p>
        </p:txBody>
      </p:sp>
      <p:sp>
        <p:nvSpPr>
          <p:cNvPr name="TextBox 4" id="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15</a:t>
            </a:r>
          </a:p>
        </p:txBody>
      </p:sp>
      <p:sp>
        <p:nvSpPr>
          <p:cNvPr name="TextBox 5" id="5"/>
          <p:cNvSpPr txBox="true"/>
          <p:nvPr/>
        </p:nvSpPr>
        <p:spPr>
          <a:xfrm rot="0">
            <a:off x="1028700" y="4535805"/>
            <a:ext cx="14170447" cy="1339215"/>
          </a:xfrm>
          <a:prstGeom prst="rect">
            <a:avLst/>
          </a:prstGeom>
        </p:spPr>
        <p:txBody>
          <a:bodyPr anchor="t" rtlCol="false" tIns="0" lIns="0" bIns="0" rIns="0">
            <a:spAutoFit/>
          </a:bodyPr>
          <a:lstStyle/>
          <a:p>
            <a:pPr algn="l">
              <a:lnSpc>
                <a:spcPts val="9600"/>
              </a:lnSpc>
            </a:pPr>
            <a:r>
              <a:rPr lang="en-US" sz="9600" spc="-288">
                <a:solidFill>
                  <a:srgbClr val="000000"/>
                </a:solidFill>
                <a:latin typeface="Times New Roman"/>
                <a:ea typeface="Times New Roman"/>
                <a:cs typeface="Times New Roman"/>
                <a:sym typeface="Times New Roman"/>
              </a:rPr>
              <a:t>Holistic Regulatory Alternative</a:t>
            </a:r>
          </a:p>
        </p:txBody>
      </p:sp>
      <p:sp>
        <p:nvSpPr>
          <p:cNvPr name="TextBox 6" id="6"/>
          <p:cNvSpPr txBox="true"/>
          <p:nvPr/>
        </p:nvSpPr>
        <p:spPr>
          <a:xfrm rot="0">
            <a:off x="1028700" y="5903595"/>
            <a:ext cx="16230600" cy="452755"/>
          </a:xfrm>
          <a:prstGeom prst="rect">
            <a:avLst/>
          </a:prstGeom>
        </p:spPr>
        <p:txBody>
          <a:bodyPr anchor="t" rtlCol="false" tIns="0" lIns="0" bIns="0" rIns="0">
            <a:spAutoFit/>
          </a:bodyPr>
          <a:lstStyle/>
          <a:p>
            <a:pPr algn="l">
              <a:lnSpc>
                <a:spcPts val="3200"/>
              </a:lnSpc>
            </a:pPr>
            <a:r>
              <a:rPr lang="en-US" sz="3200" spc="-96">
                <a:solidFill>
                  <a:srgbClr val="000000"/>
                </a:solidFill>
                <a:latin typeface="Times New Roman"/>
                <a:ea typeface="Times New Roman"/>
                <a:cs typeface="Times New Roman"/>
                <a:sym typeface="Times New Roman"/>
              </a:rPr>
              <a:t>Regulation is not a cost of compliance, but a prerequisite for value creation.</a:t>
            </a:r>
          </a:p>
        </p:txBody>
      </p:sp>
      <p:sp>
        <p:nvSpPr>
          <p:cNvPr name="TextBox 7" id="7"/>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Axis I: Data Traceability</a:t>
            </a:r>
          </a:p>
        </p:txBody>
      </p:sp>
      <p:sp>
        <p:nvSpPr>
          <p:cNvPr name="TextBox 4" id="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16</a:t>
            </a:r>
          </a:p>
        </p:txBody>
      </p:sp>
      <p:sp>
        <p:nvSpPr>
          <p:cNvPr name="TextBox 5" id="5"/>
          <p:cNvSpPr txBox="true"/>
          <p:nvPr/>
        </p:nvSpPr>
        <p:spPr>
          <a:xfrm rot="0">
            <a:off x="9136856" y="3113732"/>
            <a:ext cx="8122444" cy="371475"/>
          </a:xfrm>
          <a:prstGeom prst="rect">
            <a:avLst/>
          </a:prstGeom>
        </p:spPr>
        <p:txBody>
          <a:bodyPr anchor="t" rtlCol="false" tIns="0" lIns="0" bIns="0" rIns="0">
            <a:spAutoFit/>
          </a:bodyPr>
          <a:lstStyle/>
          <a:p>
            <a:pPr algn="r">
              <a:lnSpc>
                <a:spcPts val="2879"/>
              </a:lnSpc>
            </a:pPr>
            <a:r>
              <a:rPr lang="en-US" sz="2399" spc="-95">
                <a:solidFill>
                  <a:srgbClr val="000000"/>
                </a:solidFill>
                <a:latin typeface="Times New Roman"/>
                <a:ea typeface="Times New Roman"/>
                <a:cs typeface="Times New Roman"/>
                <a:sym typeface="Times New Roman"/>
              </a:rPr>
              <a:t>Regulation activates the other three axes.</a:t>
            </a:r>
          </a:p>
        </p:txBody>
      </p:sp>
      <p:sp>
        <p:nvSpPr>
          <p:cNvPr name="TextBox 6" id="6"/>
          <p:cNvSpPr txBox="true"/>
          <p:nvPr/>
        </p:nvSpPr>
        <p:spPr>
          <a:xfrm rot="0">
            <a:off x="1033463" y="7114981"/>
            <a:ext cx="16235362" cy="1075944"/>
          </a:xfrm>
          <a:prstGeom prst="rect">
            <a:avLst/>
          </a:prstGeom>
        </p:spPr>
        <p:txBody>
          <a:bodyPr anchor="t" rtlCol="false" tIns="0" lIns="0" bIns="0" rIns="0">
            <a:spAutoFit/>
          </a:bodyPr>
          <a:lstStyle/>
          <a:p>
            <a:pPr algn="l">
              <a:lnSpc>
                <a:spcPts val="2808"/>
              </a:lnSpc>
            </a:pPr>
            <a:r>
              <a:rPr lang="en-US" sz="2400" spc="-72">
                <a:solidFill>
                  <a:srgbClr val="000000"/>
                </a:solidFill>
                <a:latin typeface="Times New Roman"/>
                <a:ea typeface="Times New Roman"/>
                <a:cs typeface="Times New Roman"/>
                <a:sym typeface="Times New Roman"/>
              </a:rPr>
              <a:t>Every competitor in the AI regulatory</a:t>
            </a:r>
            <a:r>
              <a:rPr lang="en-US" sz="2400" spc="-72">
                <a:solidFill>
                  <a:srgbClr val="000000"/>
                </a:solidFill>
                <a:latin typeface="Times New Roman"/>
                <a:ea typeface="Times New Roman"/>
                <a:cs typeface="Times New Roman"/>
                <a:sym typeface="Times New Roman"/>
              </a:rPr>
              <a:t> compliance market operates from a penalty avoidance perspective. TokenTrust reframes compliance as user reward. PIPEDA, FINTRAC, CBPR, and ISO/IEC 42001 are not obligations to manage but infrastructure to build on. Without regulatory foundation, traceability has no legal weight, refund has no enforceable structure, and interplatform exchange has no jurisdictional legitimacy.</a:t>
            </a:r>
          </a:p>
        </p:txBody>
      </p:sp>
      <p:sp>
        <p:nvSpPr>
          <p:cNvPr name="TextBox 7" id="7"/>
          <p:cNvSpPr txBox="true"/>
          <p:nvPr/>
        </p:nvSpPr>
        <p:spPr>
          <a:xfrm rot="0">
            <a:off x="3522836" y="4443412"/>
            <a:ext cx="13736464" cy="1352550"/>
          </a:xfrm>
          <a:prstGeom prst="rect">
            <a:avLst/>
          </a:prstGeom>
        </p:spPr>
        <p:txBody>
          <a:bodyPr anchor="t" rtlCol="false" tIns="0" lIns="0" bIns="0" rIns="0">
            <a:spAutoFit/>
          </a:bodyPr>
          <a:lstStyle/>
          <a:p>
            <a:pPr algn="r">
              <a:lnSpc>
                <a:spcPts val="10320"/>
              </a:lnSpc>
            </a:pPr>
            <a:r>
              <a:rPr lang="en-US" sz="8600" spc="-344">
                <a:solidFill>
                  <a:srgbClr val="000000"/>
                </a:solidFill>
                <a:latin typeface="Times New Roman"/>
                <a:ea typeface="Times New Roman"/>
                <a:cs typeface="Times New Roman"/>
                <a:sym typeface="Times New Roman"/>
              </a:rPr>
              <a:t>Regulation-Driven Value</a:t>
            </a:r>
          </a:p>
        </p:txBody>
      </p:sp>
      <p:sp>
        <p:nvSpPr>
          <p:cNvPr name="TextBox 8" id="8"/>
          <p:cNvSpPr txBox="true"/>
          <p:nvPr/>
        </p:nvSpPr>
        <p:spPr>
          <a:xfrm rot="0">
            <a:off x="1033463" y="2385531"/>
            <a:ext cx="5806076" cy="371475"/>
          </a:xfrm>
          <a:prstGeom prst="rect">
            <a:avLst/>
          </a:prstGeom>
        </p:spPr>
        <p:txBody>
          <a:bodyPr anchor="t" rtlCol="false" tIns="0" lIns="0" bIns="0" rIns="0">
            <a:spAutoFit/>
          </a:bodyPr>
          <a:lstStyle/>
          <a:p>
            <a:pPr algn="l">
              <a:lnSpc>
                <a:spcPts val="2879"/>
              </a:lnSpc>
            </a:pPr>
            <a:r>
              <a:rPr lang="en-US" sz="2399" spc="-95">
                <a:solidFill>
                  <a:srgbClr val="000000">
                    <a:alpha val="49804"/>
                  </a:srgbClr>
                </a:solidFill>
                <a:latin typeface="Times New Roman"/>
                <a:ea typeface="Times New Roman"/>
                <a:cs typeface="Times New Roman"/>
                <a:sym typeface="Times New Roman"/>
              </a:rPr>
              <a:t>Risk &amp; Penalty</a:t>
            </a:r>
          </a:p>
        </p:txBody>
      </p:sp>
      <p:sp>
        <p:nvSpPr>
          <p:cNvPr name="TextBox 9" id="9"/>
          <p:cNvSpPr txBox="true"/>
          <p:nvPr/>
        </p:nvSpPr>
        <p:spPr>
          <a:xfrm rot="0">
            <a:off x="1028700" y="2985145"/>
            <a:ext cx="3598590"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Service Foundation</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098338" y="1097043"/>
            <a:ext cx="8091323" cy="8092913"/>
          </a:xfrm>
          <a:custGeom>
            <a:avLst/>
            <a:gdLst/>
            <a:ahLst/>
            <a:cxnLst/>
            <a:rect r="r" b="b" t="t" l="l"/>
            <a:pathLst>
              <a:path h="8092913" w="8091323">
                <a:moveTo>
                  <a:pt x="0" y="0"/>
                </a:moveTo>
                <a:lnTo>
                  <a:pt x="8091324" y="0"/>
                </a:lnTo>
                <a:lnTo>
                  <a:pt x="8091324" y="8092914"/>
                </a:lnTo>
                <a:lnTo>
                  <a:pt x="0" y="8092914"/>
                </a:lnTo>
                <a:lnTo>
                  <a:pt x="0" y="0"/>
                </a:lnTo>
                <a:close/>
              </a:path>
            </a:pathLst>
          </a:custGeom>
          <a:blipFill>
            <a:blip r:embed="rId2"/>
            <a:stretch>
              <a:fillRect l="-24852" t="-6149" r="-27582" b="-1486"/>
            </a:stretch>
          </a:blipFill>
        </p:spPr>
      </p:sp>
      <p:sp>
        <p:nvSpPr>
          <p:cNvPr name="TextBox 3" id="3"/>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Value Mapping</a:t>
            </a:r>
          </a:p>
        </p:txBody>
      </p:sp>
      <p:sp>
        <p:nvSpPr>
          <p:cNvPr name="TextBox 5" id="5"/>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17</a:t>
            </a:r>
          </a:p>
        </p:txBody>
      </p:sp>
      <p:sp>
        <p:nvSpPr>
          <p:cNvPr name="TextBox 6" id="6"/>
          <p:cNvSpPr txBox="true"/>
          <p:nvPr/>
        </p:nvSpPr>
        <p:spPr>
          <a:xfrm rot="0">
            <a:off x="1031135" y="4824412"/>
            <a:ext cx="2853630"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Value Mapping</a:t>
            </a:r>
          </a:p>
        </p:txBody>
      </p:sp>
      <p:sp>
        <p:nvSpPr>
          <p:cNvPr name="TextBox 7" id="7"/>
          <p:cNvSpPr txBox="true"/>
          <p:nvPr/>
        </p:nvSpPr>
        <p:spPr>
          <a:xfrm rot="0">
            <a:off x="1031135" y="5434013"/>
            <a:ext cx="2642146" cy="371475"/>
          </a:xfrm>
          <a:prstGeom prst="rect">
            <a:avLst/>
          </a:prstGeom>
        </p:spPr>
        <p:txBody>
          <a:bodyPr anchor="t" rtlCol="false" tIns="0" lIns="0" bIns="0" rIns="0">
            <a:spAutoFit/>
          </a:bodyPr>
          <a:lstStyle/>
          <a:p>
            <a:pPr algn="l">
              <a:lnSpc>
                <a:spcPts val="2879"/>
              </a:lnSpc>
            </a:pPr>
            <a:r>
              <a:rPr lang="en-US" sz="2399" spc="-95">
                <a:solidFill>
                  <a:srgbClr val="000000">
                    <a:alpha val="49804"/>
                  </a:srgbClr>
                </a:solidFill>
                <a:latin typeface="Times New Roman"/>
                <a:ea typeface="Times New Roman"/>
                <a:cs typeface="Times New Roman"/>
                <a:sym typeface="Times New Roman"/>
              </a:rPr>
              <a:t>Token Economy Model</a:t>
            </a:r>
          </a:p>
        </p:txBody>
      </p:sp>
      <p:sp>
        <p:nvSpPr>
          <p:cNvPr name="TextBox 8" id="8"/>
          <p:cNvSpPr txBox="true"/>
          <p:nvPr/>
        </p:nvSpPr>
        <p:spPr>
          <a:xfrm rot="0">
            <a:off x="12122008" y="8286750"/>
            <a:ext cx="5137292" cy="971550"/>
          </a:xfrm>
          <a:prstGeom prst="rect">
            <a:avLst/>
          </a:prstGeom>
        </p:spPr>
        <p:txBody>
          <a:bodyPr anchor="t" rtlCol="false" tIns="0" lIns="0" bIns="0" rIns="0">
            <a:spAutoFit/>
          </a:bodyPr>
          <a:lstStyle/>
          <a:p>
            <a:pPr algn="r">
              <a:lnSpc>
                <a:spcPts val="1919"/>
              </a:lnSpc>
            </a:pPr>
            <a:r>
              <a:rPr lang="en-US" sz="1599" spc="-47">
                <a:solidFill>
                  <a:srgbClr val="000000">
                    <a:alpha val="49804"/>
                  </a:srgbClr>
                </a:solidFill>
                <a:latin typeface="Times New Roman"/>
                <a:ea typeface="Times New Roman"/>
                <a:cs typeface="Times New Roman"/>
                <a:sym typeface="Times New Roman"/>
              </a:rPr>
              <a:t>Each value axis contains eight operational factors. The connections between axes represent structural dependencies: Traceability enables Refund, Regulatory governs all axes, and Interplatform requires all three to be operational before activation.</a:t>
            </a:r>
          </a:p>
        </p:txBody>
      </p:sp>
      <p:sp>
        <p:nvSpPr>
          <p:cNvPr name="TextBox 9" id="9"/>
          <p:cNvSpPr txBox="true"/>
          <p:nvPr/>
        </p:nvSpPr>
        <p:spPr>
          <a:xfrm rot="0">
            <a:off x="15078670" y="4953000"/>
            <a:ext cx="2180630" cy="371475"/>
          </a:xfrm>
          <a:prstGeom prst="rect">
            <a:avLst/>
          </a:prstGeom>
        </p:spPr>
        <p:txBody>
          <a:bodyPr anchor="t" rtlCol="false" tIns="0" lIns="0" bIns="0" rIns="0">
            <a:spAutoFit/>
          </a:bodyPr>
          <a:lstStyle/>
          <a:p>
            <a:pPr algn="r">
              <a:lnSpc>
                <a:spcPts val="2879"/>
              </a:lnSpc>
            </a:pPr>
            <a:r>
              <a:rPr lang="en-US" sz="2399" spc="-95">
                <a:solidFill>
                  <a:srgbClr val="000000">
                    <a:alpha val="49804"/>
                  </a:srgbClr>
                </a:solidFill>
                <a:latin typeface="Times New Roman"/>
                <a:ea typeface="Times New Roman"/>
                <a:cs typeface="Times New Roman"/>
                <a:sym typeface="Times New Roman"/>
              </a:rPr>
              <a:t>Operational Factors</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38225" y="1730324"/>
            <a:ext cx="15854471" cy="5535949"/>
          </a:xfrm>
          <a:custGeom>
            <a:avLst/>
            <a:gdLst/>
            <a:ahLst/>
            <a:cxnLst/>
            <a:rect r="r" b="b" t="t" l="l"/>
            <a:pathLst>
              <a:path h="5535949" w="15854471">
                <a:moveTo>
                  <a:pt x="0" y="0"/>
                </a:moveTo>
                <a:lnTo>
                  <a:pt x="15854471" y="0"/>
                </a:lnTo>
                <a:lnTo>
                  <a:pt x="15854471" y="5535949"/>
                </a:lnTo>
                <a:lnTo>
                  <a:pt x="0" y="5535949"/>
                </a:lnTo>
                <a:lnTo>
                  <a:pt x="0" y="0"/>
                </a:lnTo>
                <a:close/>
              </a:path>
            </a:pathLst>
          </a:custGeom>
          <a:blipFill>
            <a:blip r:embed="rId2"/>
            <a:stretch>
              <a:fillRect l="-2312" t="-20450" r="0" b="-5545"/>
            </a:stretch>
          </a:blipFill>
        </p:spPr>
      </p:sp>
      <p:sp>
        <p:nvSpPr>
          <p:cNvPr name="TextBox 3" id="3"/>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Strategic Roadmap</a:t>
            </a:r>
          </a:p>
        </p:txBody>
      </p:sp>
      <p:sp>
        <p:nvSpPr>
          <p:cNvPr name="TextBox 5" id="5"/>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18</a:t>
            </a:r>
          </a:p>
        </p:txBody>
      </p:sp>
      <p:sp>
        <p:nvSpPr>
          <p:cNvPr name="TextBox 6" id="6"/>
          <p:cNvSpPr txBox="true"/>
          <p:nvPr/>
        </p:nvSpPr>
        <p:spPr>
          <a:xfrm rot="0">
            <a:off x="7419293" y="1158824"/>
            <a:ext cx="771897" cy="571500"/>
          </a:xfrm>
          <a:prstGeom prst="rect">
            <a:avLst/>
          </a:prstGeom>
        </p:spPr>
        <p:txBody>
          <a:bodyPr anchor="t" rtlCol="false" tIns="0" lIns="0" bIns="0" rIns="0">
            <a:spAutoFit/>
          </a:bodyPr>
          <a:lstStyle/>
          <a:p>
            <a:pPr algn="ctr">
              <a:lnSpc>
                <a:spcPts val="4320"/>
              </a:lnSpc>
            </a:pPr>
            <a:r>
              <a:rPr lang="en-US" sz="3600" spc="-144">
                <a:solidFill>
                  <a:srgbClr val="000000"/>
                </a:solidFill>
                <a:latin typeface="Times New Roman"/>
                <a:ea typeface="Times New Roman"/>
                <a:cs typeface="Times New Roman"/>
                <a:sym typeface="Times New Roman"/>
              </a:rPr>
              <a:t>H - I</a:t>
            </a:r>
          </a:p>
        </p:txBody>
      </p:sp>
      <p:sp>
        <p:nvSpPr>
          <p:cNvPr name="TextBox 7" id="7"/>
          <p:cNvSpPr txBox="true"/>
          <p:nvPr/>
        </p:nvSpPr>
        <p:spPr>
          <a:xfrm rot="0">
            <a:off x="12052521" y="1158824"/>
            <a:ext cx="905842" cy="571500"/>
          </a:xfrm>
          <a:prstGeom prst="rect">
            <a:avLst/>
          </a:prstGeom>
        </p:spPr>
        <p:txBody>
          <a:bodyPr anchor="t" rtlCol="false" tIns="0" lIns="0" bIns="0" rIns="0">
            <a:spAutoFit/>
          </a:bodyPr>
          <a:lstStyle/>
          <a:p>
            <a:pPr algn="ctr">
              <a:lnSpc>
                <a:spcPts val="4320"/>
              </a:lnSpc>
            </a:pPr>
            <a:r>
              <a:rPr lang="en-US" sz="3600" spc="-144">
                <a:solidFill>
                  <a:srgbClr val="000000"/>
                </a:solidFill>
                <a:latin typeface="Times New Roman"/>
                <a:ea typeface="Times New Roman"/>
                <a:cs typeface="Times New Roman"/>
                <a:sym typeface="Times New Roman"/>
              </a:rPr>
              <a:t>H - II</a:t>
            </a:r>
          </a:p>
        </p:txBody>
      </p:sp>
      <p:sp>
        <p:nvSpPr>
          <p:cNvPr name="TextBox 8" id="8"/>
          <p:cNvSpPr txBox="true"/>
          <p:nvPr/>
        </p:nvSpPr>
        <p:spPr>
          <a:xfrm rot="0">
            <a:off x="16219512" y="1158824"/>
            <a:ext cx="1039788" cy="571500"/>
          </a:xfrm>
          <a:prstGeom prst="rect">
            <a:avLst/>
          </a:prstGeom>
        </p:spPr>
        <p:txBody>
          <a:bodyPr anchor="t" rtlCol="false" tIns="0" lIns="0" bIns="0" rIns="0">
            <a:spAutoFit/>
          </a:bodyPr>
          <a:lstStyle/>
          <a:p>
            <a:pPr algn="ctr">
              <a:lnSpc>
                <a:spcPts val="4320"/>
              </a:lnSpc>
            </a:pPr>
            <a:r>
              <a:rPr lang="en-US" sz="3600" spc="-144">
                <a:solidFill>
                  <a:srgbClr val="000000"/>
                </a:solidFill>
                <a:latin typeface="Times New Roman"/>
                <a:ea typeface="Times New Roman"/>
                <a:cs typeface="Times New Roman"/>
                <a:sym typeface="Times New Roman"/>
              </a:rPr>
              <a:t>H - III</a:t>
            </a:r>
          </a:p>
        </p:txBody>
      </p:sp>
      <p:sp>
        <p:nvSpPr>
          <p:cNvPr name="TextBox 9" id="9"/>
          <p:cNvSpPr txBox="true"/>
          <p:nvPr/>
        </p:nvSpPr>
        <p:spPr>
          <a:xfrm rot="0">
            <a:off x="7318623" y="7680627"/>
            <a:ext cx="9940677" cy="674370"/>
          </a:xfrm>
          <a:prstGeom prst="rect">
            <a:avLst/>
          </a:prstGeom>
        </p:spPr>
        <p:txBody>
          <a:bodyPr anchor="t" rtlCol="false" tIns="0" lIns="0" bIns="0" rIns="0">
            <a:spAutoFit/>
          </a:bodyPr>
          <a:lstStyle/>
          <a:p>
            <a:pPr algn="r">
              <a:lnSpc>
                <a:spcPts val="4800"/>
              </a:lnSpc>
            </a:pPr>
            <a:r>
              <a:rPr lang="en-US" sz="4800" spc="-144">
                <a:solidFill>
                  <a:srgbClr val="000000"/>
                </a:solidFill>
                <a:latin typeface="Times New Roman"/>
                <a:ea typeface="Times New Roman"/>
                <a:cs typeface="Times New Roman"/>
                <a:sym typeface="Times New Roman"/>
              </a:rPr>
              <a:t>Strategic Roadmap Across Four Value Axes</a:t>
            </a:r>
          </a:p>
        </p:txBody>
      </p:sp>
      <p:sp>
        <p:nvSpPr>
          <p:cNvPr name="TextBox 10" id="10"/>
          <p:cNvSpPr txBox="true"/>
          <p:nvPr/>
        </p:nvSpPr>
        <p:spPr>
          <a:xfrm rot="0">
            <a:off x="1038225" y="8374047"/>
            <a:ext cx="16221075" cy="527050"/>
          </a:xfrm>
          <a:prstGeom prst="rect">
            <a:avLst/>
          </a:prstGeom>
        </p:spPr>
        <p:txBody>
          <a:bodyPr anchor="t" rtlCol="false" tIns="0" lIns="0" bIns="0" rIns="0">
            <a:spAutoFit/>
          </a:bodyPr>
          <a:lstStyle/>
          <a:p>
            <a:pPr algn="r">
              <a:lnSpc>
                <a:spcPts val="2000"/>
              </a:lnSpc>
            </a:pPr>
            <a:r>
              <a:rPr lang="en-US" sz="2000" spc="-60">
                <a:solidFill>
                  <a:srgbClr val="000000">
                    <a:alpha val="49804"/>
                  </a:srgbClr>
                </a:solidFill>
                <a:latin typeface="Times New Roman"/>
                <a:ea typeface="Times New Roman"/>
                <a:cs typeface="Times New Roman"/>
                <a:sym typeface="Times New Roman"/>
              </a:rPr>
              <a:t>Each value axis activates at a different horizon. Data Traceability is the earliest prerequisite, Regulatory spans all phases, Refund begins at pilot stage, and Interplatform opens only after cross-border governance is secured</a:t>
            </a:r>
          </a:p>
        </p:txBody>
      </p:sp>
      <p:sp>
        <p:nvSpPr>
          <p:cNvPr name="TextBox 11" id="11"/>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19</a:t>
            </a:r>
          </a:p>
        </p:txBody>
      </p:sp>
      <p:sp>
        <p:nvSpPr>
          <p:cNvPr name="TextBox 4" id="4"/>
          <p:cNvSpPr txBox="true"/>
          <p:nvPr/>
        </p:nvSpPr>
        <p:spPr>
          <a:xfrm rot="0">
            <a:off x="1028700" y="6431412"/>
            <a:ext cx="16235362" cy="1339215"/>
          </a:xfrm>
          <a:prstGeom prst="rect">
            <a:avLst/>
          </a:prstGeom>
        </p:spPr>
        <p:txBody>
          <a:bodyPr anchor="t" rtlCol="false" tIns="0" lIns="0" bIns="0" rIns="0">
            <a:spAutoFit/>
          </a:bodyPr>
          <a:lstStyle/>
          <a:p>
            <a:pPr algn="r">
              <a:lnSpc>
                <a:spcPts val="9600"/>
              </a:lnSpc>
              <a:spcBef>
                <a:spcPct val="0"/>
              </a:spcBef>
            </a:pPr>
            <a:r>
              <a:rPr lang="en-US" sz="9600" spc="-288">
                <a:solidFill>
                  <a:srgbClr val="000000"/>
                </a:solidFill>
                <a:latin typeface="Times New Roman"/>
                <a:ea typeface="Times New Roman"/>
                <a:cs typeface="Times New Roman"/>
                <a:sym typeface="Times New Roman"/>
              </a:rPr>
              <a:t>"Can we legally operate?</a:t>
            </a:r>
            <a:r>
              <a:rPr lang="en-US" sz="9600" spc="-288">
                <a:solidFill>
                  <a:srgbClr val="000000"/>
                </a:solidFill>
                <a:latin typeface="Times New Roman"/>
                <a:ea typeface="Times New Roman"/>
                <a:cs typeface="Times New Roman"/>
                <a:sym typeface="Times New Roman"/>
              </a:rPr>
              <a:t>"</a:t>
            </a:r>
          </a:p>
        </p:txBody>
      </p:sp>
      <p:sp>
        <p:nvSpPr>
          <p:cNvPr name="TextBox 5" id="5"/>
          <p:cNvSpPr txBox="true"/>
          <p:nvPr/>
        </p:nvSpPr>
        <p:spPr>
          <a:xfrm rot="0">
            <a:off x="1028700" y="8142102"/>
            <a:ext cx="16235362" cy="867791"/>
          </a:xfrm>
          <a:prstGeom prst="rect">
            <a:avLst/>
          </a:prstGeom>
        </p:spPr>
        <p:txBody>
          <a:bodyPr anchor="t" rtlCol="false" tIns="0" lIns="0" bIns="0" rIns="0">
            <a:spAutoFit/>
          </a:bodyPr>
          <a:lstStyle/>
          <a:p>
            <a:pPr algn="r">
              <a:lnSpc>
                <a:spcPts val="1612"/>
              </a:lnSpc>
            </a:pPr>
            <a:r>
              <a:rPr lang="en-US" sz="2600" spc="-78">
                <a:solidFill>
                  <a:srgbClr val="000000"/>
                </a:solidFill>
                <a:latin typeface="Times New Roman"/>
                <a:ea typeface="Times New Roman"/>
                <a:cs typeface="Times New Roman"/>
                <a:sym typeface="Times New Roman"/>
              </a:rPr>
              <a:t>Establish</a:t>
            </a:r>
            <a:r>
              <a:rPr lang="en-US" sz="2600" spc="-78">
                <a:solidFill>
                  <a:srgbClr val="000000"/>
                </a:solidFill>
                <a:latin typeface="Times New Roman"/>
                <a:ea typeface="Times New Roman"/>
                <a:cs typeface="Times New Roman"/>
                <a:sym typeface="Times New Roman"/>
              </a:rPr>
              <a:t> PIPEDA compli</a:t>
            </a:r>
            <a:r>
              <a:rPr lang="en-US" sz="2600" spc="-78">
                <a:solidFill>
                  <a:srgbClr val="000000"/>
                </a:solidFill>
                <a:latin typeface="Times New Roman"/>
                <a:ea typeface="Times New Roman"/>
                <a:cs typeface="Times New Roman"/>
                <a:sym typeface="Times New Roman"/>
              </a:rPr>
              <a:t>ance framework &amp; consent logging (Schedule 1, Principle 4.3)</a:t>
            </a:r>
          </a:p>
          <a:p>
            <a:pPr algn="r">
              <a:lnSpc>
                <a:spcPts val="1612"/>
              </a:lnSpc>
            </a:pPr>
          </a:p>
          <a:p>
            <a:pPr algn="r">
              <a:lnSpc>
                <a:spcPts val="1612"/>
              </a:lnSpc>
            </a:pPr>
            <a:r>
              <a:rPr lang="en-US" sz="2600" spc="-78">
                <a:solidFill>
                  <a:srgbClr val="000000"/>
                </a:solidFill>
                <a:latin typeface="Times New Roman"/>
                <a:ea typeface="Times New Roman"/>
                <a:cs typeface="Times New Roman"/>
                <a:sym typeface="Times New Roman"/>
              </a:rPr>
              <a:t>Designate CIPP/C-certified Data Protection Officer (Principle 4.1)</a:t>
            </a:r>
          </a:p>
          <a:p>
            <a:pPr algn="r">
              <a:lnSpc>
                <a:spcPts val="1612"/>
              </a:lnSpc>
            </a:pPr>
          </a:p>
        </p:txBody>
      </p:sp>
      <p:sp>
        <p:nvSpPr>
          <p:cNvPr name="TextBox 6" id="6"/>
          <p:cNvSpPr txBox="true"/>
          <p:nvPr/>
        </p:nvSpPr>
        <p:spPr>
          <a:xfrm rot="0">
            <a:off x="8770590" y="2839244"/>
            <a:ext cx="8488710" cy="371475"/>
          </a:xfrm>
          <a:prstGeom prst="rect">
            <a:avLst/>
          </a:prstGeom>
        </p:spPr>
        <p:txBody>
          <a:bodyPr anchor="t" rtlCol="false" tIns="0" lIns="0" bIns="0" rIns="0">
            <a:spAutoFit/>
          </a:bodyPr>
          <a:lstStyle/>
          <a:p>
            <a:pPr algn="r">
              <a:lnSpc>
                <a:spcPts val="2879"/>
              </a:lnSpc>
            </a:pPr>
            <a:r>
              <a:rPr lang="en-US" sz="2400" spc="-96">
                <a:solidFill>
                  <a:srgbClr val="000000">
                    <a:alpha val="49804"/>
                  </a:srgbClr>
                </a:solidFill>
                <a:latin typeface="Times New Roman"/>
                <a:ea typeface="Times New Roman"/>
                <a:cs typeface="Times New Roman"/>
                <a:sym typeface="Times New Roman"/>
              </a:rPr>
              <a:t>Register with FINTRAC as a Money Services Business (PCMLTFA, s. 5(h))</a:t>
            </a:r>
          </a:p>
        </p:txBody>
      </p:sp>
      <p:sp>
        <p:nvSpPr>
          <p:cNvPr name="TextBox 7" id="7"/>
          <p:cNvSpPr txBox="true"/>
          <p:nvPr/>
        </p:nvSpPr>
        <p:spPr>
          <a:xfrm rot="0">
            <a:off x="1023938" y="1577181"/>
            <a:ext cx="6636059" cy="2000250"/>
          </a:xfrm>
          <a:prstGeom prst="rect">
            <a:avLst/>
          </a:prstGeom>
        </p:spPr>
        <p:txBody>
          <a:bodyPr anchor="t" rtlCol="false" tIns="0" lIns="0" bIns="0" rIns="0">
            <a:spAutoFit/>
          </a:bodyPr>
          <a:lstStyle/>
          <a:p>
            <a:pPr algn="l">
              <a:lnSpc>
                <a:spcPts val="15360"/>
              </a:lnSpc>
            </a:pPr>
            <a:r>
              <a:rPr lang="en-US" sz="12800" spc="-512">
                <a:solidFill>
                  <a:srgbClr val="000000"/>
                </a:solidFill>
                <a:latin typeface="Times New Roman"/>
                <a:ea typeface="Times New Roman"/>
                <a:cs typeface="Times New Roman"/>
                <a:sym typeface="Times New Roman"/>
              </a:rPr>
              <a:t>H - I</a:t>
            </a:r>
          </a:p>
        </p:txBody>
      </p:sp>
      <p:sp>
        <p:nvSpPr>
          <p:cNvPr name="TextBox 8" id="8"/>
          <p:cNvSpPr txBox="true"/>
          <p:nvPr/>
        </p:nvSpPr>
        <p:spPr>
          <a:xfrm rot="0">
            <a:off x="1023938" y="3606006"/>
            <a:ext cx="16235362" cy="361315"/>
          </a:xfrm>
          <a:prstGeom prst="rect">
            <a:avLst/>
          </a:prstGeom>
        </p:spPr>
        <p:txBody>
          <a:bodyPr anchor="t" rtlCol="false" tIns="0" lIns="0" bIns="0" rIns="0">
            <a:spAutoFit/>
          </a:bodyPr>
          <a:lstStyle/>
          <a:p>
            <a:pPr algn="l">
              <a:lnSpc>
                <a:spcPts val="2600"/>
              </a:lnSpc>
              <a:spcBef>
                <a:spcPct val="0"/>
              </a:spcBef>
            </a:pPr>
            <a:r>
              <a:rPr lang="en-US" sz="2600" spc="-78">
                <a:solidFill>
                  <a:srgbClr val="000000">
                    <a:alpha val="49804"/>
                  </a:srgbClr>
                </a:solidFill>
                <a:latin typeface="Times New Roman"/>
                <a:ea typeface="Times New Roman"/>
                <a:cs typeface="Times New Roman"/>
                <a:sym typeface="Times New Roman"/>
              </a:rPr>
              <a:t>[Present</a:t>
            </a:r>
            <a:r>
              <a:rPr lang="en-US" sz="2600" spc="-78">
                <a:solidFill>
                  <a:srgbClr val="000000">
                    <a:alpha val="49804"/>
                  </a:srgbClr>
                </a:solidFill>
                <a:latin typeface="Times New Roman"/>
                <a:ea typeface="Times New Roman"/>
                <a:cs typeface="Times New Roman"/>
                <a:sym typeface="Times New Roman"/>
              </a:rPr>
              <a:t>]</a:t>
            </a:r>
          </a:p>
        </p:txBody>
      </p:sp>
      <p:sp>
        <p:nvSpPr>
          <p:cNvPr name="TextBox 9" id="9"/>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Strategic Roadmap : Regulatory Body</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20</a:t>
            </a:r>
          </a:p>
        </p:txBody>
      </p:sp>
      <p:sp>
        <p:nvSpPr>
          <p:cNvPr name="TextBox 4" id="4"/>
          <p:cNvSpPr txBox="true"/>
          <p:nvPr/>
        </p:nvSpPr>
        <p:spPr>
          <a:xfrm rot="0">
            <a:off x="1028700" y="6431412"/>
            <a:ext cx="16235362" cy="1339215"/>
          </a:xfrm>
          <a:prstGeom prst="rect">
            <a:avLst/>
          </a:prstGeom>
        </p:spPr>
        <p:txBody>
          <a:bodyPr anchor="t" rtlCol="false" tIns="0" lIns="0" bIns="0" rIns="0">
            <a:spAutoFit/>
          </a:bodyPr>
          <a:lstStyle/>
          <a:p>
            <a:pPr algn="r">
              <a:lnSpc>
                <a:spcPts val="9600"/>
              </a:lnSpc>
              <a:spcBef>
                <a:spcPct val="0"/>
              </a:spcBef>
            </a:pPr>
            <a:r>
              <a:rPr lang="en-US" sz="9600" spc="-288">
                <a:solidFill>
                  <a:srgbClr val="000000"/>
                </a:solidFill>
                <a:latin typeface="Times New Roman"/>
                <a:ea typeface="Times New Roman"/>
                <a:cs typeface="Times New Roman"/>
                <a:sym typeface="Times New Roman"/>
              </a:rPr>
              <a:t>"Who governs our governance?</a:t>
            </a:r>
            <a:r>
              <a:rPr lang="en-US" sz="9600" spc="-288">
                <a:solidFill>
                  <a:srgbClr val="000000"/>
                </a:solidFill>
                <a:latin typeface="Times New Roman"/>
                <a:ea typeface="Times New Roman"/>
                <a:cs typeface="Times New Roman"/>
                <a:sym typeface="Times New Roman"/>
              </a:rPr>
              <a:t>"</a:t>
            </a:r>
          </a:p>
        </p:txBody>
      </p:sp>
      <p:sp>
        <p:nvSpPr>
          <p:cNvPr name="TextBox 5" id="5"/>
          <p:cNvSpPr txBox="true"/>
          <p:nvPr/>
        </p:nvSpPr>
        <p:spPr>
          <a:xfrm rot="0">
            <a:off x="1028700" y="8142102"/>
            <a:ext cx="16235362" cy="867791"/>
          </a:xfrm>
          <a:prstGeom prst="rect">
            <a:avLst/>
          </a:prstGeom>
        </p:spPr>
        <p:txBody>
          <a:bodyPr anchor="t" rtlCol="false" tIns="0" lIns="0" bIns="0" rIns="0">
            <a:spAutoFit/>
          </a:bodyPr>
          <a:lstStyle/>
          <a:p>
            <a:pPr algn="r">
              <a:lnSpc>
                <a:spcPts val="1612"/>
              </a:lnSpc>
            </a:pPr>
            <a:r>
              <a:rPr lang="en-US" sz="2600" spc="-78">
                <a:solidFill>
                  <a:srgbClr val="000000"/>
                </a:solidFill>
                <a:latin typeface="Times New Roman"/>
                <a:ea typeface="Times New Roman"/>
                <a:cs typeface="Times New Roman"/>
                <a:sym typeface="Times New Roman"/>
              </a:rPr>
              <a:t>App</a:t>
            </a:r>
            <a:r>
              <a:rPr lang="en-US" sz="2600" spc="-78">
                <a:solidFill>
                  <a:srgbClr val="000000"/>
                </a:solidFill>
                <a:latin typeface="Times New Roman"/>
                <a:ea typeface="Times New Roman"/>
                <a:cs typeface="Times New Roman"/>
                <a:sym typeface="Times New Roman"/>
              </a:rPr>
              <a:t>ly for</a:t>
            </a:r>
            <a:r>
              <a:rPr lang="en-US" sz="2600" spc="-78">
                <a:solidFill>
                  <a:srgbClr val="000000"/>
                </a:solidFill>
                <a:latin typeface="Times New Roman"/>
                <a:ea typeface="Times New Roman"/>
                <a:cs typeface="Times New Roman"/>
                <a:sym typeface="Times New Roman"/>
              </a:rPr>
              <a:t> OPC regulatory s</a:t>
            </a:r>
            <a:r>
              <a:rPr lang="en-US" sz="2600" spc="-78">
                <a:solidFill>
                  <a:srgbClr val="000000"/>
                </a:solidFill>
                <a:latin typeface="Times New Roman"/>
                <a:ea typeface="Times New Roman"/>
                <a:cs typeface="Times New Roman"/>
                <a:sym typeface="Times New Roman"/>
              </a:rPr>
              <a:t>andbox for token-based data exchange</a:t>
            </a:r>
          </a:p>
          <a:p>
            <a:pPr algn="r">
              <a:lnSpc>
                <a:spcPts val="1612"/>
              </a:lnSpc>
            </a:pPr>
          </a:p>
          <a:p>
            <a:pPr algn="r">
              <a:lnSpc>
                <a:spcPts val="1612"/>
              </a:lnSpc>
            </a:pPr>
            <a:r>
              <a:rPr lang="en-US" sz="2600" spc="-78">
                <a:solidFill>
                  <a:srgbClr val="000000"/>
                </a:solidFill>
                <a:latin typeface="Times New Roman"/>
                <a:ea typeface="Times New Roman"/>
                <a:cs typeface="Times New Roman"/>
                <a:sym typeface="Times New Roman"/>
              </a:rPr>
              <a:t>Activate PACC network for government channel access</a:t>
            </a:r>
          </a:p>
          <a:p>
            <a:pPr algn="r">
              <a:lnSpc>
                <a:spcPts val="1612"/>
              </a:lnSpc>
            </a:pPr>
          </a:p>
        </p:txBody>
      </p:sp>
      <p:sp>
        <p:nvSpPr>
          <p:cNvPr name="TextBox 6" id="6"/>
          <p:cNvSpPr txBox="true"/>
          <p:nvPr/>
        </p:nvSpPr>
        <p:spPr>
          <a:xfrm rot="0">
            <a:off x="8851255" y="2839244"/>
            <a:ext cx="8408045" cy="371475"/>
          </a:xfrm>
          <a:prstGeom prst="rect">
            <a:avLst/>
          </a:prstGeom>
        </p:spPr>
        <p:txBody>
          <a:bodyPr anchor="t" rtlCol="false" tIns="0" lIns="0" bIns="0" rIns="0">
            <a:spAutoFit/>
          </a:bodyPr>
          <a:lstStyle/>
          <a:p>
            <a:pPr algn="r">
              <a:lnSpc>
                <a:spcPts val="2879"/>
              </a:lnSpc>
            </a:pPr>
            <a:r>
              <a:rPr lang="en-US" sz="2400" spc="-96">
                <a:solidFill>
                  <a:srgbClr val="000000">
                    <a:alpha val="49804"/>
                  </a:srgbClr>
                </a:solidFill>
                <a:latin typeface="Times New Roman"/>
                <a:ea typeface="Times New Roman"/>
                <a:cs typeface="Times New Roman"/>
                <a:sym typeface="Times New Roman"/>
              </a:rPr>
              <a:t>Build advisory relationship with OPC (Office of the Privacy Commissioner)</a:t>
            </a:r>
          </a:p>
        </p:txBody>
      </p:sp>
      <p:sp>
        <p:nvSpPr>
          <p:cNvPr name="TextBox 7" id="7"/>
          <p:cNvSpPr txBox="true"/>
          <p:nvPr/>
        </p:nvSpPr>
        <p:spPr>
          <a:xfrm rot="0">
            <a:off x="1023937" y="1577181"/>
            <a:ext cx="7133830" cy="2000250"/>
          </a:xfrm>
          <a:prstGeom prst="rect">
            <a:avLst/>
          </a:prstGeom>
        </p:spPr>
        <p:txBody>
          <a:bodyPr anchor="t" rtlCol="false" tIns="0" lIns="0" bIns="0" rIns="0">
            <a:spAutoFit/>
          </a:bodyPr>
          <a:lstStyle/>
          <a:p>
            <a:pPr algn="l">
              <a:lnSpc>
                <a:spcPts val="15360"/>
              </a:lnSpc>
            </a:pPr>
            <a:r>
              <a:rPr lang="en-US" sz="12800" spc="-512">
                <a:solidFill>
                  <a:srgbClr val="000000"/>
                </a:solidFill>
                <a:latin typeface="Times New Roman"/>
                <a:ea typeface="Times New Roman"/>
                <a:cs typeface="Times New Roman"/>
                <a:sym typeface="Times New Roman"/>
              </a:rPr>
              <a:t>H - II</a:t>
            </a:r>
          </a:p>
        </p:txBody>
      </p:sp>
      <p:sp>
        <p:nvSpPr>
          <p:cNvPr name="TextBox 8" id="8"/>
          <p:cNvSpPr txBox="true"/>
          <p:nvPr/>
        </p:nvSpPr>
        <p:spPr>
          <a:xfrm rot="0">
            <a:off x="1023938" y="3606006"/>
            <a:ext cx="16235362" cy="361315"/>
          </a:xfrm>
          <a:prstGeom prst="rect">
            <a:avLst/>
          </a:prstGeom>
        </p:spPr>
        <p:txBody>
          <a:bodyPr anchor="t" rtlCol="false" tIns="0" lIns="0" bIns="0" rIns="0">
            <a:spAutoFit/>
          </a:bodyPr>
          <a:lstStyle/>
          <a:p>
            <a:pPr algn="l">
              <a:lnSpc>
                <a:spcPts val="2600"/>
              </a:lnSpc>
              <a:spcBef>
                <a:spcPct val="0"/>
              </a:spcBef>
            </a:pPr>
            <a:r>
              <a:rPr lang="en-US" sz="2600" spc="-78">
                <a:solidFill>
                  <a:srgbClr val="000000">
                    <a:alpha val="49804"/>
                  </a:srgbClr>
                </a:solidFill>
                <a:latin typeface="Times New Roman"/>
                <a:ea typeface="Times New Roman"/>
                <a:cs typeface="Times New Roman"/>
                <a:sym typeface="Times New Roman"/>
              </a:rPr>
              <a:t>[Y1–Y3</a:t>
            </a:r>
            <a:r>
              <a:rPr lang="en-US" sz="2600" spc="-78">
                <a:solidFill>
                  <a:srgbClr val="000000">
                    <a:alpha val="49804"/>
                  </a:srgbClr>
                </a:solidFill>
                <a:latin typeface="Times New Roman"/>
                <a:ea typeface="Times New Roman"/>
                <a:cs typeface="Times New Roman"/>
                <a:sym typeface="Times New Roman"/>
              </a:rPr>
              <a:t>]</a:t>
            </a:r>
          </a:p>
        </p:txBody>
      </p:sp>
      <p:sp>
        <p:nvSpPr>
          <p:cNvPr name="TextBox 9" id="9"/>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Strategic Roadmap : Regulatory Body</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21</a:t>
            </a:r>
          </a:p>
        </p:txBody>
      </p:sp>
      <p:sp>
        <p:nvSpPr>
          <p:cNvPr name="TextBox 4" id="4"/>
          <p:cNvSpPr txBox="true"/>
          <p:nvPr/>
        </p:nvSpPr>
        <p:spPr>
          <a:xfrm rot="0">
            <a:off x="1028700" y="6431412"/>
            <a:ext cx="16235362" cy="1339215"/>
          </a:xfrm>
          <a:prstGeom prst="rect">
            <a:avLst/>
          </a:prstGeom>
        </p:spPr>
        <p:txBody>
          <a:bodyPr anchor="t" rtlCol="false" tIns="0" lIns="0" bIns="0" rIns="0">
            <a:spAutoFit/>
          </a:bodyPr>
          <a:lstStyle/>
          <a:p>
            <a:pPr algn="r">
              <a:lnSpc>
                <a:spcPts val="9600"/>
              </a:lnSpc>
              <a:spcBef>
                <a:spcPct val="0"/>
              </a:spcBef>
            </a:pPr>
            <a:r>
              <a:rPr lang="en-US" sz="9600" spc="-288">
                <a:solidFill>
                  <a:srgbClr val="000000"/>
                </a:solidFill>
                <a:latin typeface="Times New Roman"/>
                <a:ea typeface="Times New Roman"/>
                <a:cs typeface="Times New Roman"/>
                <a:sym typeface="Times New Roman"/>
              </a:rPr>
              <a:t>"Can our data cross borders?</a:t>
            </a:r>
            <a:r>
              <a:rPr lang="en-US" sz="9600" spc="-288">
                <a:solidFill>
                  <a:srgbClr val="000000"/>
                </a:solidFill>
                <a:latin typeface="Times New Roman"/>
                <a:ea typeface="Times New Roman"/>
                <a:cs typeface="Times New Roman"/>
                <a:sym typeface="Times New Roman"/>
              </a:rPr>
              <a:t>"</a:t>
            </a:r>
          </a:p>
        </p:txBody>
      </p:sp>
      <p:sp>
        <p:nvSpPr>
          <p:cNvPr name="TextBox 5" id="5"/>
          <p:cNvSpPr txBox="true"/>
          <p:nvPr/>
        </p:nvSpPr>
        <p:spPr>
          <a:xfrm rot="0">
            <a:off x="1028700" y="8142102"/>
            <a:ext cx="16235362" cy="867791"/>
          </a:xfrm>
          <a:prstGeom prst="rect">
            <a:avLst/>
          </a:prstGeom>
        </p:spPr>
        <p:txBody>
          <a:bodyPr anchor="t" rtlCol="false" tIns="0" lIns="0" bIns="0" rIns="0">
            <a:spAutoFit/>
          </a:bodyPr>
          <a:lstStyle/>
          <a:p>
            <a:pPr algn="r">
              <a:lnSpc>
                <a:spcPts val="1612"/>
              </a:lnSpc>
            </a:pPr>
            <a:r>
              <a:rPr lang="en-US" sz="2600" spc="-78">
                <a:solidFill>
                  <a:srgbClr val="000000"/>
                </a:solidFill>
                <a:latin typeface="Times New Roman"/>
                <a:ea typeface="Times New Roman"/>
                <a:cs typeface="Times New Roman"/>
                <a:sym typeface="Times New Roman"/>
              </a:rPr>
              <a:t>Ac</a:t>
            </a:r>
            <a:r>
              <a:rPr lang="en-US" sz="2600" spc="-78">
                <a:solidFill>
                  <a:srgbClr val="000000"/>
                </a:solidFill>
                <a:latin typeface="Times New Roman"/>
                <a:ea typeface="Times New Roman"/>
                <a:cs typeface="Times New Roman"/>
                <a:sym typeface="Times New Roman"/>
              </a:rPr>
              <a:t>hieve</a:t>
            </a:r>
            <a:r>
              <a:rPr lang="en-US" sz="2600" spc="-78">
                <a:solidFill>
                  <a:srgbClr val="000000"/>
                </a:solidFill>
                <a:latin typeface="Times New Roman"/>
                <a:ea typeface="Times New Roman"/>
                <a:cs typeface="Times New Roman"/>
                <a:sym typeface="Times New Roman"/>
              </a:rPr>
              <a:t> ISO/IEC 42001 AI M</a:t>
            </a:r>
            <a:r>
              <a:rPr lang="en-US" sz="2600" spc="-78">
                <a:solidFill>
                  <a:srgbClr val="000000"/>
                </a:solidFill>
                <a:latin typeface="Times New Roman"/>
                <a:ea typeface="Times New Roman"/>
                <a:cs typeface="Times New Roman"/>
                <a:sym typeface="Times New Roman"/>
              </a:rPr>
              <a:t>anagement System certification</a:t>
            </a:r>
          </a:p>
          <a:p>
            <a:pPr algn="r">
              <a:lnSpc>
                <a:spcPts val="1612"/>
              </a:lnSpc>
            </a:pPr>
          </a:p>
          <a:p>
            <a:pPr algn="r">
              <a:lnSpc>
                <a:spcPts val="1612"/>
              </a:lnSpc>
            </a:pPr>
            <a:r>
              <a:rPr lang="en-US" sz="2600" spc="-78">
                <a:solidFill>
                  <a:srgbClr val="000000"/>
                </a:solidFill>
                <a:latin typeface="Times New Roman"/>
                <a:ea typeface="Times New Roman"/>
                <a:cs typeface="Times New Roman"/>
                <a:sym typeface="Times New Roman"/>
              </a:rPr>
              <a:t>Establish international governance standard as TokenTrust scales globally</a:t>
            </a:r>
          </a:p>
          <a:p>
            <a:pPr algn="r">
              <a:lnSpc>
                <a:spcPts val="1612"/>
              </a:lnSpc>
            </a:pPr>
          </a:p>
        </p:txBody>
      </p:sp>
      <p:sp>
        <p:nvSpPr>
          <p:cNvPr name="TextBox 6" id="6"/>
          <p:cNvSpPr txBox="true"/>
          <p:nvPr/>
        </p:nvSpPr>
        <p:spPr>
          <a:xfrm rot="0">
            <a:off x="9037141" y="2839244"/>
            <a:ext cx="8222159" cy="371475"/>
          </a:xfrm>
          <a:prstGeom prst="rect">
            <a:avLst/>
          </a:prstGeom>
        </p:spPr>
        <p:txBody>
          <a:bodyPr anchor="t" rtlCol="false" tIns="0" lIns="0" bIns="0" rIns="0">
            <a:spAutoFit/>
          </a:bodyPr>
          <a:lstStyle/>
          <a:p>
            <a:pPr algn="r">
              <a:lnSpc>
                <a:spcPts val="2879"/>
              </a:lnSpc>
            </a:pPr>
            <a:r>
              <a:rPr lang="en-US" sz="2400" spc="-96">
                <a:solidFill>
                  <a:srgbClr val="000000">
                    <a:alpha val="49804"/>
                  </a:srgbClr>
                </a:solidFill>
                <a:latin typeface="Times New Roman"/>
                <a:ea typeface="Times New Roman"/>
                <a:cs typeface="Times New Roman"/>
                <a:sym typeface="Times New Roman"/>
              </a:rPr>
              <a:t>Pursue Global CBPR certification for cross-border data transfer legitimacy</a:t>
            </a:r>
          </a:p>
        </p:txBody>
      </p:sp>
      <p:sp>
        <p:nvSpPr>
          <p:cNvPr name="TextBox 7" id="7"/>
          <p:cNvSpPr txBox="true"/>
          <p:nvPr/>
        </p:nvSpPr>
        <p:spPr>
          <a:xfrm rot="0">
            <a:off x="1023938" y="1577181"/>
            <a:ext cx="7346210" cy="2000250"/>
          </a:xfrm>
          <a:prstGeom prst="rect">
            <a:avLst/>
          </a:prstGeom>
        </p:spPr>
        <p:txBody>
          <a:bodyPr anchor="t" rtlCol="false" tIns="0" lIns="0" bIns="0" rIns="0">
            <a:spAutoFit/>
          </a:bodyPr>
          <a:lstStyle/>
          <a:p>
            <a:pPr algn="l">
              <a:lnSpc>
                <a:spcPts val="15360"/>
              </a:lnSpc>
            </a:pPr>
            <a:r>
              <a:rPr lang="en-US" sz="12800" spc="-512">
                <a:solidFill>
                  <a:srgbClr val="000000"/>
                </a:solidFill>
                <a:latin typeface="Times New Roman"/>
                <a:ea typeface="Times New Roman"/>
                <a:cs typeface="Times New Roman"/>
                <a:sym typeface="Times New Roman"/>
              </a:rPr>
              <a:t>H - III</a:t>
            </a:r>
          </a:p>
        </p:txBody>
      </p:sp>
      <p:sp>
        <p:nvSpPr>
          <p:cNvPr name="TextBox 8" id="8"/>
          <p:cNvSpPr txBox="true"/>
          <p:nvPr/>
        </p:nvSpPr>
        <p:spPr>
          <a:xfrm rot="0">
            <a:off x="1023938" y="3606006"/>
            <a:ext cx="16235362" cy="361315"/>
          </a:xfrm>
          <a:prstGeom prst="rect">
            <a:avLst/>
          </a:prstGeom>
        </p:spPr>
        <p:txBody>
          <a:bodyPr anchor="t" rtlCol="false" tIns="0" lIns="0" bIns="0" rIns="0">
            <a:spAutoFit/>
          </a:bodyPr>
          <a:lstStyle/>
          <a:p>
            <a:pPr algn="l">
              <a:lnSpc>
                <a:spcPts val="2600"/>
              </a:lnSpc>
              <a:spcBef>
                <a:spcPct val="0"/>
              </a:spcBef>
            </a:pPr>
            <a:r>
              <a:rPr lang="en-US" sz="2600" spc="-78">
                <a:solidFill>
                  <a:srgbClr val="000000">
                    <a:alpha val="49804"/>
                  </a:srgbClr>
                </a:solidFill>
                <a:latin typeface="Times New Roman"/>
                <a:ea typeface="Times New Roman"/>
                <a:cs typeface="Times New Roman"/>
                <a:sym typeface="Times New Roman"/>
              </a:rPr>
              <a:t>[Y3+</a:t>
            </a:r>
            <a:r>
              <a:rPr lang="en-US" sz="2600" spc="-78">
                <a:solidFill>
                  <a:srgbClr val="000000">
                    <a:alpha val="49804"/>
                  </a:srgbClr>
                </a:solidFill>
                <a:latin typeface="Times New Roman"/>
                <a:ea typeface="Times New Roman"/>
                <a:cs typeface="Times New Roman"/>
                <a:sym typeface="Times New Roman"/>
              </a:rPr>
              <a:t>]</a:t>
            </a:r>
          </a:p>
        </p:txBody>
      </p:sp>
      <p:sp>
        <p:nvSpPr>
          <p:cNvPr name="TextBox 9" id="9"/>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Strategic Roadmap : Regulatory Body</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40938" y="2581275"/>
            <a:ext cx="16218362" cy="1600200"/>
          </a:xfrm>
          <a:prstGeom prst="rect">
            <a:avLst/>
          </a:prstGeom>
        </p:spPr>
        <p:txBody>
          <a:bodyPr anchor="t" rtlCol="false" tIns="0" lIns="0" bIns="0" rIns="0">
            <a:spAutoFit/>
          </a:bodyPr>
          <a:lstStyle/>
          <a:p>
            <a:pPr algn="l">
              <a:lnSpc>
                <a:spcPts val="6000"/>
              </a:lnSpc>
            </a:pPr>
            <a:r>
              <a:rPr lang="en-US" sz="6000" spc="-89">
                <a:solidFill>
                  <a:srgbClr val="000000"/>
                </a:solidFill>
                <a:latin typeface="Times New Roman"/>
                <a:ea typeface="Times New Roman"/>
                <a:cs typeface="Times New Roman"/>
                <a:sym typeface="Times New Roman"/>
              </a:rPr>
              <a:t>What regulatory infrastructure must be in place before TokenTrust can operate?</a:t>
            </a:r>
          </a:p>
        </p:txBody>
      </p:sp>
      <p:sp>
        <p:nvSpPr>
          <p:cNvPr name="TextBox 3" id="3"/>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Regulatory Infrastructure</a:t>
            </a:r>
          </a:p>
        </p:txBody>
      </p:sp>
      <p:sp>
        <p:nvSpPr>
          <p:cNvPr name="AutoShape 5" id="5"/>
          <p:cNvSpPr/>
          <p:nvPr/>
        </p:nvSpPr>
        <p:spPr>
          <a:xfrm>
            <a:off x="1028700" y="5138738"/>
            <a:ext cx="16230600" cy="0"/>
          </a:xfrm>
          <a:prstGeom prst="line">
            <a:avLst/>
          </a:prstGeom>
          <a:ln cap="flat" w="9525">
            <a:solidFill>
              <a:srgbClr val="000000">
                <a:alpha val="49804"/>
              </a:srgbClr>
            </a:solidFill>
            <a:prstDash val="solid"/>
            <a:headEnd type="none" len="sm" w="sm"/>
            <a:tailEnd type="none" len="sm" w="sm"/>
          </a:ln>
        </p:spPr>
      </p:sp>
      <p:sp>
        <p:nvSpPr>
          <p:cNvPr name="TextBox 6" id="6"/>
          <p:cNvSpPr txBox="true"/>
          <p:nvPr/>
        </p:nvSpPr>
        <p:spPr>
          <a:xfrm rot="0">
            <a:off x="1040938" y="6040041"/>
            <a:ext cx="3631093" cy="838200"/>
          </a:xfrm>
          <a:prstGeom prst="rect">
            <a:avLst/>
          </a:prstGeom>
        </p:spPr>
        <p:txBody>
          <a:bodyPr anchor="t" rtlCol="false" tIns="0" lIns="0" bIns="0" rIns="0">
            <a:spAutoFit/>
          </a:bodyPr>
          <a:lstStyle/>
          <a:p>
            <a:pPr algn="l">
              <a:lnSpc>
                <a:spcPts val="5850"/>
              </a:lnSpc>
            </a:pPr>
            <a:r>
              <a:rPr lang="en-US" sz="6500" spc="-195">
                <a:solidFill>
                  <a:srgbClr val="000000"/>
                </a:solidFill>
                <a:latin typeface="Times New Roman"/>
                <a:ea typeface="Times New Roman"/>
                <a:cs typeface="Times New Roman"/>
                <a:sym typeface="Times New Roman"/>
              </a:rPr>
              <a:t>PIPEDA</a:t>
            </a:r>
          </a:p>
        </p:txBody>
      </p:sp>
      <p:sp>
        <p:nvSpPr>
          <p:cNvPr name="TextBox 7" id="7"/>
          <p:cNvSpPr txBox="true"/>
          <p:nvPr/>
        </p:nvSpPr>
        <p:spPr>
          <a:xfrm rot="0">
            <a:off x="1040938" y="7244159"/>
            <a:ext cx="4532072" cy="1270000"/>
          </a:xfrm>
          <a:prstGeom prst="rect">
            <a:avLst/>
          </a:prstGeom>
        </p:spPr>
        <p:txBody>
          <a:bodyPr anchor="t" rtlCol="false" tIns="0" lIns="0" bIns="0" rIns="0">
            <a:spAutoFit/>
          </a:bodyPr>
          <a:lstStyle/>
          <a:p>
            <a:pPr algn="l">
              <a:lnSpc>
                <a:spcPts val="2000"/>
              </a:lnSpc>
            </a:pPr>
            <a:r>
              <a:rPr lang="en-US" sz="2000" spc="-60">
                <a:solidFill>
                  <a:srgbClr val="000000">
                    <a:alpha val="49804"/>
                  </a:srgbClr>
                </a:solidFill>
                <a:latin typeface="Times New Roman"/>
                <a:ea typeface="Times New Roman"/>
                <a:cs typeface="Times New Roman"/>
                <a:sym typeface="Times New Roman"/>
              </a:rPr>
              <a:t>PIPEDA applies at every layer: collection, valuation, compensation, and cross-platform transfer. TokenTrust's compliance scope extends far beyond standard consent obligations.</a:t>
            </a:r>
          </a:p>
        </p:txBody>
      </p:sp>
      <p:sp>
        <p:nvSpPr>
          <p:cNvPr name="TextBox 8" id="8"/>
          <p:cNvSpPr txBox="true"/>
          <p:nvPr/>
        </p:nvSpPr>
        <p:spPr>
          <a:xfrm rot="0">
            <a:off x="11897475" y="7244159"/>
            <a:ext cx="4363705" cy="774700"/>
          </a:xfrm>
          <a:prstGeom prst="rect">
            <a:avLst/>
          </a:prstGeom>
        </p:spPr>
        <p:txBody>
          <a:bodyPr anchor="t" rtlCol="false" tIns="0" lIns="0" bIns="0" rIns="0">
            <a:spAutoFit/>
          </a:bodyPr>
          <a:lstStyle/>
          <a:p>
            <a:pPr algn="l">
              <a:lnSpc>
                <a:spcPts val="2000"/>
              </a:lnSpc>
            </a:pPr>
            <a:r>
              <a:rPr lang="en-US" sz="2000" spc="-60">
                <a:solidFill>
                  <a:srgbClr val="000000">
                    <a:alpha val="49804"/>
                  </a:srgbClr>
                </a:solidFill>
                <a:latin typeface="Times New Roman"/>
                <a:ea typeface="Times New Roman"/>
                <a:cs typeface="Times New Roman"/>
                <a:sym typeface="Times New Roman"/>
              </a:rPr>
              <a:t>Token exchangeability triggers MSB</a:t>
            </a:r>
            <a:r>
              <a:rPr lang="en-US" sz="2000" spc="-60">
                <a:solidFill>
                  <a:srgbClr val="000000">
                    <a:alpha val="49804"/>
                  </a:srgbClr>
                </a:solidFill>
                <a:latin typeface="Times New Roman"/>
                <a:ea typeface="Times New Roman"/>
                <a:cs typeface="Times New Roman"/>
                <a:sym typeface="Times New Roman"/>
              </a:rPr>
              <a:t> classification under FINTRAC. Registration is a precondition, not an option.</a:t>
            </a:r>
          </a:p>
        </p:txBody>
      </p:sp>
      <p:sp>
        <p:nvSpPr>
          <p:cNvPr name="TextBox 9" id="9"/>
          <p:cNvSpPr txBox="true"/>
          <p:nvPr/>
        </p:nvSpPr>
        <p:spPr>
          <a:xfrm rot="0">
            <a:off x="6632394" y="7244159"/>
            <a:ext cx="4205696" cy="1022350"/>
          </a:xfrm>
          <a:prstGeom prst="rect">
            <a:avLst/>
          </a:prstGeom>
        </p:spPr>
        <p:txBody>
          <a:bodyPr anchor="t" rtlCol="false" tIns="0" lIns="0" bIns="0" rIns="0">
            <a:spAutoFit/>
          </a:bodyPr>
          <a:lstStyle/>
          <a:p>
            <a:pPr algn="l">
              <a:lnSpc>
                <a:spcPts val="2000"/>
              </a:lnSpc>
            </a:pPr>
            <a:r>
              <a:rPr lang="en-US" sz="2000" spc="-60">
                <a:solidFill>
                  <a:srgbClr val="000000">
                    <a:alpha val="49804"/>
                  </a:srgbClr>
                </a:solidFill>
                <a:latin typeface="Times New Roman"/>
                <a:ea typeface="Times New Roman"/>
                <a:cs typeface="Times New Roman"/>
                <a:sym typeface="Times New Roman"/>
              </a:rPr>
              <a:t>Embedding a CIPP/C-certified professional within the compliance team ensures PIPEDA-aligned data governance from the operational level.</a:t>
            </a:r>
          </a:p>
        </p:txBody>
      </p:sp>
      <p:sp>
        <p:nvSpPr>
          <p:cNvPr name="TextBox 10" id="10"/>
          <p:cNvSpPr txBox="true"/>
          <p:nvPr/>
        </p:nvSpPr>
        <p:spPr>
          <a:xfrm rot="0">
            <a:off x="6632394" y="6040041"/>
            <a:ext cx="3076139" cy="838200"/>
          </a:xfrm>
          <a:prstGeom prst="rect">
            <a:avLst/>
          </a:prstGeom>
        </p:spPr>
        <p:txBody>
          <a:bodyPr anchor="t" rtlCol="false" tIns="0" lIns="0" bIns="0" rIns="0">
            <a:spAutoFit/>
          </a:bodyPr>
          <a:lstStyle/>
          <a:p>
            <a:pPr algn="l">
              <a:lnSpc>
                <a:spcPts val="5850"/>
              </a:lnSpc>
            </a:pPr>
            <a:r>
              <a:rPr lang="en-US" sz="6500" spc="-195">
                <a:solidFill>
                  <a:srgbClr val="000000"/>
                </a:solidFill>
                <a:latin typeface="Times New Roman"/>
                <a:ea typeface="Times New Roman"/>
                <a:cs typeface="Times New Roman"/>
                <a:sym typeface="Times New Roman"/>
              </a:rPr>
              <a:t>CIPP/C</a:t>
            </a:r>
          </a:p>
        </p:txBody>
      </p:sp>
      <p:sp>
        <p:nvSpPr>
          <p:cNvPr name="TextBox 11" id="11"/>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22</a:t>
            </a:r>
          </a:p>
        </p:txBody>
      </p:sp>
      <p:sp>
        <p:nvSpPr>
          <p:cNvPr name="TextBox 12" id="12"/>
          <p:cNvSpPr txBox="true"/>
          <p:nvPr/>
        </p:nvSpPr>
        <p:spPr>
          <a:xfrm rot="0">
            <a:off x="1040938" y="6897291"/>
            <a:ext cx="779190" cy="27940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Consent</a:t>
            </a:r>
          </a:p>
        </p:txBody>
      </p:sp>
      <p:sp>
        <p:nvSpPr>
          <p:cNvPr name="TextBox 13" id="13"/>
          <p:cNvSpPr txBox="true"/>
          <p:nvPr/>
        </p:nvSpPr>
        <p:spPr>
          <a:xfrm rot="0">
            <a:off x="6632394" y="6897291"/>
            <a:ext cx="722561" cy="27940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Privacy</a:t>
            </a:r>
          </a:p>
        </p:txBody>
      </p:sp>
      <p:sp>
        <p:nvSpPr>
          <p:cNvPr name="TextBox 14" id="14"/>
          <p:cNvSpPr txBox="true"/>
          <p:nvPr/>
        </p:nvSpPr>
        <p:spPr>
          <a:xfrm rot="0">
            <a:off x="11897475" y="6897291"/>
            <a:ext cx="593080" cy="279400"/>
          </a:xfrm>
          <a:prstGeom prst="rect">
            <a:avLst/>
          </a:prstGeom>
        </p:spPr>
        <p:txBody>
          <a:bodyPr anchor="t" rtlCol="false" tIns="0" lIns="0" bIns="0" rIns="0">
            <a:spAutoFit/>
          </a:bodyPr>
          <a:lstStyle/>
          <a:p>
            <a:pPr algn="l">
              <a:lnSpc>
                <a:spcPts val="2000"/>
              </a:lnSpc>
            </a:pPr>
            <a:r>
              <a:rPr lang="en-US" sz="2000" spc="-60">
                <a:solidFill>
                  <a:srgbClr val="000000"/>
                </a:solidFill>
                <a:latin typeface="Times New Roman"/>
                <a:ea typeface="Times New Roman"/>
                <a:cs typeface="Times New Roman"/>
                <a:sym typeface="Times New Roman"/>
              </a:rPr>
              <a:t>Token</a:t>
            </a:r>
          </a:p>
        </p:txBody>
      </p:sp>
      <p:sp>
        <p:nvSpPr>
          <p:cNvPr name="TextBox 15" id="15"/>
          <p:cNvSpPr txBox="true"/>
          <p:nvPr/>
        </p:nvSpPr>
        <p:spPr>
          <a:xfrm rot="0">
            <a:off x="11897475" y="6040041"/>
            <a:ext cx="5361825" cy="838200"/>
          </a:xfrm>
          <a:prstGeom prst="rect">
            <a:avLst/>
          </a:prstGeom>
        </p:spPr>
        <p:txBody>
          <a:bodyPr anchor="t" rtlCol="false" tIns="0" lIns="0" bIns="0" rIns="0">
            <a:spAutoFit/>
          </a:bodyPr>
          <a:lstStyle/>
          <a:p>
            <a:pPr algn="l">
              <a:lnSpc>
                <a:spcPts val="5850"/>
              </a:lnSpc>
            </a:pPr>
            <a:r>
              <a:rPr lang="en-US" sz="6500" spc="-195">
                <a:solidFill>
                  <a:srgbClr val="000000"/>
                </a:solidFill>
                <a:latin typeface="Times New Roman"/>
                <a:ea typeface="Times New Roman"/>
                <a:cs typeface="Times New Roman"/>
                <a:sym typeface="Times New Roman"/>
              </a:rPr>
              <a:t>FINTRAC MSB</a:t>
            </a:r>
          </a:p>
        </p:txBody>
      </p:sp>
      <p:sp>
        <p:nvSpPr>
          <p:cNvPr name="TextBox 16" id="16"/>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263921" y="4502744"/>
            <a:ext cx="5995379" cy="1281512"/>
          </a:xfrm>
          <a:custGeom>
            <a:avLst/>
            <a:gdLst/>
            <a:ahLst/>
            <a:cxnLst/>
            <a:rect r="r" b="b" t="t" l="l"/>
            <a:pathLst>
              <a:path h="1281512" w="5995379">
                <a:moveTo>
                  <a:pt x="0" y="0"/>
                </a:moveTo>
                <a:lnTo>
                  <a:pt x="5995379" y="0"/>
                </a:lnTo>
                <a:lnTo>
                  <a:pt x="5995379" y="1281512"/>
                </a:lnTo>
                <a:lnTo>
                  <a:pt x="0" y="1281512"/>
                </a:lnTo>
                <a:lnTo>
                  <a:pt x="0" y="0"/>
                </a:lnTo>
                <a:close/>
              </a:path>
            </a:pathLst>
          </a:custGeom>
          <a:blipFill>
            <a:blip r:embed="rId2">
              <a:alphaModFix amt="30000"/>
            </a:blip>
            <a:stretch>
              <a:fillRect l="0" t="0" r="0" b="0"/>
            </a:stretch>
          </a:blipFill>
        </p:spPr>
      </p:sp>
      <p:sp>
        <p:nvSpPr>
          <p:cNvPr name="AutoShape 3" id="3"/>
          <p:cNvSpPr/>
          <p:nvPr/>
        </p:nvSpPr>
        <p:spPr>
          <a:xfrm>
            <a:off x="1028700" y="6584888"/>
            <a:ext cx="16230600" cy="0"/>
          </a:xfrm>
          <a:prstGeom prst="line">
            <a:avLst/>
          </a:prstGeom>
          <a:ln cap="flat" w="9525">
            <a:solidFill>
              <a:srgbClr val="000000">
                <a:alpha val="49804"/>
              </a:srgbClr>
            </a:solidFill>
            <a:prstDash val="solid"/>
            <a:headEnd type="none" len="sm" w="sm"/>
            <a:tailEnd type="none" len="sm" w="sm"/>
          </a:ln>
        </p:spPr>
      </p:sp>
      <p:sp>
        <p:nvSpPr>
          <p:cNvPr name="TextBox 4" id="4"/>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5" id="5"/>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Regulatory Foundation</a:t>
            </a:r>
          </a:p>
        </p:txBody>
      </p:sp>
      <p:sp>
        <p:nvSpPr>
          <p:cNvPr name="TextBox 6" id="6"/>
          <p:cNvSpPr txBox="true"/>
          <p:nvPr/>
        </p:nvSpPr>
        <p:spPr>
          <a:xfrm rot="0">
            <a:off x="1033463" y="4122196"/>
            <a:ext cx="3644107" cy="628650"/>
          </a:xfrm>
          <a:prstGeom prst="rect">
            <a:avLst/>
          </a:prstGeom>
        </p:spPr>
        <p:txBody>
          <a:bodyPr anchor="t" rtlCol="false" tIns="0" lIns="0" bIns="0" rIns="0">
            <a:spAutoFit/>
          </a:bodyPr>
          <a:lstStyle/>
          <a:p>
            <a:pPr algn="l">
              <a:lnSpc>
                <a:spcPts val="2400"/>
              </a:lnSpc>
            </a:pPr>
            <a:r>
              <a:rPr lang="en-US" sz="2000" spc="-60">
                <a:solidFill>
                  <a:srgbClr val="000000">
                    <a:alpha val="49804"/>
                  </a:srgbClr>
                </a:solidFill>
                <a:latin typeface="Times New Roman"/>
                <a:ea typeface="Times New Roman"/>
                <a:cs typeface="Times New Roman"/>
                <a:sym typeface="Times New Roman"/>
              </a:rPr>
              <a:t>Privacy &amp; Acess Council of Canada</a:t>
            </a:r>
          </a:p>
          <a:p>
            <a:pPr algn="l">
              <a:lnSpc>
                <a:spcPts val="2400"/>
              </a:lnSpc>
            </a:pPr>
          </a:p>
        </p:txBody>
      </p:sp>
      <p:sp>
        <p:nvSpPr>
          <p:cNvPr name="TextBox 7" id="7"/>
          <p:cNvSpPr txBox="true"/>
          <p:nvPr/>
        </p:nvSpPr>
        <p:spPr>
          <a:xfrm rot="0">
            <a:off x="12831366" y="4122196"/>
            <a:ext cx="4427934" cy="323850"/>
          </a:xfrm>
          <a:prstGeom prst="rect">
            <a:avLst/>
          </a:prstGeom>
        </p:spPr>
        <p:txBody>
          <a:bodyPr anchor="t" rtlCol="false" tIns="0" lIns="0" bIns="0" rIns="0">
            <a:spAutoFit/>
          </a:bodyPr>
          <a:lstStyle/>
          <a:p>
            <a:pPr algn="r">
              <a:lnSpc>
                <a:spcPts val="2400"/>
              </a:lnSpc>
            </a:pPr>
            <a:r>
              <a:rPr lang="en-US" sz="2000" spc="-60">
                <a:solidFill>
                  <a:srgbClr val="000000">
                    <a:alpha val="49804"/>
                  </a:srgbClr>
                </a:solidFill>
                <a:latin typeface="Times New Roman"/>
                <a:ea typeface="Times New Roman"/>
                <a:cs typeface="Times New Roman"/>
                <a:sym typeface="Times New Roman"/>
              </a:rPr>
              <a:t>Office of the privacy Commissioner of Canada</a:t>
            </a:r>
          </a:p>
        </p:txBody>
      </p:sp>
      <p:sp>
        <p:nvSpPr>
          <p:cNvPr name="TextBox 8" id="8"/>
          <p:cNvSpPr txBox="true"/>
          <p:nvPr/>
        </p:nvSpPr>
        <p:spPr>
          <a:xfrm rot="0">
            <a:off x="1033463" y="7114981"/>
            <a:ext cx="16235362" cy="1075944"/>
          </a:xfrm>
          <a:prstGeom prst="rect">
            <a:avLst/>
          </a:prstGeom>
        </p:spPr>
        <p:txBody>
          <a:bodyPr anchor="t" rtlCol="false" tIns="0" lIns="0" bIns="0" rIns="0">
            <a:spAutoFit/>
          </a:bodyPr>
          <a:lstStyle/>
          <a:p>
            <a:pPr algn="l">
              <a:lnSpc>
                <a:spcPts val="2808"/>
              </a:lnSpc>
            </a:pPr>
            <a:r>
              <a:rPr lang="en-US" sz="2400" spc="-72">
                <a:solidFill>
                  <a:srgbClr val="000000"/>
                </a:solidFill>
                <a:latin typeface="Times New Roman"/>
                <a:ea typeface="Times New Roman"/>
                <a:cs typeface="Times New Roman"/>
                <a:sym typeface="Times New Roman"/>
              </a:rPr>
              <a:t>OPC provides advisory guidance on PIPEDA compliance</a:t>
            </a:r>
            <a:r>
              <a:rPr lang="en-US" sz="2400" spc="-72">
                <a:solidFill>
                  <a:srgbClr val="000000"/>
                </a:solidFill>
                <a:latin typeface="Times New Roman"/>
                <a:ea typeface="Times New Roman"/>
                <a:cs typeface="Times New Roman"/>
                <a:sym typeface="Times New Roman"/>
              </a:rPr>
              <a:t> for TokenTrust's data-token exchange model. PACC serves as a professional network for building credibility within Canada's privacy governance community. Under Phase 1, TokenTrust submits annual transparency reports to OPC and files regulatory disclosures with FINTRAC when material changes in token transaction volume occur.</a:t>
            </a:r>
          </a:p>
        </p:txBody>
      </p:sp>
      <p:sp>
        <p:nvSpPr>
          <p:cNvPr name="TextBox 9" id="9"/>
          <p:cNvSpPr txBox="true"/>
          <p:nvPr/>
        </p:nvSpPr>
        <p:spPr>
          <a:xfrm rot="0">
            <a:off x="1028700" y="2562225"/>
            <a:ext cx="9649867" cy="549275"/>
          </a:xfrm>
          <a:prstGeom prst="rect">
            <a:avLst/>
          </a:prstGeom>
        </p:spPr>
        <p:txBody>
          <a:bodyPr anchor="t" rtlCol="false" tIns="0" lIns="0" bIns="0" rIns="0">
            <a:spAutoFit/>
          </a:bodyPr>
          <a:lstStyle/>
          <a:p>
            <a:pPr algn="l">
              <a:lnSpc>
                <a:spcPts val="3999"/>
              </a:lnSpc>
              <a:spcBef>
                <a:spcPct val="0"/>
              </a:spcBef>
            </a:pPr>
            <a:r>
              <a:rPr lang="en-US" sz="3999" spc="-119">
                <a:solidFill>
                  <a:srgbClr val="000000"/>
                </a:solidFill>
                <a:latin typeface="Times New Roman"/>
                <a:ea typeface="Times New Roman"/>
                <a:cs typeface="Times New Roman"/>
                <a:sym typeface="Times New Roman"/>
              </a:rPr>
              <a:t>Regulato</a:t>
            </a:r>
            <a:r>
              <a:rPr lang="en-US" sz="3999" spc="-119">
                <a:solidFill>
                  <a:srgbClr val="000000"/>
                </a:solidFill>
                <a:latin typeface="Times New Roman"/>
                <a:ea typeface="Times New Roman"/>
                <a:cs typeface="Times New Roman"/>
                <a:sym typeface="Times New Roman"/>
              </a:rPr>
              <a:t>ry Alignment and Institutional Partnership</a:t>
            </a:r>
          </a:p>
        </p:txBody>
      </p:sp>
      <p:sp>
        <p:nvSpPr>
          <p:cNvPr name="TextBox 10" id="10"/>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23</a:t>
            </a:r>
          </a:p>
        </p:txBody>
      </p:sp>
      <p:sp>
        <p:nvSpPr>
          <p:cNvPr name="TextBox 11" id="11"/>
          <p:cNvSpPr txBox="true"/>
          <p:nvPr/>
        </p:nvSpPr>
        <p:spPr>
          <a:xfrm rot="0">
            <a:off x="1028700" y="4779901"/>
            <a:ext cx="3631093" cy="1266824"/>
          </a:xfrm>
          <a:prstGeom prst="rect">
            <a:avLst/>
          </a:prstGeom>
        </p:spPr>
        <p:txBody>
          <a:bodyPr anchor="t" rtlCol="false" tIns="0" lIns="0" bIns="0" rIns="0">
            <a:spAutoFit/>
          </a:bodyPr>
          <a:lstStyle/>
          <a:p>
            <a:pPr algn="l">
              <a:lnSpc>
                <a:spcPts val="8999"/>
              </a:lnSpc>
            </a:pPr>
            <a:r>
              <a:rPr lang="en-US" sz="9999" spc="-299">
                <a:solidFill>
                  <a:srgbClr val="000000">
                    <a:alpha val="29804"/>
                  </a:srgbClr>
                </a:solidFill>
                <a:latin typeface="Times New Roman"/>
                <a:ea typeface="Times New Roman"/>
                <a:cs typeface="Times New Roman"/>
                <a:sym typeface="Times New Roman"/>
              </a:rPr>
              <a:t>PACC</a:t>
            </a:r>
          </a:p>
        </p:txBody>
      </p:sp>
      <p:sp>
        <p:nvSpPr>
          <p:cNvPr name="TextBox 12" id="12"/>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028700" y="6584888"/>
            <a:ext cx="16230600" cy="0"/>
          </a:xfrm>
          <a:prstGeom prst="line">
            <a:avLst/>
          </a:prstGeom>
          <a:ln cap="flat" w="9525">
            <a:solidFill>
              <a:srgbClr val="000000">
                <a:alpha val="49804"/>
              </a:srgbClr>
            </a:solidFill>
            <a:prstDash val="solid"/>
            <a:headEnd type="none" len="sm" w="sm"/>
            <a:tailEnd type="none" len="sm" w="sm"/>
          </a:ln>
        </p:spPr>
      </p:sp>
      <p:sp>
        <p:nvSpPr>
          <p:cNvPr name="TextBox 3" id="3"/>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Regulatory Foundation</a:t>
            </a:r>
          </a:p>
        </p:txBody>
      </p:sp>
      <p:sp>
        <p:nvSpPr>
          <p:cNvPr name="TextBox 5" id="5"/>
          <p:cNvSpPr txBox="true"/>
          <p:nvPr/>
        </p:nvSpPr>
        <p:spPr>
          <a:xfrm rot="0">
            <a:off x="1033463" y="7114981"/>
            <a:ext cx="16235362" cy="1075944"/>
          </a:xfrm>
          <a:prstGeom prst="rect">
            <a:avLst/>
          </a:prstGeom>
        </p:spPr>
        <p:txBody>
          <a:bodyPr anchor="t" rtlCol="false" tIns="0" lIns="0" bIns="0" rIns="0">
            <a:spAutoFit/>
          </a:bodyPr>
          <a:lstStyle/>
          <a:p>
            <a:pPr algn="l">
              <a:lnSpc>
                <a:spcPts val="2808"/>
              </a:lnSpc>
            </a:pPr>
            <a:r>
              <a:rPr lang="en-US" sz="2400" spc="-72">
                <a:solidFill>
                  <a:srgbClr val="000000"/>
                </a:solidFill>
                <a:latin typeface="Times New Roman"/>
                <a:ea typeface="Times New Roman"/>
                <a:cs typeface="Times New Roman"/>
                <a:sym typeface="Times New Roman"/>
              </a:rPr>
              <a:t>As</a:t>
            </a:r>
            <a:r>
              <a:rPr lang="en-US" sz="2400" spc="-72">
                <a:solidFill>
                  <a:srgbClr val="000000"/>
                </a:solidFill>
                <a:latin typeface="Times New Roman"/>
                <a:ea typeface="Times New Roman"/>
                <a:cs typeface="Times New Roman"/>
                <a:sym typeface="Times New Roman"/>
              </a:rPr>
              <a:t> TokenTrust's token ecosystem operates across AI enterprises headquartered in different jurisdictions, cross-border data transfer becomes a structural requirement. CBPR provides the legal framework for international data flow, and ISO/IEC 42001 certifies TokenTrust's AI governance standards at the global level</a:t>
            </a:r>
          </a:p>
        </p:txBody>
      </p:sp>
      <p:sp>
        <p:nvSpPr>
          <p:cNvPr name="TextBox 6" id="6"/>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24</a:t>
            </a:r>
          </a:p>
        </p:txBody>
      </p:sp>
      <p:sp>
        <p:nvSpPr>
          <p:cNvPr name="TextBox 7" id="7"/>
          <p:cNvSpPr txBox="true"/>
          <p:nvPr/>
        </p:nvSpPr>
        <p:spPr>
          <a:xfrm rot="0">
            <a:off x="1028700" y="4813234"/>
            <a:ext cx="16341548" cy="1162059"/>
          </a:xfrm>
          <a:prstGeom prst="rect">
            <a:avLst/>
          </a:prstGeom>
        </p:spPr>
        <p:txBody>
          <a:bodyPr anchor="t" rtlCol="false" tIns="0" lIns="0" bIns="0" rIns="0">
            <a:spAutoFit/>
          </a:bodyPr>
          <a:lstStyle/>
          <a:p>
            <a:pPr algn="l">
              <a:lnSpc>
                <a:spcPts val="8100"/>
              </a:lnSpc>
            </a:pPr>
            <a:r>
              <a:rPr lang="en-US" sz="9000" spc="-270">
                <a:solidFill>
                  <a:srgbClr val="000000">
                    <a:alpha val="49804"/>
                  </a:srgbClr>
                </a:solidFill>
                <a:latin typeface="Times New Roman"/>
                <a:ea typeface="Times New Roman"/>
                <a:cs typeface="Times New Roman"/>
                <a:sym typeface="Times New Roman"/>
              </a:rPr>
              <a:t>Global CBPR &amp; ISO/IEC 42001 </a:t>
            </a:r>
          </a:p>
        </p:txBody>
      </p:sp>
      <p:sp>
        <p:nvSpPr>
          <p:cNvPr name="TextBox 8" id="8"/>
          <p:cNvSpPr txBox="true"/>
          <p:nvPr/>
        </p:nvSpPr>
        <p:spPr>
          <a:xfrm rot="0">
            <a:off x="1028700" y="2562225"/>
            <a:ext cx="4810199" cy="549275"/>
          </a:xfrm>
          <a:prstGeom prst="rect">
            <a:avLst/>
          </a:prstGeom>
        </p:spPr>
        <p:txBody>
          <a:bodyPr anchor="t" rtlCol="false" tIns="0" lIns="0" bIns="0" rIns="0">
            <a:spAutoFit/>
          </a:bodyPr>
          <a:lstStyle/>
          <a:p>
            <a:pPr algn="l">
              <a:lnSpc>
                <a:spcPts val="3999"/>
              </a:lnSpc>
              <a:spcBef>
                <a:spcPct val="0"/>
              </a:spcBef>
            </a:pPr>
            <a:r>
              <a:rPr lang="en-US" sz="3999" spc="-119">
                <a:solidFill>
                  <a:srgbClr val="000000"/>
                </a:solidFill>
                <a:latin typeface="Times New Roman"/>
                <a:ea typeface="Times New Roman"/>
                <a:cs typeface="Times New Roman"/>
                <a:sym typeface="Times New Roman"/>
              </a:rPr>
              <a:t>Inte</a:t>
            </a:r>
            <a:r>
              <a:rPr lang="en-US" sz="3999" spc="-119">
                <a:solidFill>
                  <a:srgbClr val="000000"/>
                </a:solidFill>
                <a:latin typeface="Times New Roman"/>
                <a:ea typeface="Times New Roman"/>
                <a:cs typeface="Times New Roman"/>
                <a:sym typeface="Times New Roman"/>
              </a:rPr>
              <a:t>rnational Governance</a:t>
            </a:r>
          </a:p>
        </p:txBody>
      </p:sp>
      <p:sp>
        <p:nvSpPr>
          <p:cNvPr name="TextBox 9" id="9"/>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Stakeholder Definition</a:t>
            </a:r>
          </a:p>
        </p:txBody>
      </p:sp>
      <p:sp>
        <p:nvSpPr>
          <p:cNvPr name="TextBox 4" id="4"/>
          <p:cNvSpPr txBox="true"/>
          <p:nvPr/>
        </p:nvSpPr>
        <p:spPr>
          <a:xfrm rot="0">
            <a:off x="5952100" y="7812441"/>
            <a:ext cx="11309635" cy="933450"/>
          </a:xfrm>
          <a:prstGeom prst="rect">
            <a:avLst/>
          </a:prstGeom>
        </p:spPr>
        <p:txBody>
          <a:bodyPr anchor="t" rtlCol="false" tIns="0" lIns="0" bIns="0" rIns="0">
            <a:spAutoFit/>
          </a:bodyPr>
          <a:lstStyle/>
          <a:p>
            <a:pPr algn="r">
              <a:lnSpc>
                <a:spcPts val="2400"/>
              </a:lnSpc>
            </a:pPr>
            <a:r>
              <a:rPr lang="en-US" sz="2000" spc="-60">
                <a:solidFill>
                  <a:srgbClr val="000000"/>
                </a:solidFill>
                <a:latin typeface="Times New Roman"/>
                <a:ea typeface="Times New Roman"/>
                <a:cs typeface="Times New Roman"/>
                <a:sym typeface="Times New Roman"/>
              </a:rPr>
              <a:t>TokenTrust's governance operates across four layers: internal teams execute compliance, regulators set jurisdictional boundaries, partners provide technical and policy infrastructure, and AI Enterprises participate as primary clients of the token exchange ecosystem.</a:t>
            </a:r>
          </a:p>
        </p:txBody>
      </p:sp>
      <p:sp>
        <p:nvSpPr>
          <p:cNvPr name="TextBox 5" id="5"/>
          <p:cNvSpPr txBox="true"/>
          <p:nvPr/>
        </p:nvSpPr>
        <p:spPr>
          <a:xfrm rot="0">
            <a:off x="1031135" y="7812441"/>
            <a:ext cx="4194125"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Stakeholder Definition</a:t>
            </a:r>
          </a:p>
        </p:txBody>
      </p:sp>
      <p:sp>
        <p:nvSpPr>
          <p:cNvPr name="TextBox 6" id="6"/>
          <p:cNvSpPr txBox="true"/>
          <p:nvPr/>
        </p:nvSpPr>
        <p:spPr>
          <a:xfrm rot="0">
            <a:off x="5266365" y="5131153"/>
            <a:ext cx="3498793" cy="933450"/>
          </a:xfrm>
          <a:prstGeom prst="rect">
            <a:avLst/>
          </a:prstGeom>
        </p:spPr>
        <p:txBody>
          <a:bodyPr anchor="t" rtlCol="false" tIns="0" lIns="0" bIns="0" rIns="0">
            <a:spAutoFit/>
          </a:bodyPr>
          <a:lstStyle/>
          <a:p>
            <a:pPr algn="l">
              <a:lnSpc>
                <a:spcPts val="2400"/>
              </a:lnSpc>
            </a:pPr>
            <a:r>
              <a:rPr lang="en-US" sz="2000" spc="-60">
                <a:solidFill>
                  <a:srgbClr val="000000">
                    <a:alpha val="49804"/>
                  </a:srgbClr>
                </a:solidFill>
                <a:latin typeface="Times New Roman"/>
                <a:ea typeface="Times New Roman"/>
                <a:cs typeface="Times New Roman"/>
                <a:sym typeface="Times New Roman"/>
              </a:rPr>
              <a:t>Sets the legal boundaries within which TokenTrust must operate and report.</a:t>
            </a:r>
          </a:p>
        </p:txBody>
      </p:sp>
      <p:sp>
        <p:nvSpPr>
          <p:cNvPr name="TextBox 7" id="7"/>
          <p:cNvSpPr txBox="true"/>
          <p:nvPr/>
        </p:nvSpPr>
        <p:spPr>
          <a:xfrm rot="0">
            <a:off x="9495327" y="5124450"/>
            <a:ext cx="3501228" cy="1847850"/>
          </a:xfrm>
          <a:prstGeom prst="rect">
            <a:avLst/>
          </a:prstGeom>
        </p:spPr>
        <p:txBody>
          <a:bodyPr anchor="t" rtlCol="false" tIns="0" lIns="0" bIns="0" rIns="0">
            <a:spAutoFit/>
          </a:bodyPr>
          <a:lstStyle/>
          <a:p>
            <a:pPr algn="l">
              <a:lnSpc>
                <a:spcPts val="2400"/>
              </a:lnSpc>
            </a:pPr>
            <a:r>
              <a:rPr lang="en-US" sz="2000" spc="-60">
                <a:solidFill>
                  <a:srgbClr val="000000">
                    <a:alpha val="49804"/>
                  </a:srgbClr>
                </a:solidFill>
                <a:latin typeface="Times New Roman"/>
                <a:ea typeface="Times New Roman"/>
                <a:cs typeface="Times New Roman"/>
                <a:sym typeface="Times New Roman"/>
              </a:rPr>
              <a:t>Okta and SSI Inc. supply authentication and identity verification infrastructure. GPAI operates as an international policy advisory body for AI governance alignment."</a:t>
            </a:r>
          </a:p>
        </p:txBody>
      </p:sp>
      <p:sp>
        <p:nvSpPr>
          <p:cNvPr name="TextBox 8" id="8"/>
          <p:cNvSpPr txBox="true"/>
          <p:nvPr/>
        </p:nvSpPr>
        <p:spPr>
          <a:xfrm rot="0">
            <a:off x="1028700" y="5124450"/>
            <a:ext cx="3575460" cy="933450"/>
          </a:xfrm>
          <a:prstGeom prst="rect">
            <a:avLst/>
          </a:prstGeom>
        </p:spPr>
        <p:txBody>
          <a:bodyPr anchor="t" rtlCol="false" tIns="0" lIns="0" bIns="0" rIns="0">
            <a:spAutoFit/>
          </a:bodyPr>
          <a:lstStyle/>
          <a:p>
            <a:pPr algn="l">
              <a:lnSpc>
                <a:spcPts val="2400"/>
              </a:lnSpc>
            </a:pPr>
            <a:r>
              <a:rPr lang="en-US" sz="2000" spc="-60">
                <a:solidFill>
                  <a:srgbClr val="000000">
                    <a:alpha val="49804"/>
                  </a:srgbClr>
                </a:solidFill>
                <a:latin typeface="Times New Roman"/>
                <a:ea typeface="Times New Roman"/>
                <a:cs typeface="Times New Roman"/>
                <a:sym typeface="Times New Roman"/>
              </a:rPr>
              <a:t>Holds accountability for regulatory compliance execution and platform governance operations.</a:t>
            </a:r>
          </a:p>
        </p:txBody>
      </p:sp>
      <p:sp>
        <p:nvSpPr>
          <p:cNvPr name="TextBox 9" id="9"/>
          <p:cNvSpPr txBox="true"/>
          <p:nvPr/>
        </p:nvSpPr>
        <p:spPr>
          <a:xfrm rot="0">
            <a:off x="13722890" y="5124450"/>
            <a:ext cx="3505062" cy="1238250"/>
          </a:xfrm>
          <a:prstGeom prst="rect">
            <a:avLst/>
          </a:prstGeom>
        </p:spPr>
        <p:txBody>
          <a:bodyPr anchor="t" rtlCol="false" tIns="0" lIns="0" bIns="0" rIns="0">
            <a:spAutoFit/>
          </a:bodyPr>
          <a:lstStyle/>
          <a:p>
            <a:pPr algn="l">
              <a:lnSpc>
                <a:spcPts val="2400"/>
              </a:lnSpc>
            </a:pPr>
            <a:r>
              <a:rPr lang="en-US" sz="2000" spc="-60">
                <a:solidFill>
                  <a:srgbClr val="000000">
                    <a:alpha val="49804"/>
                  </a:srgbClr>
                </a:solidFill>
                <a:latin typeface="Times New Roman"/>
                <a:ea typeface="Times New Roman"/>
                <a:cs typeface="Times New Roman"/>
                <a:sym typeface="Times New Roman"/>
              </a:rPr>
              <a:t>AI Enterprises operate as primary institutional participants within TokenTrust's data governance and token compensation framework.</a:t>
            </a:r>
          </a:p>
        </p:txBody>
      </p:sp>
      <p:sp>
        <p:nvSpPr>
          <p:cNvPr name="TextBox 10" id="10"/>
          <p:cNvSpPr txBox="true"/>
          <p:nvPr/>
        </p:nvSpPr>
        <p:spPr>
          <a:xfrm rot="0">
            <a:off x="13722890" y="3458545"/>
            <a:ext cx="3505062"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Regulated</a:t>
            </a:r>
          </a:p>
        </p:txBody>
      </p:sp>
      <p:sp>
        <p:nvSpPr>
          <p:cNvPr name="TextBox 11" id="11"/>
          <p:cNvSpPr txBox="true"/>
          <p:nvPr/>
        </p:nvSpPr>
        <p:spPr>
          <a:xfrm rot="0">
            <a:off x="9495327" y="3458545"/>
            <a:ext cx="3505062"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Partners</a:t>
            </a:r>
          </a:p>
        </p:txBody>
      </p:sp>
      <p:sp>
        <p:nvSpPr>
          <p:cNvPr name="TextBox 12" id="12"/>
          <p:cNvSpPr txBox="true"/>
          <p:nvPr/>
        </p:nvSpPr>
        <p:spPr>
          <a:xfrm rot="0">
            <a:off x="5260097" y="3458545"/>
            <a:ext cx="3505062"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Regulators</a:t>
            </a:r>
          </a:p>
        </p:txBody>
      </p:sp>
      <p:sp>
        <p:nvSpPr>
          <p:cNvPr name="TextBox 13" id="13"/>
          <p:cNvSpPr txBox="true"/>
          <p:nvPr/>
        </p:nvSpPr>
        <p:spPr>
          <a:xfrm rot="0">
            <a:off x="1028700" y="3458545"/>
            <a:ext cx="3505062"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Internal </a:t>
            </a:r>
          </a:p>
        </p:txBody>
      </p:sp>
      <p:sp>
        <p:nvSpPr>
          <p:cNvPr name="TextBox 14" id="14"/>
          <p:cNvSpPr txBox="true"/>
          <p:nvPr/>
        </p:nvSpPr>
        <p:spPr>
          <a:xfrm rot="0">
            <a:off x="1031135" y="2476500"/>
            <a:ext cx="3505062" cy="942975"/>
          </a:xfrm>
          <a:prstGeom prst="rect">
            <a:avLst/>
          </a:prstGeom>
        </p:spPr>
        <p:txBody>
          <a:bodyPr anchor="t" rtlCol="false" tIns="0" lIns="0" bIns="0" rIns="0">
            <a:spAutoFit/>
          </a:bodyPr>
          <a:lstStyle/>
          <a:p>
            <a:pPr algn="l">
              <a:lnSpc>
                <a:spcPts val="7199"/>
              </a:lnSpc>
            </a:pPr>
            <a:r>
              <a:rPr lang="en-US" sz="5999" spc="-239">
                <a:solidFill>
                  <a:srgbClr val="000000"/>
                </a:solidFill>
                <a:latin typeface="Times New Roman"/>
                <a:ea typeface="Times New Roman"/>
                <a:cs typeface="Times New Roman"/>
                <a:sym typeface="Times New Roman"/>
              </a:rPr>
              <a:t>I</a:t>
            </a:r>
          </a:p>
        </p:txBody>
      </p:sp>
      <p:sp>
        <p:nvSpPr>
          <p:cNvPr name="TextBox 15" id="15"/>
          <p:cNvSpPr txBox="true"/>
          <p:nvPr/>
        </p:nvSpPr>
        <p:spPr>
          <a:xfrm rot="0">
            <a:off x="5260097" y="2476500"/>
            <a:ext cx="3505062" cy="942975"/>
          </a:xfrm>
          <a:prstGeom prst="rect">
            <a:avLst/>
          </a:prstGeom>
        </p:spPr>
        <p:txBody>
          <a:bodyPr anchor="t" rtlCol="false" tIns="0" lIns="0" bIns="0" rIns="0">
            <a:spAutoFit/>
          </a:bodyPr>
          <a:lstStyle/>
          <a:p>
            <a:pPr algn="l">
              <a:lnSpc>
                <a:spcPts val="7199"/>
              </a:lnSpc>
            </a:pPr>
            <a:r>
              <a:rPr lang="en-US" sz="5999" spc="-239">
                <a:solidFill>
                  <a:srgbClr val="000000"/>
                </a:solidFill>
                <a:latin typeface="Times New Roman"/>
                <a:ea typeface="Times New Roman"/>
                <a:cs typeface="Times New Roman"/>
                <a:sym typeface="Times New Roman"/>
              </a:rPr>
              <a:t>II</a:t>
            </a:r>
          </a:p>
        </p:txBody>
      </p:sp>
      <p:sp>
        <p:nvSpPr>
          <p:cNvPr name="TextBox 16" id="16"/>
          <p:cNvSpPr txBox="true"/>
          <p:nvPr/>
        </p:nvSpPr>
        <p:spPr>
          <a:xfrm rot="0">
            <a:off x="9491493" y="2476500"/>
            <a:ext cx="3505062" cy="942975"/>
          </a:xfrm>
          <a:prstGeom prst="rect">
            <a:avLst/>
          </a:prstGeom>
        </p:spPr>
        <p:txBody>
          <a:bodyPr anchor="t" rtlCol="false" tIns="0" lIns="0" bIns="0" rIns="0">
            <a:spAutoFit/>
          </a:bodyPr>
          <a:lstStyle/>
          <a:p>
            <a:pPr algn="l">
              <a:lnSpc>
                <a:spcPts val="7199"/>
              </a:lnSpc>
            </a:pPr>
            <a:r>
              <a:rPr lang="en-US" sz="5999" spc="-239">
                <a:solidFill>
                  <a:srgbClr val="000000"/>
                </a:solidFill>
                <a:latin typeface="Times New Roman"/>
                <a:ea typeface="Times New Roman"/>
                <a:cs typeface="Times New Roman"/>
                <a:sym typeface="Times New Roman"/>
              </a:rPr>
              <a:t>III</a:t>
            </a:r>
          </a:p>
        </p:txBody>
      </p:sp>
      <p:sp>
        <p:nvSpPr>
          <p:cNvPr name="TextBox 17" id="17"/>
          <p:cNvSpPr txBox="true"/>
          <p:nvPr/>
        </p:nvSpPr>
        <p:spPr>
          <a:xfrm rot="0">
            <a:off x="13722890" y="2476500"/>
            <a:ext cx="3505062" cy="942975"/>
          </a:xfrm>
          <a:prstGeom prst="rect">
            <a:avLst/>
          </a:prstGeom>
        </p:spPr>
        <p:txBody>
          <a:bodyPr anchor="t" rtlCol="false" tIns="0" lIns="0" bIns="0" rIns="0">
            <a:spAutoFit/>
          </a:bodyPr>
          <a:lstStyle/>
          <a:p>
            <a:pPr algn="l">
              <a:lnSpc>
                <a:spcPts val="7199"/>
              </a:lnSpc>
            </a:pPr>
            <a:r>
              <a:rPr lang="en-US" sz="5999" spc="-239">
                <a:solidFill>
                  <a:srgbClr val="000000"/>
                </a:solidFill>
                <a:latin typeface="Times New Roman"/>
                <a:ea typeface="Times New Roman"/>
                <a:cs typeface="Times New Roman"/>
                <a:sym typeface="Times New Roman"/>
              </a:rPr>
              <a:t>IV</a:t>
            </a:r>
          </a:p>
        </p:txBody>
      </p:sp>
      <p:sp>
        <p:nvSpPr>
          <p:cNvPr name="TextBox 18" id="18"/>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25</a:t>
            </a:r>
          </a:p>
        </p:txBody>
      </p:sp>
      <p:sp>
        <p:nvSpPr>
          <p:cNvPr name="TextBox 19" id="19"/>
          <p:cNvSpPr txBox="true"/>
          <p:nvPr/>
        </p:nvSpPr>
        <p:spPr>
          <a:xfrm rot="0">
            <a:off x="13756673" y="4058620"/>
            <a:ext cx="3505062" cy="323850"/>
          </a:xfrm>
          <a:prstGeom prst="rect">
            <a:avLst/>
          </a:prstGeom>
        </p:spPr>
        <p:txBody>
          <a:bodyPr anchor="t" rtlCol="false" tIns="0" lIns="0" bIns="0" rIns="0">
            <a:spAutoFit/>
          </a:bodyPr>
          <a:lstStyle/>
          <a:p>
            <a:pPr algn="l">
              <a:lnSpc>
                <a:spcPts val="2400"/>
              </a:lnSpc>
            </a:pPr>
            <a:r>
              <a:rPr lang="en-US" sz="2000" spc="-60">
                <a:solidFill>
                  <a:srgbClr val="000000"/>
                </a:solidFill>
                <a:latin typeface="Times New Roman"/>
                <a:ea typeface="Times New Roman"/>
                <a:cs typeface="Times New Roman"/>
                <a:sym typeface="Times New Roman"/>
              </a:rPr>
              <a:t>AI Enterprises</a:t>
            </a:r>
          </a:p>
        </p:txBody>
      </p:sp>
      <p:sp>
        <p:nvSpPr>
          <p:cNvPr name="TextBox 20" id="20"/>
          <p:cNvSpPr txBox="true"/>
          <p:nvPr/>
        </p:nvSpPr>
        <p:spPr>
          <a:xfrm rot="0">
            <a:off x="9489058" y="4058620"/>
            <a:ext cx="3505062" cy="323850"/>
          </a:xfrm>
          <a:prstGeom prst="rect">
            <a:avLst/>
          </a:prstGeom>
        </p:spPr>
        <p:txBody>
          <a:bodyPr anchor="t" rtlCol="false" tIns="0" lIns="0" bIns="0" rIns="0">
            <a:spAutoFit/>
          </a:bodyPr>
          <a:lstStyle/>
          <a:p>
            <a:pPr algn="l">
              <a:lnSpc>
                <a:spcPts val="2400"/>
              </a:lnSpc>
            </a:pPr>
            <a:r>
              <a:rPr lang="en-US" sz="2000" spc="-60">
                <a:solidFill>
                  <a:srgbClr val="000000"/>
                </a:solidFill>
                <a:latin typeface="Times New Roman"/>
                <a:ea typeface="Times New Roman"/>
                <a:cs typeface="Times New Roman"/>
                <a:sym typeface="Times New Roman"/>
              </a:rPr>
              <a:t>Okta and SSI Inc. GPAI</a:t>
            </a:r>
          </a:p>
        </p:txBody>
      </p:sp>
      <p:sp>
        <p:nvSpPr>
          <p:cNvPr name="TextBox 21" id="21"/>
          <p:cNvSpPr txBox="true"/>
          <p:nvPr/>
        </p:nvSpPr>
        <p:spPr>
          <a:xfrm rot="0">
            <a:off x="5320073" y="4058620"/>
            <a:ext cx="3505062" cy="323850"/>
          </a:xfrm>
          <a:prstGeom prst="rect">
            <a:avLst/>
          </a:prstGeom>
        </p:spPr>
        <p:txBody>
          <a:bodyPr anchor="t" rtlCol="false" tIns="0" lIns="0" bIns="0" rIns="0">
            <a:spAutoFit/>
          </a:bodyPr>
          <a:lstStyle/>
          <a:p>
            <a:pPr algn="l">
              <a:lnSpc>
                <a:spcPts val="2400"/>
              </a:lnSpc>
            </a:pPr>
            <a:r>
              <a:rPr lang="en-US" sz="2000" spc="-60">
                <a:solidFill>
                  <a:srgbClr val="000000"/>
                </a:solidFill>
                <a:latin typeface="Times New Roman"/>
                <a:ea typeface="Times New Roman"/>
                <a:cs typeface="Times New Roman"/>
                <a:sym typeface="Times New Roman"/>
              </a:rPr>
              <a:t>OPC · FINTRAC · ISED</a:t>
            </a:r>
          </a:p>
        </p:txBody>
      </p:sp>
      <p:sp>
        <p:nvSpPr>
          <p:cNvPr name="TextBox 22" id="22"/>
          <p:cNvSpPr txBox="true"/>
          <p:nvPr/>
        </p:nvSpPr>
        <p:spPr>
          <a:xfrm rot="0">
            <a:off x="1028700" y="4058620"/>
            <a:ext cx="3505062" cy="628650"/>
          </a:xfrm>
          <a:prstGeom prst="rect">
            <a:avLst/>
          </a:prstGeom>
        </p:spPr>
        <p:txBody>
          <a:bodyPr anchor="t" rtlCol="false" tIns="0" lIns="0" bIns="0" rIns="0">
            <a:spAutoFit/>
          </a:bodyPr>
          <a:lstStyle/>
          <a:p>
            <a:pPr algn="l">
              <a:lnSpc>
                <a:spcPts val="2400"/>
              </a:lnSpc>
            </a:pPr>
            <a:r>
              <a:rPr lang="en-US" sz="2000" spc="-60">
                <a:solidFill>
                  <a:srgbClr val="000000"/>
                </a:solidFill>
                <a:latin typeface="Times New Roman"/>
                <a:ea typeface="Times New Roman"/>
                <a:cs typeface="Times New Roman"/>
                <a:sym typeface="Times New Roman"/>
              </a:rPr>
              <a:t>CEO/Founder · Legal &amp; Compliance (CIPP/C) · CTO · DPO </a:t>
            </a:r>
          </a:p>
        </p:txBody>
      </p:sp>
      <p:sp>
        <p:nvSpPr>
          <p:cNvPr name="TextBox 23" id="2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Stakeholder Mapping: Overview</a:t>
            </a:r>
          </a:p>
        </p:txBody>
      </p:sp>
      <p:sp>
        <p:nvSpPr>
          <p:cNvPr name="TextBox 4" id="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26</a:t>
            </a:r>
          </a:p>
        </p:txBody>
      </p:sp>
      <p:grpSp>
        <p:nvGrpSpPr>
          <p:cNvPr name="Group 5" id="5"/>
          <p:cNvGrpSpPr/>
          <p:nvPr/>
        </p:nvGrpSpPr>
        <p:grpSpPr>
          <a:xfrm rot="0">
            <a:off x="13582204" y="8036426"/>
            <a:ext cx="3677096" cy="1221874"/>
            <a:chOff x="0" y="0"/>
            <a:chExt cx="4902795" cy="1629165"/>
          </a:xfrm>
        </p:grpSpPr>
        <p:grpSp>
          <p:nvGrpSpPr>
            <p:cNvPr name="Group 6" id="6"/>
            <p:cNvGrpSpPr/>
            <p:nvPr/>
          </p:nvGrpSpPr>
          <p:grpSpPr>
            <a:xfrm rot="0">
              <a:off x="4173530" y="0"/>
              <a:ext cx="729265" cy="760599"/>
              <a:chOff x="0" y="0"/>
              <a:chExt cx="584874" cy="610004"/>
            </a:xfrm>
          </p:grpSpPr>
          <p:sp>
            <p:nvSpPr>
              <p:cNvPr name="Freeform 7" id="7"/>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alpha val="49804"/>
                </a:srgbClr>
              </a:solidFill>
            </p:spPr>
          </p:sp>
          <p:sp>
            <p:nvSpPr>
              <p:cNvPr name="TextBox 8" id="8"/>
              <p:cNvSpPr txBox="true"/>
              <p:nvPr/>
            </p:nvSpPr>
            <p:spPr>
              <a:xfrm>
                <a:off x="137617" y="162580"/>
                <a:ext cx="309639" cy="303893"/>
              </a:xfrm>
              <a:prstGeom prst="rect">
                <a:avLst/>
              </a:prstGeom>
            </p:spPr>
            <p:txBody>
              <a:bodyPr anchor="ctr" rtlCol="false" tIns="50800" lIns="50800" bIns="50800" rIns="50800"/>
              <a:lstStyle/>
              <a:p>
                <a:pPr algn="ctr">
                  <a:lnSpc>
                    <a:spcPts val="1600"/>
                  </a:lnSpc>
                </a:pPr>
              </a:p>
            </p:txBody>
          </p:sp>
        </p:grpSp>
        <p:sp>
          <p:nvSpPr>
            <p:cNvPr name="TextBox 9" id="9"/>
            <p:cNvSpPr txBox="true"/>
            <p:nvPr/>
          </p:nvSpPr>
          <p:spPr>
            <a:xfrm rot="0">
              <a:off x="0" y="424172"/>
              <a:ext cx="4368423" cy="1204993"/>
            </a:xfrm>
            <a:prstGeom prst="rect">
              <a:avLst/>
            </a:prstGeom>
          </p:spPr>
          <p:txBody>
            <a:bodyPr anchor="t" rtlCol="false" tIns="0" lIns="0" bIns="0" rIns="0">
              <a:spAutoFit/>
            </a:bodyPr>
            <a:lstStyle/>
            <a:p>
              <a:pPr algn="ctr">
                <a:lnSpc>
                  <a:spcPts val="6378"/>
                </a:lnSpc>
              </a:pPr>
              <a:r>
                <a:rPr lang="en-US" b="true" sz="6378" spc="-255">
                  <a:solidFill>
                    <a:srgbClr val="000000">
                      <a:alpha val="49804"/>
                    </a:srgbClr>
                  </a:solidFill>
                  <a:latin typeface="Times New Roman Bold"/>
                  <a:ea typeface="Times New Roman Bold"/>
                  <a:cs typeface="Times New Roman Bold"/>
                  <a:sym typeface="Times New Roman Bold"/>
                </a:rPr>
                <a:t>tokentrust</a:t>
              </a:r>
            </a:p>
          </p:txBody>
        </p:sp>
      </p:grpSp>
      <p:sp>
        <p:nvSpPr>
          <p:cNvPr name="TextBox 10" id="10"/>
          <p:cNvSpPr txBox="true"/>
          <p:nvPr/>
        </p:nvSpPr>
        <p:spPr>
          <a:xfrm rot="0">
            <a:off x="1028700" y="8639175"/>
            <a:ext cx="1840334" cy="619125"/>
          </a:xfrm>
          <a:prstGeom prst="rect">
            <a:avLst/>
          </a:prstGeom>
        </p:spPr>
        <p:txBody>
          <a:bodyPr anchor="t" rtlCol="false" tIns="0" lIns="0" bIns="0" rIns="0">
            <a:spAutoFit/>
          </a:bodyPr>
          <a:lstStyle/>
          <a:p>
            <a:pPr algn="r">
              <a:lnSpc>
                <a:spcPts val="4799"/>
              </a:lnSpc>
            </a:pPr>
            <a:r>
              <a:rPr lang="en-US" sz="3999" spc="-159">
                <a:solidFill>
                  <a:srgbClr val="000000">
                    <a:alpha val="49804"/>
                  </a:srgbClr>
                </a:solidFill>
                <a:latin typeface="Times New Roman"/>
                <a:ea typeface="Times New Roman"/>
                <a:cs typeface="Times New Roman"/>
                <a:sym typeface="Times New Roman"/>
              </a:rPr>
              <a:t>Overview</a:t>
            </a:r>
          </a:p>
        </p:txBody>
      </p:sp>
      <p:grpSp>
        <p:nvGrpSpPr>
          <p:cNvPr name="Group 11" id="11"/>
          <p:cNvGrpSpPr/>
          <p:nvPr/>
        </p:nvGrpSpPr>
        <p:grpSpPr>
          <a:xfrm rot="0">
            <a:off x="1262664" y="415636"/>
            <a:ext cx="14985660" cy="9455727"/>
            <a:chOff x="0" y="0"/>
            <a:chExt cx="19980879" cy="12607636"/>
          </a:xfrm>
        </p:grpSpPr>
        <p:sp>
          <p:nvSpPr>
            <p:cNvPr name="Freeform 12" id="12"/>
            <p:cNvSpPr/>
            <p:nvPr/>
          </p:nvSpPr>
          <p:spPr>
            <a:xfrm flipH="false" flipV="false" rot="2700000">
              <a:off x="1850639" y="1842052"/>
              <a:ext cx="8906358" cy="8923533"/>
            </a:xfrm>
            <a:custGeom>
              <a:avLst/>
              <a:gdLst/>
              <a:ahLst/>
              <a:cxnLst/>
              <a:rect r="r" b="b" t="t" l="l"/>
              <a:pathLst>
                <a:path h="8923533" w="8906358">
                  <a:moveTo>
                    <a:pt x="0" y="0"/>
                  </a:moveTo>
                  <a:lnTo>
                    <a:pt x="8906358" y="0"/>
                  </a:lnTo>
                  <a:lnTo>
                    <a:pt x="8906358" y="8923533"/>
                  </a:lnTo>
                  <a:lnTo>
                    <a:pt x="0" y="8923533"/>
                  </a:lnTo>
                  <a:lnTo>
                    <a:pt x="0" y="0"/>
                  </a:lnTo>
                  <a:close/>
                </a:path>
              </a:pathLst>
            </a:custGeom>
            <a:blipFill>
              <a:blip r:embed="rId2">
                <a:alphaModFix amt="40000"/>
              </a:blip>
              <a:stretch>
                <a:fillRect l="-55818" t="-23299" r="-66741" b="-15533"/>
              </a:stretch>
            </a:blipFill>
          </p:spPr>
        </p:sp>
        <p:sp>
          <p:nvSpPr>
            <p:cNvPr name="Freeform 13" id="13"/>
            <p:cNvSpPr/>
            <p:nvPr/>
          </p:nvSpPr>
          <p:spPr>
            <a:xfrm flipH="false" flipV="false" rot="0">
              <a:off x="12607636" y="2436286"/>
              <a:ext cx="7373243" cy="7417903"/>
            </a:xfrm>
            <a:custGeom>
              <a:avLst/>
              <a:gdLst/>
              <a:ahLst/>
              <a:cxnLst/>
              <a:rect r="r" b="b" t="t" l="l"/>
              <a:pathLst>
                <a:path h="7417903" w="7373243">
                  <a:moveTo>
                    <a:pt x="0" y="0"/>
                  </a:moveTo>
                  <a:lnTo>
                    <a:pt x="7373243" y="0"/>
                  </a:lnTo>
                  <a:lnTo>
                    <a:pt x="7373243" y="7417903"/>
                  </a:lnTo>
                  <a:lnTo>
                    <a:pt x="0" y="7417903"/>
                  </a:lnTo>
                  <a:lnTo>
                    <a:pt x="0" y="0"/>
                  </a:lnTo>
                  <a:close/>
                </a:path>
              </a:pathLst>
            </a:custGeom>
            <a:blipFill>
              <a:blip r:embed="rId3">
                <a:alphaModFix amt="40000"/>
              </a:blip>
              <a:stretch>
                <a:fillRect l="-47086" t="-7932" r="-47086" b="-12694"/>
              </a:stretch>
            </a:blipFill>
          </p:spPr>
        </p:sp>
        <p:sp>
          <p:nvSpPr>
            <p:cNvPr name="AutoShape 14" id="14"/>
            <p:cNvSpPr/>
            <p:nvPr/>
          </p:nvSpPr>
          <p:spPr>
            <a:xfrm flipV="true">
              <a:off x="11458188" y="6303818"/>
              <a:ext cx="4836070" cy="0"/>
            </a:xfrm>
            <a:prstGeom prst="line">
              <a:avLst/>
            </a:prstGeom>
            <a:ln cap="flat" w="12700">
              <a:solidFill>
                <a:srgbClr val="000000">
                  <a:alpha val="40000"/>
                </a:srgbClr>
              </a:solidFill>
              <a:prstDash val="solid"/>
              <a:headEnd type="none" len="sm" w="sm"/>
              <a:tailEnd type="none" len="sm" w="sm"/>
            </a:ln>
          </p:spPr>
        </p:sp>
        <p:sp>
          <p:nvSpPr>
            <p:cNvPr name="AutoShape 15" id="15"/>
            <p:cNvSpPr/>
            <p:nvPr/>
          </p:nvSpPr>
          <p:spPr>
            <a:xfrm flipV="true">
              <a:off x="15761498" y="5771058"/>
              <a:ext cx="1065521" cy="1065521"/>
            </a:xfrm>
            <a:prstGeom prst="line">
              <a:avLst/>
            </a:prstGeom>
            <a:ln cap="flat" w="12700">
              <a:solidFill>
                <a:srgbClr val="000000">
                  <a:alpha val="40000"/>
                </a:srgbClr>
              </a:solidFill>
              <a:prstDash val="solid"/>
              <a:headEnd type="none" len="sm" w="sm"/>
              <a:tailEnd type="none" len="sm" w="sm"/>
            </a:ln>
          </p:spPr>
        </p:sp>
        <p:sp>
          <p:nvSpPr>
            <p:cNvPr name="AutoShape 16" id="16"/>
            <p:cNvSpPr/>
            <p:nvPr/>
          </p:nvSpPr>
          <p:spPr>
            <a:xfrm flipH="true" flipV="true">
              <a:off x="15761498" y="5771058"/>
              <a:ext cx="1065521" cy="1065521"/>
            </a:xfrm>
            <a:prstGeom prst="line">
              <a:avLst/>
            </a:prstGeom>
            <a:ln cap="flat" w="12700">
              <a:solidFill>
                <a:srgbClr val="000000">
                  <a:alpha val="40000"/>
                </a:srgbClr>
              </a:solidFill>
              <a:prstDash val="solid"/>
              <a:headEnd type="none" len="sm" w="sm"/>
              <a:tailEnd type="none" len="sm" w="sm"/>
            </a:ln>
          </p:spPr>
        </p:sp>
      </p:grpSp>
      <p:sp>
        <p:nvSpPr>
          <p:cNvPr name="AutoShape 17" id="17"/>
          <p:cNvSpPr/>
          <p:nvPr/>
        </p:nvSpPr>
        <p:spPr>
          <a:xfrm flipH="true" flipV="true">
            <a:off x="17254537" y="3329974"/>
            <a:ext cx="0" cy="3627053"/>
          </a:xfrm>
          <a:prstGeom prst="line">
            <a:avLst/>
          </a:prstGeom>
          <a:ln cap="flat" w="9525">
            <a:solidFill>
              <a:srgbClr val="000000">
                <a:alpha val="49804"/>
              </a:srgbClr>
            </a:solidFill>
            <a:prstDash val="solid"/>
            <a:headEnd type="none" len="sm" w="sm"/>
            <a:tailEnd type="none" len="sm" w="sm"/>
          </a:ln>
        </p:spPr>
      </p:sp>
      <p:sp>
        <p:nvSpPr>
          <p:cNvPr name="AutoShape 18" id="18"/>
          <p:cNvSpPr/>
          <p:nvPr/>
        </p:nvSpPr>
        <p:spPr>
          <a:xfrm flipH="true" flipV="true">
            <a:off x="1033462" y="3329974"/>
            <a:ext cx="0" cy="3627053"/>
          </a:xfrm>
          <a:prstGeom prst="line">
            <a:avLst/>
          </a:prstGeom>
          <a:ln cap="flat" w="9525">
            <a:solidFill>
              <a:srgbClr val="000000">
                <a:alpha val="49804"/>
              </a:srgbClr>
            </a:solidFill>
            <a:prstDash val="solid"/>
            <a:headEnd type="none" len="sm" w="sm"/>
            <a:tailEnd type="none" len="sm" w="sm"/>
          </a:ln>
        </p:spPr>
      </p:sp>
      <p:sp>
        <p:nvSpPr>
          <p:cNvPr name="TextBox 19" id="19"/>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09565" y="1201478"/>
            <a:ext cx="7868870" cy="7884045"/>
          </a:xfrm>
          <a:custGeom>
            <a:avLst/>
            <a:gdLst/>
            <a:ahLst/>
            <a:cxnLst/>
            <a:rect r="r" b="b" t="t" l="l"/>
            <a:pathLst>
              <a:path h="7884045" w="7868870">
                <a:moveTo>
                  <a:pt x="0" y="0"/>
                </a:moveTo>
                <a:lnTo>
                  <a:pt x="7868870" y="0"/>
                </a:lnTo>
                <a:lnTo>
                  <a:pt x="7868870" y="7884044"/>
                </a:lnTo>
                <a:lnTo>
                  <a:pt x="0" y="7884044"/>
                </a:lnTo>
                <a:lnTo>
                  <a:pt x="0" y="0"/>
                </a:lnTo>
                <a:close/>
              </a:path>
            </a:pathLst>
          </a:custGeom>
          <a:blipFill>
            <a:blip r:embed="rId2"/>
            <a:stretch>
              <a:fillRect l="-55818" t="-23299" r="-66741" b="-15533"/>
            </a:stretch>
          </a:blipFill>
        </p:spPr>
      </p:sp>
      <p:sp>
        <p:nvSpPr>
          <p:cNvPr name="TextBox 3" id="3"/>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Stakeholder Mapping: Token Economy</a:t>
            </a:r>
          </a:p>
        </p:txBody>
      </p:sp>
      <p:sp>
        <p:nvSpPr>
          <p:cNvPr name="TextBox 5" id="5"/>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27</a:t>
            </a:r>
          </a:p>
        </p:txBody>
      </p:sp>
      <p:sp>
        <p:nvSpPr>
          <p:cNvPr name="TextBox 6" id="6"/>
          <p:cNvSpPr txBox="true"/>
          <p:nvPr/>
        </p:nvSpPr>
        <p:spPr>
          <a:xfrm rot="0">
            <a:off x="1031135" y="4824412"/>
            <a:ext cx="4001393"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Stakeholder Mapping</a:t>
            </a:r>
          </a:p>
        </p:txBody>
      </p:sp>
      <p:sp>
        <p:nvSpPr>
          <p:cNvPr name="TextBox 7" id="7"/>
          <p:cNvSpPr txBox="true"/>
          <p:nvPr/>
        </p:nvSpPr>
        <p:spPr>
          <a:xfrm rot="0">
            <a:off x="15415989" y="4953000"/>
            <a:ext cx="1843311" cy="371475"/>
          </a:xfrm>
          <a:prstGeom prst="rect">
            <a:avLst/>
          </a:prstGeom>
        </p:spPr>
        <p:txBody>
          <a:bodyPr anchor="t" rtlCol="false" tIns="0" lIns="0" bIns="0" rIns="0">
            <a:spAutoFit/>
          </a:bodyPr>
          <a:lstStyle/>
          <a:p>
            <a:pPr algn="r">
              <a:lnSpc>
                <a:spcPts val="2879"/>
              </a:lnSpc>
            </a:pPr>
            <a:r>
              <a:rPr lang="en-US" sz="2399" spc="-95">
                <a:solidFill>
                  <a:srgbClr val="000000">
                    <a:alpha val="49804"/>
                  </a:srgbClr>
                </a:solidFill>
                <a:latin typeface="Times New Roman"/>
                <a:ea typeface="Times New Roman"/>
                <a:cs typeface="Times New Roman"/>
                <a:sym typeface="Times New Roman"/>
              </a:rPr>
              <a:t>Token Economy</a:t>
            </a:r>
          </a:p>
        </p:txBody>
      </p:sp>
      <p:sp>
        <p:nvSpPr>
          <p:cNvPr name="TextBox 8" id="8"/>
          <p:cNvSpPr txBox="true"/>
          <p:nvPr/>
        </p:nvSpPr>
        <p:spPr>
          <a:xfrm rot="0">
            <a:off x="12122008" y="8286750"/>
            <a:ext cx="5137292" cy="971550"/>
          </a:xfrm>
          <a:prstGeom prst="rect">
            <a:avLst/>
          </a:prstGeom>
        </p:spPr>
        <p:txBody>
          <a:bodyPr anchor="t" rtlCol="false" tIns="0" lIns="0" bIns="0" rIns="0">
            <a:spAutoFit/>
          </a:bodyPr>
          <a:lstStyle/>
          <a:p>
            <a:pPr algn="r">
              <a:lnSpc>
                <a:spcPts val="1919"/>
              </a:lnSpc>
            </a:pPr>
            <a:r>
              <a:rPr lang="en-US" sz="1599" spc="-47">
                <a:solidFill>
                  <a:srgbClr val="000000">
                    <a:alpha val="49804"/>
                  </a:srgbClr>
                </a:solidFill>
                <a:latin typeface="Times New Roman"/>
                <a:ea typeface="Times New Roman"/>
                <a:cs typeface="Times New Roman"/>
                <a:sym typeface="Times New Roman"/>
              </a:rPr>
              <a:t>TokenTrust is focused on building infrastructure through strategic partnerships while working closely with Canadian regulators to ensure AI services align with the local regulatory framework, ultimately fostering an ecosystem that drives new value creation.</a:t>
            </a:r>
          </a:p>
        </p:txBody>
      </p:sp>
      <p:sp>
        <p:nvSpPr>
          <p:cNvPr name="TextBox 9" id="9"/>
          <p:cNvSpPr txBox="true"/>
          <p:nvPr/>
        </p:nvSpPr>
        <p:spPr>
          <a:xfrm rot="0">
            <a:off x="1031135" y="5434013"/>
            <a:ext cx="3627313" cy="371475"/>
          </a:xfrm>
          <a:prstGeom prst="rect">
            <a:avLst/>
          </a:prstGeom>
        </p:spPr>
        <p:txBody>
          <a:bodyPr anchor="t" rtlCol="false" tIns="0" lIns="0" bIns="0" rIns="0">
            <a:spAutoFit/>
          </a:bodyPr>
          <a:lstStyle/>
          <a:p>
            <a:pPr algn="l">
              <a:lnSpc>
                <a:spcPts val="2879"/>
              </a:lnSpc>
            </a:pPr>
            <a:r>
              <a:rPr lang="en-US" sz="2399" spc="-95">
                <a:solidFill>
                  <a:srgbClr val="000000">
                    <a:alpha val="49804"/>
                  </a:srgbClr>
                </a:solidFill>
                <a:latin typeface="Times New Roman"/>
                <a:ea typeface="Times New Roman"/>
                <a:cs typeface="Times New Roman"/>
                <a:sym typeface="Times New Roman"/>
              </a:rPr>
              <a:t>Speculative Virtual Environment</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87173" y="788035"/>
            <a:ext cx="8313654" cy="8364010"/>
          </a:xfrm>
          <a:custGeom>
            <a:avLst/>
            <a:gdLst/>
            <a:ahLst/>
            <a:cxnLst/>
            <a:rect r="r" b="b" t="t" l="l"/>
            <a:pathLst>
              <a:path h="8364010" w="8313654">
                <a:moveTo>
                  <a:pt x="0" y="0"/>
                </a:moveTo>
                <a:lnTo>
                  <a:pt x="8313654" y="0"/>
                </a:lnTo>
                <a:lnTo>
                  <a:pt x="8313654" y="8364010"/>
                </a:lnTo>
                <a:lnTo>
                  <a:pt x="0" y="8364010"/>
                </a:lnTo>
                <a:lnTo>
                  <a:pt x="0" y="0"/>
                </a:lnTo>
                <a:close/>
              </a:path>
            </a:pathLst>
          </a:custGeom>
          <a:blipFill>
            <a:blip r:embed="rId2"/>
            <a:stretch>
              <a:fillRect l="-47086" t="-7932" r="-47086" b="-12694"/>
            </a:stretch>
          </a:blipFill>
        </p:spPr>
      </p:sp>
      <p:sp>
        <p:nvSpPr>
          <p:cNvPr name="TextBox 3" id="3"/>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Stakeholder Mapping: RACI Framework</a:t>
            </a:r>
          </a:p>
        </p:txBody>
      </p:sp>
      <p:sp>
        <p:nvSpPr>
          <p:cNvPr name="TextBox 5" id="5"/>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28</a:t>
            </a:r>
          </a:p>
        </p:txBody>
      </p:sp>
      <p:sp>
        <p:nvSpPr>
          <p:cNvPr name="TextBox 6" id="6"/>
          <p:cNvSpPr txBox="true"/>
          <p:nvPr/>
        </p:nvSpPr>
        <p:spPr>
          <a:xfrm rot="0">
            <a:off x="1031135" y="4824412"/>
            <a:ext cx="4001393"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Stakeholder Mapping</a:t>
            </a:r>
          </a:p>
        </p:txBody>
      </p:sp>
      <p:sp>
        <p:nvSpPr>
          <p:cNvPr name="TextBox 7" id="7"/>
          <p:cNvSpPr txBox="true"/>
          <p:nvPr/>
        </p:nvSpPr>
        <p:spPr>
          <a:xfrm rot="0">
            <a:off x="15220429" y="4960515"/>
            <a:ext cx="2038871" cy="371475"/>
          </a:xfrm>
          <a:prstGeom prst="rect">
            <a:avLst/>
          </a:prstGeom>
        </p:spPr>
        <p:txBody>
          <a:bodyPr anchor="t" rtlCol="false" tIns="0" lIns="0" bIns="0" rIns="0">
            <a:spAutoFit/>
          </a:bodyPr>
          <a:lstStyle/>
          <a:p>
            <a:pPr algn="r">
              <a:lnSpc>
                <a:spcPts val="2879"/>
              </a:lnSpc>
            </a:pPr>
            <a:r>
              <a:rPr lang="en-US" sz="2399" spc="-95">
                <a:solidFill>
                  <a:srgbClr val="000000">
                    <a:alpha val="49804"/>
                  </a:srgbClr>
                </a:solidFill>
                <a:latin typeface="Times New Roman"/>
                <a:ea typeface="Times New Roman"/>
                <a:cs typeface="Times New Roman"/>
                <a:sym typeface="Times New Roman"/>
              </a:rPr>
              <a:t>RACI Framework</a:t>
            </a:r>
          </a:p>
        </p:txBody>
      </p:sp>
      <p:sp>
        <p:nvSpPr>
          <p:cNvPr name="TextBox 8" id="8"/>
          <p:cNvSpPr txBox="true"/>
          <p:nvPr/>
        </p:nvSpPr>
        <p:spPr>
          <a:xfrm rot="0">
            <a:off x="12122008" y="8286750"/>
            <a:ext cx="5137292" cy="971550"/>
          </a:xfrm>
          <a:prstGeom prst="rect">
            <a:avLst/>
          </a:prstGeom>
        </p:spPr>
        <p:txBody>
          <a:bodyPr anchor="t" rtlCol="false" tIns="0" lIns="0" bIns="0" rIns="0">
            <a:spAutoFit/>
          </a:bodyPr>
          <a:lstStyle/>
          <a:p>
            <a:pPr algn="r">
              <a:lnSpc>
                <a:spcPts val="1919"/>
              </a:lnSpc>
            </a:pPr>
            <a:r>
              <a:rPr lang="en-US" sz="1599" spc="-47">
                <a:solidFill>
                  <a:srgbClr val="000000">
                    <a:alpha val="49804"/>
                  </a:srgbClr>
                </a:solidFill>
                <a:latin typeface="Times New Roman"/>
                <a:ea typeface="Times New Roman"/>
                <a:cs typeface="Times New Roman"/>
                <a:sym typeface="Times New Roman"/>
              </a:rPr>
              <a:t>Internally, TokenTrust automates RACI-based reporting and assessment to streamline regulatory audits and data tracking. Through technical partnerships with AI enterprises, it ensures internal data flows remain secure, reliable, and fully transparent.</a:t>
            </a:r>
          </a:p>
        </p:txBody>
      </p:sp>
      <p:sp>
        <p:nvSpPr>
          <p:cNvPr name="TextBox 9" id="9"/>
          <p:cNvSpPr txBox="true"/>
          <p:nvPr/>
        </p:nvSpPr>
        <p:spPr>
          <a:xfrm rot="0">
            <a:off x="1031135" y="5434013"/>
            <a:ext cx="1738685" cy="371475"/>
          </a:xfrm>
          <a:prstGeom prst="rect">
            <a:avLst/>
          </a:prstGeom>
        </p:spPr>
        <p:txBody>
          <a:bodyPr anchor="t" rtlCol="false" tIns="0" lIns="0" bIns="0" rIns="0">
            <a:spAutoFit/>
          </a:bodyPr>
          <a:lstStyle/>
          <a:p>
            <a:pPr algn="l">
              <a:lnSpc>
                <a:spcPts val="2879"/>
              </a:lnSpc>
            </a:pPr>
            <a:r>
              <a:rPr lang="en-US" sz="2399" spc="-95">
                <a:solidFill>
                  <a:srgbClr val="000000">
                    <a:alpha val="49804"/>
                  </a:srgbClr>
                </a:solidFill>
                <a:latin typeface="Times New Roman"/>
                <a:ea typeface="Times New Roman"/>
                <a:cs typeface="Times New Roman"/>
                <a:sym typeface="Times New Roman"/>
              </a:rPr>
              <a:t>Internal System</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1028700" y="4200525"/>
          <a:ext cx="9429750" cy="2514600"/>
        </p:xfrm>
        <a:graphic>
          <a:graphicData uri="http://schemas.openxmlformats.org/presentationml/2006/ole">
            <p:oleObj imgW="11315700" imgH="4394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RACI Framework </a:t>
            </a:r>
          </a:p>
        </p:txBody>
      </p:sp>
      <p:sp>
        <p:nvSpPr>
          <p:cNvPr name="TextBox 5" id="5"/>
          <p:cNvSpPr txBox="true"/>
          <p:nvPr/>
        </p:nvSpPr>
        <p:spPr>
          <a:xfrm rot="0">
            <a:off x="1028700" y="7162800"/>
            <a:ext cx="16230600" cy="527050"/>
          </a:xfrm>
          <a:prstGeom prst="rect">
            <a:avLst/>
          </a:prstGeom>
        </p:spPr>
        <p:txBody>
          <a:bodyPr anchor="t" rtlCol="false" tIns="0" lIns="0" bIns="0" rIns="0">
            <a:spAutoFit/>
          </a:bodyPr>
          <a:lstStyle/>
          <a:p>
            <a:pPr algn="l">
              <a:lnSpc>
                <a:spcPts val="2000"/>
              </a:lnSpc>
              <a:spcBef>
                <a:spcPct val="0"/>
              </a:spcBef>
            </a:pPr>
            <a:r>
              <a:rPr lang="en-US" sz="2000" spc="-60">
                <a:solidFill>
                  <a:srgbClr val="000000"/>
                </a:solidFill>
                <a:latin typeface="Times New Roman"/>
                <a:ea typeface="Times New Roman"/>
                <a:cs typeface="Times New Roman"/>
                <a:sym typeface="Times New Roman"/>
              </a:rPr>
              <a:t>PIPEDA compliance requires CTO consultation because the technical architecture of the DQI-to-token pipeline directly determines what constitutes data collection under federal law. FINTRAC registration involves Okta because token authentication infrastructure defines the scope of reportable transactions.</a:t>
            </a:r>
          </a:p>
        </p:txBody>
      </p:sp>
      <p:sp>
        <p:nvSpPr>
          <p:cNvPr name="TextBox 6" id="6"/>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29</a:t>
            </a:r>
          </a:p>
        </p:txBody>
      </p:sp>
      <p:sp>
        <p:nvSpPr>
          <p:cNvPr name="TextBox 7" id="7"/>
          <p:cNvSpPr txBox="true"/>
          <p:nvPr/>
        </p:nvSpPr>
        <p:spPr>
          <a:xfrm rot="0">
            <a:off x="1023938" y="1577181"/>
            <a:ext cx="2744316" cy="2000250"/>
          </a:xfrm>
          <a:prstGeom prst="rect">
            <a:avLst/>
          </a:prstGeom>
        </p:spPr>
        <p:txBody>
          <a:bodyPr anchor="t" rtlCol="false" tIns="0" lIns="0" bIns="0" rIns="0">
            <a:spAutoFit/>
          </a:bodyPr>
          <a:lstStyle/>
          <a:p>
            <a:pPr algn="l">
              <a:lnSpc>
                <a:spcPts val="15360"/>
              </a:lnSpc>
            </a:pPr>
            <a:r>
              <a:rPr lang="en-US" sz="12800" spc="-512">
                <a:solidFill>
                  <a:srgbClr val="000000"/>
                </a:solidFill>
                <a:latin typeface="Times New Roman"/>
                <a:ea typeface="Times New Roman"/>
                <a:cs typeface="Times New Roman"/>
                <a:sym typeface="Times New Roman"/>
              </a:rPr>
              <a:t>H - I</a:t>
            </a:r>
          </a:p>
        </p:txBody>
      </p:sp>
      <p:sp>
        <p:nvSpPr>
          <p:cNvPr name="TextBox 8" id="8"/>
          <p:cNvSpPr txBox="true"/>
          <p:nvPr/>
        </p:nvSpPr>
        <p:spPr>
          <a:xfrm rot="0">
            <a:off x="1028700" y="3283109"/>
            <a:ext cx="8650723" cy="655319"/>
          </a:xfrm>
          <a:prstGeom prst="rect">
            <a:avLst/>
          </a:prstGeom>
        </p:spPr>
        <p:txBody>
          <a:bodyPr anchor="t" rtlCol="false" tIns="0" lIns="0" bIns="0" rIns="0">
            <a:spAutoFit/>
          </a:bodyPr>
          <a:lstStyle/>
          <a:p>
            <a:pPr algn="l">
              <a:lnSpc>
                <a:spcPts val="4799"/>
              </a:lnSpc>
              <a:spcBef>
                <a:spcPct val="0"/>
              </a:spcBef>
            </a:pPr>
            <a:r>
              <a:rPr lang="en-US" sz="4799" spc="-143">
                <a:solidFill>
                  <a:srgbClr val="000000"/>
                </a:solidFill>
                <a:latin typeface="Times New Roman"/>
                <a:ea typeface="Times New Roman"/>
                <a:cs typeface="Times New Roman"/>
                <a:sym typeface="Times New Roman"/>
              </a:rPr>
              <a:t>RACI Matrix </a:t>
            </a:r>
          </a:p>
        </p:txBody>
      </p:sp>
      <p:sp>
        <p:nvSpPr>
          <p:cNvPr name="TextBox 9" id="9"/>
          <p:cNvSpPr txBox="true"/>
          <p:nvPr/>
        </p:nvSpPr>
        <p:spPr>
          <a:xfrm rot="0">
            <a:off x="8022580" y="8021638"/>
            <a:ext cx="9236720" cy="619125"/>
          </a:xfrm>
          <a:prstGeom prst="rect">
            <a:avLst/>
          </a:prstGeom>
        </p:spPr>
        <p:txBody>
          <a:bodyPr anchor="t" rtlCol="false" tIns="0" lIns="0" bIns="0" rIns="0">
            <a:spAutoFit/>
          </a:bodyPr>
          <a:lstStyle/>
          <a:p>
            <a:pPr algn="r">
              <a:lnSpc>
                <a:spcPts val="4799"/>
              </a:lnSpc>
            </a:pPr>
            <a:r>
              <a:rPr lang="en-US" sz="3999" spc="-159">
                <a:solidFill>
                  <a:srgbClr val="000000"/>
                </a:solidFill>
                <a:latin typeface="Times New Roman"/>
                <a:ea typeface="Times New Roman"/>
                <a:cs typeface="Times New Roman"/>
                <a:sym typeface="Times New Roman"/>
              </a:rPr>
              <a:t>Internal execution only. Single-entity consultation.</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1028700" y="4200525"/>
          <a:ext cx="9429750" cy="1885950"/>
        </p:xfrm>
        <a:graphic>
          <a:graphicData uri="http://schemas.openxmlformats.org/presentationml/2006/ole">
            <p:oleObj imgW="11315700" imgH="3771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RACI Framework </a:t>
            </a:r>
          </a:p>
        </p:txBody>
      </p:sp>
      <p:sp>
        <p:nvSpPr>
          <p:cNvPr name="TextBox 5" id="5"/>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30</a:t>
            </a:r>
          </a:p>
        </p:txBody>
      </p:sp>
      <p:sp>
        <p:nvSpPr>
          <p:cNvPr name="TextBox 6" id="6"/>
          <p:cNvSpPr txBox="true"/>
          <p:nvPr/>
        </p:nvSpPr>
        <p:spPr>
          <a:xfrm rot="0">
            <a:off x="1023938" y="1577181"/>
            <a:ext cx="3220641" cy="2000250"/>
          </a:xfrm>
          <a:prstGeom prst="rect">
            <a:avLst/>
          </a:prstGeom>
        </p:spPr>
        <p:txBody>
          <a:bodyPr anchor="t" rtlCol="false" tIns="0" lIns="0" bIns="0" rIns="0">
            <a:spAutoFit/>
          </a:bodyPr>
          <a:lstStyle/>
          <a:p>
            <a:pPr algn="l">
              <a:lnSpc>
                <a:spcPts val="15360"/>
              </a:lnSpc>
            </a:pPr>
            <a:r>
              <a:rPr lang="en-US" sz="12800" spc="-512">
                <a:solidFill>
                  <a:srgbClr val="000000"/>
                </a:solidFill>
                <a:latin typeface="Times New Roman"/>
                <a:ea typeface="Times New Roman"/>
                <a:cs typeface="Times New Roman"/>
                <a:sym typeface="Times New Roman"/>
              </a:rPr>
              <a:t>H - II</a:t>
            </a:r>
          </a:p>
        </p:txBody>
      </p:sp>
      <p:sp>
        <p:nvSpPr>
          <p:cNvPr name="TextBox 7" id="7"/>
          <p:cNvSpPr txBox="true"/>
          <p:nvPr/>
        </p:nvSpPr>
        <p:spPr>
          <a:xfrm rot="0">
            <a:off x="1028700" y="3283109"/>
            <a:ext cx="8650723" cy="655319"/>
          </a:xfrm>
          <a:prstGeom prst="rect">
            <a:avLst/>
          </a:prstGeom>
        </p:spPr>
        <p:txBody>
          <a:bodyPr anchor="t" rtlCol="false" tIns="0" lIns="0" bIns="0" rIns="0">
            <a:spAutoFit/>
          </a:bodyPr>
          <a:lstStyle/>
          <a:p>
            <a:pPr algn="l">
              <a:lnSpc>
                <a:spcPts val="4799"/>
              </a:lnSpc>
              <a:spcBef>
                <a:spcPct val="0"/>
              </a:spcBef>
            </a:pPr>
            <a:r>
              <a:rPr lang="en-US" sz="4799" spc="-143">
                <a:solidFill>
                  <a:srgbClr val="000000"/>
                </a:solidFill>
                <a:latin typeface="Times New Roman"/>
                <a:ea typeface="Times New Roman"/>
                <a:cs typeface="Times New Roman"/>
                <a:sym typeface="Times New Roman"/>
              </a:rPr>
              <a:t>RACI Matrix </a:t>
            </a:r>
          </a:p>
        </p:txBody>
      </p:sp>
      <p:sp>
        <p:nvSpPr>
          <p:cNvPr name="TextBox 8" id="8"/>
          <p:cNvSpPr txBox="true"/>
          <p:nvPr/>
        </p:nvSpPr>
        <p:spPr>
          <a:xfrm rot="0">
            <a:off x="8054355" y="8021638"/>
            <a:ext cx="9204945" cy="619125"/>
          </a:xfrm>
          <a:prstGeom prst="rect">
            <a:avLst/>
          </a:prstGeom>
        </p:spPr>
        <p:txBody>
          <a:bodyPr anchor="t" rtlCol="false" tIns="0" lIns="0" bIns="0" rIns="0">
            <a:spAutoFit/>
          </a:bodyPr>
          <a:lstStyle/>
          <a:p>
            <a:pPr algn="r">
              <a:lnSpc>
                <a:spcPts val="4799"/>
              </a:lnSpc>
            </a:pPr>
            <a:r>
              <a:rPr lang="en-US" sz="3999" spc="-159">
                <a:solidFill>
                  <a:srgbClr val="000000"/>
                </a:solidFill>
                <a:latin typeface="Times New Roman"/>
                <a:ea typeface="Times New Roman"/>
                <a:cs typeface="Times New Roman"/>
                <a:sym typeface="Times New Roman"/>
              </a:rPr>
              <a:t>External stakeholders enter. Pilot-stage expansion.</a:t>
            </a:r>
          </a:p>
        </p:txBody>
      </p:sp>
      <p:sp>
        <p:nvSpPr>
          <p:cNvPr name="TextBox 9" id="9"/>
          <p:cNvSpPr txBox="true"/>
          <p:nvPr/>
        </p:nvSpPr>
        <p:spPr>
          <a:xfrm rot="0">
            <a:off x="1028700" y="7162800"/>
            <a:ext cx="16230600" cy="279400"/>
          </a:xfrm>
          <a:prstGeom prst="rect">
            <a:avLst/>
          </a:prstGeom>
        </p:spPr>
        <p:txBody>
          <a:bodyPr anchor="t" rtlCol="false" tIns="0" lIns="0" bIns="0" rIns="0">
            <a:spAutoFit/>
          </a:bodyPr>
          <a:lstStyle/>
          <a:p>
            <a:pPr algn="l">
              <a:lnSpc>
                <a:spcPts val="2000"/>
              </a:lnSpc>
              <a:spcBef>
                <a:spcPct val="0"/>
              </a:spcBef>
            </a:pPr>
            <a:r>
              <a:rPr lang="en-US" sz="2000" spc="-60">
                <a:solidFill>
                  <a:srgbClr val="000000"/>
                </a:solidFill>
                <a:latin typeface="Times New Roman"/>
                <a:ea typeface="Times New Roman"/>
                <a:cs typeface="Times New Roman"/>
                <a:sym typeface="Times New Roman"/>
              </a:rPr>
              <a:t>As To</a:t>
            </a:r>
            <a:r>
              <a:rPr lang="en-US" sz="2000" spc="-60">
                <a:solidFill>
                  <a:srgbClr val="000000"/>
                </a:solidFill>
                <a:latin typeface="Times New Roman"/>
                <a:ea typeface="Times New Roman"/>
                <a:cs typeface="Times New Roman"/>
                <a:sym typeface="Times New Roman"/>
              </a:rPr>
              <a:t>kenTrust enters pilot partnerships, GPAI is consulted for global regulatory precedent and ISED is informed to align with Canada's federal innovation policy direction.</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1028700" y="4200525"/>
          <a:ext cx="9429750" cy="1885950"/>
        </p:xfrm>
        <a:graphic>
          <a:graphicData uri="http://schemas.openxmlformats.org/presentationml/2006/ole">
            <p:oleObj imgW="11315700" imgH="3771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RACI Framework </a:t>
            </a:r>
          </a:p>
        </p:txBody>
      </p:sp>
      <p:sp>
        <p:nvSpPr>
          <p:cNvPr name="TextBox 5" id="5"/>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31</a:t>
            </a:r>
          </a:p>
        </p:txBody>
      </p:sp>
      <p:sp>
        <p:nvSpPr>
          <p:cNvPr name="TextBox 6" id="6"/>
          <p:cNvSpPr txBox="true"/>
          <p:nvPr/>
        </p:nvSpPr>
        <p:spPr>
          <a:xfrm rot="0">
            <a:off x="1028700" y="3283109"/>
            <a:ext cx="8650723" cy="655319"/>
          </a:xfrm>
          <a:prstGeom prst="rect">
            <a:avLst/>
          </a:prstGeom>
        </p:spPr>
        <p:txBody>
          <a:bodyPr anchor="t" rtlCol="false" tIns="0" lIns="0" bIns="0" rIns="0">
            <a:spAutoFit/>
          </a:bodyPr>
          <a:lstStyle/>
          <a:p>
            <a:pPr algn="l">
              <a:lnSpc>
                <a:spcPts val="4799"/>
              </a:lnSpc>
              <a:spcBef>
                <a:spcPct val="0"/>
              </a:spcBef>
            </a:pPr>
            <a:r>
              <a:rPr lang="en-US" sz="4799" spc="-143">
                <a:solidFill>
                  <a:srgbClr val="000000"/>
                </a:solidFill>
                <a:latin typeface="Times New Roman"/>
                <a:ea typeface="Times New Roman"/>
                <a:cs typeface="Times New Roman"/>
                <a:sym typeface="Times New Roman"/>
              </a:rPr>
              <a:t>RACI Matrix </a:t>
            </a:r>
          </a:p>
        </p:txBody>
      </p:sp>
      <p:sp>
        <p:nvSpPr>
          <p:cNvPr name="TextBox 7" id="7"/>
          <p:cNvSpPr txBox="true"/>
          <p:nvPr/>
        </p:nvSpPr>
        <p:spPr>
          <a:xfrm rot="0">
            <a:off x="1023938" y="1577181"/>
            <a:ext cx="3696965" cy="2000250"/>
          </a:xfrm>
          <a:prstGeom prst="rect">
            <a:avLst/>
          </a:prstGeom>
        </p:spPr>
        <p:txBody>
          <a:bodyPr anchor="t" rtlCol="false" tIns="0" lIns="0" bIns="0" rIns="0">
            <a:spAutoFit/>
          </a:bodyPr>
          <a:lstStyle/>
          <a:p>
            <a:pPr algn="l">
              <a:lnSpc>
                <a:spcPts val="15360"/>
              </a:lnSpc>
            </a:pPr>
            <a:r>
              <a:rPr lang="en-US" sz="12800" spc="-512">
                <a:solidFill>
                  <a:srgbClr val="000000"/>
                </a:solidFill>
                <a:latin typeface="Times New Roman"/>
                <a:ea typeface="Times New Roman"/>
                <a:cs typeface="Times New Roman"/>
                <a:sym typeface="Times New Roman"/>
              </a:rPr>
              <a:t>H - III</a:t>
            </a:r>
          </a:p>
        </p:txBody>
      </p:sp>
      <p:sp>
        <p:nvSpPr>
          <p:cNvPr name="TextBox 8" id="8"/>
          <p:cNvSpPr txBox="true"/>
          <p:nvPr/>
        </p:nvSpPr>
        <p:spPr>
          <a:xfrm rot="0">
            <a:off x="7972797" y="8021638"/>
            <a:ext cx="9286503" cy="619125"/>
          </a:xfrm>
          <a:prstGeom prst="rect">
            <a:avLst/>
          </a:prstGeom>
        </p:spPr>
        <p:txBody>
          <a:bodyPr anchor="t" rtlCol="false" tIns="0" lIns="0" bIns="0" rIns="0">
            <a:spAutoFit/>
          </a:bodyPr>
          <a:lstStyle/>
          <a:p>
            <a:pPr algn="r">
              <a:lnSpc>
                <a:spcPts val="4799"/>
              </a:lnSpc>
            </a:pPr>
            <a:r>
              <a:rPr lang="en-US" sz="3999" spc="-159">
                <a:solidFill>
                  <a:srgbClr val="000000"/>
                </a:solidFill>
                <a:latin typeface="Times New Roman"/>
                <a:ea typeface="Times New Roman"/>
                <a:cs typeface="Times New Roman"/>
                <a:sym typeface="Times New Roman"/>
              </a:rPr>
              <a:t>Multi-entity consultation. Full ecosystem maturity.</a:t>
            </a:r>
          </a:p>
        </p:txBody>
      </p:sp>
      <p:sp>
        <p:nvSpPr>
          <p:cNvPr name="TextBox 9" id="9"/>
          <p:cNvSpPr txBox="true"/>
          <p:nvPr/>
        </p:nvSpPr>
        <p:spPr>
          <a:xfrm rot="0">
            <a:off x="1028700" y="7188200"/>
            <a:ext cx="16230600" cy="527050"/>
          </a:xfrm>
          <a:prstGeom prst="rect">
            <a:avLst/>
          </a:prstGeom>
        </p:spPr>
        <p:txBody>
          <a:bodyPr anchor="t" rtlCol="false" tIns="0" lIns="0" bIns="0" rIns="0">
            <a:spAutoFit/>
          </a:bodyPr>
          <a:lstStyle/>
          <a:p>
            <a:pPr algn="l">
              <a:lnSpc>
                <a:spcPts val="2000"/>
              </a:lnSpc>
              <a:spcBef>
                <a:spcPct val="0"/>
              </a:spcBef>
            </a:pPr>
            <a:r>
              <a:rPr lang="en-US" sz="2000" spc="-60">
                <a:solidFill>
                  <a:srgbClr val="000000"/>
                </a:solidFill>
                <a:latin typeface="Times New Roman"/>
                <a:ea typeface="Times New Roman"/>
                <a:cs typeface="Times New Roman"/>
                <a:sym typeface="Times New Roman"/>
              </a:rPr>
              <a:t>At</a:t>
            </a:r>
            <a:r>
              <a:rPr lang="en-US" sz="2000" spc="-60">
                <a:solidFill>
                  <a:srgbClr val="000000"/>
                </a:solidFill>
                <a:latin typeface="Times New Roman"/>
                <a:ea typeface="Times New Roman"/>
                <a:cs typeface="Times New Roman"/>
                <a:sym typeface="Times New Roman"/>
              </a:rPr>
              <a:t> full maturity, SSI Inc. and GPAI jointly advise on technical and policy standards, while AI Enterprises enter the Informed layer as direct participants in TokenTrust's cross-border token ecosystem.</a:t>
            </a:r>
          </a:p>
        </p:txBody>
      </p:sp>
      <p:sp>
        <p:nvSpPr>
          <p:cNvPr name="TextBox 10" id="10"/>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March 23</a:t>
            </a:r>
            <a:r>
              <a:rPr lang="en-US" sz="1599" spc="-47">
                <a:solidFill>
                  <a:srgbClr val="000000">
                    <a:alpha val="49804"/>
                  </a:srgbClr>
                </a:solidFill>
                <a:latin typeface="Helvetica World"/>
                <a:ea typeface="Helvetica World"/>
                <a:cs typeface="Helvetica World"/>
                <a:sym typeface="Helvetica World"/>
              </a:rPr>
              <a:t>rd</a:t>
            </a:r>
            <a:r>
              <a:rPr lang="en-US" sz="1599" spc="-47">
                <a:solidFill>
                  <a:srgbClr val="000000">
                    <a:alpha val="49804"/>
                  </a:srgbClr>
                </a:solidFill>
                <a:latin typeface="Helvetica World"/>
                <a:ea typeface="Helvetica World"/>
                <a:cs typeface="Helvetica World"/>
                <a:sym typeface="Helvetica World"/>
              </a:rPr>
              <a:t>, 2026</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Conclusion</a:t>
            </a:r>
          </a:p>
        </p:txBody>
      </p:sp>
      <p:sp>
        <p:nvSpPr>
          <p:cNvPr name="TextBox 5" id="5"/>
          <p:cNvSpPr txBox="true"/>
          <p:nvPr/>
        </p:nvSpPr>
        <p:spPr>
          <a:xfrm rot="0">
            <a:off x="4557250" y="7177246"/>
            <a:ext cx="12702050" cy="809625"/>
          </a:xfrm>
          <a:prstGeom prst="rect">
            <a:avLst/>
          </a:prstGeom>
        </p:spPr>
        <p:txBody>
          <a:bodyPr anchor="t" rtlCol="false" tIns="0" lIns="0" bIns="0" rIns="0">
            <a:spAutoFit/>
          </a:bodyPr>
          <a:lstStyle/>
          <a:p>
            <a:pPr algn="r">
              <a:lnSpc>
                <a:spcPts val="3000"/>
              </a:lnSpc>
              <a:spcBef>
                <a:spcPct val="0"/>
              </a:spcBef>
            </a:pPr>
            <a:r>
              <a:rPr lang="en-US" sz="3000" spc="-89">
                <a:solidFill>
                  <a:srgbClr val="000000"/>
                </a:solidFill>
                <a:latin typeface="Times New Roman"/>
                <a:ea typeface="Times New Roman"/>
                <a:cs typeface="Times New Roman"/>
                <a:sym typeface="Times New Roman"/>
              </a:rPr>
              <a:t>Thi</a:t>
            </a:r>
            <a:r>
              <a:rPr lang="en-US" sz="3000" spc="-89">
                <a:solidFill>
                  <a:srgbClr val="000000"/>
                </a:solidFill>
                <a:latin typeface="Times New Roman"/>
                <a:ea typeface="Times New Roman"/>
                <a:cs typeface="Times New Roman"/>
                <a:sym typeface="Times New Roman"/>
              </a:rPr>
              <a:t>s po</a:t>
            </a:r>
            <a:r>
              <a:rPr lang="en-US" sz="3000" spc="-89">
                <a:solidFill>
                  <a:srgbClr val="000000"/>
                </a:solidFill>
                <a:latin typeface="Times New Roman"/>
                <a:ea typeface="Times New Roman"/>
                <a:cs typeface="Times New Roman"/>
                <a:sym typeface="Times New Roman"/>
              </a:rPr>
              <a:t>s</a:t>
            </a:r>
            <a:r>
              <a:rPr lang="en-US" sz="3000" spc="-89">
                <a:solidFill>
                  <a:srgbClr val="000000"/>
                </a:solidFill>
                <a:latin typeface="Times New Roman"/>
                <a:ea typeface="Times New Roman"/>
                <a:cs typeface="Times New Roman"/>
                <a:sym typeface="Times New Roman"/>
              </a:rPr>
              <a:t>i</a:t>
            </a:r>
            <a:r>
              <a:rPr lang="en-US" sz="3000" spc="-89">
                <a:solidFill>
                  <a:srgbClr val="000000"/>
                </a:solidFill>
                <a:latin typeface="Times New Roman"/>
                <a:ea typeface="Times New Roman"/>
                <a:cs typeface="Times New Roman"/>
                <a:sym typeface="Times New Roman"/>
              </a:rPr>
              <a:t>t</a:t>
            </a:r>
            <a:r>
              <a:rPr lang="en-US" sz="3000" spc="-89">
                <a:solidFill>
                  <a:srgbClr val="000000"/>
                </a:solidFill>
                <a:latin typeface="Times New Roman"/>
                <a:ea typeface="Times New Roman"/>
                <a:cs typeface="Times New Roman"/>
                <a:sym typeface="Times New Roman"/>
              </a:rPr>
              <a:t>i</a:t>
            </a:r>
            <a:r>
              <a:rPr lang="en-US" sz="3000" spc="-89">
                <a:solidFill>
                  <a:srgbClr val="000000"/>
                </a:solidFill>
                <a:latin typeface="Times New Roman"/>
                <a:ea typeface="Times New Roman"/>
                <a:cs typeface="Times New Roman"/>
                <a:sym typeface="Times New Roman"/>
              </a:rPr>
              <a:t>o</a:t>
            </a:r>
            <a:r>
              <a:rPr lang="en-US" sz="3000" spc="-89">
                <a:solidFill>
                  <a:srgbClr val="000000"/>
                </a:solidFill>
                <a:latin typeface="Times New Roman"/>
                <a:ea typeface="Times New Roman"/>
                <a:cs typeface="Times New Roman"/>
                <a:sym typeface="Times New Roman"/>
              </a:rPr>
              <a:t>ns</a:t>
            </a:r>
            <a:r>
              <a:rPr lang="en-US" sz="3000" spc="-89">
                <a:solidFill>
                  <a:srgbClr val="000000"/>
                </a:solidFill>
                <a:latin typeface="Times New Roman"/>
                <a:ea typeface="Times New Roman"/>
                <a:cs typeface="Times New Roman"/>
                <a:sym typeface="Times New Roman"/>
              </a:rPr>
              <a:t> AI </a:t>
            </a:r>
            <a:r>
              <a:rPr lang="en-US" sz="3000" spc="-89">
                <a:solidFill>
                  <a:srgbClr val="000000"/>
                </a:solidFill>
                <a:latin typeface="Times New Roman"/>
                <a:ea typeface="Times New Roman"/>
                <a:cs typeface="Times New Roman"/>
                <a:sym typeface="Times New Roman"/>
              </a:rPr>
              <a:t>tok</a:t>
            </a:r>
            <a:r>
              <a:rPr lang="en-US" sz="3000" spc="-89">
                <a:solidFill>
                  <a:srgbClr val="000000"/>
                </a:solidFill>
                <a:latin typeface="Times New Roman"/>
                <a:ea typeface="Times New Roman"/>
                <a:cs typeface="Times New Roman"/>
                <a:sym typeface="Times New Roman"/>
              </a:rPr>
              <a:t>e</a:t>
            </a:r>
            <a:r>
              <a:rPr lang="en-US" sz="3000" spc="-89">
                <a:solidFill>
                  <a:srgbClr val="000000"/>
                </a:solidFill>
                <a:latin typeface="Times New Roman"/>
                <a:ea typeface="Times New Roman"/>
                <a:cs typeface="Times New Roman"/>
                <a:sym typeface="Times New Roman"/>
              </a:rPr>
              <a:t>n comme</a:t>
            </a:r>
            <a:r>
              <a:rPr lang="en-US" sz="3000" spc="-89">
                <a:solidFill>
                  <a:srgbClr val="000000"/>
                </a:solidFill>
                <a:latin typeface="Times New Roman"/>
                <a:ea typeface="Times New Roman"/>
                <a:cs typeface="Times New Roman"/>
                <a:sym typeface="Times New Roman"/>
              </a:rPr>
              <a:t>r</a:t>
            </a:r>
            <a:r>
              <a:rPr lang="en-US" sz="3000" spc="-89">
                <a:solidFill>
                  <a:srgbClr val="000000"/>
                </a:solidFill>
                <a:latin typeface="Times New Roman"/>
                <a:ea typeface="Times New Roman"/>
                <a:cs typeface="Times New Roman"/>
                <a:sym typeface="Times New Roman"/>
              </a:rPr>
              <a:t>c</a:t>
            </a:r>
            <a:r>
              <a:rPr lang="en-US" sz="3000" spc="-89">
                <a:solidFill>
                  <a:srgbClr val="000000"/>
                </a:solidFill>
                <a:latin typeface="Times New Roman"/>
                <a:ea typeface="Times New Roman"/>
                <a:cs typeface="Times New Roman"/>
                <a:sym typeface="Times New Roman"/>
              </a:rPr>
              <a:t>e </a:t>
            </a:r>
            <a:r>
              <a:rPr lang="en-US" sz="3000" spc="-89">
                <a:solidFill>
                  <a:srgbClr val="000000"/>
                </a:solidFill>
                <a:latin typeface="Times New Roman"/>
                <a:ea typeface="Times New Roman"/>
                <a:cs typeface="Times New Roman"/>
                <a:sym typeface="Times New Roman"/>
              </a:rPr>
              <a:t>no</a:t>
            </a:r>
            <a:r>
              <a:rPr lang="en-US" sz="3000" spc="-89">
                <a:solidFill>
                  <a:srgbClr val="000000"/>
                </a:solidFill>
                <a:latin typeface="Times New Roman"/>
                <a:ea typeface="Times New Roman"/>
                <a:cs typeface="Times New Roman"/>
                <a:sym typeface="Times New Roman"/>
              </a:rPr>
              <a:t>t</a:t>
            </a:r>
            <a:r>
              <a:rPr lang="en-US" sz="3000" spc="-89">
                <a:solidFill>
                  <a:srgbClr val="000000"/>
                </a:solidFill>
                <a:latin typeface="Times New Roman"/>
                <a:ea typeface="Times New Roman"/>
                <a:cs typeface="Times New Roman"/>
                <a:sym typeface="Times New Roman"/>
              </a:rPr>
              <a:t> me</a:t>
            </a:r>
            <a:r>
              <a:rPr lang="en-US" sz="3000" spc="-89">
                <a:solidFill>
                  <a:srgbClr val="000000"/>
                </a:solidFill>
                <a:latin typeface="Times New Roman"/>
                <a:ea typeface="Times New Roman"/>
                <a:cs typeface="Times New Roman"/>
                <a:sym typeface="Times New Roman"/>
              </a:rPr>
              <a:t>r</a:t>
            </a:r>
            <a:r>
              <a:rPr lang="en-US" sz="3000" spc="-89">
                <a:solidFill>
                  <a:srgbClr val="000000"/>
                </a:solidFill>
                <a:latin typeface="Times New Roman"/>
                <a:ea typeface="Times New Roman"/>
                <a:cs typeface="Times New Roman"/>
                <a:sym typeface="Times New Roman"/>
              </a:rPr>
              <a:t>el</a:t>
            </a:r>
            <a:r>
              <a:rPr lang="en-US" sz="3000" spc="-89">
                <a:solidFill>
                  <a:srgbClr val="000000"/>
                </a:solidFill>
                <a:latin typeface="Times New Roman"/>
                <a:ea typeface="Times New Roman"/>
                <a:cs typeface="Times New Roman"/>
                <a:sym typeface="Times New Roman"/>
              </a:rPr>
              <a:t>y a</a:t>
            </a:r>
            <a:r>
              <a:rPr lang="en-US" sz="3000" spc="-89">
                <a:solidFill>
                  <a:srgbClr val="000000"/>
                </a:solidFill>
                <a:latin typeface="Times New Roman"/>
                <a:ea typeface="Times New Roman"/>
                <a:cs typeface="Times New Roman"/>
                <a:sym typeface="Times New Roman"/>
              </a:rPr>
              <a:t>s </a:t>
            </a:r>
            <a:r>
              <a:rPr lang="en-US" sz="3000" spc="-89">
                <a:solidFill>
                  <a:srgbClr val="000000"/>
                </a:solidFill>
                <a:latin typeface="Times New Roman"/>
                <a:ea typeface="Times New Roman"/>
                <a:cs typeface="Times New Roman"/>
                <a:sym typeface="Times New Roman"/>
              </a:rPr>
              <a:t>a</a:t>
            </a:r>
            <a:r>
              <a:rPr lang="en-US" sz="3000" spc="-89">
                <a:solidFill>
                  <a:srgbClr val="000000"/>
                </a:solidFill>
                <a:latin typeface="Times New Roman"/>
                <a:ea typeface="Times New Roman"/>
                <a:cs typeface="Times New Roman"/>
                <a:sym typeface="Times New Roman"/>
              </a:rPr>
              <a:t>n exchange mechanism, but as infrastructure that requires compliance as its b</a:t>
            </a:r>
            <a:r>
              <a:rPr lang="en-US" sz="3000" spc="-89">
                <a:solidFill>
                  <a:srgbClr val="000000"/>
                </a:solidFill>
                <a:latin typeface="Times New Roman"/>
                <a:ea typeface="Times New Roman"/>
                <a:cs typeface="Times New Roman"/>
                <a:sym typeface="Times New Roman"/>
              </a:rPr>
              <a:t>a</a:t>
            </a:r>
            <a:r>
              <a:rPr lang="en-US" sz="3000" spc="-89">
                <a:solidFill>
                  <a:srgbClr val="000000"/>
                </a:solidFill>
                <a:latin typeface="Times New Roman"/>
                <a:ea typeface="Times New Roman"/>
                <a:cs typeface="Times New Roman"/>
                <a:sym typeface="Times New Roman"/>
              </a:rPr>
              <a:t>s</a:t>
            </a:r>
            <a:r>
              <a:rPr lang="en-US" sz="3000" spc="-89">
                <a:solidFill>
                  <a:srgbClr val="000000"/>
                </a:solidFill>
                <a:latin typeface="Times New Roman"/>
                <a:ea typeface="Times New Roman"/>
                <a:cs typeface="Times New Roman"/>
                <a:sym typeface="Times New Roman"/>
              </a:rPr>
              <a:t>e </a:t>
            </a:r>
            <a:r>
              <a:rPr lang="en-US" sz="3000" spc="-89">
                <a:solidFill>
                  <a:srgbClr val="000000"/>
                </a:solidFill>
                <a:latin typeface="Times New Roman"/>
                <a:ea typeface="Times New Roman"/>
                <a:cs typeface="Times New Roman"/>
                <a:sym typeface="Times New Roman"/>
              </a:rPr>
              <a:t>l</a:t>
            </a:r>
            <a:r>
              <a:rPr lang="en-US" sz="3000" spc="-89">
                <a:solidFill>
                  <a:srgbClr val="000000"/>
                </a:solidFill>
                <a:latin typeface="Times New Roman"/>
                <a:ea typeface="Times New Roman"/>
                <a:cs typeface="Times New Roman"/>
                <a:sym typeface="Times New Roman"/>
              </a:rPr>
              <a:t>a</a:t>
            </a:r>
            <a:r>
              <a:rPr lang="en-US" sz="3000" spc="-89">
                <a:solidFill>
                  <a:srgbClr val="000000"/>
                </a:solidFill>
                <a:latin typeface="Times New Roman"/>
                <a:ea typeface="Times New Roman"/>
                <a:cs typeface="Times New Roman"/>
                <a:sym typeface="Times New Roman"/>
              </a:rPr>
              <a:t>ye</a:t>
            </a:r>
            <a:r>
              <a:rPr lang="en-US" sz="3000" spc="-89">
                <a:solidFill>
                  <a:srgbClr val="000000"/>
                </a:solidFill>
                <a:latin typeface="Times New Roman"/>
                <a:ea typeface="Times New Roman"/>
                <a:cs typeface="Times New Roman"/>
                <a:sym typeface="Times New Roman"/>
              </a:rPr>
              <a:t>r </a:t>
            </a:r>
            <a:r>
              <a:rPr lang="en-US" sz="3000" spc="-89">
                <a:solidFill>
                  <a:srgbClr val="000000"/>
                </a:solidFill>
                <a:latin typeface="Times New Roman"/>
                <a:ea typeface="Times New Roman"/>
                <a:cs typeface="Times New Roman"/>
                <a:sym typeface="Times New Roman"/>
              </a:rPr>
              <a:t>be</a:t>
            </a:r>
            <a:r>
              <a:rPr lang="en-US" sz="3000" spc="-89">
                <a:solidFill>
                  <a:srgbClr val="000000"/>
                </a:solidFill>
                <a:latin typeface="Times New Roman"/>
                <a:ea typeface="Times New Roman"/>
                <a:cs typeface="Times New Roman"/>
                <a:sym typeface="Times New Roman"/>
              </a:rPr>
              <a:t>for</a:t>
            </a:r>
            <a:r>
              <a:rPr lang="en-US" sz="3000" spc="-89">
                <a:solidFill>
                  <a:srgbClr val="000000"/>
                </a:solidFill>
                <a:latin typeface="Times New Roman"/>
                <a:ea typeface="Times New Roman"/>
                <a:cs typeface="Times New Roman"/>
                <a:sym typeface="Times New Roman"/>
              </a:rPr>
              <a:t>e value can flow.</a:t>
            </a:r>
          </a:p>
        </p:txBody>
      </p:sp>
      <p:sp>
        <p:nvSpPr>
          <p:cNvPr name="TextBox 6" id="6"/>
          <p:cNvSpPr txBox="true"/>
          <p:nvPr/>
        </p:nvSpPr>
        <p:spPr>
          <a:xfrm rot="0">
            <a:off x="1028700" y="5760720"/>
            <a:ext cx="13546521" cy="809625"/>
          </a:xfrm>
          <a:prstGeom prst="rect">
            <a:avLst/>
          </a:prstGeom>
        </p:spPr>
        <p:txBody>
          <a:bodyPr anchor="t" rtlCol="false" tIns="0" lIns="0" bIns="0" rIns="0">
            <a:spAutoFit/>
          </a:bodyPr>
          <a:lstStyle/>
          <a:p>
            <a:pPr algn="l">
              <a:lnSpc>
                <a:spcPts val="3000"/>
              </a:lnSpc>
              <a:spcBef>
                <a:spcPct val="0"/>
              </a:spcBef>
            </a:pPr>
            <a:r>
              <a:rPr lang="en-US" sz="3000" spc="-89">
                <a:solidFill>
                  <a:srgbClr val="000000"/>
                </a:solidFill>
                <a:latin typeface="Times New Roman"/>
                <a:ea typeface="Times New Roman"/>
                <a:cs typeface="Times New Roman"/>
                <a:sym typeface="Times New Roman"/>
              </a:rPr>
              <a:t>Phas</a:t>
            </a:r>
            <a:r>
              <a:rPr lang="en-US" sz="3000" spc="-89">
                <a:solidFill>
                  <a:srgbClr val="000000"/>
                </a:solidFill>
                <a:latin typeface="Times New Roman"/>
                <a:ea typeface="Times New Roman"/>
                <a:cs typeface="Times New Roman"/>
                <a:sym typeface="Times New Roman"/>
              </a:rPr>
              <a:t>e 2 define</a:t>
            </a:r>
            <a:r>
              <a:rPr lang="en-US" sz="3000" spc="-89">
                <a:solidFill>
                  <a:srgbClr val="000000"/>
                </a:solidFill>
                <a:latin typeface="Times New Roman"/>
                <a:ea typeface="Times New Roman"/>
                <a:cs typeface="Times New Roman"/>
                <a:sym typeface="Times New Roman"/>
              </a:rPr>
              <a:t>d th</a:t>
            </a:r>
            <a:r>
              <a:rPr lang="en-US" sz="3000" spc="-89">
                <a:solidFill>
                  <a:srgbClr val="000000"/>
                </a:solidFill>
                <a:latin typeface="Times New Roman"/>
                <a:ea typeface="Times New Roman"/>
                <a:cs typeface="Times New Roman"/>
                <a:sym typeface="Times New Roman"/>
              </a:rPr>
              <a:t>e</a:t>
            </a:r>
            <a:r>
              <a:rPr lang="en-US" sz="3000" spc="-89">
                <a:solidFill>
                  <a:srgbClr val="000000"/>
                </a:solidFill>
                <a:latin typeface="Times New Roman"/>
                <a:ea typeface="Times New Roman"/>
                <a:cs typeface="Times New Roman"/>
                <a:sym typeface="Times New Roman"/>
              </a:rPr>
              <a:t> </a:t>
            </a:r>
            <a:r>
              <a:rPr lang="en-US" sz="3000" spc="-89">
                <a:solidFill>
                  <a:srgbClr val="000000"/>
                </a:solidFill>
                <a:latin typeface="Times New Roman"/>
                <a:ea typeface="Times New Roman"/>
                <a:cs typeface="Times New Roman"/>
                <a:sym typeface="Times New Roman"/>
              </a:rPr>
              <a:t>regulat</a:t>
            </a:r>
            <a:r>
              <a:rPr lang="en-US" sz="3000" spc="-89">
                <a:solidFill>
                  <a:srgbClr val="000000"/>
                </a:solidFill>
                <a:latin typeface="Times New Roman"/>
                <a:ea typeface="Times New Roman"/>
                <a:cs typeface="Times New Roman"/>
                <a:sym typeface="Times New Roman"/>
              </a:rPr>
              <a:t>ory foundation and accountability structure </a:t>
            </a:r>
            <a:r>
              <a:rPr lang="en-US" sz="3000" spc="-89">
                <a:solidFill>
                  <a:srgbClr val="000000"/>
                </a:solidFill>
                <a:latin typeface="Times New Roman"/>
                <a:ea typeface="Times New Roman"/>
                <a:cs typeface="Times New Roman"/>
                <a:sym typeface="Times New Roman"/>
              </a:rPr>
              <a:t>r</a:t>
            </a:r>
            <a:r>
              <a:rPr lang="en-US" sz="3000" spc="-89">
                <a:solidFill>
                  <a:srgbClr val="000000"/>
                </a:solidFill>
                <a:latin typeface="Times New Roman"/>
                <a:ea typeface="Times New Roman"/>
                <a:cs typeface="Times New Roman"/>
                <a:sym typeface="Times New Roman"/>
              </a:rPr>
              <a:t>equired to make TokenTr</a:t>
            </a:r>
            <a:r>
              <a:rPr lang="en-US" sz="3000" spc="-89">
                <a:solidFill>
                  <a:srgbClr val="000000"/>
                </a:solidFill>
                <a:latin typeface="Times New Roman"/>
                <a:ea typeface="Times New Roman"/>
                <a:cs typeface="Times New Roman"/>
                <a:sym typeface="Times New Roman"/>
              </a:rPr>
              <a:t>us</a:t>
            </a:r>
            <a:r>
              <a:rPr lang="en-US" sz="3000" spc="-89">
                <a:solidFill>
                  <a:srgbClr val="000000"/>
                </a:solidFill>
                <a:latin typeface="Times New Roman"/>
                <a:ea typeface="Times New Roman"/>
                <a:cs typeface="Times New Roman"/>
                <a:sym typeface="Times New Roman"/>
              </a:rPr>
              <a:t>t op</a:t>
            </a:r>
            <a:r>
              <a:rPr lang="en-US" sz="3000" spc="-89">
                <a:solidFill>
                  <a:srgbClr val="000000"/>
                </a:solidFill>
                <a:latin typeface="Times New Roman"/>
                <a:ea typeface="Times New Roman"/>
                <a:cs typeface="Times New Roman"/>
                <a:sym typeface="Times New Roman"/>
              </a:rPr>
              <a:t>erat</a:t>
            </a:r>
            <a:r>
              <a:rPr lang="en-US" sz="3000" spc="-89">
                <a:solidFill>
                  <a:srgbClr val="000000"/>
                </a:solidFill>
                <a:latin typeface="Times New Roman"/>
                <a:ea typeface="Times New Roman"/>
                <a:cs typeface="Times New Roman"/>
                <a:sym typeface="Times New Roman"/>
              </a:rPr>
              <a:t>i</a:t>
            </a:r>
            <a:r>
              <a:rPr lang="en-US" sz="3000" spc="-89">
                <a:solidFill>
                  <a:srgbClr val="000000"/>
                </a:solidFill>
                <a:latin typeface="Times New Roman"/>
                <a:ea typeface="Times New Roman"/>
                <a:cs typeface="Times New Roman"/>
                <a:sym typeface="Times New Roman"/>
              </a:rPr>
              <a:t>on</a:t>
            </a:r>
            <a:r>
              <a:rPr lang="en-US" sz="3000" spc="-89">
                <a:solidFill>
                  <a:srgbClr val="000000"/>
                </a:solidFill>
                <a:latin typeface="Times New Roman"/>
                <a:ea typeface="Times New Roman"/>
                <a:cs typeface="Times New Roman"/>
                <a:sym typeface="Times New Roman"/>
              </a:rPr>
              <a:t>al — from Canadian compliance to global governance readiness.</a:t>
            </a:r>
          </a:p>
        </p:txBody>
      </p:sp>
      <p:sp>
        <p:nvSpPr>
          <p:cNvPr name="AutoShape 7" id="7"/>
          <p:cNvSpPr/>
          <p:nvPr/>
        </p:nvSpPr>
        <p:spPr>
          <a:xfrm>
            <a:off x="1028700" y="5023168"/>
            <a:ext cx="16230600" cy="0"/>
          </a:xfrm>
          <a:prstGeom prst="line">
            <a:avLst/>
          </a:prstGeom>
          <a:ln cap="flat" w="9525">
            <a:solidFill>
              <a:srgbClr val="000000">
                <a:alpha val="49804"/>
              </a:srgbClr>
            </a:solidFill>
            <a:prstDash val="solid"/>
            <a:headEnd type="none" len="sm" w="sm"/>
            <a:tailEnd type="none" len="sm" w="sm"/>
          </a:ln>
        </p:spPr>
      </p:sp>
      <p:sp>
        <p:nvSpPr>
          <p:cNvPr name="TextBox 8" id="8"/>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32</a:t>
            </a:r>
          </a:p>
        </p:txBody>
      </p:sp>
      <p:sp>
        <p:nvSpPr>
          <p:cNvPr name="TextBox 9" id="9"/>
          <p:cNvSpPr txBox="true"/>
          <p:nvPr/>
        </p:nvSpPr>
        <p:spPr>
          <a:xfrm rot="0">
            <a:off x="10003854" y="8501936"/>
            <a:ext cx="7255446" cy="269875"/>
          </a:xfrm>
          <a:prstGeom prst="rect">
            <a:avLst/>
          </a:prstGeom>
        </p:spPr>
        <p:txBody>
          <a:bodyPr anchor="t" rtlCol="false" tIns="0" lIns="0" bIns="0" rIns="0">
            <a:spAutoFit/>
          </a:bodyPr>
          <a:lstStyle/>
          <a:p>
            <a:pPr algn="ctr">
              <a:lnSpc>
                <a:spcPts val="1999"/>
              </a:lnSpc>
              <a:spcBef>
                <a:spcPct val="0"/>
              </a:spcBef>
            </a:pPr>
            <a:r>
              <a:rPr lang="en-US" sz="1999" spc="-59">
                <a:solidFill>
                  <a:srgbClr val="000000">
                    <a:alpha val="49804"/>
                  </a:srgbClr>
                </a:solidFill>
                <a:latin typeface="Times New Roman"/>
                <a:ea typeface="Times New Roman"/>
                <a:cs typeface="Times New Roman"/>
                <a:sym typeface="Times New Roman"/>
              </a:rPr>
              <a:t>Next: Pilot operations and market validation on this regulatory infrastructure.</a:t>
            </a:r>
          </a:p>
        </p:txBody>
      </p:sp>
      <p:grpSp>
        <p:nvGrpSpPr>
          <p:cNvPr name="Group 10" id="10"/>
          <p:cNvGrpSpPr/>
          <p:nvPr/>
        </p:nvGrpSpPr>
        <p:grpSpPr>
          <a:xfrm rot="0">
            <a:off x="1028700" y="2042397"/>
            <a:ext cx="14493683" cy="2114549"/>
            <a:chOff x="0" y="0"/>
            <a:chExt cx="19324911" cy="2819399"/>
          </a:xfrm>
        </p:grpSpPr>
        <p:sp>
          <p:nvSpPr>
            <p:cNvPr name="TextBox 11" id="11"/>
            <p:cNvSpPr txBox="true"/>
            <p:nvPr/>
          </p:nvSpPr>
          <p:spPr>
            <a:xfrm rot="0">
              <a:off x="0" y="1047750"/>
              <a:ext cx="19324911" cy="1771649"/>
            </a:xfrm>
            <a:prstGeom prst="rect">
              <a:avLst/>
            </a:prstGeom>
          </p:spPr>
          <p:txBody>
            <a:bodyPr anchor="t" rtlCol="false" tIns="0" lIns="0" bIns="0" rIns="0">
              <a:spAutoFit/>
            </a:bodyPr>
            <a:lstStyle/>
            <a:p>
              <a:pPr algn="l">
                <a:lnSpc>
                  <a:spcPts val="8999"/>
                </a:lnSpc>
              </a:pPr>
              <a:r>
                <a:rPr lang="en-US" sz="9999" spc="-299">
                  <a:solidFill>
                    <a:srgbClr val="000000"/>
                  </a:solidFill>
                  <a:latin typeface="Times New Roman"/>
                  <a:ea typeface="Times New Roman"/>
                  <a:cs typeface="Times New Roman"/>
                  <a:sym typeface="Times New Roman"/>
                </a:rPr>
                <a:t>From Blueprint to Operation</a:t>
              </a:r>
            </a:p>
          </p:txBody>
        </p:sp>
        <p:sp>
          <p:nvSpPr>
            <p:cNvPr name="TextBox 12" id="12"/>
            <p:cNvSpPr txBox="true"/>
            <p:nvPr/>
          </p:nvSpPr>
          <p:spPr>
            <a:xfrm rot="0">
              <a:off x="85768" y="-19050"/>
              <a:ext cx="2956917" cy="819150"/>
            </a:xfrm>
            <a:prstGeom prst="rect">
              <a:avLst/>
            </a:prstGeom>
          </p:spPr>
          <p:txBody>
            <a:bodyPr anchor="t" rtlCol="false" tIns="0" lIns="0" bIns="0" rIns="0">
              <a:spAutoFit/>
            </a:bodyPr>
            <a:lstStyle/>
            <a:p>
              <a:pPr algn="l">
                <a:lnSpc>
                  <a:spcPts val="4799"/>
                </a:lnSpc>
              </a:pPr>
              <a:r>
                <a:rPr lang="en-US" sz="3999" spc="-159">
                  <a:solidFill>
                    <a:srgbClr val="000000">
                      <a:alpha val="49804"/>
                    </a:srgbClr>
                  </a:solidFill>
                  <a:latin typeface="Times New Roman"/>
                  <a:ea typeface="Times New Roman"/>
                  <a:cs typeface="Times New Roman"/>
                  <a:sym typeface="Times New Roman"/>
                </a:rPr>
                <a:t>Conclusion </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075464" y="2724279"/>
            <a:ext cx="2183836" cy="2183836"/>
          </a:xfrm>
          <a:custGeom>
            <a:avLst/>
            <a:gdLst/>
            <a:ahLst/>
            <a:cxnLst/>
            <a:rect r="r" b="b" t="t" l="l"/>
            <a:pathLst>
              <a:path h="2183836" w="2183836">
                <a:moveTo>
                  <a:pt x="0" y="0"/>
                </a:moveTo>
                <a:lnTo>
                  <a:pt x="2183836" y="0"/>
                </a:lnTo>
                <a:lnTo>
                  <a:pt x="2183836" y="2183836"/>
                </a:lnTo>
                <a:lnTo>
                  <a:pt x="0" y="2183836"/>
                </a:lnTo>
                <a:lnTo>
                  <a:pt x="0" y="0"/>
                </a:lnTo>
                <a:close/>
              </a:path>
            </a:pathLst>
          </a:custGeom>
          <a:blipFill>
            <a:blip r:embed="rId2"/>
            <a:stretch>
              <a:fillRect l="0" t="0" r="0" b="0"/>
            </a:stretch>
          </a:blipFill>
        </p:spPr>
      </p:sp>
      <p:sp>
        <p:nvSpPr>
          <p:cNvPr name="TextBox 3" id="3"/>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4" id="4"/>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Introduction</a:t>
            </a:r>
          </a:p>
        </p:txBody>
      </p:sp>
      <p:sp>
        <p:nvSpPr>
          <p:cNvPr name="TextBox 5" id="5"/>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33</a:t>
            </a:r>
          </a:p>
        </p:txBody>
      </p:sp>
      <p:sp>
        <p:nvSpPr>
          <p:cNvPr name="TextBox 6" id="6"/>
          <p:cNvSpPr txBox="true"/>
          <p:nvPr/>
        </p:nvSpPr>
        <p:spPr>
          <a:xfrm rot="0">
            <a:off x="1028700" y="2585085"/>
            <a:ext cx="10070318" cy="2558415"/>
          </a:xfrm>
          <a:prstGeom prst="rect">
            <a:avLst/>
          </a:prstGeom>
        </p:spPr>
        <p:txBody>
          <a:bodyPr anchor="t" rtlCol="false" tIns="0" lIns="0" bIns="0" rIns="0">
            <a:spAutoFit/>
          </a:bodyPr>
          <a:lstStyle/>
          <a:p>
            <a:pPr algn="l">
              <a:lnSpc>
                <a:spcPts val="9600"/>
              </a:lnSpc>
            </a:pPr>
            <a:r>
              <a:rPr lang="en-US" sz="9600" spc="-288">
                <a:solidFill>
                  <a:srgbClr val="000000"/>
                </a:solidFill>
                <a:latin typeface="Times New Roman"/>
                <a:ea typeface="Times New Roman"/>
                <a:cs typeface="Times New Roman"/>
                <a:sym typeface="Times New Roman"/>
              </a:rPr>
              <a:t>Wayfinding in the Token Economy</a:t>
            </a:r>
          </a:p>
        </p:txBody>
      </p:sp>
      <p:sp>
        <p:nvSpPr>
          <p:cNvPr name="TextBox 7" id="7"/>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
        <p:nvSpPr>
          <p:cNvPr name="TextBox 8" id="8"/>
          <p:cNvSpPr txBox="true"/>
          <p:nvPr/>
        </p:nvSpPr>
        <p:spPr>
          <a:xfrm rot="0">
            <a:off x="13722890" y="5510115"/>
            <a:ext cx="3505062"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Settings </a:t>
            </a:r>
          </a:p>
        </p:txBody>
      </p:sp>
      <p:sp>
        <p:nvSpPr>
          <p:cNvPr name="TextBox 9" id="9"/>
          <p:cNvSpPr txBox="true"/>
          <p:nvPr/>
        </p:nvSpPr>
        <p:spPr>
          <a:xfrm rot="0">
            <a:off x="9495327" y="5510115"/>
            <a:ext cx="3505062"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Return </a:t>
            </a:r>
          </a:p>
        </p:txBody>
      </p:sp>
      <p:sp>
        <p:nvSpPr>
          <p:cNvPr name="TextBox 10" id="10"/>
          <p:cNvSpPr txBox="true"/>
          <p:nvPr/>
        </p:nvSpPr>
        <p:spPr>
          <a:xfrm rot="0">
            <a:off x="5260097" y="5510115"/>
            <a:ext cx="3505062"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Data Flow</a:t>
            </a:r>
          </a:p>
        </p:txBody>
      </p:sp>
      <p:sp>
        <p:nvSpPr>
          <p:cNvPr name="TextBox 11" id="11"/>
          <p:cNvSpPr txBox="true"/>
          <p:nvPr/>
        </p:nvSpPr>
        <p:spPr>
          <a:xfrm rot="0">
            <a:off x="1028700" y="5510115"/>
            <a:ext cx="3505062"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Dashboard</a:t>
            </a:r>
          </a:p>
        </p:txBody>
      </p:sp>
      <p:sp>
        <p:nvSpPr>
          <p:cNvPr name="TextBox 12" id="12"/>
          <p:cNvSpPr txBox="true"/>
          <p:nvPr/>
        </p:nvSpPr>
        <p:spPr>
          <a:xfrm rot="0">
            <a:off x="13756673" y="6110190"/>
            <a:ext cx="3505062" cy="628650"/>
          </a:xfrm>
          <a:prstGeom prst="rect">
            <a:avLst/>
          </a:prstGeom>
        </p:spPr>
        <p:txBody>
          <a:bodyPr anchor="t" rtlCol="false" tIns="0" lIns="0" bIns="0" rIns="0">
            <a:spAutoFit/>
          </a:bodyPr>
          <a:lstStyle/>
          <a:p>
            <a:pPr algn="l">
              <a:lnSpc>
                <a:spcPts val="2400"/>
              </a:lnSpc>
            </a:pPr>
            <a:r>
              <a:rPr lang="en-US" sz="2000" spc="-60">
                <a:solidFill>
                  <a:srgbClr val="000000">
                    <a:alpha val="49804"/>
                  </a:srgbClr>
                </a:solidFill>
                <a:latin typeface="Times New Roman"/>
                <a:ea typeface="Times New Roman"/>
                <a:cs typeface="Times New Roman"/>
                <a:sym typeface="Times New Roman"/>
              </a:rPr>
              <a:t>Privacy level control, consent boundaries, reward rate adjustment.</a:t>
            </a:r>
          </a:p>
        </p:txBody>
      </p:sp>
      <p:sp>
        <p:nvSpPr>
          <p:cNvPr name="TextBox 13" id="13"/>
          <p:cNvSpPr txBox="true"/>
          <p:nvPr/>
        </p:nvSpPr>
        <p:spPr>
          <a:xfrm rot="0">
            <a:off x="13756673" y="2289810"/>
            <a:ext cx="3505062" cy="323850"/>
          </a:xfrm>
          <a:prstGeom prst="rect">
            <a:avLst/>
          </a:prstGeom>
        </p:spPr>
        <p:txBody>
          <a:bodyPr anchor="t" rtlCol="false" tIns="0" lIns="0" bIns="0" rIns="0">
            <a:spAutoFit/>
          </a:bodyPr>
          <a:lstStyle/>
          <a:p>
            <a:pPr algn="r">
              <a:lnSpc>
                <a:spcPts val="2400"/>
              </a:lnSpc>
            </a:pPr>
            <a:r>
              <a:rPr lang="en-US" sz="2000" spc="-60">
                <a:solidFill>
                  <a:srgbClr val="000000">
                    <a:alpha val="49804"/>
                  </a:srgbClr>
                </a:solidFill>
                <a:latin typeface="Times New Roman"/>
                <a:ea typeface="Times New Roman"/>
                <a:cs typeface="Times New Roman"/>
                <a:sym typeface="Times New Roman"/>
              </a:rPr>
              <a:t>Interactable Design</a:t>
            </a:r>
          </a:p>
        </p:txBody>
      </p:sp>
      <p:sp>
        <p:nvSpPr>
          <p:cNvPr name="TextBox 14" id="14"/>
          <p:cNvSpPr txBox="true"/>
          <p:nvPr/>
        </p:nvSpPr>
        <p:spPr>
          <a:xfrm rot="0">
            <a:off x="9489058" y="6110190"/>
            <a:ext cx="3505062" cy="628650"/>
          </a:xfrm>
          <a:prstGeom prst="rect">
            <a:avLst/>
          </a:prstGeom>
        </p:spPr>
        <p:txBody>
          <a:bodyPr anchor="t" rtlCol="false" tIns="0" lIns="0" bIns="0" rIns="0">
            <a:spAutoFit/>
          </a:bodyPr>
          <a:lstStyle/>
          <a:p>
            <a:pPr algn="l">
              <a:lnSpc>
                <a:spcPts val="2400"/>
              </a:lnSpc>
            </a:pPr>
            <a:r>
              <a:rPr lang="en-US" sz="2000" spc="-60">
                <a:solidFill>
                  <a:srgbClr val="000000">
                    <a:alpha val="49804"/>
                  </a:srgbClr>
                </a:solidFill>
                <a:latin typeface="Times New Roman"/>
                <a:ea typeface="Times New Roman"/>
                <a:cs typeface="Times New Roman"/>
                <a:sym typeface="Times New Roman"/>
              </a:rPr>
              <a:t>Refund history, compensation records, earned value.</a:t>
            </a:r>
          </a:p>
        </p:txBody>
      </p:sp>
      <p:sp>
        <p:nvSpPr>
          <p:cNvPr name="TextBox 15" id="15"/>
          <p:cNvSpPr txBox="true"/>
          <p:nvPr/>
        </p:nvSpPr>
        <p:spPr>
          <a:xfrm rot="0">
            <a:off x="5320073" y="6110190"/>
            <a:ext cx="3505062" cy="628650"/>
          </a:xfrm>
          <a:prstGeom prst="rect">
            <a:avLst/>
          </a:prstGeom>
        </p:spPr>
        <p:txBody>
          <a:bodyPr anchor="t" rtlCol="false" tIns="0" lIns="0" bIns="0" rIns="0">
            <a:spAutoFit/>
          </a:bodyPr>
          <a:lstStyle/>
          <a:p>
            <a:pPr algn="l">
              <a:lnSpc>
                <a:spcPts val="2400"/>
              </a:lnSpc>
            </a:pPr>
            <a:r>
              <a:rPr lang="en-US" sz="2000" spc="-60">
                <a:solidFill>
                  <a:srgbClr val="000000">
                    <a:alpha val="49804"/>
                  </a:srgbClr>
                </a:solidFill>
                <a:latin typeface="Times New Roman"/>
                <a:ea typeface="Times New Roman"/>
                <a:cs typeface="Times New Roman"/>
                <a:sym typeface="Times New Roman"/>
              </a:rPr>
              <a:t>Destination tracking, usage path, transfer history.</a:t>
            </a:r>
          </a:p>
        </p:txBody>
      </p:sp>
      <p:sp>
        <p:nvSpPr>
          <p:cNvPr name="TextBox 16" id="16"/>
          <p:cNvSpPr txBox="true"/>
          <p:nvPr/>
        </p:nvSpPr>
        <p:spPr>
          <a:xfrm rot="0">
            <a:off x="1028700" y="6110190"/>
            <a:ext cx="3505062" cy="628650"/>
          </a:xfrm>
          <a:prstGeom prst="rect">
            <a:avLst/>
          </a:prstGeom>
        </p:spPr>
        <p:txBody>
          <a:bodyPr anchor="t" rtlCol="false" tIns="0" lIns="0" bIns="0" rIns="0">
            <a:spAutoFit/>
          </a:bodyPr>
          <a:lstStyle/>
          <a:p>
            <a:pPr algn="l">
              <a:lnSpc>
                <a:spcPts val="2400"/>
              </a:lnSpc>
            </a:pPr>
            <a:r>
              <a:rPr lang="en-US" sz="2000" spc="-60">
                <a:solidFill>
                  <a:srgbClr val="000000">
                    <a:alpha val="49804"/>
                  </a:srgbClr>
                </a:solidFill>
                <a:latin typeface="Times New Roman"/>
                <a:ea typeface="Times New Roman"/>
                <a:cs typeface="Times New Roman"/>
                <a:sym typeface="Times New Roman"/>
              </a:rPr>
              <a:t>Token balance, value status, portfolio overview.</a:t>
            </a:r>
          </a:p>
        </p:txBody>
      </p:sp>
      <p:sp>
        <p:nvSpPr>
          <p:cNvPr name="TextBox 17" id="17"/>
          <p:cNvSpPr txBox="true"/>
          <p:nvPr/>
        </p:nvSpPr>
        <p:spPr>
          <a:xfrm rot="0">
            <a:off x="1033463" y="7114981"/>
            <a:ext cx="16235362" cy="723519"/>
          </a:xfrm>
          <a:prstGeom prst="rect">
            <a:avLst/>
          </a:prstGeom>
        </p:spPr>
        <p:txBody>
          <a:bodyPr anchor="t" rtlCol="false" tIns="0" lIns="0" bIns="0" rIns="0">
            <a:spAutoFit/>
          </a:bodyPr>
          <a:lstStyle/>
          <a:p>
            <a:pPr algn="l">
              <a:lnSpc>
                <a:spcPts val="2808"/>
              </a:lnSpc>
            </a:pPr>
            <a:r>
              <a:rPr lang="en-US" sz="2400" spc="-72">
                <a:solidFill>
                  <a:srgbClr val="000000"/>
                </a:solidFill>
                <a:latin typeface="Times New Roman"/>
                <a:ea typeface="Times New Roman"/>
                <a:cs typeface="Times New Roman"/>
                <a:sym typeface="Times New Roman"/>
              </a:rPr>
              <a:t>Each</a:t>
            </a:r>
            <a:r>
              <a:rPr lang="en-US" sz="2400" spc="-72">
                <a:solidFill>
                  <a:srgbClr val="000000"/>
                </a:solidFill>
                <a:latin typeface="Times New Roman"/>
                <a:ea typeface="Times New Roman"/>
                <a:cs typeface="Times New Roman"/>
                <a:sym typeface="Times New Roman"/>
              </a:rPr>
              <a:t> layer answers a distinct navigational question. Together, they form a complete wayfinding system that enables users to orient, trace, retrieve, and control within the token economy.</a:t>
            </a:r>
          </a:p>
        </p:txBody>
      </p:sp>
    </p:spTree>
  </p:cSld>
  <p:clrMapOvr>
    <a:masterClrMapping/>
  </p:clrMapOvr>
</p:sld>
</file>

<file path=ppt/slides/slide3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16610"/>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GDES-3081-501 - Intro to Design Management</a:t>
            </a:r>
          </a:p>
        </p:txBody>
      </p:sp>
      <p:sp>
        <p:nvSpPr>
          <p:cNvPr name="TextBox 3" id="3"/>
          <p:cNvSpPr txBox="true"/>
          <p:nvPr/>
        </p:nvSpPr>
        <p:spPr>
          <a:xfrm rot="0">
            <a:off x="1028700" y="9286875"/>
            <a:ext cx="4055557" cy="212090"/>
          </a:xfrm>
          <a:prstGeom prst="rect">
            <a:avLst/>
          </a:prstGeom>
        </p:spPr>
        <p:txBody>
          <a:bodyPr anchor="t" rtlCol="false" tIns="0" lIns="0" bIns="0" rIns="0">
            <a:spAutoFit/>
          </a:bodyPr>
          <a:lstStyle/>
          <a:p>
            <a:pPr algn="l">
              <a:lnSpc>
                <a:spcPts val="1599"/>
              </a:lnSpc>
            </a:pPr>
            <a:r>
              <a:rPr lang="en-US" sz="1599" spc="-47">
                <a:solidFill>
                  <a:srgbClr val="000000">
                    <a:alpha val="49804"/>
                  </a:srgbClr>
                </a:solidFill>
                <a:latin typeface="Helvetica World"/>
                <a:ea typeface="Helvetica World"/>
                <a:cs typeface="Helvetica World"/>
                <a:sym typeface="Helvetica World"/>
              </a:rPr>
              <a:t>Works Cited</a:t>
            </a:r>
          </a:p>
        </p:txBody>
      </p:sp>
      <p:sp>
        <p:nvSpPr>
          <p:cNvPr name="TextBox 4" id="4"/>
          <p:cNvSpPr txBox="true"/>
          <p:nvPr/>
        </p:nvSpPr>
        <p:spPr>
          <a:xfrm rot="0">
            <a:off x="13203743" y="9286875"/>
            <a:ext cx="4055557"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34</a:t>
            </a:r>
          </a:p>
        </p:txBody>
      </p:sp>
      <p:grpSp>
        <p:nvGrpSpPr>
          <p:cNvPr name="Group 5" id="5"/>
          <p:cNvGrpSpPr/>
          <p:nvPr/>
        </p:nvGrpSpPr>
        <p:grpSpPr>
          <a:xfrm rot="0">
            <a:off x="9144000" y="2321747"/>
            <a:ext cx="8115300" cy="2696658"/>
            <a:chOff x="0" y="0"/>
            <a:chExt cx="10820400" cy="3595544"/>
          </a:xfrm>
        </p:grpSpPr>
        <p:grpSp>
          <p:nvGrpSpPr>
            <p:cNvPr name="Group 6" id="6"/>
            <p:cNvGrpSpPr/>
            <p:nvPr/>
          </p:nvGrpSpPr>
          <p:grpSpPr>
            <a:xfrm rot="0">
              <a:off x="9210923" y="0"/>
              <a:ext cx="1609477" cy="1678632"/>
              <a:chOff x="0" y="0"/>
              <a:chExt cx="584874" cy="610004"/>
            </a:xfrm>
          </p:grpSpPr>
          <p:sp>
            <p:nvSpPr>
              <p:cNvPr name="Freeform 7" id="7"/>
              <p:cNvSpPr/>
              <p:nvPr/>
            </p:nvSpPr>
            <p:spPr>
              <a:xfrm flipH="false" flipV="false" rot="0">
                <a:off x="0" y="0"/>
                <a:ext cx="584874" cy="610004"/>
              </a:xfrm>
              <a:custGeom>
                <a:avLst/>
                <a:gdLst/>
                <a:ahLst/>
                <a:cxnLst/>
                <a:rect r="r" b="b" t="t" l="l"/>
                <a:pathLst>
                  <a:path h="610004" w="584874">
                    <a:moveTo>
                      <a:pt x="431201" y="20333"/>
                    </a:moveTo>
                    <a:lnTo>
                      <a:pt x="338309" y="253570"/>
                    </a:lnTo>
                    <a:lnTo>
                      <a:pt x="563084" y="156687"/>
                    </a:lnTo>
                    <a:lnTo>
                      <a:pt x="584874" y="206923"/>
                    </a:lnTo>
                    <a:lnTo>
                      <a:pt x="358952" y="303806"/>
                    </a:lnTo>
                    <a:lnTo>
                      <a:pt x="584874" y="400689"/>
                    </a:lnTo>
                    <a:lnTo>
                      <a:pt x="563084" y="449729"/>
                    </a:lnTo>
                    <a:lnTo>
                      <a:pt x="338309" y="352846"/>
                    </a:lnTo>
                    <a:lnTo>
                      <a:pt x="431201" y="587279"/>
                    </a:lnTo>
                    <a:lnTo>
                      <a:pt x="384182" y="610004"/>
                    </a:lnTo>
                    <a:lnTo>
                      <a:pt x="291290" y="374375"/>
                    </a:lnTo>
                    <a:lnTo>
                      <a:pt x="198398" y="610004"/>
                    </a:lnTo>
                    <a:lnTo>
                      <a:pt x="151379" y="587279"/>
                    </a:lnTo>
                    <a:lnTo>
                      <a:pt x="243124" y="352846"/>
                    </a:lnTo>
                    <a:lnTo>
                      <a:pt x="19496" y="449729"/>
                    </a:lnTo>
                    <a:lnTo>
                      <a:pt x="0" y="400689"/>
                    </a:lnTo>
                    <a:lnTo>
                      <a:pt x="223628" y="303806"/>
                    </a:lnTo>
                    <a:lnTo>
                      <a:pt x="0" y="206923"/>
                    </a:lnTo>
                    <a:lnTo>
                      <a:pt x="19496" y="157883"/>
                    </a:lnTo>
                    <a:lnTo>
                      <a:pt x="243124" y="253570"/>
                    </a:lnTo>
                    <a:lnTo>
                      <a:pt x="151379" y="20333"/>
                    </a:lnTo>
                    <a:lnTo>
                      <a:pt x="198398" y="0"/>
                    </a:lnTo>
                    <a:lnTo>
                      <a:pt x="291290" y="233237"/>
                    </a:lnTo>
                    <a:lnTo>
                      <a:pt x="384182" y="0"/>
                    </a:lnTo>
                    <a:lnTo>
                      <a:pt x="431201" y="20333"/>
                    </a:lnTo>
                    <a:close/>
                  </a:path>
                </a:pathLst>
              </a:custGeom>
              <a:solidFill>
                <a:srgbClr val="000000">
                  <a:alpha val="14902"/>
                </a:srgbClr>
              </a:solidFill>
            </p:spPr>
          </p:sp>
          <p:sp>
            <p:nvSpPr>
              <p:cNvPr name="TextBox 8" id="8"/>
              <p:cNvSpPr txBox="true"/>
              <p:nvPr/>
            </p:nvSpPr>
            <p:spPr>
              <a:xfrm>
                <a:off x="137617" y="162580"/>
                <a:ext cx="309639" cy="303893"/>
              </a:xfrm>
              <a:prstGeom prst="rect">
                <a:avLst/>
              </a:prstGeom>
            </p:spPr>
            <p:txBody>
              <a:bodyPr anchor="ctr" rtlCol="false" tIns="31993" lIns="31993" bIns="31993" rIns="31993"/>
              <a:lstStyle/>
              <a:p>
                <a:pPr algn="ctr">
                  <a:lnSpc>
                    <a:spcPts val="1600"/>
                  </a:lnSpc>
                </a:pPr>
              </a:p>
            </p:txBody>
          </p:sp>
        </p:grpSp>
        <p:sp>
          <p:nvSpPr>
            <p:cNvPr name="TextBox 9" id="9"/>
            <p:cNvSpPr txBox="true"/>
            <p:nvPr/>
          </p:nvSpPr>
          <p:spPr>
            <a:xfrm rot="0">
              <a:off x="0" y="956498"/>
              <a:ext cx="9641048" cy="2639046"/>
            </a:xfrm>
            <a:prstGeom prst="rect">
              <a:avLst/>
            </a:prstGeom>
          </p:spPr>
          <p:txBody>
            <a:bodyPr anchor="t" rtlCol="false" tIns="0" lIns="0" bIns="0" rIns="0">
              <a:spAutoFit/>
            </a:bodyPr>
            <a:lstStyle/>
            <a:p>
              <a:pPr algn="ctr">
                <a:lnSpc>
                  <a:spcPts val="14077"/>
                </a:lnSpc>
              </a:pPr>
              <a:r>
                <a:rPr lang="en-US" b="true" sz="14077" spc="-563">
                  <a:solidFill>
                    <a:srgbClr val="000000">
                      <a:alpha val="14902"/>
                    </a:srgbClr>
                  </a:solidFill>
                  <a:latin typeface="Times New Roman Bold"/>
                  <a:ea typeface="Times New Roman Bold"/>
                  <a:cs typeface="Times New Roman Bold"/>
                  <a:sym typeface="Times New Roman Bold"/>
                </a:rPr>
                <a:t>tokentrust</a:t>
              </a:r>
            </a:p>
          </p:txBody>
        </p:sp>
      </p:grpSp>
      <p:sp>
        <p:nvSpPr>
          <p:cNvPr name="TextBox 10" id="10"/>
          <p:cNvSpPr txBox="true"/>
          <p:nvPr/>
        </p:nvSpPr>
        <p:spPr>
          <a:xfrm rot="0">
            <a:off x="1028700" y="4069559"/>
            <a:ext cx="3505062" cy="619125"/>
          </a:xfrm>
          <a:prstGeom prst="rect">
            <a:avLst/>
          </a:prstGeom>
        </p:spPr>
        <p:txBody>
          <a:bodyPr anchor="t" rtlCol="false" tIns="0" lIns="0" bIns="0" rIns="0">
            <a:spAutoFit/>
          </a:bodyPr>
          <a:lstStyle/>
          <a:p>
            <a:pPr algn="l">
              <a:lnSpc>
                <a:spcPts val="4799"/>
              </a:lnSpc>
            </a:pPr>
            <a:r>
              <a:rPr lang="en-US" sz="3999" spc="-159">
                <a:solidFill>
                  <a:srgbClr val="000000"/>
                </a:solidFill>
                <a:latin typeface="Times New Roman"/>
                <a:ea typeface="Times New Roman"/>
                <a:cs typeface="Times New Roman"/>
                <a:sym typeface="Times New Roman"/>
              </a:rPr>
              <a:t>Reference</a:t>
            </a:r>
          </a:p>
        </p:txBody>
      </p:sp>
      <p:sp>
        <p:nvSpPr>
          <p:cNvPr name="TextBox 11" id="11"/>
          <p:cNvSpPr txBox="true"/>
          <p:nvPr/>
        </p:nvSpPr>
        <p:spPr>
          <a:xfrm rot="0">
            <a:off x="1028700" y="5936933"/>
            <a:ext cx="16230600" cy="2421890"/>
          </a:xfrm>
          <a:prstGeom prst="rect">
            <a:avLst/>
          </a:prstGeom>
        </p:spPr>
        <p:txBody>
          <a:bodyPr anchor="t" rtlCol="false" tIns="0" lIns="0" bIns="0" rIns="0">
            <a:spAutoFit/>
          </a:bodyPr>
          <a:lstStyle/>
          <a:p>
            <a:pPr algn="l">
              <a:lnSpc>
                <a:spcPts val="1599"/>
              </a:lnSpc>
              <a:spcBef>
                <a:spcPct val="0"/>
              </a:spcBef>
            </a:pPr>
            <a:r>
              <a:rPr lang="en-US" sz="1599" spc="-47">
                <a:solidFill>
                  <a:srgbClr val="000000"/>
                </a:solidFill>
                <a:latin typeface="Times New Roman"/>
                <a:ea typeface="Times New Roman"/>
                <a:cs typeface="Times New Roman"/>
                <a:sym typeface="Times New Roman"/>
              </a:rPr>
              <a:t>Government of Canada. (n.d.). Personal Information Protection and Electronic Documents Act (PIPEDA). priv.gc.ca/en/privacy-top</a:t>
            </a:r>
            <a:r>
              <a:rPr lang="en-US" sz="1599" spc="-47">
                <a:solidFill>
                  <a:srgbClr val="000000"/>
                </a:solidFill>
                <a:latin typeface="Times New Roman"/>
                <a:ea typeface="Times New Roman"/>
                <a:cs typeface="Times New Roman"/>
                <a:sym typeface="Times New Roman"/>
              </a:rPr>
              <a:t>ics/privacy-laws-in-canada/the-personal-information-protection-and-electronic-documents-act-pipeda/</a:t>
            </a:r>
          </a:p>
          <a:p>
            <a:pPr algn="l">
              <a:lnSpc>
                <a:spcPts val="1599"/>
              </a:lnSpc>
              <a:spcBef>
                <a:spcPct val="0"/>
              </a:spcBef>
            </a:pPr>
          </a:p>
          <a:p>
            <a:pPr algn="l">
              <a:lnSpc>
                <a:spcPts val="1599"/>
              </a:lnSpc>
              <a:spcBef>
                <a:spcPct val="0"/>
              </a:spcBef>
            </a:pPr>
            <a:r>
              <a:rPr lang="en-US" sz="1599" spc="-47">
                <a:solidFill>
                  <a:srgbClr val="000000"/>
                </a:solidFill>
                <a:latin typeface="Times New Roman"/>
                <a:ea typeface="Times New Roman"/>
                <a:cs typeface="Times New Roman"/>
                <a:sym typeface="Times New Roman"/>
              </a:rPr>
              <a:t>Financial Transactions and Reports Analysis Centre of Canada. (n.d.). Money services businesses. fintrac-canafe.gc.ca/msb-esm/intro-eng</a:t>
            </a:r>
          </a:p>
          <a:p>
            <a:pPr algn="l">
              <a:lnSpc>
                <a:spcPts val="1599"/>
              </a:lnSpc>
              <a:spcBef>
                <a:spcPct val="0"/>
              </a:spcBef>
            </a:pPr>
          </a:p>
          <a:p>
            <a:pPr algn="l">
              <a:lnSpc>
                <a:spcPts val="1599"/>
              </a:lnSpc>
              <a:spcBef>
                <a:spcPct val="0"/>
              </a:spcBef>
            </a:pPr>
            <a:r>
              <a:rPr lang="en-US" sz="1599" spc="-47">
                <a:solidFill>
                  <a:srgbClr val="000000"/>
                </a:solidFill>
                <a:latin typeface="Times New Roman"/>
                <a:ea typeface="Times New Roman"/>
                <a:cs typeface="Times New Roman"/>
                <a:sym typeface="Times New Roman"/>
              </a:rPr>
              <a:t>International Association of Privacy Professionals. (n.d.). Certified Information Privacy Professional/Canada (CIPP/C). iapp.org/certify/cipp/canada/</a:t>
            </a:r>
          </a:p>
          <a:p>
            <a:pPr algn="l">
              <a:lnSpc>
                <a:spcPts val="1599"/>
              </a:lnSpc>
              <a:spcBef>
                <a:spcPct val="0"/>
              </a:spcBef>
            </a:pPr>
          </a:p>
          <a:p>
            <a:pPr algn="l">
              <a:lnSpc>
                <a:spcPts val="1599"/>
              </a:lnSpc>
              <a:spcBef>
                <a:spcPct val="0"/>
              </a:spcBef>
            </a:pPr>
            <a:r>
              <a:rPr lang="en-US" sz="1599" spc="-47">
                <a:solidFill>
                  <a:srgbClr val="000000"/>
                </a:solidFill>
                <a:latin typeface="Times New Roman"/>
                <a:ea typeface="Times New Roman"/>
                <a:cs typeface="Times New Roman"/>
                <a:sym typeface="Times New Roman"/>
              </a:rPr>
              <a:t>Office of the Privacy Commissioner of Canada. (n.d.). priv.gc.ca</a:t>
            </a:r>
          </a:p>
          <a:p>
            <a:pPr algn="l">
              <a:lnSpc>
                <a:spcPts val="1599"/>
              </a:lnSpc>
              <a:spcBef>
                <a:spcPct val="0"/>
              </a:spcBef>
            </a:pPr>
          </a:p>
          <a:p>
            <a:pPr algn="l">
              <a:lnSpc>
                <a:spcPts val="1599"/>
              </a:lnSpc>
              <a:spcBef>
                <a:spcPct val="0"/>
              </a:spcBef>
            </a:pPr>
            <a:r>
              <a:rPr lang="en-US" sz="1599" spc="-47">
                <a:solidFill>
                  <a:srgbClr val="000000"/>
                </a:solidFill>
                <a:latin typeface="Times New Roman"/>
                <a:ea typeface="Times New Roman"/>
                <a:cs typeface="Times New Roman"/>
                <a:sym typeface="Times New Roman"/>
              </a:rPr>
              <a:t>Global CBPR Forum. (n.d.). Global Cross-Border Privacy Rules. globalcbpr.org</a:t>
            </a:r>
          </a:p>
          <a:p>
            <a:pPr algn="l">
              <a:lnSpc>
                <a:spcPts val="1599"/>
              </a:lnSpc>
              <a:spcBef>
                <a:spcPct val="0"/>
              </a:spcBef>
            </a:pPr>
          </a:p>
          <a:p>
            <a:pPr algn="l">
              <a:lnSpc>
                <a:spcPts val="1599"/>
              </a:lnSpc>
            </a:pPr>
            <a:r>
              <a:rPr lang="en-US" sz="1599" spc="-47">
                <a:solidFill>
                  <a:srgbClr val="000000"/>
                </a:solidFill>
                <a:latin typeface="Times New Roman"/>
                <a:ea typeface="Times New Roman"/>
                <a:cs typeface="Times New Roman"/>
                <a:sym typeface="Times New Roman"/>
              </a:rPr>
              <a:t>International Organization for Standardization. (2023). ISO/IEC 42001:2023 Artificial intelligence management system. iso.org/standard/81230.html</a:t>
            </a:r>
          </a:p>
        </p:txBody>
      </p:sp>
      <p:sp>
        <p:nvSpPr>
          <p:cNvPr name="TextBox 12" id="12"/>
          <p:cNvSpPr txBox="true"/>
          <p:nvPr/>
        </p:nvSpPr>
        <p:spPr>
          <a:xfrm rot="0">
            <a:off x="14575221" y="816610"/>
            <a:ext cx="2684079" cy="212090"/>
          </a:xfrm>
          <a:prstGeom prst="rect">
            <a:avLst/>
          </a:prstGeom>
        </p:spPr>
        <p:txBody>
          <a:bodyPr anchor="t" rtlCol="false" tIns="0" lIns="0" bIns="0" rIns="0">
            <a:spAutoFit/>
          </a:bodyPr>
          <a:lstStyle/>
          <a:p>
            <a:pPr algn="r">
              <a:lnSpc>
                <a:spcPts val="1599"/>
              </a:lnSpc>
            </a:pPr>
            <a:r>
              <a:rPr lang="en-US" sz="1599" spc="-47">
                <a:solidFill>
                  <a:srgbClr val="000000">
                    <a:alpha val="49804"/>
                  </a:srgbClr>
                </a:solidFill>
                <a:latin typeface="Helvetica World"/>
                <a:ea typeface="Helvetica World"/>
                <a:cs typeface="Helvetica World"/>
                <a:sym typeface="Helvetica World"/>
              </a:rPr>
              <a:t>April 5ᵗʰ,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DAHGDnEyxU8</dc:identifier>
  <dcterms:modified xsi:type="dcterms:W3CDTF">2011-08-01T06:04:30Z</dcterms:modified>
  <cp:revision>1</cp:revision>
  <dc:title>Copy of The AI Data Governance Society</dc:title>
</cp:coreProperties>
</file>
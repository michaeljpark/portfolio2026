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x="18288000" cy="10287000"/>
  <p:notesSz cx="6858000" cy="9144000"/>
  <p:embeddedFontLst>
    <p:embeddedFont>
      <p:font typeface="Helvetica World" charset="1" panose="020B0500040000020004"/>
      <p:regular r:id="rId76"/>
    </p:embeddedFont>
    <p:embeddedFont>
      <p:font typeface="Helvetica World Italics" charset="1" panose="020B0500040000090004"/>
      <p:regular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fonts/font76.fntdata" Type="http://schemas.openxmlformats.org/officeDocument/2006/relationships/font"/><Relationship Id="rId77" Target="fonts/font77.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embeddings/oleObject1.bin" Type="http://schemas.openxmlformats.org/officeDocument/2006/relationships/oleObjec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2.bin" Type="http://schemas.openxmlformats.org/officeDocument/2006/relationships/oleObjec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embeddings/oleObject3.bin" Type="http://schemas.openxmlformats.org/officeDocument/2006/relationships/oleObjec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embeddings/oleObject4.bin" Type="http://schemas.openxmlformats.org/officeDocument/2006/relationships/oleObject"/><Relationship Id="rId4" Target="../media/image31.png" Type="http://schemas.openxmlformats.org/officeDocument/2006/relationships/image"/><Relationship Id="rId5" Target="../embeddings/oleObject5.bin" Type="http://schemas.openxmlformats.org/officeDocument/2006/relationships/oleObject"/></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amazon.com/Rufus/b?ie=UTF8&amp;node=121214013011" TargetMode="External" Type="http://schemas.openxmlformats.org/officeDocument/2006/relationships/hyperlink"/><Relationship Id="rId3" Target="https://www.aboutamazon.com/news/retail/amazon-rufus-ai-assistant-personalized-shopping-features" TargetMode="External" Type="http://schemas.openxmlformats.org/officeDocument/2006/relationships/hyperlink"/><Relationship Id="rId4" Target="https://www.aboutamazon.com/news/innovation-at-amazon/amazon-project-amelia" TargetMode="External" Type="http://schemas.openxmlformats.org/officeDocument/2006/relationships/hyperlink"/><Relationship Id="rId5" Target="https://capitaloneshopping.com/research/impulse-buying-statistics/" TargetMode="External" Type="http://schemas.openxmlformats.org/officeDocument/2006/relationships/hyperlink"/><Relationship Id="rId6" Target="https://www.cnbc.com/2026/01/06/amazons-ai-shopping-tool-sparks-backlash-from-some-online-retailers.html"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143500"/>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grpSp>
        <p:nvGrpSpPr>
          <p:cNvPr name="Group 3" id="3"/>
          <p:cNvGrpSpPr/>
          <p:nvPr/>
        </p:nvGrpSpPr>
        <p:grpSpPr>
          <a:xfrm rot="0">
            <a:off x="1028700" y="326040"/>
            <a:ext cx="16230600" cy="6089651"/>
            <a:chOff x="0" y="0"/>
            <a:chExt cx="21640800" cy="8119534"/>
          </a:xfrm>
        </p:grpSpPr>
        <p:sp>
          <p:nvSpPr>
            <p:cNvPr name="TextBox 4" id="4"/>
            <p:cNvSpPr txBox="true"/>
            <p:nvPr/>
          </p:nvSpPr>
          <p:spPr>
            <a:xfrm rot="0">
              <a:off x="13240941" y="-762000"/>
              <a:ext cx="8399859" cy="8881534"/>
            </a:xfrm>
            <a:prstGeom prst="rect">
              <a:avLst/>
            </a:prstGeom>
          </p:spPr>
          <p:txBody>
            <a:bodyPr anchor="t" rtlCol="false" tIns="0" lIns="0" bIns="0" rIns="0">
              <a:spAutoFit/>
            </a:bodyPr>
            <a:lstStyle/>
            <a:p>
              <a:pPr algn="ctr">
                <a:lnSpc>
                  <a:spcPts val="55999"/>
                </a:lnSpc>
              </a:pPr>
              <a:r>
                <a:rPr lang="en-US" sz="39999" spc="-1999">
                  <a:solidFill>
                    <a:srgbClr val="FFFFFF"/>
                  </a:solidFill>
                  <a:latin typeface="Helvetica World"/>
                  <a:ea typeface="Helvetica World"/>
                  <a:cs typeface="Helvetica World"/>
                  <a:sym typeface="Helvetica World"/>
                </a:rPr>
                <a:t>2.0</a:t>
              </a:r>
            </a:p>
          </p:txBody>
        </p:sp>
        <p:sp>
          <p:nvSpPr>
            <p:cNvPr name="Freeform 5" id="5"/>
            <p:cNvSpPr/>
            <p:nvPr/>
          </p:nvSpPr>
          <p:spPr>
            <a:xfrm flipH="false" flipV="false" rot="0">
              <a:off x="0" y="2418351"/>
              <a:ext cx="2167455" cy="1988279"/>
            </a:xfrm>
            <a:custGeom>
              <a:avLst/>
              <a:gdLst/>
              <a:ahLst/>
              <a:cxnLst/>
              <a:rect r="r" b="b" t="t" l="l"/>
              <a:pathLst>
                <a:path h="1988279" w="2167455">
                  <a:moveTo>
                    <a:pt x="0" y="0"/>
                  </a:moveTo>
                  <a:lnTo>
                    <a:pt x="2167455" y="0"/>
                  </a:lnTo>
                  <a:lnTo>
                    <a:pt x="2167455" y="1988279"/>
                  </a:lnTo>
                  <a:lnTo>
                    <a:pt x="0" y="1988279"/>
                  </a:lnTo>
                  <a:lnTo>
                    <a:pt x="0" y="0"/>
                  </a:lnTo>
                  <a:close/>
                </a:path>
              </a:pathLst>
            </a:custGeom>
            <a:blipFill>
              <a:blip r:embed="rId3"/>
              <a:stretch>
                <a:fillRect l="0" t="0" r="0" b="0"/>
              </a:stretch>
            </a:blipFill>
          </p:spPr>
        </p:sp>
        <p:sp>
          <p:nvSpPr>
            <p:cNvPr name="Freeform 6" id="6"/>
            <p:cNvSpPr/>
            <p:nvPr/>
          </p:nvSpPr>
          <p:spPr>
            <a:xfrm flipH="false" flipV="false" rot="0">
              <a:off x="5830722" y="2445227"/>
              <a:ext cx="4989678" cy="1961403"/>
            </a:xfrm>
            <a:custGeom>
              <a:avLst/>
              <a:gdLst/>
              <a:ahLst/>
              <a:cxnLst/>
              <a:rect r="r" b="b" t="t" l="l"/>
              <a:pathLst>
                <a:path h="1961403" w="4989678">
                  <a:moveTo>
                    <a:pt x="0" y="0"/>
                  </a:moveTo>
                  <a:lnTo>
                    <a:pt x="4989678" y="0"/>
                  </a:lnTo>
                  <a:lnTo>
                    <a:pt x="4989678" y="1961403"/>
                  </a:lnTo>
                  <a:lnTo>
                    <a:pt x="0" y="1961403"/>
                  </a:lnTo>
                  <a:lnTo>
                    <a:pt x="0" y="0"/>
                  </a:lnTo>
                  <a:close/>
                </a:path>
              </a:pathLst>
            </a:custGeom>
            <a:blipFill>
              <a:blip r:embed="rId4"/>
              <a:stretch>
                <a:fillRect l="0" t="0" r="0" b="0"/>
              </a:stretch>
            </a:blipFill>
          </p:spPr>
        </p:sp>
        <p:sp>
          <p:nvSpPr>
            <p:cNvPr name="TextBox 7" id="7"/>
            <p:cNvSpPr txBox="true"/>
            <p:nvPr/>
          </p:nvSpPr>
          <p:spPr>
            <a:xfrm rot="0">
              <a:off x="3863754" y="2641389"/>
              <a:ext cx="270669"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a:t>
              </a:r>
            </a:p>
          </p:txBody>
        </p:sp>
      </p:grpSp>
      <p:sp>
        <p:nvSpPr>
          <p:cNvPr name="TextBox 8" id="8"/>
          <p:cNvSpPr txBox="true"/>
          <p:nvPr/>
        </p:nvSpPr>
        <p:spPr>
          <a:xfrm rot="0">
            <a:off x="1019175" y="7973279"/>
            <a:ext cx="4885879" cy="481330"/>
          </a:xfrm>
          <a:prstGeom prst="rect">
            <a:avLst/>
          </a:prstGeom>
        </p:spPr>
        <p:txBody>
          <a:bodyPr anchor="t" rtlCol="false" tIns="0" lIns="0" bIns="0" rIns="0">
            <a:spAutoFit/>
          </a:bodyPr>
          <a:lstStyle/>
          <a:p>
            <a:pPr algn="l">
              <a:lnSpc>
                <a:spcPts val="3919"/>
              </a:lnSpc>
            </a:pPr>
            <a:r>
              <a:rPr lang="en-US" sz="2799" spc="-27">
                <a:solidFill>
                  <a:srgbClr val="FFFFFF"/>
                </a:solidFill>
                <a:latin typeface="Helvetica World"/>
                <a:ea typeface="Helvetica World"/>
                <a:cs typeface="Helvetica World"/>
                <a:sym typeface="Helvetica World"/>
              </a:rPr>
              <a:t>Amazon |</a:t>
            </a:r>
            <a:r>
              <a:rPr lang="en-US" sz="2799" spc="-27">
                <a:solidFill>
                  <a:srgbClr val="FFFFFF"/>
                </a:solidFill>
                <a:latin typeface="Helvetica World"/>
                <a:ea typeface="Helvetica World"/>
                <a:cs typeface="Helvetica World"/>
                <a:sym typeface="Helvetica World"/>
              </a:rPr>
              <a:t> Design Audit Report 2</a:t>
            </a:r>
          </a:p>
        </p:txBody>
      </p:sp>
      <p:sp>
        <p:nvSpPr>
          <p:cNvPr name="TextBox 9" id="9"/>
          <p:cNvSpPr txBox="true"/>
          <p:nvPr/>
        </p:nvSpPr>
        <p:spPr>
          <a:xfrm rot="0">
            <a:off x="15741179" y="7973279"/>
            <a:ext cx="1518121" cy="481330"/>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 Group 14</a:t>
            </a:r>
          </a:p>
        </p:txBody>
      </p:sp>
      <p:sp>
        <p:nvSpPr>
          <p:cNvPr name="TextBox 10" id="10"/>
          <p:cNvSpPr txBox="true"/>
          <p:nvPr/>
        </p:nvSpPr>
        <p:spPr>
          <a:xfrm rot="0">
            <a:off x="5836609" y="8543925"/>
            <a:ext cx="2322792" cy="71437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Jaehong Hwang</a:t>
            </a:r>
          </a:p>
          <a:p>
            <a:pPr algn="l">
              <a:lnSpc>
                <a:spcPts val="1919"/>
              </a:lnSpc>
            </a:pPr>
            <a:r>
              <a:rPr lang="en-US" sz="1599" spc="-15">
                <a:solidFill>
                  <a:srgbClr val="FFFFFF">
                    <a:alpha val="49804"/>
                  </a:srgbClr>
                </a:solidFill>
                <a:latin typeface="Helvetica World"/>
                <a:ea typeface="Helvetica World"/>
                <a:cs typeface="Helvetica World"/>
                <a:sym typeface="Helvetica World"/>
              </a:rPr>
              <a:t>[Data Analyst/Research]</a:t>
            </a:r>
          </a:p>
          <a:p>
            <a:pPr algn="l">
              <a:lnSpc>
                <a:spcPts val="1919"/>
              </a:lnSpc>
            </a:pPr>
            <a:r>
              <a:rPr lang="en-US" sz="1599" spc="-15" u="sng">
                <a:solidFill>
                  <a:srgbClr val="FFFFFF">
                    <a:alpha val="49804"/>
                  </a:srgbClr>
                </a:solidFill>
                <a:latin typeface="Helvetica World"/>
                <a:ea typeface="Helvetica World"/>
                <a:cs typeface="Helvetica World"/>
                <a:sym typeface="Helvetica World"/>
              </a:rPr>
              <a:t>jaehonghwang@ocadu.ca</a:t>
            </a:r>
          </a:p>
        </p:txBody>
      </p:sp>
      <p:sp>
        <p:nvSpPr>
          <p:cNvPr name="TextBox 11" id="11"/>
          <p:cNvSpPr txBox="true"/>
          <p:nvPr/>
        </p:nvSpPr>
        <p:spPr>
          <a:xfrm rot="0">
            <a:off x="1028700" y="8543925"/>
            <a:ext cx="2340721" cy="71437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Michael Joongmin Park</a:t>
            </a:r>
          </a:p>
          <a:p>
            <a:pPr algn="l">
              <a:lnSpc>
                <a:spcPts val="1919"/>
              </a:lnSpc>
            </a:pPr>
            <a:r>
              <a:rPr lang="en-US" sz="1599" spc="-15">
                <a:solidFill>
                  <a:srgbClr val="FFFFFF">
                    <a:alpha val="49804"/>
                  </a:srgbClr>
                </a:solidFill>
                <a:latin typeface="Helvetica World"/>
                <a:ea typeface="Helvetica World"/>
                <a:cs typeface="Helvetica World"/>
                <a:sym typeface="Helvetica World"/>
              </a:rPr>
              <a:t>[Team Lead/Data Analyst]</a:t>
            </a:r>
          </a:p>
          <a:p>
            <a:pPr algn="l">
              <a:lnSpc>
                <a:spcPts val="1919"/>
              </a:lnSpc>
            </a:pPr>
            <a:r>
              <a:rPr lang="en-US" sz="1599" spc="-15" u="sng">
                <a:solidFill>
                  <a:srgbClr val="FFFFFF">
                    <a:alpha val="49804"/>
                  </a:srgbClr>
                </a:solidFill>
                <a:latin typeface="Helvetica World"/>
                <a:ea typeface="Helvetica World"/>
                <a:cs typeface="Helvetica World"/>
                <a:sym typeface="Helvetica World"/>
              </a:rPr>
              <a:t>michael.park@ocadu.ca</a:t>
            </a:r>
          </a:p>
        </p:txBody>
      </p:sp>
      <p:grpSp>
        <p:nvGrpSpPr>
          <p:cNvPr name="Group 12" id="12"/>
          <p:cNvGrpSpPr/>
          <p:nvPr/>
        </p:nvGrpSpPr>
        <p:grpSpPr>
          <a:xfrm rot="0">
            <a:off x="1028700" y="727075"/>
            <a:ext cx="16230600" cy="301625"/>
            <a:chOff x="0" y="0"/>
            <a:chExt cx="21640800" cy="402167"/>
          </a:xfrm>
        </p:grpSpPr>
        <p:sp>
          <p:nvSpPr>
            <p:cNvPr name="TextBox 13" id="1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GDES-3081-501 - Intro to Design Management</a:t>
              </a:r>
            </a:p>
          </p:txBody>
        </p:sp>
        <p:sp>
          <p:nvSpPr>
            <p:cNvPr name="TextBox 14" id="1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solidFill>
                  <a:latin typeface="Helvetica World"/>
                  <a:ea typeface="Helvetica World"/>
                  <a:cs typeface="Helvetica World"/>
                  <a:sym typeface="Helvetica World"/>
                </a:rPr>
                <a:t>March 2nd, 2026 </a:t>
              </a:r>
            </a:p>
          </p:txBody>
        </p:sp>
      </p:grpSp>
      <p:sp>
        <p:nvSpPr>
          <p:cNvPr name="TextBox 15" id="15"/>
          <p:cNvSpPr txBox="true"/>
          <p:nvPr/>
        </p:nvSpPr>
        <p:spPr>
          <a:xfrm rot="0">
            <a:off x="10645639" y="8543925"/>
            <a:ext cx="1766813" cy="71437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Elsie Jang</a:t>
            </a:r>
          </a:p>
          <a:p>
            <a:pPr algn="l">
              <a:lnSpc>
                <a:spcPts val="1919"/>
              </a:lnSpc>
            </a:pPr>
            <a:r>
              <a:rPr lang="en-US" sz="1599" spc="-15">
                <a:solidFill>
                  <a:srgbClr val="FFFFFF">
                    <a:alpha val="49804"/>
                  </a:srgbClr>
                </a:solidFill>
                <a:latin typeface="Helvetica World"/>
                <a:ea typeface="Helvetica World"/>
                <a:cs typeface="Helvetica World"/>
                <a:sym typeface="Helvetica World"/>
              </a:rPr>
              <a:t>[Research]</a:t>
            </a:r>
          </a:p>
          <a:p>
            <a:pPr algn="l">
              <a:lnSpc>
                <a:spcPts val="1919"/>
              </a:lnSpc>
            </a:pPr>
            <a:r>
              <a:rPr lang="en-US" sz="1599" spc="-15" u="sng">
                <a:solidFill>
                  <a:srgbClr val="FFFFFF">
                    <a:alpha val="49804"/>
                  </a:srgbClr>
                </a:solidFill>
                <a:latin typeface="Helvetica World"/>
                <a:ea typeface="Helvetica World"/>
                <a:cs typeface="Helvetica World"/>
                <a:sym typeface="Helvetica World"/>
              </a:rPr>
              <a:t>elsiejang@ocadu.ca</a:t>
            </a:r>
          </a:p>
        </p:txBody>
      </p:sp>
      <p:sp>
        <p:nvSpPr>
          <p:cNvPr name="TextBox 16" id="16"/>
          <p:cNvSpPr txBox="true"/>
          <p:nvPr/>
        </p:nvSpPr>
        <p:spPr>
          <a:xfrm rot="0">
            <a:off x="10645639" y="7973279"/>
            <a:ext cx="88181" cy="481330"/>
          </a:xfrm>
          <a:prstGeom prst="rect">
            <a:avLst/>
          </a:prstGeom>
        </p:spPr>
        <p:txBody>
          <a:bodyPr anchor="t" rtlCol="false" tIns="0" lIns="0" bIns="0" rIns="0">
            <a:spAutoFit/>
          </a:bodyPr>
          <a:lstStyle/>
          <a:p>
            <a:pPr algn="ctr">
              <a:lnSpc>
                <a:spcPts val="3919"/>
              </a:lnSpc>
            </a:pPr>
            <a:r>
              <a:rPr lang="en-US" sz="2799" spc="-27">
                <a:solidFill>
                  <a:srgbClr val="FFFFFF"/>
                </a:solidFill>
                <a:latin typeface="Helvetica World"/>
                <a:ea typeface="Helvetica World"/>
                <a:cs typeface="Helvetica World"/>
                <a:sym typeface="Helvetica World"/>
              </a:rPr>
              <a:t>I</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flipH="true">
            <a:off x="1028700" y="8259103"/>
            <a:ext cx="16230600" cy="0"/>
          </a:xfrm>
          <a:prstGeom prst="line">
            <a:avLst/>
          </a:prstGeom>
          <a:ln cap="rnd" w="19050">
            <a:solidFill>
              <a:srgbClr val="FFFFFF">
                <a:alpha val="29804"/>
              </a:srgbClr>
            </a:solidFill>
            <a:prstDash val="sysDash"/>
            <a:headEnd type="none" len="sm" w="sm"/>
            <a:tailEnd type="none" len="sm" w="sm"/>
          </a:ln>
        </p:spPr>
      </p:sp>
      <p:grpSp>
        <p:nvGrpSpPr>
          <p:cNvPr name="Group 3" id="3"/>
          <p:cNvGrpSpPr/>
          <p:nvPr/>
        </p:nvGrpSpPr>
        <p:grpSpPr>
          <a:xfrm rot="0">
            <a:off x="1028700" y="1476534"/>
            <a:ext cx="16230600" cy="692785"/>
            <a:chOff x="0" y="0"/>
            <a:chExt cx="21640800" cy="923713"/>
          </a:xfrm>
        </p:grpSpPr>
        <p:sp>
          <p:nvSpPr>
            <p:cNvPr name="TextBox 4" id="4"/>
            <p:cNvSpPr txBox="true"/>
            <p:nvPr/>
          </p:nvSpPr>
          <p:spPr>
            <a:xfrm rot="0">
              <a:off x="0" y="-57150"/>
              <a:ext cx="5023915"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Introduction</a:t>
              </a:r>
            </a:p>
          </p:txBody>
        </p:sp>
        <p:sp>
          <p:nvSpPr>
            <p:cNvPr name="TextBox 5" id="5"/>
            <p:cNvSpPr txBox="true"/>
            <p:nvPr/>
          </p:nvSpPr>
          <p:spPr>
            <a:xfrm rot="0">
              <a:off x="0" y="581025"/>
              <a:ext cx="4288146" cy="342688"/>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Audit 1 Findings | Project Direction</a:t>
              </a:r>
            </a:p>
          </p:txBody>
        </p:sp>
        <p:sp>
          <p:nvSpPr>
            <p:cNvPr name="TextBox 6" id="6"/>
            <p:cNvSpPr txBox="true"/>
            <p:nvPr/>
          </p:nvSpPr>
          <p:spPr>
            <a:xfrm rot="0">
              <a:off x="19766910" y="99907"/>
              <a:ext cx="1873890" cy="666750"/>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03-05</a:t>
              </a:r>
            </a:p>
          </p:txBody>
        </p:sp>
      </p:grpSp>
      <p:grpSp>
        <p:nvGrpSpPr>
          <p:cNvPr name="Group 7" id="7"/>
          <p:cNvGrpSpPr/>
          <p:nvPr/>
        </p:nvGrpSpPr>
        <p:grpSpPr>
          <a:xfrm rot="0">
            <a:off x="1028700" y="2338594"/>
            <a:ext cx="16230600" cy="692785"/>
            <a:chOff x="0" y="0"/>
            <a:chExt cx="21640800" cy="923713"/>
          </a:xfrm>
        </p:grpSpPr>
        <p:sp>
          <p:nvSpPr>
            <p:cNvPr name="TextBox 8" id="8"/>
            <p:cNvSpPr txBox="true"/>
            <p:nvPr/>
          </p:nvSpPr>
          <p:spPr>
            <a:xfrm rot="0">
              <a:off x="0" y="-57150"/>
              <a:ext cx="5023915" cy="666750"/>
            </a:xfrm>
            <a:prstGeom prst="rect">
              <a:avLst/>
            </a:prstGeom>
          </p:spPr>
          <p:txBody>
            <a:bodyPr anchor="t" rtlCol="false" tIns="0" lIns="0" bIns="0" rIns="0">
              <a:spAutoFit/>
            </a:bodyPr>
            <a:lstStyle/>
            <a:p>
              <a:pPr algn="just">
                <a:lnSpc>
                  <a:spcPts val="4200"/>
                </a:lnSpc>
              </a:pPr>
              <a:r>
                <a:rPr lang="en-US" sz="3000" spc="-30">
                  <a:solidFill>
                    <a:srgbClr val="FFFFFF"/>
                  </a:solidFill>
                  <a:latin typeface="Helvetica World"/>
                  <a:ea typeface="Helvetica World"/>
                  <a:cs typeface="Helvetica World"/>
                  <a:sym typeface="Helvetica World"/>
                </a:rPr>
                <a:t>Service Scope</a:t>
              </a:r>
            </a:p>
          </p:txBody>
        </p:sp>
        <p:sp>
          <p:nvSpPr>
            <p:cNvPr name="TextBox 9" id="9"/>
            <p:cNvSpPr txBox="true"/>
            <p:nvPr/>
          </p:nvSpPr>
          <p:spPr>
            <a:xfrm rot="0">
              <a:off x="0" y="581025"/>
              <a:ext cx="6059428" cy="342688"/>
            </a:xfrm>
            <a:prstGeom prst="rect">
              <a:avLst/>
            </a:prstGeom>
          </p:spPr>
          <p:txBody>
            <a:bodyPr anchor="t" rtlCol="false" tIns="0" lIns="0" bIns="0" rIns="0">
              <a:spAutoFit/>
            </a:bodyPr>
            <a:lstStyle/>
            <a:p>
              <a:pPr algn="l">
                <a:lnSpc>
                  <a:spcPts val="2239"/>
                </a:lnSpc>
              </a:pPr>
              <a:r>
                <a:rPr lang="en-US" sz="1599" spc="-15">
                  <a:solidFill>
                    <a:srgbClr val="D9D9D9">
                      <a:alpha val="49804"/>
                    </a:srgbClr>
                  </a:solidFill>
                  <a:latin typeface="Helvetica World"/>
                  <a:ea typeface="Helvetica World"/>
                  <a:cs typeface="Helvetica World"/>
                  <a:sym typeface="Helvetica World"/>
                </a:rPr>
                <a:t>B2C - Rufus &amp; B2C - Amelia | Current Status</a:t>
              </a:r>
            </a:p>
          </p:txBody>
        </p:sp>
        <p:sp>
          <p:nvSpPr>
            <p:cNvPr name="TextBox 10" id="10"/>
            <p:cNvSpPr txBox="true"/>
            <p:nvPr/>
          </p:nvSpPr>
          <p:spPr>
            <a:xfrm rot="0">
              <a:off x="19766910" y="99907"/>
              <a:ext cx="1873890" cy="666750"/>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06-26</a:t>
              </a:r>
            </a:p>
          </p:txBody>
        </p:sp>
      </p:grpSp>
      <p:grpSp>
        <p:nvGrpSpPr>
          <p:cNvPr name="Group 11" id="11"/>
          <p:cNvGrpSpPr/>
          <p:nvPr/>
        </p:nvGrpSpPr>
        <p:grpSpPr>
          <a:xfrm rot="0">
            <a:off x="1028700" y="4067461"/>
            <a:ext cx="16230600" cy="665750"/>
            <a:chOff x="0" y="0"/>
            <a:chExt cx="21640800" cy="887666"/>
          </a:xfrm>
        </p:grpSpPr>
        <p:sp>
          <p:nvSpPr>
            <p:cNvPr name="TextBox 12" id="12"/>
            <p:cNvSpPr txBox="true"/>
            <p:nvPr/>
          </p:nvSpPr>
          <p:spPr>
            <a:xfrm rot="0">
              <a:off x="0" y="-57150"/>
              <a:ext cx="3029714" cy="666750"/>
            </a:xfrm>
            <a:prstGeom prst="rect">
              <a:avLst/>
            </a:prstGeom>
          </p:spPr>
          <p:txBody>
            <a:bodyPr anchor="t" rtlCol="false" tIns="0" lIns="0" bIns="0" rIns="0">
              <a:spAutoFit/>
            </a:bodyPr>
            <a:lstStyle/>
            <a:p>
              <a:pPr algn="just">
                <a:lnSpc>
                  <a:spcPts val="4200"/>
                </a:lnSpc>
              </a:pPr>
              <a:r>
                <a:rPr lang="en-US" sz="3000" spc="-30">
                  <a:solidFill>
                    <a:srgbClr val="FFFFFF"/>
                  </a:solidFill>
                  <a:latin typeface="Helvetica World"/>
                  <a:ea typeface="Helvetica World"/>
                  <a:cs typeface="Helvetica World"/>
                  <a:sym typeface="Helvetica World"/>
                </a:rPr>
                <a:t>Mission</a:t>
              </a:r>
            </a:p>
          </p:txBody>
        </p:sp>
        <p:sp>
          <p:nvSpPr>
            <p:cNvPr name="TextBox 13" id="13"/>
            <p:cNvSpPr txBox="true"/>
            <p:nvPr/>
          </p:nvSpPr>
          <p:spPr>
            <a:xfrm rot="0">
              <a:off x="0" y="544978"/>
              <a:ext cx="6617762" cy="342688"/>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Projection of Core Values</a:t>
              </a:r>
            </a:p>
          </p:txBody>
        </p:sp>
        <p:sp>
          <p:nvSpPr>
            <p:cNvPr name="TextBox 14" id="14"/>
            <p:cNvSpPr txBox="true"/>
            <p:nvPr/>
          </p:nvSpPr>
          <p:spPr>
            <a:xfrm rot="0">
              <a:off x="19766910" y="99907"/>
              <a:ext cx="1873890" cy="666750"/>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34-36</a:t>
              </a:r>
            </a:p>
          </p:txBody>
        </p:sp>
      </p:grpSp>
      <p:grpSp>
        <p:nvGrpSpPr>
          <p:cNvPr name="Group 15" id="15"/>
          <p:cNvGrpSpPr/>
          <p:nvPr/>
        </p:nvGrpSpPr>
        <p:grpSpPr>
          <a:xfrm rot="0">
            <a:off x="1028700" y="3200654"/>
            <a:ext cx="16230600" cy="697531"/>
            <a:chOff x="0" y="0"/>
            <a:chExt cx="21640800" cy="930042"/>
          </a:xfrm>
        </p:grpSpPr>
        <p:sp>
          <p:nvSpPr>
            <p:cNvPr name="TextBox 16" id="16"/>
            <p:cNvSpPr txBox="true"/>
            <p:nvPr/>
          </p:nvSpPr>
          <p:spPr>
            <a:xfrm rot="0">
              <a:off x="0" y="-57150"/>
              <a:ext cx="5023915" cy="666750"/>
            </a:xfrm>
            <a:prstGeom prst="rect">
              <a:avLst/>
            </a:prstGeom>
          </p:spPr>
          <p:txBody>
            <a:bodyPr anchor="t" rtlCol="false" tIns="0" lIns="0" bIns="0" rIns="0">
              <a:spAutoFit/>
            </a:bodyPr>
            <a:lstStyle/>
            <a:p>
              <a:pPr algn="just">
                <a:lnSpc>
                  <a:spcPts val="4200"/>
                </a:lnSpc>
              </a:pPr>
              <a:r>
                <a:rPr lang="en-US" sz="3000" spc="-30">
                  <a:solidFill>
                    <a:srgbClr val="FFFFFF"/>
                  </a:solidFill>
                  <a:latin typeface="Helvetica World"/>
                  <a:ea typeface="Helvetica World"/>
                  <a:cs typeface="Helvetica World"/>
                  <a:sym typeface="Helvetica World"/>
                </a:rPr>
                <a:t>Stra</a:t>
              </a:r>
              <a:r>
                <a:rPr lang="en-US" sz="3000" spc="-30">
                  <a:solidFill>
                    <a:srgbClr val="FFFFFF"/>
                  </a:solidFill>
                  <a:latin typeface="Helvetica World"/>
                  <a:ea typeface="Helvetica World"/>
                  <a:cs typeface="Helvetica World"/>
                  <a:sym typeface="Helvetica World"/>
                </a:rPr>
                <a:t>tegic Foresight </a:t>
              </a:r>
            </a:p>
          </p:txBody>
        </p:sp>
        <p:sp>
          <p:nvSpPr>
            <p:cNvPr name="TextBox 17" id="17"/>
            <p:cNvSpPr txBox="true"/>
            <p:nvPr/>
          </p:nvSpPr>
          <p:spPr>
            <a:xfrm rot="0">
              <a:off x="0" y="587353"/>
              <a:ext cx="6059428" cy="342688"/>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Signals &amp; Value Assessment - Opportunity Mapping</a:t>
              </a:r>
            </a:p>
          </p:txBody>
        </p:sp>
        <p:sp>
          <p:nvSpPr>
            <p:cNvPr name="TextBox 18" id="18"/>
            <p:cNvSpPr txBox="true"/>
            <p:nvPr/>
          </p:nvSpPr>
          <p:spPr>
            <a:xfrm rot="0">
              <a:off x="19766910" y="103071"/>
              <a:ext cx="1873890" cy="666750"/>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27-33</a:t>
              </a:r>
            </a:p>
          </p:txBody>
        </p:sp>
      </p:grpSp>
      <p:grpSp>
        <p:nvGrpSpPr>
          <p:cNvPr name="Group 19" id="19"/>
          <p:cNvGrpSpPr/>
          <p:nvPr/>
        </p:nvGrpSpPr>
        <p:grpSpPr>
          <a:xfrm rot="0">
            <a:off x="1028700" y="727075"/>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22" id="22"/>
          <p:cNvGrpSpPr/>
          <p:nvPr/>
        </p:nvGrpSpPr>
        <p:grpSpPr>
          <a:xfrm rot="0">
            <a:off x="1028700" y="4902485"/>
            <a:ext cx="16230600" cy="692785"/>
            <a:chOff x="0" y="0"/>
            <a:chExt cx="21640800" cy="923713"/>
          </a:xfrm>
        </p:grpSpPr>
        <p:sp>
          <p:nvSpPr>
            <p:cNvPr name="TextBox 23" id="23"/>
            <p:cNvSpPr txBox="true"/>
            <p:nvPr/>
          </p:nvSpPr>
          <p:spPr>
            <a:xfrm rot="0">
              <a:off x="17151840" y="-57150"/>
              <a:ext cx="4488960" cy="6667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Solution Proposal</a:t>
              </a:r>
            </a:p>
          </p:txBody>
        </p:sp>
        <p:sp>
          <p:nvSpPr>
            <p:cNvPr name="TextBox 24" id="24"/>
            <p:cNvSpPr txBox="true"/>
            <p:nvPr/>
          </p:nvSpPr>
          <p:spPr>
            <a:xfrm rot="0">
              <a:off x="15045870" y="581025"/>
              <a:ext cx="6594930" cy="342688"/>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Hypothetical Roadmap &amp; Models</a:t>
              </a:r>
            </a:p>
          </p:txBody>
        </p:sp>
        <p:sp>
          <p:nvSpPr>
            <p:cNvPr name="TextBox 25" id="25"/>
            <p:cNvSpPr txBox="true"/>
            <p:nvPr/>
          </p:nvSpPr>
          <p:spPr>
            <a:xfrm rot="0">
              <a:off x="0" y="99907"/>
              <a:ext cx="1873890" cy="666750"/>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37-47</a:t>
              </a:r>
            </a:p>
          </p:txBody>
        </p:sp>
      </p:grpSp>
      <p:grpSp>
        <p:nvGrpSpPr>
          <p:cNvPr name="Group 26" id="26"/>
          <p:cNvGrpSpPr/>
          <p:nvPr/>
        </p:nvGrpSpPr>
        <p:grpSpPr>
          <a:xfrm rot="0">
            <a:off x="1028700" y="5764546"/>
            <a:ext cx="16230600" cy="685800"/>
            <a:chOff x="0" y="0"/>
            <a:chExt cx="21640800" cy="914400"/>
          </a:xfrm>
        </p:grpSpPr>
        <p:sp>
          <p:nvSpPr>
            <p:cNvPr name="TextBox 27" id="27"/>
            <p:cNvSpPr txBox="true"/>
            <p:nvPr/>
          </p:nvSpPr>
          <p:spPr>
            <a:xfrm rot="0">
              <a:off x="18815368" y="-57150"/>
              <a:ext cx="2825432" cy="6667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KPIs</a:t>
              </a:r>
            </a:p>
          </p:txBody>
        </p:sp>
        <p:sp>
          <p:nvSpPr>
            <p:cNvPr name="TextBox 28" id="28"/>
            <p:cNvSpPr txBox="true"/>
            <p:nvPr/>
          </p:nvSpPr>
          <p:spPr>
            <a:xfrm rot="0">
              <a:off x="15045870" y="571712"/>
              <a:ext cx="6594930" cy="342688"/>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Principles for Project Validation</a:t>
              </a:r>
            </a:p>
          </p:txBody>
        </p:sp>
        <p:sp>
          <p:nvSpPr>
            <p:cNvPr name="TextBox 29" id="29"/>
            <p:cNvSpPr txBox="true"/>
            <p:nvPr/>
          </p:nvSpPr>
          <p:spPr>
            <a:xfrm rot="0">
              <a:off x="0" y="99907"/>
              <a:ext cx="1873890" cy="666750"/>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48-56</a:t>
              </a:r>
            </a:p>
          </p:txBody>
        </p:sp>
      </p:grpSp>
      <p:grpSp>
        <p:nvGrpSpPr>
          <p:cNvPr name="Group 30" id="30"/>
          <p:cNvGrpSpPr/>
          <p:nvPr/>
        </p:nvGrpSpPr>
        <p:grpSpPr>
          <a:xfrm rot="0">
            <a:off x="1028700" y="6619621"/>
            <a:ext cx="16230600" cy="692785"/>
            <a:chOff x="0" y="0"/>
            <a:chExt cx="21640800" cy="923713"/>
          </a:xfrm>
        </p:grpSpPr>
        <p:sp>
          <p:nvSpPr>
            <p:cNvPr name="TextBox 31" id="31"/>
            <p:cNvSpPr txBox="true"/>
            <p:nvPr/>
          </p:nvSpPr>
          <p:spPr>
            <a:xfrm rot="0">
              <a:off x="18638289" y="-57150"/>
              <a:ext cx="3002511" cy="6667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Impact</a:t>
              </a:r>
            </a:p>
          </p:txBody>
        </p:sp>
        <p:sp>
          <p:nvSpPr>
            <p:cNvPr name="TextBox 32" id="32"/>
            <p:cNvSpPr txBox="true"/>
            <p:nvPr/>
          </p:nvSpPr>
          <p:spPr>
            <a:xfrm rot="0">
              <a:off x="15045870" y="581025"/>
              <a:ext cx="6594930" cy="342688"/>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Estimated Outcome</a:t>
              </a:r>
            </a:p>
          </p:txBody>
        </p:sp>
        <p:sp>
          <p:nvSpPr>
            <p:cNvPr name="TextBox 33" id="33"/>
            <p:cNvSpPr txBox="true"/>
            <p:nvPr/>
          </p:nvSpPr>
          <p:spPr>
            <a:xfrm rot="0">
              <a:off x="0" y="104563"/>
              <a:ext cx="1873890" cy="666750"/>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57-63</a:t>
              </a:r>
            </a:p>
          </p:txBody>
        </p:sp>
      </p:grpSp>
      <p:grpSp>
        <p:nvGrpSpPr>
          <p:cNvPr name="Group 34" id="34"/>
          <p:cNvGrpSpPr/>
          <p:nvPr/>
        </p:nvGrpSpPr>
        <p:grpSpPr>
          <a:xfrm rot="0">
            <a:off x="1028700" y="7481681"/>
            <a:ext cx="16230600" cy="692785"/>
            <a:chOff x="0" y="0"/>
            <a:chExt cx="21640800" cy="923713"/>
          </a:xfrm>
        </p:grpSpPr>
        <p:sp>
          <p:nvSpPr>
            <p:cNvPr name="TextBox 35" id="35"/>
            <p:cNvSpPr txBox="true"/>
            <p:nvPr/>
          </p:nvSpPr>
          <p:spPr>
            <a:xfrm rot="0">
              <a:off x="18815368" y="-57150"/>
              <a:ext cx="2825432" cy="6667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C</a:t>
              </a:r>
              <a:r>
                <a:rPr lang="en-US" sz="3000" spc="-30">
                  <a:solidFill>
                    <a:srgbClr val="FFFFFF"/>
                  </a:solidFill>
                  <a:latin typeface="Helvetica World"/>
                  <a:ea typeface="Helvetica World"/>
                  <a:cs typeface="Helvetica World"/>
                  <a:sym typeface="Helvetica World"/>
                </a:rPr>
                <a:t>onclusion</a:t>
              </a:r>
            </a:p>
          </p:txBody>
        </p:sp>
        <p:sp>
          <p:nvSpPr>
            <p:cNvPr name="TextBox 36" id="36"/>
            <p:cNvSpPr txBox="true"/>
            <p:nvPr/>
          </p:nvSpPr>
          <p:spPr>
            <a:xfrm rot="0">
              <a:off x="15045870" y="581025"/>
              <a:ext cx="6594930" cy="342688"/>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Future of the Project</a:t>
              </a:r>
            </a:p>
          </p:txBody>
        </p:sp>
        <p:sp>
          <p:nvSpPr>
            <p:cNvPr name="TextBox 37" id="37"/>
            <p:cNvSpPr txBox="true"/>
            <p:nvPr/>
          </p:nvSpPr>
          <p:spPr>
            <a:xfrm rot="0">
              <a:off x="0" y="99907"/>
              <a:ext cx="1873890" cy="666750"/>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64-68</a:t>
              </a:r>
            </a:p>
          </p:txBody>
        </p:sp>
      </p:grpSp>
      <p:sp>
        <p:nvSpPr>
          <p:cNvPr name="AutoShape 38" id="38"/>
          <p:cNvSpPr/>
          <p:nvPr/>
        </p:nvSpPr>
        <p:spPr>
          <a:xfrm flipH="true">
            <a:off x="1028700" y="4817848"/>
            <a:ext cx="16230600" cy="0"/>
          </a:xfrm>
          <a:prstGeom prst="line">
            <a:avLst/>
          </a:prstGeom>
          <a:ln cap="rnd" w="19050">
            <a:solidFill>
              <a:srgbClr val="FFFFFF">
                <a:alpha val="29804"/>
              </a:srgbClr>
            </a:solidFill>
            <a:prstDash val="sysDash"/>
            <a:headEnd type="none" len="sm" w="sm"/>
            <a:tailEnd type="none" len="sm" w="sm"/>
          </a:ln>
        </p:spPr>
      </p:sp>
      <p:grpSp>
        <p:nvGrpSpPr>
          <p:cNvPr name="Group 39" id="39"/>
          <p:cNvGrpSpPr/>
          <p:nvPr/>
        </p:nvGrpSpPr>
        <p:grpSpPr>
          <a:xfrm rot="0">
            <a:off x="1028700" y="8343741"/>
            <a:ext cx="16230600" cy="466725"/>
            <a:chOff x="0" y="0"/>
            <a:chExt cx="21640800" cy="622300"/>
          </a:xfrm>
        </p:grpSpPr>
        <p:sp>
          <p:nvSpPr>
            <p:cNvPr name="TextBox 40" id="40"/>
            <p:cNvSpPr txBox="true"/>
            <p:nvPr/>
          </p:nvSpPr>
          <p:spPr>
            <a:xfrm rot="0">
              <a:off x="0" y="-57150"/>
              <a:ext cx="2700734"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Works Cited</a:t>
              </a:r>
            </a:p>
          </p:txBody>
        </p:sp>
        <p:sp>
          <p:nvSpPr>
            <p:cNvPr name="TextBox 41" id="41"/>
            <p:cNvSpPr txBox="true"/>
            <p:nvPr/>
          </p:nvSpPr>
          <p:spPr>
            <a:xfrm rot="0">
              <a:off x="20193198" y="-44450"/>
              <a:ext cx="1447602" cy="666750"/>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70</a:t>
              </a:r>
            </a:p>
          </p:txBody>
        </p:sp>
      </p:grpSp>
      <p:sp>
        <p:nvSpPr>
          <p:cNvPr name="AutoShape 42" id="42"/>
          <p:cNvSpPr/>
          <p:nvPr/>
        </p:nvSpPr>
        <p:spPr>
          <a:xfrm flipH="true">
            <a:off x="1028700" y="2253957"/>
            <a:ext cx="16230600" cy="0"/>
          </a:xfrm>
          <a:prstGeom prst="line">
            <a:avLst/>
          </a:prstGeom>
          <a:ln cap="rnd" w="19050">
            <a:solidFill>
              <a:srgbClr val="FFFFFF">
                <a:alpha val="29804"/>
              </a:srgbClr>
            </a:solidFill>
            <a:prstDash val="sysDash"/>
            <a:headEnd type="none" len="sm" w="sm"/>
            <a:tailEnd type="none" len="sm" w="sm"/>
          </a:ln>
        </p:spPr>
      </p:sp>
      <p:grpSp>
        <p:nvGrpSpPr>
          <p:cNvPr name="Group 43" id="43"/>
          <p:cNvGrpSpPr/>
          <p:nvPr/>
        </p:nvGrpSpPr>
        <p:grpSpPr>
          <a:xfrm rot="0">
            <a:off x="1028700" y="9258300"/>
            <a:ext cx="16230600" cy="301625"/>
            <a:chOff x="0" y="0"/>
            <a:chExt cx="21640800" cy="402167"/>
          </a:xfrm>
        </p:grpSpPr>
        <p:sp>
          <p:nvSpPr>
            <p:cNvPr name="TextBox 44" id="4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Table of Contents</a:t>
              </a:r>
            </a:p>
          </p:txBody>
        </p:sp>
        <p:sp>
          <p:nvSpPr>
            <p:cNvPr name="TextBox 45" id="4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5" id="5"/>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6" id="6"/>
          <p:cNvSpPr txBox="true"/>
          <p:nvPr/>
        </p:nvSpPr>
        <p:spPr>
          <a:xfrm rot="0">
            <a:off x="1028700" y="4282440"/>
            <a:ext cx="16230600" cy="2046923"/>
          </a:xfrm>
          <a:prstGeom prst="rect">
            <a:avLst/>
          </a:prstGeom>
        </p:spPr>
        <p:txBody>
          <a:bodyPr anchor="t" rtlCol="false" tIns="0" lIns="0" bIns="0" rIns="0">
            <a:spAutoFit/>
          </a:bodyPr>
          <a:lstStyle/>
          <a:p>
            <a:pPr algn="ctr">
              <a:lnSpc>
                <a:spcPts val="5040"/>
              </a:lnSpc>
            </a:pPr>
            <a:r>
              <a:rPr lang="en-US" sz="3600" i="true" spc="-53">
                <a:solidFill>
                  <a:srgbClr val="FFFFFF"/>
                </a:solidFill>
                <a:latin typeface="Helvetica World Italics"/>
                <a:ea typeface="Helvetica World Italics"/>
                <a:cs typeface="Helvetica World Italics"/>
                <a:sym typeface="Helvetica World Italics"/>
              </a:rPr>
              <a:t>“The brand shifts from 'fastest and cheapest' toward trusted infrastructure for responsible convenience</a:t>
            </a:r>
          </a:p>
          <a:p>
            <a:pPr algn="ctr">
              <a:lnSpc>
                <a:spcPts val="5040"/>
              </a:lnSpc>
              <a:spcBef>
                <a:spcPct val="0"/>
              </a:spcBef>
            </a:pPr>
            <a:r>
              <a:rPr lang="en-US" sz="3600" i="true" spc="-53">
                <a:solidFill>
                  <a:srgbClr val="FFFFFF"/>
                </a:solidFill>
                <a:latin typeface="Helvetica World Italics"/>
                <a:ea typeface="Helvetica World Italics"/>
                <a:cs typeface="Helvetica World Italics"/>
                <a:sym typeface="Helvetica World Italics"/>
              </a:rPr>
              <a:t>—where convenience is delivered with accountability.”</a:t>
            </a:r>
          </a:p>
        </p:txBody>
      </p:sp>
      <p:sp>
        <p:nvSpPr>
          <p:cNvPr name="TextBox 7" id="7"/>
          <p:cNvSpPr txBox="true"/>
          <p:nvPr/>
        </p:nvSpPr>
        <p:spPr>
          <a:xfrm rot="0">
            <a:off x="1895185" y="8742363"/>
            <a:ext cx="14497630" cy="339725"/>
          </a:xfrm>
          <a:prstGeom prst="rect">
            <a:avLst/>
          </a:prstGeom>
        </p:spPr>
        <p:txBody>
          <a:bodyPr anchor="t" rtlCol="false" tIns="0" lIns="0" bIns="0" rIns="0">
            <a:spAutoFit/>
          </a:bodyPr>
          <a:lstStyle/>
          <a:p>
            <a:pPr algn="ctr">
              <a:lnSpc>
                <a:spcPts val="2800"/>
              </a:lnSpc>
              <a:spcBef>
                <a:spcPct val="0"/>
              </a:spcBef>
            </a:pPr>
            <a:r>
              <a:rPr lang="en-US" sz="2000" spc="-30">
                <a:solidFill>
                  <a:srgbClr val="FFFFFF">
                    <a:alpha val="49804"/>
                  </a:srgbClr>
                </a:solidFill>
                <a:latin typeface="Helvetica World"/>
                <a:ea typeface="Helvetica World"/>
                <a:cs typeface="Helvetica World"/>
                <a:sym typeface="Helvetica World"/>
              </a:rPr>
              <a:t>Possible Solution  — Amazon Design Audit I, 2026.2</a:t>
            </a:r>
          </a:p>
        </p:txBody>
      </p:sp>
      <p:sp>
        <p:nvSpPr>
          <p:cNvPr name="TextBox 8" id="8"/>
          <p:cNvSpPr txBox="true"/>
          <p:nvPr/>
        </p:nvSpPr>
        <p:spPr>
          <a:xfrm rot="0">
            <a:off x="12894637" y="990600"/>
            <a:ext cx="436466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 Strong Signal - Service Connectivity</a:t>
            </a:r>
          </a:p>
        </p:txBody>
      </p:sp>
      <p:sp>
        <p:nvSpPr>
          <p:cNvPr name="TextBox 9" id="9"/>
          <p:cNvSpPr txBox="true"/>
          <p:nvPr/>
        </p:nvSpPr>
        <p:spPr>
          <a:xfrm rot="0">
            <a:off x="1028700" y="990600"/>
            <a:ext cx="175937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Audit 1 Findings</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03</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75937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Audit 1 Findings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6" id="6"/>
          <p:cNvGrpSpPr/>
          <p:nvPr/>
        </p:nvGrpSpPr>
        <p:grpSpPr>
          <a:xfrm rot="0">
            <a:off x="1028700" y="3968902"/>
            <a:ext cx="7128634" cy="4122420"/>
            <a:chOff x="0" y="0"/>
            <a:chExt cx="9504846" cy="5496560"/>
          </a:xfrm>
        </p:grpSpPr>
        <p:sp>
          <p:nvSpPr>
            <p:cNvPr name="TextBox 7" id="7"/>
            <p:cNvSpPr txBox="true"/>
            <p:nvPr/>
          </p:nvSpPr>
          <p:spPr>
            <a:xfrm rot="0">
              <a:off x="0" y="-76200"/>
              <a:ext cx="9504846" cy="924560"/>
            </a:xfrm>
            <a:prstGeom prst="rect">
              <a:avLst/>
            </a:prstGeom>
          </p:spPr>
          <p:txBody>
            <a:bodyPr anchor="t" rtlCol="false" tIns="0" lIns="0" bIns="0" rIns="0">
              <a:spAutoFit/>
            </a:bodyPr>
            <a:lstStyle/>
            <a:p>
              <a:pPr algn="l">
                <a:lnSpc>
                  <a:spcPts val="5880"/>
                </a:lnSpc>
              </a:pPr>
              <a:r>
                <a:rPr lang="en-US" sz="4200" spc="-42">
                  <a:solidFill>
                    <a:srgbClr val="FFFFFF">
                      <a:alpha val="49804"/>
                    </a:srgbClr>
                  </a:solidFill>
                  <a:latin typeface="Helvetica World"/>
                  <a:ea typeface="Helvetica World"/>
                  <a:cs typeface="Helvetica World"/>
                  <a:sym typeface="Helvetica World"/>
                </a:rPr>
                <a:t>Audit 1: Problem Identification</a:t>
              </a:r>
            </a:p>
          </p:txBody>
        </p:sp>
        <p:sp>
          <p:nvSpPr>
            <p:cNvPr name="TextBox 8" id="8"/>
            <p:cNvSpPr txBox="true"/>
            <p:nvPr/>
          </p:nvSpPr>
          <p:spPr>
            <a:xfrm rot="0">
              <a:off x="0" y="2166620"/>
              <a:ext cx="9504846" cy="3329940"/>
            </a:xfrm>
            <a:prstGeom prst="rect">
              <a:avLst/>
            </a:prstGeom>
          </p:spPr>
          <p:txBody>
            <a:bodyPr anchor="t" rtlCol="false" tIns="0" lIns="0" bIns="0" rIns="0">
              <a:spAutoFit/>
            </a:bodyPr>
            <a:lstStyle/>
            <a:p>
              <a:pPr algn="l">
                <a:lnSpc>
                  <a:spcPts val="2520"/>
                </a:lnSpc>
              </a:pPr>
              <a:r>
                <a:rPr lang="en-US" sz="1800" spc="-26">
                  <a:solidFill>
                    <a:srgbClr val="FFFFFF">
                      <a:alpha val="49804"/>
                    </a:srgbClr>
                  </a:solidFill>
                  <a:latin typeface="Helvetica World"/>
                  <a:ea typeface="Helvetica World"/>
                  <a:cs typeface="Helvetica World"/>
                  <a:sym typeface="Helvetica World"/>
                </a:rPr>
                <a:t>The Cos</a:t>
              </a:r>
              <a:r>
                <a:rPr lang="en-US" sz="1800" spc="-26">
                  <a:solidFill>
                    <a:srgbClr val="FFFFFF">
                      <a:alpha val="49804"/>
                    </a:srgbClr>
                  </a:solidFill>
                  <a:latin typeface="Helvetica World"/>
                  <a:ea typeface="Helvetica World"/>
                  <a:cs typeface="Helvetica World"/>
                  <a:sym typeface="Helvetica World"/>
                </a:rPr>
                <a:t>t of Frictionless Shopping: We found that Amazon's "1-Click" convenience triggers impulsive overconsumption.</a:t>
              </a:r>
            </a:p>
            <a:p>
              <a:pPr algn="l">
                <a:lnSpc>
                  <a:spcPts val="2520"/>
                </a:lnSpc>
              </a:pPr>
            </a:p>
            <a:p>
              <a:pPr algn="l">
                <a:lnSpc>
                  <a:spcPts val="2520"/>
                </a:lnSpc>
              </a:pPr>
              <a:r>
                <a:rPr lang="en-US" sz="1800" spc="-26">
                  <a:solidFill>
                    <a:srgbClr val="FFFFFF">
                      <a:alpha val="49804"/>
                    </a:srgbClr>
                  </a:solidFill>
                  <a:latin typeface="Helvetica World"/>
                  <a:ea typeface="Helvetica World"/>
                  <a:cs typeface="Helvetica World"/>
                  <a:sym typeface="Helvetica World"/>
                </a:rPr>
                <a:t>Systemic Inefficiency: Hyper-fast delivery (SDG 12, 13) has led to excessive packaging waste and carbon footprints.</a:t>
              </a:r>
            </a:p>
            <a:p>
              <a:pPr algn="l">
                <a:lnSpc>
                  <a:spcPts val="2520"/>
                </a:lnSpc>
              </a:pPr>
            </a:p>
            <a:p>
              <a:pPr algn="l">
                <a:lnSpc>
                  <a:spcPts val="2520"/>
                </a:lnSpc>
              </a:pPr>
              <a:r>
                <a:rPr lang="en-US" sz="1800" spc="-26">
                  <a:solidFill>
                    <a:srgbClr val="FFFFFF">
                      <a:alpha val="49804"/>
                    </a:srgbClr>
                  </a:solidFill>
                  <a:latin typeface="Helvetica World"/>
                  <a:ea typeface="Helvetica World"/>
                  <a:cs typeface="Helvetica World"/>
                  <a:sym typeface="Helvetica World"/>
                </a:rPr>
                <a:t>The Structural Gap: The existing model fails to manage the inherent risks of producing physical goods without verified demand.</a:t>
              </a:r>
            </a:p>
          </p:txBody>
        </p:sp>
      </p:grpSp>
      <p:grpSp>
        <p:nvGrpSpPr>
          <p:cNvPr name="Group 9" id="9"/>
          <p:cNvGrpSpPr/>
          <p:nvPr/>
        </p:nvGrpSpPr>
        <p:grpSpPr>
          <a:xfrm rot="0">
            <a:off x="10021116" y="3968902"/>
            <a:ext cx="7238184" cy="4436745"/>
            <a:chOff x="0" y="0"/>
            <a:chExt cx="9650912" cy="5915660"/>
          </a:xfrm>
        </p:grpSpPr>
        <p:sp>
          <p:nvSpPr>
            <p:cNvPr name="TextBox 10" id="10"/>
            <p:cNvSpPr txBox="true"/>
            <p:nvPr/>
          </p:nvSpPr>
          <p:spPr>
            <a:xfrm rot="0">
              <a:off x="0" y="-76200"/>
              <a:ext cx="9650912" cy="924560"/>
            </a:xfrm>
            <a:prstGeom prst="rect">
              <a:avLst/>
            </a:prstGeom>
          </p:spPr>
          <p:txBody>
            <a:bodyPr anchor="t" rtlCol="false" tIns="0" lIns="0" bIns="0" rIns="0">
              <a:spAutoFit/>
            </a:bodyPr>
            <a:lstStyle/>
            <a:p>
              <a:pPr algn="l">
                <a:lnSpc>
                  <a:spcPts val="5880"/>
                </a:lnSpc>
              </a:pPr>
              <a:r>
                <a:rPr lang="en-US" sz="4200" spc="-42">
                  <a:solidFill>
                    <a:srgbClr val="FFFFFF"/>
                  </a:solidFill>
                  <a:latin typeface="Helvetica World"/>
                  <a:ea typeface="Helvetica World"/>
                  <a:cs typeface="Helvetica World"/>
                  <a:sym typeface="Helvetica World"/>
                </a:rPr>
                <a:t>Audit 2: Strategic Evolution</a:t>
              </a:r>
            </a:p>
          </p:txBody>
        </p:sp>
        <p:sp>
          <p:nvSpPr>
            <p:cNvPr name="TextBox 11" id="11"/>
            <p:cNvSpPr txBox="true"/>
            <p:nvPr/>
          </p:nvSpPr>
          <p:spPr>
            <a:xfrm rot="0">
              <a:off x="0" y="2166620"/>
              <a:ext cx="9504846" cy="3749040"/>
            </a:xfrm>
            <a:prstGeom prst="rect">
              <a:avLst/>
            </a:prstGeom>
          </p:spPr>
          <p:txBody>
            <a:bodyPr anchor="t" rtlCol="false" tIns="0" lIns="0" bIns="0" rIns="0">
              <a:spAutoFit/>
            </a:bodyPr>
            <a:lstStyle/>
            <a:p>
              <a:pPr algn="l">
                <a:lnSpc>
                  <a:spcPts val="2520"/>
                </a:lnSpc>
              </a:pPr>
              <a:r>
                <a:rPr lang="en-US" sz="1800" spc="-26">
                  <a:solidFill>
                    <a:srgbClr val="FFFFFF"/>
                  </a:solidFill>
                  <a:latin typeface="Helvetica World"/>
                  <a:ea typeface="Helvetica World"/>
                  <a:cs typeface="Helvetica World"/>
                  <a:sym typeface="Helvetica World"/>
                </a:rPr>
                <a:t>From Reac</a:t>
              </a:r>
              <a:r>
                <a:rPr lang="en-US" sz="1800" spc="-26">
                  <a:solidFill>
                    <a:srgbClr val="FFFFFF"/>
                  </a:solidFill>
                  <a:latin typeface="Helvetica World"/>
                  <a:ea typeface="Helvetica World"/>
                  <a:cs typeface="Helvetica World"/>
                  <a:sym typeface="Helvetica World"/>
                </a:rPr>
                <a:t>tive to Proactive: Transitioning from managing "Post-Purchase Waste" to a model of "Responsible Convenience".</a:t>
              </a:r>
            </a:p>
            <a:p>
              <a:pPr algn="l">
                <a:lnSpc>
                  <a:spcPts val="2520"/>
                </a:lnSpc>
              </a:pPr>
            </a:p>
            <a:p>
              <a:pPr algn="l">
                <a:lnSpc>
                  <a:spcPts val="2520"/>
                </a:lnSpc>
              </a:pPr>
              <a:r>
                <a:rPr lang="en-US" sz="1800" spc="-26">
                  <a:solidFill>
                    <a:srgbClr val="FFFFFF"/>
                  </a:solidFill>
                  <a:latin typeface="Helvetica World"/>
                  <a:ea typeface="Helvetica World"/>
                  <a:cs typeface="Helvetica World"/>
                  <a:sym typeface="Helvetica World"/>
                </a:rPr>
                <a:t>Intelligence-Driven Production: Leveraging Amelia &amp; Rufus 2.0 to manifest only what is truly needed, eliminating overproduction at the source.</a:t>
              </a:r>
            </a:p>
            <a:p>
              <a:pPr algn="l">
                <a:lnSpc>
                  <a:spcPts val="2520"/>
                </a:lnSpc>
              </a:pPr>
            </a:p>
            <a:p>
              <a:pPr algn="l">
                <a:lnSpc>
                  <a:spcPts val="2520"/>
                </a:lnSpc>
              </a:pPr>
              <a:r>
                <a:rPr lang="en-US" sz="1800" spc="-26">
                  <a:solidFill>
                    <a:srgbClr val="FFFFFF"/>
                  </a:solidFill>
                  <a:latin typeface="Helvetica World"/>
                  <a:ea typeface="Helvetica World"/>
                  <a:cs typeface="Helvetica World"/>
                  <a:sym typeface="Helvetica World"/>
                </a:rPr>
                <a:t>The Verified Demand Model: Shifting from a traditional retailer to a Demand-Pull Intelligence Hub that synchronizes production with confirmed intent.</a:t>
              </a:r>
            </a:p>
          </p:txBody>
        </p:sp>
      </p:grpSp>
      <p:sp>
        <p:nvSpPr>
          <p:cNvPr name="AutoShape 12" id="12"/>
          <p:cNvSpPr/>
          <p:nvPr/>
        </p:nvSpPr>
        <p:spPr>
          <a:xfrm flipH="true">
            <a:off x="1028700" y="5143500"/>
            <a:ext cx="16230600" cy="0"/>
          </a:xfrm>
          <a:prstGeom prst="line">
            <a:avLst/>
          </a:prstGeom>
          <a:ln cap="rnd" w="19050">
            <a:solidFill>
              <a:srgbClr val="FFFFFF">
                <a:alpha val="49804"/>
              </a:srgbClr>
            </a:solidFill>
            <a:prstDash val="sysDash"/>
            <a:headEnd type="none" len="sm" w="sm"/>
            <a:tailEnd type="none" len="sm" w="sm"/>
          </a:ln>
        </p:spPr>
      </p:sp>
      <p:sp>
        <p:nvSpPr>
          <p:cNvPr name="TextBox 13" id="13"/>
          <p:cNvSpPr txBox="true"/>
          <p:nvPr/>
        </p:nvSpPr>
        <p:spPr>
          <a:xfrm rot="0">
            <a:off x="15403488" y="990600"/>
            <a:ext cx="185581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Project Overview</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6" id="1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565785"/>
            <a:ext cx="16230600" cy="8229600"/>
            <a:chOff x="0" y="0"/>
            <a:chExt cx="21640800" cy="10972800"/>
          </a:xfrm>
        </p:grpSpPr>
        <p:sp>
          <p:nvSpPr>
            <p:cNvPr name="TextBox 3" id="3"/>
            <p:cNvSpPr txBox="true"/>
            <p:nvPr/>
          </p:nvSpPr>
          <p:spPr>
            <a:xfrm rot="0">
              <a:off x="0" y="2173182"/>
              <a:ext cx="9034412"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E-Commerce</a:t>
              </a:r>
            </a:p>
          </p:txBody>
        </p:sp>
        <p:sp>
          <p:nvSpPr>
            <p:cNvPr name="TextBox 4" id="4"/>
            <p:cNvSpPr txBox="true"/>
            <p:nvPr/>
          </p:nvSpPr>
          <p:spPr>
            <a:xfrm rot="0">
              <a:off x="7262918" y="-1038225"/>
              <a:ext cx="14377882" cy="12011025"/>
            </a:xfrm>
            <a:prstGeom prst="rect">
              <a:avLst/>
            </a:prstGeom>
          </p:spPr>
          <p:txBody>
            <a:bodyPr anchor="t" rtlCol="false" tIns="0" lIns="0" bIns="0" rIns="0">
              <a:spAutoFit/>
            </a:bodyPr>
            <a:lstStyle/>
            <a:p>
              <a:pPr algn="r">
                <a:lnSpc>
                  <a:spcPts val="75600"/>
                </a:lnSpc>
              </a:pPr>
              <a:r>
                <a:rPr lang="en-US" sz="54000" spc="-2700">
                  <a:solidFill>
                    <a:srgbClr val="FFFFFF"/>
                  </a:solidFill>
                  <a:latin typeface="Helvetica World"/>
                  <a:ea typeface="Helvetica World"/>
                  <a:cs typeface="Helvetica World"/>
                  <a:sym typeface="Helvetica World"/>
                </a:rPr>
                <a:t>82</a:t>
              </a:r>
            </a:p>
          </p:txBody>
        </p:sp>
        <p:sp>
          <p:nvSpPr>
            <p:cNvPr name="TextBox 5" id="5"/>
            <p:cNvSpPr txBox="true"/>
            <p:nvPr/>
          </p:nvSpPr>
          <p:spPr>
            <a:xfrm rot="0">
              <a:off x="12606388" y="8145569"/>
              <a:ext cx="9034412" cy="2827231"/>
            </a:xfrm>
            <a:prstGeom prst="rect">
              <a:avLst/>
            </a:prstGeom>
          </p:spPr>
          <p:txBody>
            <a:bodyPr anchor="t" rtlCol="false" tIns="0" lIns="0" bIns="0" rIns="0">
              <a:spAutoFit/>
            </a:bodyPr>
            <a:lstStyle/>
            <a:p>
              <a:pPr algn="r">
                <a:lnSpc>
                  <a:spcPts val="17920"/>
                </a:lnSpc>
              </a:pPr>
              <a:r>
                <a:rPr lang="en-US" sz="12800" spc="-128">
                  <a:solidFill>
                    <a:srgbClr val="FFFFFF"/>
                  </a:solidFill>
                  <a:latin typeface="Helvetica World"/>
                  <a:ea typeface="Helvetica World"/>
                  <a:cs typeface="Helvetica World"/>
                  <a:sym typeface="Helvetica World"/>
                </a:rPr>
                <a:t>%</a:t>
              </a:r>
            </a:p>
          </p:txBody>
        </p:sp>
      </p:gr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9" id="9"/>
          <p:cNvSpPr/>
          <p:nvPr/>
        </p:nvSpPr>
        <p:spPr>
          <a:xfrm flipH="false" flipV="false" rot="0">
            <a:off x="1028700" y="5143500"/>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10" id="10"/>
          <p:cNvSpPr txBox="true"/>
          <p:nvPr/>
        </p:nvSpPr>
        <p:spPr>
          <a:xfrm rot="0">
            <a:off x="1028700" y="990600"/>
            <a:ext cx="175937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Audit 1 Findings</a:t>
            </a:r>
          </a:p>
        </p:txBody>
      </p:sp>
      <p:sp>
        <p:nvSpPr>
          <p:cNvPr name="TextBox 11" id="11"/>
          <p:cNvSpPr txBox="true"/>
          <p:nvPr/>
        </p:nvSpPr>
        <p:spPr>
          <a:xfrm rot="0">
            <a:off x="15795724" y="990600"/>
            <a:ext cx="146357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E-Commerce</a:t>
            </a:r>
          </a:p>
        </p:txBody>
      </p:sp>
      <p:sp>
        <p:nvSpPr>
          <p:cNvPr name="TextBox 12" id="12"/>
          <p:cNvSpPr txBox="true"/>
          <p:nvPr/>
        </p:nvSpPr>
        <p:spPr>
          <a:xfrm rot="0">
            <a:off x="10483491" y="8437245"/>
            <a:ext cx="6775809" cy="821055"/>
          </a:xfrm>
          <a:prstGeom prst="rect">
            <a:avLst/>
          </a:prstGeom>
        </p:spPr>
        <p:txBody>
          <a:bodyPr anchor="t" rtlCol="false" tIns="0" lIns="0" bIns="0" rIns="0">
            <a:spAutoFit/>
          </a:bodyPr>
          <a:lstStyle/>
          <a:p>
            <a:pPr algn="r">
              <a:lnSpc>
                <a:spcPts val="6719"/>
              </a:lnSpc>
            </a:pPr>
            <a:r>
              <a:rPr lang="en-US" sz="4800" spc="-48">
                <a:solidFill>
                  <a:srgbClr val="FFFFFF">
                    <a:alpha val="49804"/>
                  </a:srgbClr>
                </a:solidFill>
                <a:latin typeface="Helvetica World"/>
                <a:ea typeface="Helvetica World"/>
                <a:cs typeface="Helvetica World"/>
                <a:sym typeface="Helvetica World"/>
              </a:rPr>
              <a:t>of total revenue</a:t>
            </a:r>
          </a:p>
        </p:txBody>
      </p:sp>
      <p:sp>
        <p:nvSpPr>
          <p:cNvPr name="TextBox 13" id="13"/>
          <p:cNvSpPr txBox="true"/>
          <p:nvPr/>
        </p:nvSpPr>
        <p:spPr>
          <a:xfrm rot="0">
            <a:off x="1028700" y="5572443"/>
            <a:ext cx="8115300" cy="1397000"/>
          </a:xfrm>
          <a:prstGeom prst="rect">
            <a:avLst/>
          </a:prstGeom>
        </p:spPr>
        <p:txBody>
          <a:bodyPr anchor="t" rtlCol="false" tIns="0" lIns="0" bIns="0" rIns="0">
            <a:spAutoFit/>
          </a:bodyPr>
          <a:lstStyle/>
          <a:p>
            <a:pPr algn="l">
              <a:lnSpc>
                <a:spcPts val="2800"/>
              </a:lnSpc>
              <a:spcBef>
                <a:spcPct val="0"/>
              </a:spcBef>
            </a:pPr>
            <a:r>
              <a:rPr lang="en-US" sz="2000" spc="-30">
                <a:solidFill>
                  <a:srgbClr val="FFFFFF"/>
                </a:solidFill>
                <a:latin typeface="Helvetica World"/>
                <a:ea typeface="Helvetica World"/>
                <a:cs typeface="Helvetica World"/>
                <a:sym typeface="Helvetica World"/>
              </a:rPr>
              <a:t>This proje</a:t>
            </a:r>
            <a:r>
              <a:rPr lang="en-US" sz="2000" spc="-30">
                <a:solidFill>
                  <a:srgbClr val="FFFFFF"/>
                </a:solidFill>
                <a:latin typeface="Helvetica World"/>
                <a:ea typeface="Helvetica World"/>
                <a:cs typeface="Helvetica World"/>
                <a:sym typeface="Helvetica World"/>
              </a:rPr>
              <a:t>ct focuses on a market value analysis of Amazon's e-commerce business, its primary revenue driver. The scope includes an evaluation of Amazon's current business model, identification of strong signals (near-term model proposals), and weak signals (future-oriented model proposals)</a:t>
            </a:r>
          </a:p>
        </p:txBody>
      </p:sp>
      <p:sp>
        <p:nvSpPr>
          <p:cNvPr name="TextBox 14" id="14"/>
          <p:cNvSpPr txBox="true"/>
          <p:nvPr/>
        </p:nvSpPr>
        <p:spPr>
          <a:xfrm rot="0">
            <a:off x="1028700" y="9017635"/>
            <a:ext cx="7973759" cy="240665"/>
          </a:xfrm>
          <a:prstGeom prst="rect">
            <a:avLst/>
          </a:prstGeom>
        </p:spPr>
        <p:txBody>
          <a:bodyPr anchor="t" rtlCol="false" tIns="0" lIns="0" bIns="0" rIns="0">
            <a:spAutoFit/>
          </a:bodyPr>
          <a:lstStyle/>
          <a:p>
            <a:pPr algn="l">
              <a:lnSpc>
                <a:spcPts val="1960"/>
              </a:lnSpc>
              <a:spcBef>
                <a:spcPct val="0"/>
              </a:spcBef>
            </a:pPr>
            <a:r>
              <a:rPr lang="en-US" sz="1400" spc="-21">
                <a:solidFill>
                  <a:srgbClr val="FFFFFF">
                    <a:alpha val="49804"/>
                  </a:srgbClr>
                </a:solidFill>
                <a:latin typeface="Helvetica World"/>
                <a:ea typeface="Helvetica World"/>
                <a:cs typeface="Helvetica World"/>
                <a:sym typeface="Helvetica World"/>
              </a:rPr>
              <a:t>Source: https://www.demandsage.com/amazon-statistics/</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7" id="1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05</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2378435"/>
            <a:ext cx="16230600" cy="2056158"/>
            <a:chOff x="0" y="0"/>
            <a:chExt cx="21640800" cy="2741544"/>
          </a:xfrm>
        </p:grpSpPr>
        <p:sp>
          <p:nvSpPr>
            <p:cNvPr name="TextBox 3" id="3"/>
            <p:cNvSpPr txBox="true"/>
            <p:nvPr/>
          </p:nvSpPr>
          <p:spPr>
            <a:xfrm rot="0">
              <a:off x="0" y="2074794"/>
              <a:ext cx="1791295"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[Priority]</a:t>
              </a:r>
            </a:p>
          </p:txBody>
        </p:sp>
        <p:sp>
          <p:nvSpPr>
            <p:cNvPr name="TextBox 4" id="4"/>
            <p:cNvSpPr txBox="true"/>
            <p:nvPr/>
          </p:nvSpPr>
          <p:spPr>
            <a:xfrm rot="0">
              <a:off x="0" y="713566"/>
              <a:ext cx="9034412"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User Experience</a:t>
              </a:r>
            </a:p>
          </p:txBody>
        </p:sp>
        <p:sp>
          <p:nvSpPr>
            <p:cNvPr name="TextBox 5" id="5"/>
            <p:cNvSpPr txBox="true"/>
            <p:nvPr/>
          </p:nvSpPr>
          <p:spPr>
            <a:xfrm rot="0">
              <a:off x="15493504" y="713566"/>
              <a:ext cx="6147296"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B2C Solution</a:t>
              </a:r>
            </a:p>
          </p:txBody>
        </p:sp>
        <p:sp>
          <p:nvSpPr>
            <p:cNvPr name="TextBox 6" id="6"/>
            <p:cNvSpPr txBox="true"/>
            <p:nvPr/>
          </p:nvSpPr>
          <p:spPr>
            <a:xfrm rot="0">
              <a:off x="17883088" y="2074794"/>
              <a:ext cx="3757712"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[Service Context]</a:t>
              </a:r>
            </a:p>
          </p:txBody>
        </p:sp>
        <p:sp>
          <p:nvSpPr>
            <p:cNvPr name="TextBox 7" id="7"/>
            <p:cNvSpPr txBox="true"/>
            <p:nvPr/>
          </p:nvSpPr>
          <p:spPr>
            <a:xfrm rot="0">
              <a:off x="0" y="-76200"/>
              <a:ext cx="1892146" cy="924560"/>
            </a:xfrm>
            <a:prstGeom prst="rect">
              <a:avLst/>
            </a:prstGeom>
          </p:spPr>
          <p:txBody>
            <a:bodyPr anchor="t" rtlCol="false" tIns="0" lIns="0" bIns="0" rIns="0">
              <a:spAutoFit/>
            </a:bodyPr>
            <a:lstStyle/>
            <a:p>
              <a:pPr algn="l">
                <a:lnSpc>
                  <a:spcPts val="5880"/>
                </a:lnSpc>
              </a:pPr>
              <a:r>
                <a:rPr lang="en-US" sz="4200" spc="-42">
                  <a:solidFill>
                    <a:srgbClr val="FFFFFF">
                      <a:alpha val="49804"/>
                    </a:srgbClr>
                  </a:solidFill>
                  <a:latin typeface="Helvetica World"/>
                  <a:ea typeface="Helvetica World"/>
                  <a:cs typeface="Helvetica World"/>
                  <a:sym typeface="Helvetica World"/>
                </a:rPr>
                <a:t>Rufus</a:t>
              </a:r>
            </a:p>
          </p:txBody>
        </p:sp>
      </p:grpSp>
      <p:sp>
        <p:nvSpPr>
          <p:cNvPr name="TextBox 8" id="8"/>
          <p:cNvSpPr txBox="true"/>
          <p:nvPr/>
        </p:nvSpPr>
        <p:spPr>
          <a:xfrm rot="0">
            <a:off x="1028700" y="990600"/>
            <a:ext cx="1604293"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a:t>
            </a:r>
          </a:p>
        </p:txBody>
      </p:sp>
      <p:grpSp>
        <p:nvGrpSpPr>
          <p:cNvPr name="Group 9" id="9"/>
          <p:cNvGrpSpPr/>
          <p:nvPr/>
        </p:nvGrpSpPr>
        <p:grpSpPr>
          <a:xfrm rot="0">
            <a:off x="1028700" y="727075"/>
            <a:ext cx="16230600" cy="301625"/>
            <a:chOff x="0" y="0"/>
            <a:chExt cx="21640800" cy="402167"/>
          </a:xfrm>
        </p:grpSpPr>
        <p:sp>
          <p:nvSpPr>
            <p:cNvPr name="TextBox 10" id="1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1" id="1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12" id="12"/>
          <p:cNvGrpSpPr/>
          <p:nvPr/>
        </p:nvGrpSpPr>
        <p:grpSpPr>
          <a:xfrm rot="0">
            <a:off x="990600" y="5844180"/>
            <a:ext cx="16268700" cy="2064385"/>
            <a:chOff x="0" y="0"/>
            <a:chExt cx="21691600" cy="2752513"/>
          </a:xfrm>
        </p:grpSpPr>
        <p:sp>
          <p:nvSpPr>
            <p:cNvPr name="TextBox 13" id="13"/>
            <p:cNvSpPr txBox="true"/>
            <p:nvPr/>
          </p:nvSpPr>
          <p:spPr>
            <a:xfrm rot="0">
              <a:off x="50800" y="2085763"/>
              <a:ext cx="1791295"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[Priority]</a:t>
              </a:r>
            </a:p>
          </p:txBody>
        </p:sp>
        <p:sp>
          <p:nvSpPr>
            <p:cNvPr name="TextBox 14" id="14"/>
            <p:cNvSpPr txBox="true"/>
            <p:nvPr/>
          </p:nvSpPr>
          <p:spPr>
            <a:xfrm rot="0">
              <a:off x="0" y="724535"/>
              <a:ext cx="9034412"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Seller Assistant</a:t>
              </a:r>
            </a:p>
          </p:txBody>
        </p:sp>
        <p:sp>
          <p:nvSpPr>
            <p:cNvPr name="TextBox 15" id="15"/>
            <p:cNvSpPr txBox="true"/>
            <p:nvPr/>
          </p:nvSpPr>
          <p:spPr>
            <a:xfrm rot="0">
              <a:off x="15544304" y="724535"/>
              <a:ext cx="6147296"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B2B Solution</a:t>
              </a:r>
            </a:p>
          </p:txBody>
        </p:sp>
        <p:sp>
          <p:nvSpPr>
            <p:cNvPr name="TextBox 16" id="16"/>
            <p:cNvSpPr txBox="true"/>
            <p:nvPr/>
          </p:nvSpPr>
          <p:spPr>
            <a:xfrm rot="0">
              <a:off x="17933888" y="2085763"/>
              <a:ext cx="3757712"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[Service Context]</a:t>
              </a:r>
            </a:p>
          </p:txBody>
        </p:sp>
        <p:sp>
          <p:nvSpPr>
            <p:cNvPr name="TextBox 17" id="17"/>
            <p:cNvSpPr txBox="true"/>
            <p:nvPr/>
          </p:nvSpPr>
          <p:spPr>
            <a:xfrm rot="0">
              <a:off x="50800" y="-76200"/>
              <a:ext cx="2223749" cy="924560"/>
            </a:xfrm>
            <a:prstGeom prst="rect">
              <a:avLst/>
            </a:prstGeom>
          </p:spPr>
          <p:txBody>
            <a:bodyPr anchor="t" rtlCol="false" tIns="0" lIns="0" bIns="0" rIns="0">
              <a:spAutoFit/>
            </a:bodyPr>
            <a:lstStyle/>
            <a:p>
              <a:pPr algn="l">
                <a:lnSpc>
                  <a:spcPts val="5880"/>
                </a:lnSpc>
              </a:pPr>
              <a:r>
                <a:rPr lang="en-US" sz="4200" spc="-42">
                  <a:solidFill>
                    <a:srgbClr val="FFFFFF">
                      <a:alpha val="49804"/>
                    </a:srgbClr>
                  </a:solidFill>
                  <a:latin typeface="Helvetica World"/>
                  <a:ea typeface="Helvetica World"/>
                  <a:cs typeface="Helvetica World"/>
                  <a:sym typeface="Helvetica World"/>
                </a:rPr>
                <a:t>Amelia</a:t>
              </a:r>
            </a:p>
          </p:txBody>
        </p:sp>
      </p:grpSp>
      <p:sp>
        <p:nvSpPr>
          <p:cNvPr name="AutoShape 18" id="18"/>
          <p:cNvSpPr/>
          <p:nvPr/>
        </p:nvSpPr>
        <p:spPr>
          <a:xfrm flipH="true">
            <a:off x="1028700" y="5143500"/>
            <a:ext cx="16230600" cy="0"/>
          </a:xfrm>
          <a:prstGeom prst="line">
            <a:avLst/>
          </a:prstGeom>
          <a:ln cap="rnd" w="19050">
            <a:solidFill>
              <a:srgbClr val="FFFFFF">
                <a:alpha val="49804"/>
              </a:srgbClr>
            </a:solidFill>
            <a:prstDash val="sysDash"/>
            <a:headEnd type="none" len="sm" w="sm"/>
            <a:tailEnd type="none" len="sm" w="sm"/>
          </a:ln>
        </p:spPr>
      </p:sp>
      <p:sp>
        <p:nvSpPr>
          <p:cNvPr name="TextBox 19" id="19"/>
          <p:cNvSpPr txBox="true"/>
          <p:nvPr/>
        </p:nvSpPr>
        <p:spPr>
          <a:xfrm rot="0">
            <a:off x="15795724" y="990600"/>
            <a:ext cx="146357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E-Commerce</a:t>
            </a:r>
          </a:p>
        </p:txBody>
      </p:sp>
      <p:grpSp>
        <p:nvGrpSpPr>
          <p:cNvPr name="Group 20" id="20"/>
          <p:cNvGrpSpPr/>
          <p:nvPr/>
        </p:nvGrpSpPr>
        <p:grpSpPr>
          <a:xfrm rot="0">
            <a:off x="1028700" y="9258300"/>
            <a:ext cx="16230600" cy="301625"/>
            <a:chOff x="0" y="0"/>
            <a:chExt cx="21640800" cy="402167"/>
          </a:xfrm>
        </p:grpSpPr>
        <p:sp>
          <p:nvSpPr>
            <p:cNvPr name="TextBox 21" id="2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2" id="2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5" id="5"/>
          <p:cNvSpPr/>
          <p:nvPr/>
        </p:nvSpPr>
        <p:spPr>
          <a:xfrm flipH="false" flipV="false" rot="0">
            <a:off x="1028700" y="5143500"/>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grpSp>
        <p:nvGrpSpPr>
          <p:cNvPr name="Group 6" id="6"/>
          <p:cNvGrpSpPr/>
          <p:nvPr/>
        </p:nvGrpSpPr>
        <p:grpSpPr>
          <a:xfrm rot="0">
            <a:off x="1028700" y="4115421"/>
            <a:ext cx="16230600" cy="2056158"/>
            <a:chOff x="0" y="0"/>
            <a:chExt cx="21640800" cy="2741544"/>
          </a:xfrm>
        </p:grpSpPr>
        <p:sp>
          <p:nvSpPr>
            <p:cNvPr name="TextBox 7" id="7"/>
            <p:cNvSpPr txBox="true"/>
            <p:nvPr/>
          </p:nvSpPr>
          <p:spPr>
            <a:xfrm rot="0">
              <a:off x="0" y="2074794"/>
              <a:ext cx="1791295"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[Priority]</a:t>
              </a:r>
            </a:p>
          </p:txBody>
        </p:sp>
        <p:sp>
          <p:nvSpPr>
            <p:cNvPr name="TextBox 8" id="8"/>
            <p:cNvSpPr txBox="true"/>
            <p:nvPr/>
          </p:nvSpPr>
          <p:spPr>
            <a:xfrm rot="0">
              <a:off x="0" y="713566"/>
              <a:ext cx="9034412"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User Experience</a:t>
              </a:r>
            </a:p>
          </p:txBody>
        </p:sp>
        <p:sp>
          <p:nvSpPr>
            <p:cNvPr name="TextBox 9" id="9"/>
            <p:cNvSpPr txBox="true"/>
            <p:nvPr/>
          </p:nvSpPr>
          <p:spPr>
            <a:xfrm rot="0">
              <a:off x="15493504" y="713566"/>
              <a:ext cx="6147296"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B2C Solution</a:t>
              </a:r>
            </a:p>
          </p:txBody>
        </p:sp>
        <p:sp>
          <p:nvSpPr>
            <p:cNvPr name="TextBox 10" id="10"/>
            <p:cNvSpPr txBox="true"/>
            <p:nvPr/>
          </p:nvSpPr>
          <p:spPr>
            <a:xfrm rot="0">
              <a:off x="17883088" y="2074794"/>
              <a:ext cx="3757712"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[Service Context]</a:t>
              </a:r>
            </a:p>
          </p:txBody>
        </p:sp>
        <p:sp>
          <p:nvSpPr>
            <p:cNvPr name="TextBox 11" id="11"/>
            <p:cNvSpPr txBox="true"/>
            <p:nvPr/>
          </p:nvSpPr>
          <p:spPr>
            <a:xfrm rot="0">
              <a:off x="0" y="-76200"/>
              <a:ext cx="1892146" cy="924560"/>
            </a:xfrm>
            <a:prstGeom prst="rect">
              <a:avLst/>
            </a:prstGeom>
          </p:spPr>
          <p:txBody>
            <a:bodyPr anchor="t" rtlCol="false" tIns="0" lIns="0" bIns="0" rIns="0">
              <a:spAutoFit/>
            </a:bodyPr>
            <a:lstStyle/>
            <a:p>
              <a:pPr algn="l">
                <a:lnSpc>
                  <a:spcPts val="5880"/>
                </a:lnSpc>
              </a:pPr>
              <a:r>
                <a:rPr lang="en-US" sz="4200" spc="-42">
                  <a:solidFill>
                    <a:srgbClr val="FFFFFF">
                      <a:alpha val="49804"/>
                    </a:srgbClr>
                  </a:solidFill>
                  <a:latin typeface="Helvetica World"/>
                  <a:ea typeface="Helvetica World"/>
                  <a:cs typeface="Helvetica World"/>
                  <a:sym typeface="Helvetica World"/>
                </a:rPr>
                <a:t>Rufus</a:t>
              </a:r>
            </a:p>
          </p:txBody>
        </p:sp>
      </p:grpSp>
      <p:sp>
        <p:nvSpPr>
          <p:cNvPr name="TextBox 12" id="12"/>
          <p:cNvSpPr txBox="true"/>
          <p:nvPr/>
        </p:nvSpPr>
        <p:spPr>
          <a:xfrm rot="0">
            <a:off x="1028700" y="990600"/>
            <a:ext cx="1786235"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 </a:t>
            </a:r>
          </a:p>
        </p:txBody>
      </p:sp>
      <p:sp>
        <p:nvSpPr>
          <p:cNvPr name="TextBox 13" id="13"/>
          <p:cNvSpPr txBox="true"/>
          <p:nvPr/>
        </p:nvSpPr>
        <p:spPr>
          <a:xfrm rot="0">
            <a:off x="16771293" y="990600"/>
            <a:ext cx="48800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B2C</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6" id="1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122997"/>
            <a:ext cx="3901941" cy="8302003"/>
          </a:xfrm>
          <a:custGeom>
            <a:avLst/>
            <a:gdLst/>
            <a:ahLst/>
            <a:cxnLst/>
            <a:rect r="r" b="b" t="t" l="l"/>
            <a:pathLst>
              <a:path h="8302003" w="3901941">
                <a:moveTo>
                  <a:pt x="0" y="0"/>
                </a:moveTo>
                <a:lnTo>
                  <a:pt x="3901941" y="0"/>
                </a:lnTo>
                <a:lnTo>
                  <a:pt x="3901941" y="8302004"/>
                </a:lnTo>
                <a:lnTo>
                  <a:pt x="0" y="8302004"/>
                </a:lnTo>
                <a:lnTo>
                  <a:pt x="0" y="0"/>
                </a:lnTo>
                <a:close/>
              </a:path>
            </a:pathLst>
          </a:custGeom>
          <a:blipFill>
            <a:blip r:embed="rId2"/>
            <a:stretch>
              <a:fillRect l="-99999" t="0" r="0" b="0"/>
            </a:stretch>
          </a:blipFill>
        </p:spPr>
      </p:sp>
      <p:sp>
        <p:nvSpPr>
          <p:cNvPr name="Freeform 3" id="3"/>
          <p:cNvSpPr/>
          <p:nvPr/>
        </p:nvSpPr>
        <p:spPr>
          <a:xfrm flipH="false" flipV="false" rot="0">
            <a:off x="13357359" y="1122997"/>
            <a:ext cx="3901941" cy="8302003"/>
          </a:xfrm>
          <a:custGeom>
            <a:avLst/>
            <a:gdLst/>
            <a:ahLst/>
            <a:cxnLst/>
            <a:rect r="r" b="b" t="t" l="l"/>
            <a:pathLst>
              <a:path h="8302003" w="3901941">
                <a:moveTo>
                  <a:pt x="0" y="0"/>
                </a:moveTo>
                <a:lnTo>
                  <a:pt x="3901941" y="0"/>
                </a:lnTo>
                <a:lnTo>
                  <a:pt x="3901941" y="8302004"/>
                </a:lnTo>
                <a:lnTo>
                  <a:pt x="0" y="8302004"/>
                </a:lnTo>
                <a:lnTo>
                  <a:pt x="0" y="0"/>
                </a:lnTo>
                <a:close/>
              </a:path>
            </a:pathLst>
          </a:custGeom>
          <a:blipFill>
            <a:blip r:embed="rId3"/>
            <a:stretch>
              <a:fillRect l="0" t="0" r="-99999" b="0"/>
            </a:stretch>
          </a:blipFill>
        </p:spPr>
      </p:sp>
      <p:sp>
        <p:nvSpPr>
          <p:cNvPr name="Freeform 4" id="4"/>
          <p:cNvSpPr/>
          <p:nvPr/>
        </p:nvSpPr>
        <p:spPr>
          <a:xfrm flipH="false" flipV="false" rot="0">
            <a:off x="5242059" y="1122997"/>
            <a:ext cx="7803883" cy="8302003"/>
          </a:xfrm>
          <a:custGeom>
            <a:avLst/>
            <a:gdLst/>
            <a:ahLst/>
            <a:cxnLst/>
            <a:rect r="r" b="b" t="t" l="l"/>
            <a:pathLst>
              <a:path h="8302003" w="7803883">
                <a:moveTo>
                  <a:pt x="0" y="0"/>
                </a:moveTo>
                <a:lnTo>
                  <a:pt x="7803882" y="0"/>
                </a:lnTo>
                <a:lnTo>
                  <a:pt x="7803882" y="8302004"/>
                </a:lnTo>
                <a:lnTo>
                  <a:pt x="0" y="8302004"/>
                </a:lnTo>
                <a:lnTo>
                  <a:pt x="0" y="0"/>
                </a:lnTo>
                <a:close/>
              </a:path>
            </a:pathLst>
          </a:custGeom>
          <a:blipFill>
            <a:blip r:embed="rId4"/>
            <a:stretch>
              <a:fillRect l="0" t="0" r="0" b="0"/>
            </a:stretch>
          </a:blipFill>
        </p:spPr>
      </p:sp>
      <p:sp>
        <p:nvSpPr>
          <p:cNvPr name="TextBox 5" id="5"/>
          <p:cNvSpPr txBox="true"/>
          <p:nvPr/>
        </p:nvSpPr>
        <p:spPr>
          <a:xfrm rot="0">
            <a:off x="1028700" y="8918575"/>
            <a:ext cx="2809875" cy="306705"/>
          </a:xfrm>
          <a:prstGeom prst="rect">
            <a:avLst/>
          </a:prstGeom>
        </p:spPr>
        <p:txBody>
          <a:bodyPr anchor="t" rtlCol="false" tIns="0" lIns="0" bIns="0" rIns="0">
            <a:spAutoFit/>
          </a:bodyPr>
          <a:lstStyle/>
          <a:p>
            <a:pPr algn="l">
              <a:lnSpc>
                <a:spcPts val="2520"/>
              </a:lnSpc>
            </a:pPr>
            <a:r>
              <a:rPr lang="en-US" sz="1800" spc="-18">
                <a:solidFill>
                  <a:srgbClr val="FFFFFF"/>
                </a:solidFill>
                <a:latin typeface="Helvetica World"/>
                <a:ea typeface="Helvetica World"/>
                <a:cs typeface="Helvetica World"/>
                <a:sym typeface="Helvetica World"/>
              </a:rPr>
              <a:t>Fulfillment by Amazon (FBA)</a:t>
            </a:r>
          </a:p>
        </p:txBody>
      </p:sp>
      <p:sp>
        <p:nvSpPr>
          <p:cNvPr name="TextBox 6" id="6"/>
          <p:cNvSpPr txBox="true"/>
          <p:nvPr/>
        </p:nvSpPr>
        <p:spPr>
          <a:xfrm rot="0">
            <a:off x="13016805" y="8918575"/>
            <a:ext cx="4242495" cy="306705"/>
          </a:xfrm>
          <a:prstGeom prst="rect">
            <a:avLst/>
          </a:prstGeom>
        </p:spPr>
        <p:txBody>
          <a:bodyPr anchor="t" rtlCol="false" tIns="0" lIns="0" bIns="0" rIns="0">
            <a:spAutoFit/>
          </a:bodyPr>
          <a:lstStyle/>
          <a:p>
            <a:pPr algn="l">
              <a:lnSpc>
                <a:spcPts val="2520"/>
              </a:lnSpc>
            </a:pPr>
            <a:r>
              <a:rPr lang="en-US" sz="1800" spc="-18">
                <a:solidFill>
                  <a:srgbClr val="FFFFFF"/>
                </a:solidFill>
                <a:latin typeface="Helvetica World"/>
                <a:ea typeface="Helvetica World"/>
                <a:cs typeface="Helvetica World"/>
                <a:sym typeface="Helvetica World"/>
              </a:rPr>
              <a:t>Amazon Pay &amp; Buy Now, Pay Later (BNPL)</a:t>
            </a:r>
          </a:p>
        </p:txBody>
      </p:sp>
      <p:sp>
        <p:nvSpPr>
          <p:cNvPr name="TextBox 7" id="7"/>
          <p:cNvSpPr txBox="true"/>
          <p:nvPr/>
        </p:nvSpPr>
        <p:spPr>
          <a:xfrm rot="0">
            <a:off x="7577137" y="8918575"/>
            <a:ext cx="3133725" cy="306705"/>
          </a:xfrm>
          <a:prstGeom prst="rect">
            <a:avLst/>
          </a:prstGeom>
        </p:spPr>
        <p:txBody>
          <a:bodyPr anchor="t" rtlCol="false" tIns="0" lIns="0" bIns="0" rIns="0">
            <a:spAutoFit/>
          </a:bodyPr>
          <a:lstStyle/>
          <a:p>
            <a:pPr algn="l">
              <a:lnSpc>
                <a:spcPts val="2520"/>
              </a:lnSpc>
            </a:pPr>
            <a:r>
              <a:rPr lang="en-US" sz="1800" spc="-18">
                <a:solidFill>
                  <a:srgbClr val="FFFFFF"/>
                </a:solidFill>
                <a:latin typeface="Helvetica World"/>
                <a:ea typeface="Helvetica World"/>
                <a:cs typeface="Helvetica World"/>
                <a:sym typeface="Helvetica World"/>
              </a:rPr>
              <a:t> R</a:t>
            </a:r>
            <a:r>
              <a:rPr lang="en-US" sz="1800" spc="-18">
                <a:solidFill>
                  <a:srgbClr val="FFFFFF"/>
                </a:solidFill>
                <a:latin typeface="Helvetica World"/>
                <a:ea typeface="Helvetica World"/>
                <a:cs typeface="Helvetica World"/>
                <a:sym typeface="Helvetica World"/>
              </a:rPr>
              <a:t>ufus — AI Shopping Assistant</a:t>
            </a:r>
          </a:p>
        </p:txBody>
      </p:sp>
      <p:grpSp>
        <p:nvGrpSpPr>
          <p:cNvPr name="Group 8" id="8"/>
          <p:cNvGrpSpPr/>
          <p:nvPr/>
        </p:nvGrpSpPr>
        <p:grpSpPr>
          <a:xfrm rot="0">
            <a:off x="1028700" y="727075"/>
            <a:ext cx="16230600" cy="301625"/>
            <a:chOff x="0" y="0"/>
            <a:chExt cx="21640800" cy="402167"/>
          </a:xfrm>
        </p:grpSpPr>
        <p:sp>
          <p:nvSpPr>
            <p:cNvPr name="TextBox 9" id="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1" id="11"/>
          <p:cNvSpPr txBox="true"/>
          <p:nvPr/>
        </p:nvSpPr>
        <p:spPr>
          <a:xfrm rot="0">
            <a:off x="16771293" y="990600"/>
            <a:ext cx="48800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B2C</a:t>
            </a:r>
          </a:p>
        </p:txBody>
      </p:sp>
      <p:grpSp>
        <p:nvGrpSpPr>
          <p:cNvPr name="Group 12" id="12"/>
          <p:cNvGrpSpPr/>
          <p:nvPr/>
        </p:nvGrpSpPr>
        <p:grpSpPr>
          <a:xfrm rot="0">
            <a:off x="5095113" y="1463533"/>
            <a:ext cx="8163142" cy="7359934"/>
            <a:chOff x="0" y="0"/>
            <a:chExt cx="10884190" cy="9813245"/>
          </a:xfrm>
        </p:grpSpPr>
        <p:sp>
          <p:nvSpPr>
            <p:cNvPr name="AutoShape 13" id="13"/>
            <p:cNvSpPr/>
            <p:nvPr/>
          </p:nvSpPr>
          <p:spPr>
            <a:xfrm>
              <a:off x="12700" y="0"/>
              <a:ext cx="0" cy="9813245"/>
            </a:xfrm>
            <a:prstGeom prst="line">
              <a:avLst/>
            </a:prstGeom>
            <a:ln cap="rnd" w="25400">
              <a:solidFill>
                <a:srgbClr val="FFFFFF">
                  <a:alpha val="49804"/>
                </a:srgbClr>
              </a:solidFill>
              <a:prstDash val="sysDash"/>
              <a:headEnd type="none" len="sm" w="sm"/>
              <a:tailEnd type="none" len="sm" w="sm"/>
            </a:ln>
          </p:spPr>
        </p:sp>
        <p:sp>
          <p:nvSpPr>
            <p:cNvPr name="AutoShape 14" id="14"/>
            <p:cNvSpPr/>
            <p:nvPr/>
          </p:nvSpPr>
          <p:spPr>
            <a:xfrm>
              <a:off x="10871490" y="0"/>
              <a:ext cx="0" cy="9813245"/>
            </a:xfrm>
            <a:prstGeom prst="line">
              <a:avLst/>
            </a:prstGeom>
            <a:ln cap="rnd" w="25400">
              <a:solidFill>
                <a:srgbClr val="FFFFFF">
                  <a:alpha val="49804"/>
                </a:srgbClr>
              </a:solidFill>
              <a:prstDash val="sysDash"/>
              <a:headEnd type="none" len="sm" w="sm"/>
              <a:tailEnd type="none" len="sm" w="sm"/>
            </a:ln>
          </p:spPr>
        </p:sp>
      </p:grpSp>
      <p:grpSp>
        <p:nvGrpSpPr>
          <p:cNvPr name="Group 15" id="15"/>
          <p:cNvGrpSpPr/>
          <p:nvPr/>
        </p:nvGrpSpPr>
        <p:grpSpPr>
          <a:xfrm rot="0">
            <a:off x="1028700" y="1463533"/>
            <a:ext cx="16249650" cy="7359934"/>
            <a:chOff x="0" y="0"/>
            <a:chExt cx="21666200" cy="9813245"/>
          </a:xfrm>
        </p:grpSpPr>
        <p:sp>
          <p:nvSpPr>
            <p:cNvPr name="AutoShape 16" id="16"/>
            <p:cNvSpPr/>
            <p:nvPr/>
          </p:nvSpPr>
          <p:spPr>
            <a:xfrm>
              <a:off x="12700" y="0"/>
              <a:ext cx="0" cy="9813245"/>
            </a:xfrm>
            <a:prstGeom prst="line">
              <a:avLst/>
            </a:prstGeom>
            <a:ln cap="rnd" w="25400">
              <a:solidFill>
                <a:srgbClr val="FFFFFF">
                  <a:alpha val="49804"/>
                </a:srgbClr>
              </a:solidFill>
              <a:prstDash val="sysDash"/>
              <a:headEnd type="none" len="sm" w="sm"/>
              <a:tailEnd type="none" len="sm" w="sm"/>
            </a:ln>
          </p:spPr>
        </p:sp>
        <p:sp>
          <p:nvSpPr>
            <p:cNvPr name="AutoShape 17" id="17"/>
            <p:cNvSpPr/>
            <p:nvPr/>
          </p:nvSpPr>
          <p:spPr>
            <a:xfrm>
              <a:off x="21653500" y="0"/>
              <a:ext cx="0" cy="9813245"/>
            </a:xfrm>
            <a:prstGeom prst="line">
              <a:avLst/>
            </a:prstGeom>
            <a:ln cap="rnd" w="25400">
              <a:solidFill>
                <a:srgbClr val="FFFFFF">
                  <a:alpha val="49804"/>
                </a:srgbClr>
              </a:solidFill>
              <a:prstDash val="sysDash"/>
              <a:headEnd type="none" len="sm" w="sm"/>
              <a:tailEnd type="none" len="sm" w="sm"/>
            </a:ln>
          </p:spPr>
        </p:sp>
      </p:grpSp>
      <p:sp>
        <p:nvSpPr>
          <p:cNvPr name="TextBox 18" id="18"/>
          <p:cNvSpPr txBox="true"/>
          <p:nvPr/>
        </p:nvSpPr>
        <p:spPr>
          <a:xfrm rot="0">
            <a:off x="1028700" y="990600"/>
            <a:ext cx="1786235"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 </a:t>
            </a:r>
          </a:p>
        </p:txBody>
      </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1122997"/>
            <a:ext cx="16249650" cy="8302003"/>
            <a:chOff x="0" y="0"/>
            <a:chExt cx="21666200" cy="11069337"/>
          </a:xfrm>
        </p:grpSpPr>
        <p:sp>
          <p:nvSpPr>
            <p:cNvPr name="Freeform 3" id="3"/>
            <p:cNvSpPr/>
            <p:nvPr/>
          </p:nvSpPr>
          <p:spPr>
            <a:xfrm flipH="false" flipV="false" rot="0">
              <a:off x="0" y="0"/>
              <a:ext cx="5202589" cy="11069337"/>
            </a:xfrm>
            <a:custGeom>
              <a:avLst/>
              <a:gdLst/>
              <a:ahLst/>
              <a:cxnLst/>
              <a:rect r="r" b="b" t="t" l="l"/>
              <a:pathLst>
                <a:path h="11069337" w="5202589">
                  <a:moveTo>
                    <a:pt x="0" y="0"/>
                  </a:moveTo>
                  <a:lnTo>
                    <a:pt x="5202589" y="0"/>
                  </a:lnTo>
                  <a:lnTo>
                    <a:pt x="5202589" y="11069337"/>
                  </a:lnTo>
                  <a:lnTo>
                    <a:pt x="0" y="11069337"/>
                  </a:lnTo>
                  <a:lnTo>
                    <a:pt x="0" y="0"/>
                  </a:lnTo>
                  <a:close/>
                </a:path>
              </a:pathLst>
            </a:custGeom>
            <a:blipFill>
              <a:blip r:embed="rId2">
                <a:alphaModFix amt="19999"/>
              </a:blip>
              <a:stretch>
                <a:fillRect l="-99999" t="0" r="0" b="0"/>
              </a:stretch>
            </a:blipFill>
          </p:spPr>
        </p:sp>
        <p:sp>
          <p:nvSpPr>
            <p:cNvPr name="Freeform 4" id="4"/>
            <p:cNvSpPr/>
            <p:nvPr/>
          </p:nvSpPr>
          <p:spPr>
            <a:xfrm flipH="false" flipV="false" rot="0">
              <a:off x="16438211" y="0"/>
              <a:ext cx="5202589" cy="11069337"/>
            </a:xfrm>
            <a:custGeom>
              <a:avLst/>
              <a:gdLst/>
              <a:ahLst/>
              <a:cxnLst/>
              <a:rect r="r" b="b" t="t" l="l"/>
              <a:pathLst>
                <a:path h="11069337" w="5202589">
                  <a:moveTo>
                    <a:pt x="0" y="0"/>
                  </a:moveTo>
                  <a:lnTo>
                    <a:pt x="5202589" y="0"/>
                  </a:lnTo>
                  <a:lnTo>
                    <a:pt x="5202589" y="11069337"/>
                  </a:lnTo>
                  <a:lnTo>
                    <a:pt x="0" y="11069337"/>
                  </a:lnTo>
                  <a:lnTo>
                    <a:pt x="0" y="0"/>
                  </a:lnTo>
                  <a:close/>
                </a:path>
              </a:pathLst>
            </a:custGeom>
            <a:blipFill>
              <a:blip r:embed="rId3">
                <a:alphaModFix amt="19999"/>
              </a:blip>
              <a:stretch>
                <a:fillRect l="0" t="0" r="-99999" b="0"/>
              </a:stretch>
            </a:blipFill>
          </p:spPr>
        </p:sp>
        <p:sp>
          <p:nvSpPr>
            <p:cNvPr name="Freeform 5" id="5"/>
            <p:cNvSpPr/>
            <p:nvPr/>
          </p:nvSpPr>
          <p:spPr>
            <a:xfrm flipH="false" flipV="false" rot="0">
              <a:off x="5617811" y="0"/>
              <a:ext cx="10405177" cy="11069337"/>
            </a:xfrm>
            <a:custGeom>
              <a:avLst/>
              <a:gdLst/>
              <a:ahLst/>
              <a:cxnLst/>
              <a:rect r="r" b="b" t="t" l="l"/>
              <a:pathLst>
                <a:path h="11069337" w="10405177">
                  <a:moveTo>
                    <a:pt x="0" y="0"/>
                  </a:moveTo>
                  <a:lnTo>
                    <a:pt x="10405178" y="0"/>
                  </a:lnTo>
                  <a:lnTo>
                    <a:pt x="10405178" y="11069337"/>
                  </a:lnTo>
                  <a:lnTo>
                    <a:pt x="0" y="11069337"/>
                  </a:lnTo>
                  <a:lnTo>
                    <a:pt x="0" y="0"/>
                  </a:lnTo>
                  <a:close/>
                </a:path>
              </a:pathLst>
            </a:custGeom>
            <a:blipFill>
              <a:blip r:embed="rId4"/>
              <a:stretch>
                <a:fillRect l="0" t="0" r="0" b="0"/>
              </a:stretch>
            </a:blipFill>
          </p:spPr>
        </p:sp>
        <p:sp>
          <p:nvSpPr>
            <p:cNvPr name="TextBox 6" id="6"/>
            <p:cNvSpPr txBox="true"/>
            <p:nvPr/>
          </p:nvSpPr>
          <p:spPr>
            <a:xfrm rot="0">
              <a:off x="8731250" y="10406803"/>
              <a:ext cx="4178300" cy="396240"/>
            </a:xfrm>
            <a:prstGeom prst="rect">
              <a:avLst/>
            </a:prstGeom>
          </p:spPr>
          <p:txBody>
            <a:bodyPr anchor="t" rtlCol="false" tIns="0" lIns="0" bIns="0" rIns="0">
              <a:spAutoFit/>
            </a:bodyPr>
            <a:lstStyle/>
            <a:p>
              <a:pPr algn="l">
                <a:lnSpc>
                  <a:spcPts val="2520"/>
                </a:lnSpc>
              </a:pPr>
              <a:r>
                <a:rPr lang="en-US" sz="1800" spc="-18">
                  <a:solidFill>
                    <a:srgbClr val="FFFFFF"/>
                  </a:solidFill>
                  <a:latin typeface="Helvetica World"/>
                  <a:ea typeface="Helvetica World"/>
                  <a:cs typeface="Helvetica World"/>
                  <a:sym typeface="Helvetica World"/>
                </a:rPr>
                <a:t> R</a:t>
              </a:r>
              <a:r>
                <a:rPr lang="en-US" sz="1800" spc="-18">
                  <a:solidFill>
                    <a:srgbClr val="FFFFFF"/>
                  </a:solidFill>
                  <a:latin typeface="Helvetica World"/>
                  <a:ea typeface="Helvetica World"/>
                  <a:cs typeface="Helvetica World"/>
                  <a:sym typeface="Helvetica World"/>
                </a:rPr>
                <a:t>ufus — AI Shopping Assistant</a:t>
              </a:r>
            </a:p>
          </p:txBody>
        </p:sp>
        <p:sp>
          <p:nvSpPr>
            <p:cNvPr name="AutoShape 7" id="7"/>
            <p:cNvSpPr/>
            <p:nvPr/>
          </p:nvSpPr>
          <p:spPr>
            <a:xfrm>
              <a:off x="12700" y="454047"/>
              <a:ext cx="0" cy="9813245"/>
            </a:xfrm>
            <a:prstGeom prst="line">
              <a:avLst/>
            </a:prstGeom>
            <a:ln cap="rnd" w="25400">
              <a:solidFill>
                <a:srgbClr val="FFFFFF">
                  <a:alpha val="49804"/>
                </a:srgbClr>
              </a:solidFill>
              <a:prstDash val="sysDash"/>
              <a:headEnd type="none" len="sm" w="sm"/>
              <a:tailEnd type="none" len="sm" w="sm"/>
            </a:ln>
          </p:spPr>
        </p:sp>
        <p:sp>
          <p:nvSpPr>
            <p:cNvPr name="AutoShape 8" id="8"/>
            <p:cNvSpPr/>
            <p:nvPr/>
          </p:nvSpPr>
          <p:spPr>
            <a:xfrm>
              <a:off x="21653500" y="454047"/>
              <a:ext cx="0" cy="9813245"/>
            </a:xfrm>
            <a:prstGeom prst="line">
              <a:avLst/>
            </a:prstGeom>
            <a:ln cap="rnd" w="25400">
              <a:solidFill>
                <a:srgbClr val="FFFFFF">
                  <a:alpha val="49804"/>
                </a:srgbClr>
              </a:solidFill>
              <a:prstDash val="sysDash"/>
              <a:headEnd type="none" len="sm" w="sm"/>
              <a:tailEnd type="none" len="sm" w="sm"/>
            </a:ln>
          </p:spPr>
        </p:sp>
        <p:sp>
          <p:nvSpPr>
            <p:cNvPr name="AutoShape 9" id="9"/>
            <p:cNvSpPr/>
            <p:nvPr/>
          </p:nvSpPr>
          <p:spPr>
            <a:xfrm flipV="true">
              <a:off x="12700" y="5360670"/>
              <a:ext cx="5193284" cy="0"/>
            </a:xfrm>
            <a:prstGeom prst="line">
              <a:avLst/>
            </a:prstGeom>
            <a:ln cap="rnd" w="25400">
              <a:solidFill>
                <a:srgbClr val="FFFFFF">
                  <a:alpha val="49804"/>
                </a:srgbClr>
              </a:solidFill>
              <a:prstDash val="sysDash"/>
              <a:headEnd type="none" len="sm" w="sm"/>
              <a:tailEnd type="none" len="sm" w="sm"/>
            </a:ln>
          </p:spPr>
        </p:sp>
        <p:sp>
          <p:nvSpPr>
            <p:cNvPr name="AutoShape 10" id="10"/>
            <p:cNvSpPr/>
            <p:nvPr/>
          </p:nvSpPr>
          <p:spPr>
            <a:xfrm flipV="true">
              <a:off x="16460216" y="5360670"/>
              <a:ext cx="5193284" cy="0"/>
            </a:xfrm>
            <a:prstGeom prst="line">
              <a:avLst/>
            </a:prstGeom>
            <a:ln cap="rnd" w="25400">
              <a:solidFill>
                <a:srgbClr val="FFFFFF">
                  <a:alpha val="49804"/>
                </a:srgbClr>
              </a:solidFill>
              <a:prstDash val="sysDash"/>
              <a:headEnd type="none" len="sm" w="sm"/>
              <a:tailEnd type="none" len="sm" w="sm"/>
            </a:ln>
          </p:spPr>
        </p:sp>
      </p:grpSp>
      <p:grpSp>
        <p:nvGrpSpPr>
          <p:cNvPr name="Group 11" id="11"/>
          <p:cNvGrpSpPr/>
          <p:nvPr/>
        </p:nvGrpSpPr>
        <p:grpSpPr>
          <a:xfrm rot="0">
            <a:off x="1028700" y="727075"/>
            <a:ext cx="16230600" cy="301625"/>
            <a:chOff x="0" y="0"/>
            <a:chExt cx="21640800" cy="402167"/>
          </a:xfrm>
        </p:grpSpPr>
        <p:sp>
          <p:nvSpPr>
            <p:cNvPr name="TextBox 12" id="12"/>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3" id="13"/>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4" id="14"/>
          <p:cNvSpPr txBox="true"/>
          <p:nvPr/>
        </p:nvSpPr>
        <p:spPr>
          <a:xfrm rot="0">
            <a:off x="1028700" y="8918575"/>
            <a:ext cx="2809875" cy="306705"/>
          </a:xfrm>
          <a:prstGeom prst="rect">
            <a:avLst/>
          </a:prstGeom>
        </p:spPr>
        <p:txBody>
          <a:bodyPr anchor="t" rtlCol="false" tIns="0" lIns="0" bIns="0" rIns="0">
            <a:spAutoFit/>
          </a:bodyPr>
          <a:lstStyle/>
          <a:p>
            <a:pPr algn="l">
              <a:lnSpc>
                <a:spcPts val="2520"/>
              </a:lnSpc>
            </a:pPr>
            <a:r>
              <a:rPr lang="en-US" sz="1800" spc="-18">
                <a:solidFill>
                  <a:srgbClr val="FFFFFF">
                    <a:alpha val="19608"/>
                  </a:srgbClr>
                </a:solidFill>
                <a:latin typeface="Helvetica World"/>
                <a:ea typeface="Helvetica World"/>
                <a:cs typeface="Helvetica World"/>
                <a:sym typeface="Helvetica World"/>
              </a:rPr>
              <a:t>Fulfillment by Amazon (FBA)</a:t>
            </a:r>
          </a:p>
        </p:txBody>
      </p:sp>
      <p:sp>
        <p:nvSpPr>
          <p:cNvPr name="TextBox 15" id="15"/>
          <p:cNvSpPr txBox="true"/>
          <p:nvPr/>
        </p:nvSpPr>
        <p:spPr>
          <a:xfrm rot="0">
            <a:off x="13016805" y="8918575"/>
            <a:ext cx="4242495" cy="306705"/>
          </a:xfrm>
          <a:prstGeom prst="rect">
            <a:avLst/>
          </a:prstGeom>
        </p:spPr>
        <p:txBody>
          <a:bodyPr anchor="t" rtlCol="false" tIns="0" lIns="0" bIns="0" rIns="0">
            <a:spAutoFit/>
          </a:bodyPr>
          <a:lstStyle/>
          <a:p>
            <a:pPr algn="l">
              <a:lnSpc>
                <a:spcPts val="2520"/>
              </a:lnSpc>
            </a:pPr>
            <a:r>
              <a:rPr lang="en-US" sz="1800" spc="-18">
                <a:solidFill>
                  <a:srgbClr val="FFFFFF">
                    <a:alpha val="19608"/>
                  </a:srgbClr>
                </a:solidFill>
                <a:latin typeface="Helvetica World"/>
                <a:ea typeface="Helvetica World"/>
                <a:cs typeface="Helvetica World"/>
                <a:sym typeface="Helvetica World"/>
              </a:rPr>
              <a:t>Amazon Pay &amp; Buy Now, Pay Later (BNPL)</a:t>
            </a:r>
          </a:p>
        </p:txBody>
      </p:sp>
      <p:sp>
        <p:nvSpPr>
          <p:cNvPr name="TextBox 16" id="16"/>
          <p:cNvSpPr txBox="true"/>
          <p:nvPr/>
        </p:nvSpPr>
        <p:spPr>
          <a:xfrm rot="0">
            <a:off x="15141550" y="990600"/>
            <a:ext cx="2117750"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B2C - Core Service</a:t>
            </a:r>
          </a:p>
        </p:txBody>
      </p:sp>
      <p:sp>
        <p:nvSpPr>
          <p:cNvPr name="TextBox 17" id="17"/>
          <p:cNvSpPr txBox="true"/>
          <p:nvPr/>
        </p:nvSpPr>
        <p:spPr>
          <a:xfrm rot="0">
            <a:off x="1028700" y="990600"/>
            <a:ext cx="1786235"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 </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09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6" id="6"/>
          <p:cNvSpPr txBox="true"/>
          <p:nvPr/>
        </p:nvSpPr>
        <p:spPr>
          <a:xfrm rot="0">
            <a:off x="3328020" y="7426286"/>
            <a:ext cx="13931280" cy="989965"/>
          </a:xfrm>
          <a:prstGeom prst="rect">
            <a:avLst/>
          </a:prstGeom>
        </p:spPr>
        <p:txBody>
          <a:bodyPr anchor="t" rtlCol="false" tIns="0" lIns="0" bIns="0" rIns="0">
            <a:spAutoFit/>
          </a:bodyPr>
          <a:lstStyle/>
          <a:p>
            <a:pPr algn="r">
              <a:lnSpc>
                <a:spcPts val="2659"/>
              </a:lnSpc>
              <a:spcBef>
                <a:spcPct val="0"/>
              </a:spcBef>
            </a:pPr>
            <a:r>
              <a:rPr lang="en-US" sz="1899" spc="-28">
                <a:solidFill>
                  <a:srgbClr val="FFFFFF"/>
                </a:solidFill>
                <a:latin typeface="Helvetica World"/>
                <a:ea typeface="Helvetica World"/>
                <a:cs typeface="Helvetica World"/>
                <a:sym typeface="Helvetica World"/>
              </a:rPr>
              <a:t>Rufus is Amazon's generative AI-powered shopping assistant, first launched in beta in February 2024 and now available to all customers in the United States through the Amazon Shopping app and on Amazon.com. It was designed to act as a knowledgeable shopping companion that helps customers make better, more informed purchasing decisions without ever having to leave Amazon's platform.</a:t>
            </a:r>
          </a:p>
        </p:txBody>
      </p:sp>
      <p:grpSp>
        <p:nvGrpSpPr>
          <p:cNvPr name="Group 7" id="7"/>
          <p:cNvGrpSpPr/>
          <p:nvPr/>
        </p:nvGrpSpPr>
        <p:grpSpPr>
          <a:xfrm rot="0">
            <a:off x="1028700" y="3097581"/>
            <a:ext cx="16230600" cy="3775858"/>
            <a:chOff x="0" y="0"/>
            <a:chExt cx="21640800" cy="5034477"/>
          </a:xfrm>
        </p:grpSpPr>
        <p:sp>
          <p:nvSpPr>
            <p:cNvPr name="TextBox 8" id="8"/>
            <p:cNvSpPr txBox="true"/>
            <p:nvPr/>
          </p:nvSpPr>
          <p:spPr>
            <a:xfrm rot="0">
              <a:off x="7600998" y="1454249"/>
              <a:ext cx="3219402" cy="1062990"/>
            </a:xfrm>
            <a:prstGeom prst="rect">
              <a:avLst/>
            </a:prstGeom>
          </p:spPr>
          <p:txBody>
            <a:bodyPr anchor="t" rtlCol="false" tIns="0" lIns="0" bIns="0" rIns="0">
              <a:spAutoFit/>
            </a:bodyPr>
            <a:lstStyle/>
            <a:p>
              <a:pPr algn="just">
                <a:lnSpc>
                  <a:spcPts val="6719"/>
                </a:lnSpc>
                <a:spcBef>
                  <a:spcPct val="0"/>
                </a:spcBef>
              </a:pPr>
              <a:r>
                <a:rPr lang="en-US" sz="4800" spc="-72">
                  <a:solidFill>
                    <a:srgbClr val="FFFFFF">
                      <a:alpha val="49804"/>
                    </a:srgbClr>
                  </a:solidFill>
                  <a:latin typeface="Helvetica World"/>
                  <a:ea typeface="Helvetica World"/>
                  <a:cs typeface="Helvetica World"/>
                  <a:sym typeface="Helvetica World"/>
                </a:rPr>
                <a:t>Search</a:t>
              </a:r>
            </a:p>
          </p:txBody>
        </p:sp>
        <p:sp>
          <p:nvSpPr>
            <p:cNvPr name="TextBox 9" id="9"/>
            <p:cNvSpPr txBox="true"/>
            <p:nvPr/>
          </p:nvSpPr>
          <p:spPr>
            <a:xfrm rot="0">
              <a:off x="17976472" y="1454249"/>
              <a:ext cx="3664328" cy="1062990"/>
            </a:xfrm>
            <a:prstGeom prst="rect">
              <a:avLst/>
            </a:prstGeom>
          </p:spPr>
          <p:txBody>
            <a:bodyPr anchor="t" rtlCol="false" tIns="0" lIns="0" bIns="0" rIns="0">
              <a:spAutoFit/>
            </a:bodyPr>
            <a:lstStyle/>
            <a:p>
              <a:pPr algn="r">
                <a:lnSpc>
                  <a:spcPts val="6719"/>
                </a:lnSpc>
                <a:spcBef>
                  <a:spcPct val="0"/>
                </a:spcBef>
              </a:pPr>
              <a:r>
                <a:rPr lang="en-US" sz="4800" spc="-72">
                  <a:solidFill>
                    <a:srgbClr val="FFFFFF"/>
                  </a:solidFill>
                  <a:latin typeface="Helvetica World"/>
                  <a:ea typeface="Helvetica World"/>
                  <a:cs typeface="Helvetica World"/>
                  <a:sym typeface="Helvetica World"/>
                </a:rPr>
                <a:t>Prediction</a:t>
              </a:r>
            </a:p>
          </p:txBody>
        </p:sp>
        <p:sp>
          <p:nvSpPr>
            <p:cNvPr name="TextBox 10" id="10"/>
            <p:cNvSpPr txBox="true"/>
            <p:nvPr/>
          </p:nvSpPr>
          <p:spPr>
            <a:xfrm rot="0">
              <a:off x="7600998" y="3151905"/>
              <a:ext cx="3664328" cy="515620"/>
            </a:xfrm>
            <a:prstGeom prst="rect">
              <a:avLst/>
            </a:prstGeom>
          </p:spPr>
          <p:txBody>
            <a:bodyPr anchor="t" rtlCol="false" tIns="0" lIns="0" bIns="0" rIns="0">
              <a:spAutoFit/>
            </a:bodyPr>
            <a:lstStyle/>
            <a:p>
              <a:pPr algn="l">
                <a:lnSpc>
                  <a:spcPts val="3359"/>
                </a:lnSpc>
                <a:spcBef>
                  <a:spcPct val="0"/>
                </a:spcBef>
              </a:pPr>
              <a:r>
                <a:rPr lang="en-US" sz="2400" spc="-36">
                  <a:solidFill>
                    <a:srgbClr val="FFFFFF">
                      <a:alpha val="49804"/>
                    </a:srgbClr>
                  </a:solidFill>
                  <a:latin typeface="Helvetica World"/>
                  <a:ea typeface="Helvetica World"/>
                  <a:cs typeface="Helvetica World"/>
                  <a:sym typeface="Helvetica World"/>
                </a:rPr>
                <a:t>[2026]</a:t>
              </a:r>
            </a:p>
          </p:txBody>
        </p:sp>
        <p:sp>
          <p:nvSpPr>
            <p:cNvPr name="TextBox 11" id="11"/>
            <p:cNvSpPr txBox="true"/>
            <p:nvPr/>
          </p:nvSpPr>
          <p:spPr>
            <a:xfrm rot="0">
              <a:off x="17976472" y="3390665"/>
              <a:ext cx="3664328" cy="515620"/>
            </a:xfrm>
            <a:prstGeom prst="rect">
              <a:avLst/>
            </a:prstGeom>
          </p:spPr>
          <p:txBody>
            <a:bodyPr anchor="t" rtlCol="false" tIns="0" lIns="0" bIns="0" rIns="0">
              <a:spAutoFit/>
            </a:bodyPr>
            <a:lstStyle/>
            <a:p>
              <a:pPr algn="r">
                <a:lnSpc>
                  <a:spcPts val="3359"/>
                </a:lnSpc>
                <a:spcBef>
                  <a:spcPct val="0"/>
                </a:spcBef>
              </a:pPr>
              <a:r>
                <a:rPr lang="en-US" sz="2400" spc="-36">
                  <a:solidFill>
                    <a:srgbClr val="FFFFFF"/>
                  </a:solidFill>
                  <a:latin typeface="Helvetica World"/>
                  <a:ea typeface="Helvetica World"/>
                  <a:cs typeface="Helvetica World"/>
                  <a:sym typeface="Helvetica World"/>
                </a:rPr>
                <a:t>[2030]</a:t>
              </a:r>
            </a:p>
          </p:txBody>
        </p:sp>
        <p:sp>
          <p:nvSpPr>
            <p:cNvPr name="AutoShape 12" id="12"/>
            <p:cNvSpPr/>
            <p:nvPr/>
          </p:nvSpPr>
          <p:spPr>
            <a:xfrm>
              <a:off x="12862011" y="2504539"/>
              <a:ext cx="3072851" cy="0"/>
            </a:xfrm>
            <a:prstGeom prst="line">
              <a:avLst/>
            </a:prstGeom>
            <a:ln cap="flat" w="25400">
              <a:solidFill>
                <a:srgbClr val="FFFFFF"/>
              </a:solidFill>
              <a:prstDash val="sysDash"/>
              <a:headEnd type="none" len="sm" w="sm"/>
              <a:tailEnd type="arrow" len="sm" w="med"/>
            </a:ln>
          </p:spPr>
        </p:sp>
        <p:sp>
          <p:nvSpPr>
            <p:cNvPr name="Freeform 13" id="13"/>
            <p:cNvSpPr/>
            <p:nvPr/>
          </p:nvSpPr>
          <p:spPr>
            <a:xfrm flipH="false" flipV="false" rot="0">
              <a:off x="0" y="0"/>
              <a:ext cx="5488166" cy="5034477"/>
            </a:xfrm>
            <a:custGeom>
              <a:avLst/>
              <a:gdLst/>
              <a:ahLst/>
              <a:cxnLst/>
              <a:rect r="r" b="b" t="t" l="l"/>
              <a:pathLst>
                <a:path h="5034477" w="5488166">
                  <a:moveTo>
                    <a:pt x="0" y="0"/>
                  </a:moveTo>
                  <a:lnTo>
                    <a:pt x="5488166" y="0"/>
                  </a:lnTo>
                  <a:lnTo>
                    <a:pt x="5488166" y="5034477"/>
                  </a:lnTo>
                  <a:lnTo>
                    <a:pt x="0" y="5034477"/>
                  </a:lnTo>
                  <a:lnTo>
                    <a:pt x="0" y="0"/>
                  </a:lnTo>
                  <a:close/>
                </a:path>
              </a:pathLst>
            </a:custGeom>
            <a:blipFill>
              <a:blip r:embed="rId2"/>
              <a:stretch>
                <a:fillRect l="0" t="0" r="0" b="0"/>
              </a:stretch>
            </a:blipFill>
          </p:spPr>
        </p:sp>
      </p:grpSp>
      <p:sp>
        <p:nvSpPr>
          <p:cNvPr name="TextBox 14" id="14"/>
          <p:cNvSpPr txBox="true"/>
          <p:nvPr/>
        </p:nvSpPr>
        <p:spPr>
          <a:xfrm rot="0">
            <a:off x="13919448" y="990600"/>
            <a:ext cx="333985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Future Service Direction (Shift)</a:t>
            </a:r>
          </a:p>
        </p:txBody>
      </p:sp>
      <p:sp>
        <p:nvSpPr>
          <p:cNvPr name="AutoShape 15" id="15"/>
          <p:cNvSpPr/>
          <p:nvPr/>
        </p:nvSpPr>
        <p:spPr>
          <a:xfrm>
            <a:off x="1028700" y="7017260"/>
            <a:ext cx="16230600" cy="0"/>
          </a:xfrm>
          <a:prstGeom prst="line">
            <a:avLst/>
          </a:prstGeom>
          <a:ln cap="rnd" w="19050">
            <a:solidFill>
              <a:srgbClr val="FFFFFF">
                <a:alpha val="49804"/>
              </a:srgbClr>
            </a:solidFill>
            <a:prstDash val="sysDash"/>
            <a:headEnd type="none" len="sm" w="sm"/>
            <a:tailEnd type="none" len="sm" w="sm"/>
          </a:ln>
        </p:spPr>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10</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82775" y="2842577"/>
            <a:ext cx="5919043" cy="712470"/>
          </a:xfrm>
          <a:prstGeom prst="rect">
            <a:avLst/>
          </a:prstGeom>
        </p:spPr>
        <p:txBody>
          <a:bodyPr anchor="t" rtlCol="false" tIns="0" lIns="0" bIns="0" rIns="0">
            <a:spAutoFit/>
          </a:bodyPr>
          <a:lstStyle/>
          <a:p>
            <a:pPr algn="l">
              <a:lnSpc>
                <a:spcPts val="5880"/>
              </a:lnSpc>
            </a:pPr>
            <a:r>
              <a:rPr lang="en-US" sz="4200" spc="-42">
                <a:solidFill>
                  <a:srgbClr val="FFFFFF"/>
                </a:solidFill>
                <a:latin typeface="Helvetica World"/>
                <a:ea typeface="Helvetica World"/>
                <a:cs typeface="Helvetica World"/>
                <a:sym typeface="Helvetica World"/>
              </a:rPr>
              <a:t>Rufus makes it easier to...</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6" id="6"/>
          <p:cNvGrpSpPr/>
          <p:nvPr/>
        </p:nvGrpSpPr>
        <p:grpSpPr>
          <a:xfrm rot="0">
            <a:off x="1028700" y="4838283"/>
            <a:ext cx="16230600" cy="1676241"/>
            <a:chOff x="0" y="0"/>
            <a:chExt cx="21640800" cy="2234988"/>
          </a:xfrm>
        </p:grpSpPr>
        <p:sp>
          <p:nvSpPr>
            <p:cNvPr name="TextBox 7" id="7"/>
            <p:cNvSpPr txBox="true"/>
            <p:nvPr/>
          </p:nvSpPr>
          <p:spPr>
            <a:xfrm rot="0">
              <a:off x="0" y="1153583"/>
              <a:ext cx="4503350"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Ask about prod</a:t>
              </a:r>
              <a:r>
                <a:rPr lang="en-US" sz="1599" spc="-15">
                  <a:solidFill>
                    <a:srgbClr val="FFFFFF">
                      <a:alpha val="69804"/>
                    </a:srgbClr>
                  </a:solidFill>
                  <a:latin typeface="Helvetica World"/>
                  <a:ea typeface="Helvetica World"/>
                  <a:cs typeface="Helvetica World"/>
                  <a:sym typeface="Helvetica World"/>
                </a:rPr>
                <a:t>uct features, compatibility, ingredients, and</a:t>
              </a:r>
            </a:p>
            <a:p>
              <a:pPr algn="l">
                <a:lnSpc>
                  <a:spcPts val="2239"/>
                </a:lnSpc>
              </a:pPr>
              <a:r>
                <a:rPr lang="en-US" sz="1599" spc="-15">
                  <a:solidFill>
                    <a:srgbClr val="FFFFFF">
                      <a:alpha val="69804"/>
                    </a:srgbClr>
                  </a:solidFill>
                  <a:latin typeface="Helvetica World"/>
                  <a:ea typeface="Helvetica World"/>
                  <a:cs typeface="Helvetica World"/>
                  <a:sym typeface="Helvetica World"/>
                </a:rPr>
                <a:t>customer reviews to help you decide.</a:t>
              </a:r>
            </a:p>
          </p:txBody>
        </p:sp>
        <p:sp>
          <p:nvSpPr>
            <p:cNvPr name="TextBox 8" id="8"/>
            <p:cNvSpPr txBox="true"/>
            <p:nvPr/>
          </p:nvSpPr>
          <p:spPr>
            <a:xfrm rot="0">
              <a:off x="0" y="-35983"/>
              <a:ext cx="1941512"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Get Details</a:t>
              </a:r>
            </a:p>
          </p:txBody>
        </p:sp>
        <p:sp>
          <p:nvSpPr>
            <p:cNvPr name="TextBox 9" id="9"/>
            <p:cNvSpPr txBox="true"/>
            <p:nvPr/>
          </p:nvSpPr>
          <p:spPr>
            <a:xfrm rot="0">
              <a:off x="5712483" y="1153583"/>
              <a:ext cx="4503350"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Ask about yo</a:t>
              </a:r>
              <a:r>
                <a:rPr lang="en-US" sz="1599" spc="-15">
                  <a:solidFill>
                    <a:srgbClr val="FFFFFF">
                      <a:alpha val="69804"/>
                    </a:srgbClr>
                  </a:solidFill>
                  <a:latin typeface="Helvetica World"/>
                  <a:ea typeface="Helvetica World"/>
                  <a:cs typeface="Helvetica World"/>
                  <a:sym typeface="Helvetica World"/>
                </a:rPr>
                <a:t>ur new hobby or upcoming adventure, and get expert advice to help you plan.</a:t>
              </a:r>
            </a:p>
          </p:txBody>
        </p:sp>
        <p:sp>
          <p:nvSpPr>
            <p:cNvPr name="TextBox 10" id="10"/>
            <p:cNvSpPr txBox="true"/>
            <p:nvPr/>
          </p:nvSpPr>
          <p:spPr>
            <a:xfrm rot="0">
              <a:off x="5712483" y="-38100"/>
              <a:ext cx="2534444"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Get inspiration</a:t>
              </a:r>
            </a:p>
          </p:txBody>
        </p:sp>
        <p:sp>
          <p:nvSpPr>
            <p:cNvPr name="TextBox 11" id="11"/>
            <p:cNvSpPr txBox="true"/>
            <p:nvPr/>
          </p:nvSpPr>
          <p:spPr>
            <a:xfrm rot="0">
              <a:off x="11424967" y="1153583"/>
              <a:ext cx="4503350"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Ask about yo</a:t>
              </a:r>
              <a:r>
                <a:rPr lang="en-US" sz="1599" spc="-15">
                  <a:solidFill>
                    <a:srgbClr val="FFFFFF">
                      <a:alpha val="69804"/>
                    </a:srgbClr>
                  </a:solidFill>
                  <a:latin typeface="Helvetica World"/>
                  <a:ea typeface="Helvetica World"/>
                  <a:cs typeface="Helvetica World"/>
                  <a:sym typeface="Helvetica World"/>
                </a:rPr>
                <a:t>ur options, discover new products, and get help narrowing down results.</a:t>
              </a:r>
            </a:p>
          </p:txBody>
        </p:sp>
        <p:sp>
          <p:nvSpPr>
            <p:cNvPr name="TextBox 12" id="12"/>
            <p:cNvSpPr txBox="true"/>
            <p:nvPr/>
          </p:nvSpPr>
          <p:spPr>
            <a:xfrm rot="0">
              <a:off x="11424967" y="-35983"/>
              <a:ext cx="2854722"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Get suggestions</a:t>
              </a:r>
            </a:p>
          </p:txBody>
        </p:sp>
        <p:sp>
          <p:nvSpPr>
            <p:cNvPr name="TextBox 13" id="13"/>
            <p:cNvSpPr txBox="true"/>
            <p:nvPr/>
          </p:nvSpPr>
          <p:spPr>
            <a:xfrm rot="0">
              <a:off x="17137450" y="1153583"/>
              <a:ext cx="4503350"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Ask about yo</a:t>
              </a:r>
              <a:r>
                <a:rPr lang="en-US" sz="1599" spc="-15">
                  <a:solidFill>
                    <a:srgbClr val="FFFFFF">
                      <a:alpha val="69804"/>
                    </a:srgbClr>
                  </a:solidFill>
                  <a:latin typeface="Helvetica World"/>
                  <a:ea typeface="Helvetica World"/>
                  <a:cs typeface="Helvetica World"/>
                  <a:sym typeface="Helvetica World"/>
                </a:rPr>
                <a:t>ur orders and connect with customer service whenever you need it.</a:t>
              </a:r>
            </a:p>
          </p:txBody>
        </p:sp>
        <p:sp>
          <p:nvSpPr>
            <p:cNvPr name="TextBox 14" id="14"/>
            <p:cNvSpPr txBox="true"/>
            <p:nvPr/>
          </p:nvSpPr>
          <p:spPr>
            <a:xfrm rot="0">
              <a:off x="17137450" y="-38100"/>
              <a:ext cx="1486396"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Get help</a:t>
              </a:r>
            </a:p>
          </p:txBody>
        </p:sp>
        <p:sp>
          <p:nvSpPr>
            <p:cNvPr name="AutoShape 15" id="15"/>
            <p:cNvSpPr/>
            <p:nvPr/>
          </p:nvSpPr>
          <p:spPr>
            <a:xfrm flipH="true">
              <a:off x="5107917" y="2117"/>
              <a:ext cx="0" cy="2232872"/>
            </a:xfrm>
            <a:prstGeom prst="line">
              <a:avLst/>
            </a:prstGeom>
            <a:ln cap="rnd" w="25400">
              <a:solidFill>
                <a:srgbClr val="FFFFFF">
                  <a:alpha val="49804"/>
                </a:srgbClr>
              </a:solidFill>
              <a:prstDash val="sysDash"/>
              <a:headEnd type="none" len="sm" w="sm"/>
              <a:tailEnd type="none" len="sm" w="sm"/>
            </a:ln>
          </p:spPr>
        </p:sp>
        <p:sp>
          <p:nvSpPr>
            <p:cNvPr name="AutoShape 16" id="16"/>
            <p:cNvSpPr/>
            <p:nvPr/>
          </p:nvSpPr>
          <p:spPr>
            <a:xfrm flipH="true">
              <a:off x="10833100" y="0"/>
              <a:ext cx="0" cy="2232872"/>
            </a:xfrm>
            <a:prstGeom prst="line">
              <a:avLst/>
            </a:prstGeom>
            <a:ln cap="rnd" w="25400">
              <a:solidFill>
                <a:srgbClr val="FFFFFF">
                  <a:alpha val="49804"/>
                </a:srgbClr>
              </a:solidFill>
              <a:prstDash val="sysDash"/>
              <a:headEnd type="none" len="sm" w="sm"/>
              <a:tailEnd type="none" len="sm" w="sm"/>
            </a:ln>
          </p:spPr>
        </p:sp>
        <p:sp>
          <p:nvSpPr>
            <p:cNvPr name="AutoShape 17" id="17"/>
            <p:cNvSpPr/>
            <p:nvPr/>
          </p:nvSpPr>
          <p:spPr>
            <a:xfrm flipH="true">
              <a:off x="16537917" y="0"/>
              <a:ext cx="0" cy="2232872"/>
            </a:xfrm>
            <a:prstGeom prst="line">
              <a:avLst/>
            </a:prstGeom>
            <a:ln cap="rnd" w="25400">
              <a:solidFill>
                <a:srgbClr val="FFFFFF">
                  <a:alpha val="49804"/>
                </a:srgbClr>
              </a:solidFill>
              <a:prstDash val="sysDash"/>
              <a:headEnd type="none" len="sm" w="sm"/>
              <a:tailEnd type="none" len="sm" w="sm"/>
            </a:ln>
          </p:spPr>
        </p:sp>
      </p:grpSp>
      <p:sp>
        <p:nvSpPr>
          <p:cNvPr name="TextBox 18" id="18"/>
          <p:cNvSpPr txBox="true"/>
          <p:nvPr/>
        </p:nvSpPr>
        <p:spPr>
          <a:xfrm rot="0">
            <a:off x="14175581" y="990600"/>
            <a:ext cx="3083719"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Amazon’s Definition of Value</a:t>
            </a:r>
          </a:p>
        </p:txBody>
      </p:sp>
      <p:sp>
        <p:nvSpPr>
          <p:cNvPr name="TextBox 19" id="19"/>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20" id="20"/>
          <p:cNvSpPr txBox="true"/>
          <p:nvPr/>
        </p:nvSpPr>
        <p:spPr>
          <a:xfrm rot="0">
            <a:off x="11286181" y="3102292"/>
            <a:ext cx="5973119" cy="240665"/>
          </a:xfrm>
          <a:prstGeom prst="rect">
            <a:avLst/>
          </a:prstGeom>
        </p:spPr>
        <p:txBody>
          <a:bodyPr anchor="t" rtlCol="false" tIns="0" lIns="0" bIns="0" rIns="0">
            <a:spAutoFit/>
          </a:bodyPr>
          <a:lstStyle/>
          <a:p>
            <a:pPr algn="r">
              <a:lnSpc>
                <a:spcPts val="1960"/>
              </a:lnSpc>
              <a:spcBef>
                <a:spcPct val="0"/>
              </a:spcBef>
            </a:pPr>
            <a:r>
              <a:rPr lang="en-US" sz="1400" spc="-21">
                <a:solidFill>
                  <a:srgbClr val="FFFFFF">
                    <a:alpha val="49804"/>
                  </a:srgbClr>
                </a:solidFill>
                <a:latin typeface="Helvetica World"/>
                <a:ea typeface="Helvetica World"/>
                <a:cs typeface="Helvetica World"/>
                <a:sym typeface="Helvetica World"/>
              </a:rPr>
              <a:t>Source: https://www.amazon.com/Rufus/b?ie=UTF8&amp;node=121214013011</a:t>
            </a:r>
          </a:p>
        </p:txBody>
      </p:sp>
      <p:sp>
        <p:nvSpPr>
          <p:cNvPr name="TextBox 21" id="21"/>
          <p:cNvSpPr txBox="true"/>
          <p:nvPr/>
        </p:nvSpPr>
        <p:spPr>
          <a:xfrm rot="0">
            <a:off x="1028700" y="7759661"/>
            <a:ext cx="16230600" cy="656590"/>
          </a:xfrm>
          <a:prstGeom prst="rect">
            <a:avLst/>
          </a:prstGeom>
        </p:spPr>
        <p:txBody>
          <a:bodyPr anchor="t" rtlCol="false" tIns="0" lIns="0" bIns="0" rIns="0">
            <a:spAutoFit/>
          </a:bodyPr>
          <a:lstStyle/>
          <a:p>
            <a:pPr algn="r">
              <a:lnSpc>
                <a:spcPts val="2659"/>
              </a:lnSpc>
            </a:pPr>
            <a:r>
              <a:rPr lang="en-US" sz="1899" spc="-18">
                <a:solidFill>
                  <a:srgbClr val="FFFFFF"/>
                </a:solidFill>
                <a:latin typeface="Helvetica World"/>
                <a:ea typeface="Helvetica World"/>
                <a:cs typeface="Helvetica World"/>
                <a:sym typeface="Helvetica World"/>
              </a:rPr>
              <a:t>Rufus represents Amazon's strategy to transform the shopping experience by keeping customers within its ecosystem while offering the kind of personalized, research-driven guidance that was once only possible through a human sales assistant.</a:t>
            </a:r>
          </a:p>
        </p:txBody>
      </p:sp>
      <p:grpSp>
        <p:nvGrpSpPr>
          <p:cNvPr name="Group 22" id="22"/>
          <p:cNvGrpSpPr/>
          <p:nvPr/>
        </p:nvGrpSpPr>
        <p:grpSpPr>
          <a:xfrm rot="0">
            <a:off x="1028700" y="9258300"/>
            <a:ext cx="16230600" cy="301625"/>
            <a:chOff x="0" y="0"/>
            <a:chExt cx="21640800" cy="402167"/>
          </a:xfrm>
        </p:grpSpPr>
        <p:sp>
          <p:nvSpPr>
            <p:cNvPr name="TextBox 23" id="2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4" id="2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21075" cy="7380589"/>
          </a:xfrm>
          <a:custGeom>
            <a:avLst/>
            <a:gdLst/>
            <a:ahLst/>
            <a:cxnLst/>
            <a:rect r="r" b="b" t="t" l="l"/>
            <a:pathLst>
              <a:path h="7380589" w="16221075">
                <a:moveTo>
                  <a:pt x="0" y="0"/>
                </a:moveTo>
                <a:lnTo>
                  <a:pt x="16221075" y="0"/>
                </a:lnTo>
                <a:lnTo>
                  <a:pt x="16221075" y="7380589"/>
                </a:lnTo>
                <a:lnTo>
                  <a:pt x="0" y="7380589"/>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sp>
        <p:nvSpPr>
          <p:cNvPr name="TextBox 5" id="5"/>
          <p:cNvSpPr txBox="true"/>
          <p:nvPr/>
        </p:nvSpPr>
        <p:spPr>
          <a:xfrm rot="0">
            <a:off x="1019175" y="8578850"/>
            <a:ext cx="6360170"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Rufus 1.0 - Discovery Branch</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3794641"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Category Recommend parses intent, classifies categories, detects trends and latent needs, then ranks signals. Aggregate → Classify → Rank → Validate → Emit.</a:t>
            </a:r>
          </a:p>
        </p:txBody>
      </p:sp>
      <p:sp>
        <p:nvSpPr>
          <p:cNvPr name="TextBox 10" id="10"/>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1" id="11"/>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12" id="12"/>
          <p:cNvSpPr txBox="true"/>
          <p:nvPr/>
        </p:nvSpPr>
        <p:spPr>
          <a:xfrm rot="0">
            <a:off x="8643874" y="8566150"/>
            <a:ext cx="862018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Reduces browse-stage drop-off; improves category entry </a:t>
            </a:r>
          </a:p>
          <a:p>
            <a:pPr algn="r">
              <a:lnSpc>
                <a:spcPts val="2800"/>
              </a:lnSpc>
              <a:spcBef>
                <a:spcPct val="0"/>
              </a:spcBef>
            </a:pPr>
            <a:r>
              <a:rPr lang="en-US" sz="2000" spc="-30">
                <a:solidFill>
                  <a:srgbClr val="FFFFFF"/>
                </a:solidFill>
                <a:latin typeface="Helvetica World"/>
                <a:ea typeface="Helvetica World"/>
                <a:cs typeface="Helvetica World"/>
                <a:sym typeface="Helvetica World"/>
              </a:rPr>
              <a:t>CVR(Conversion Rate).</a:t>
            </a:r>
          </a:p>
        </p:txBody>
      </p:sp>
      <p:sp>
        <p:nvSpPr>
          <p:cNvPr name="TextBox 13" id="13"/>
          <p:cNvSpPr txBox="true"/>
          <p:nvPr/>
        </p:nvSpPr>
        <p:spPr>
          <a:xfrm rot="0">
            <a:off x="9057564"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Refine / Filter generates clarifying questions, applies budget/brand/rating filters, and weights preferences via lifestyle matching. Collect → Filter → Weight → Normalize → Emit.</a:t>
            </a:r>
          </a:p>
        </p:txBody>
      </p:sp>
      <p:sp>
        <p:nvSpPr>
          <p:cNvPr name="TextBox 14" id="14"/>
          <p:cNvSpPr txBox="true"/>
          <p:nvPr/>
        </p:nvSpPr>
        <p:spPr>
          <a:xfrm rot="0">
            <a:off x="14320488"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roduct List aggregates scores, deduplicates, sorts, and renders the final list with caching. Merge → Deduplicate → Sort → Format → Render.</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Conver</a:t>
            </a:r>
            <a:r>
              <a:rPr lang="en-US" sz="1599" spc="-23">
                <a:solidFill>
                  <a:srgbClr val="FFFFFF">
                    <a:alpha val="49804"/>
                  </a:srgbClr>
                </a:solidFill>
                <a:latin typeface="Helvetica World"/>
                <a:ea typeface="Helvetica World"/>
                <a:cs typeface="Helvetica World"/>
                <a:sym typeface="Helvetica World"/>
              </a:rPr>
              <a:t>ts vague shopping intent into a ranked product list.</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21075" cy="7380589"/>
          </a:xfrm>
          <a:custGeom>
            <a:avLst/>
            <a:gdLst/>
            <a:ahLst/>
            <a:cxnLst/>
            <a:rect r="r" b="b" t="t" l="l"/>
            <a:pathLst>
              <a:path h="7380589" w="16221075">
                <a:moveTo>
                  <a:pt x="0" y="0"/>
                </a:moveTo>
                <a:lnTo>
                  <a:pt x="16221075" y="0"/>
                </a:lnTo>
                <a:lnTo>
                  <a:pt x="16221075" y="7380589"/>
                </a:lnTo>
                <a:lnTo>
                  <a:pt x="0" y="7380589"/>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8" id="8"/>
          <p:cNvSpPr txBox="true"/>
          <p:nvPr/>
        </p:nvSpPr>
        <p:spPr>
          <a:xfrm rot="0">
            <a:off x="1028700" y="8578850"/>
            <a:ext cx="6094661"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Rufus 1.0 - Decision Branch</a:t>
            </a:r>
          </a:p>
        </p:txBody>
      </p:sp>
      <p:sp>
        <p:nvSpPr>
          <p:cNvPr name="TextBox 9" id="9"/>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10" id="10"/>
          <p:cNvSpPr txBox="true"/>
          <p:nvPr/>
        </p:nvSpPr>
        <p:spPr>
          <a:xfrm rot="0">
            <a:off x="8643874" y="8566150"/>
            <a:ext cx="862018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Shortens comparison time; increases PDP(Product Detail Page) dwell time and CVR(Conversion Rate).</a:t>
            </a:r>
          </a:p>
        </p:txBody>
      </p:sp>
      <p:sp>
        <p:nvSpPr>
          <p:cNvPr name="TextBox 11" id="11"/>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2" id="12"/>
          <p:cNvSpPr txBox="true"/>
          <p:nvPr/>
        </p:nvSpPr>
        <p:spPr>
          <a:xfrm rot="0">
            <a:off x="3794641"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roduct Compare extracts specs, summarizes reviews, aligns features, and renders comparison tables. Extract → Align → Score → Rank → Emit.</a:t>
            </a:r>
          </a:p>
        </p:txBody>
      </p:sp>
      <p:sp>
        <p:nvSpPr>
          <p:cNvPr name="TextBox 13" id="13"/>
          <p:cNvSpPr txBox="true"/>
          <p:nvPr/>
        </p:nvSpPr>
        <p:spPr>
          <a:xfrm rot="0">
            <a:off x="9057564"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roduct Detail retrieves specs, matches Q&amp;A, generates answers, and drives cart/wishlist conversion. Parse → Lookup → Match → Generate → Route.</a:t>
            </a:r>
          </a:p>
        </p:txBody>
      </p:sp>
      <p:sp>
        <p:nvSpPr>
          <p:cNvPr name="TextBox 14" id="14"/>
          <p:cNvSpPr txBox="true"/>
          <p:nvPr/>
        </p:nvSpPr>
        <p:spPr>
          <a:xfrm rot="0">
            <a:off x="14320488"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Review Summa</a:t>
            </a:r>
            <a:r>
              <a:rPr lang="en-US" sz="999" spc="-14">
                <a:solidFill>
                  <a:srgbClr val="FFFFFF">
                    <a:alpha val="49804"/>
                  </a:srgbClr>
                </a:solidFill>
                <a:latin typeface="Helvetica World"/>
                <a:ea typeface="Helvetica World"/>
                <a:cs typeface="Helvetica World"/>
                <a:sym typeface="Helvetica World"/>
              </a:rPr>
              <a:t>ry runs sentiment analysis, extracts highlights, and scores purchase confidence. Collect → Analyze → Summarize → Score → Emit.</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Suppor</a:t>
            </a:r>
            <a:r>
              <a:rPr lang="en-US" sz="1599" spc="-23">
                <a:solidFill>
                  <a:srgbClr val="FFFFFF">
                    <a:alpha val="49804"/>
                  </a:srgbClr>
                </a:solidFill>
                <a:latin typeface="Helvetica World"/>
                <a:ea typeface="Helvetica World"/>
                <a:cs typeface="Helvetica World"/>
                <a:sym typeface="Helvetica World"/>
              </a:rPr>
              <a:t>ts final purchase decisions across product candidates.</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21075" cy="7380589"/>
          </a:xfrm>
          <a:custGeom>
            <a:avLst/>
            <a:gdLst/>
            <a:ahLst/>
            <a:cxnLst/>
            <a:rect r="r" b="b" t="t" l="l"/>
            <a:pathLst>
              <a:path h="7380589" w="16221075">
                <a:moveTo>
                  <a:pt x="0" y="0"/>
                </a:moveTo>
                <a:lnTo>
                  <a:pt x="16221075" y="0"/>
                </a:lnTo>
                <a:lnTo>
                  <a:pt x="16221075" y="7380589"/>
                </a:lnTo>
                <a:lnTo>
                  <a:pt x="0" y="7380589"/>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8" id="8"/>
          <p:cNvSpPr txBox="true"/>
          <p:nvPr/>
        </p:nvSpPr>
        <p:spPr>
          <a:xfrm rot="0">
            <a:off x="1019175" y="8578850"/>
            <a:ext cx="7192714"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Rufus 1.0 - Postpurchase Branch</a:t>
            </a:r>
          </a:p>
        </p:txBody>
      </p:sp>
      <p:sp>
        <p:nvSpPr>
          <p:cNvPr name="TextBox 9" id="9"/>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10" id="10"/>
          <p:cNvSpPr txBox="true"/>
          <p:nvPr/>
        </p:nvSpPr>
        <p:spPr>
          <a:xfrm rot="0">
            <a:off x="8643874" y="8566150"/>
            <a:ext cx="862018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Reduce</a:t>
            </a:r>
            <a:r>
              <a:rPr lang="en-US" sz="2000" spc="-30">
                <a:solidFill>
                  <a:srgbClr val="FFFFFF"/>
                </a:solidFill>
                <a:latin typeface="Helvetica World"/>
                <a:ea typeface="Helvetica World"/>
                <a:cs typeface="Helvetica World"/>
                <a:sym typeface="Helvetica World"/>
              </a:rPr>
              <a:t>s CS(Customer Service) ticket volume; lowers return rate; improves LTV.(Life Time Value)</a:t>
            </a:r>
          </a:p>
        </p:txBody>
      </p:sp>
      <p:sp>
        <p:nvSpPr>
          <p:cNvPr name="TextBox 11" id="11"/>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2" id="12"/>
          <p:cNvSpPr txBox="true"/>
          <p:nvPr/>
        </p:nvSpPr>
        <p:spPr>
          <a:xfrm rot="0">
            <a:off x="3794641"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Delive</a:t>
            </a:r>
            <a:r>
              <a:rPr lang="en-US" sz="999" spc="-14">
                <a:solidFill>
                  <a:srgbClr val="FFFFFF">
                    <a:alpha val="49804"/>
                  </a:srgbClr>
                </a:solidFill>
                <a:latin typeface="Helvetica World"/>
                <a:ea typeface="Helvetica World"/>
                <a:cs typeface="Helvetica World"/>
                <a:sym typeface="Helvetica World"/>
              </a:rPr>
              <a:t>ry Status looks up orders, resolves carriers, estimates ETA, and pushes real-time notifications. Fetch → Resolve → Estimate → Format → Notify.</a:t>
            </a:r>
          </a:p>
        </p:txBody>
      </p:sp>
      <p:sp>
        <p:nvSpPr>
          <p:cNvPr name="TextBox 13" id="13"/>
          <p:cNvSpPr txBox="true"/>
          <p:nvPr/>
        </p:nvSpPr>
        <p:spPr>
          <a:xfrm rot="0">
            <a:off x="9057564"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Retu</a:t>
            </a:r>
            <a:r>
              <a:rPr lang="en-US" sz="999" spc="-14">
                <a:solidFill>
                  <a:srgbClr val="FFFFFF">
                    <a:alpha val="49804"/>
                  </a:srgbClr>
                </a:solidFill>
                <a:latin typeface="Helvetica World"/>
                <a:ea typeface="Helvetica World"/>
                <a:cs typeface="Helvetica World"/>
                <a:sym typeface="Helvetica World"/>
              </a:rPr>
              <a:t>rn / Exchange classifies requests, checks eligibility, calculates refunds, and routes to CS. Classify → Validate → Calculate → Route → Resolve.</a:t>
            </a:r>
          </a:p>
        </p:txBody>
      </p:sp>
      <p:sp>
        <p:nvSpPr>
          <p:cNvPr name="TextBox 14" id="14"/>
          <p:cNvSpPr txBox="true"/>
          <p:nvPr/>
        </p:nvSpPr>
        <p:spPr>
          <a:xfrm rot="0">
            <a:off x="14320488"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roduct Usage extracts manuals, scans review tips, links videos, and builds step-by-step guides. Parse → Identify → Extract → Build → Render.</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Man</a:t>
            </a:r>
            <a:r>
              <a:rPr lang="en-US" sz="1599" spc="-23">
                <a:solidFill>
                  <a:srgbClr val="FFFFFF">
                    <a:alpha val="49804"/>
                  </a:srgbClr>
                </a:solidFill>
                <a:latin typeface="Helvetica World"/>
                <a:ea typeface="Helvetica World"/>
                <a:cs typeface="Helvetica World"/>
                <a:sym typeface="Helvetica World"/>
              </a:rPr>
              <a:t>ages satisfaction and repeat-purchase retention.</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5" id="5"/>
          <p:cNvGrpSpPr/>
          <p:nvPr/>
        </p:nvGrpSpPr>
        <p:grpSpPr>
          <a:xfrm rot="0">
            <a:off x="4285463" y="1967258"/>
            <a:ext cx="12983362" cy="7291042"/>
            <a:chOff x="0" y="0"/>
            <a:chExt cx="17311150" cy="9721389"/>
          </a:xfrm>
        </p:grpSpPr>
        <p:sp>
          <p:nvSpPr>
            <p:cNvPr name="Freeform 6" id="6"/>
            <p:cNvSpPr/>
            <p:nvPr/>
          </p:nvSpPr>
          <p:spPr>
            <a:xfrm flipH="false" flipV="false" rot="0">
              <a:off x="0" y="0"/>
              <a:ext cx="17311150" cy="9721389"/>
            </a:xfrm>
            <a:custGeom>
              <a:avLst/>
              <a:gdLst/>
              <a:ahLst/>
              <a:cxnLst/>
              <a:rect r="r" b="b" t="t" l="l"/>
              <a:pathLst>
                <a:path h="9721389" w="17311150">
                  <a:moveTo>
                    <a:pt x="0" y="0"/>
                  </a:moveTo>
                  <a:lnTo>
                    <a:pt x="17311150" y="0"/>
                  </a:lnTo>
                  <a:lnTo>
                    <a:pt x="17311150" y="9721389"/>
                  </a:lnTo>
                  <a:lnTo>
                    <a:pt x="0" y="9721389"/>
                  </a:lnTo>
                  <a:lnTo>
                    <a:pt x="0" y="0"/>
                  </a:lnTo>
                  <a:close/>
                </a:path>
              </a:pathLst>
            </a:custGeom>
            <a:blipFill>
              <a:blip r:embed="rId2"/>
              <a:stretch>
                <a:fillRect l="-3431" t="-41914" r="-3431" b="-11272"/>
              </a:stretch>
            </a:blipFill>
          </p:spPr>
        </p:sp>
        <p:sp>
          <p:nvSpPr>
            <p:cNvPr name="TextBox 7" id="7"/>
            <p:cNvSpPr txBox="true"/>
            <p:nvPr/>
          </p:nvSpPr>
          <p:spPr>
            <a:xfrm rot="0">
              <a:off x="521743" y="5687784"/>
              <a:ext cx="1218162"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[Infnrastructure]</a:t>
              </a:r>
            </a:p>
          </p:txBody>
        </p:sp>
        <p:sp>
          <p:nvSpPr>
            <p:cNvPr name="TextBox 8" id="8"/>
            <p:cNvSpPr txBox="true"/>
            <p:nvPr/>
          </p:nvSpPr>
          <p:spPr>
            <a:xfrm rot="0">
              <a:off x="3170262" y="5687784"/>
              <a:ext cx="1388607"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[User Experience]</a:t>
              </a:r>
            </a:p>
          </p:txBody>
        </p:sp>
        <p:sp>
          <p:nvSpPr>
            <p:cNvPr name="TextBox 9" id="9"/>
            <p:cNvSpPr txBox="true"/>
            <p:nvPr/>
          </p:nvSpPr>
          <p:spPr>
            <a:xfrm rot="0">
              <a:off x="6068342" y="5687784"/>
              <a:ext cx="1056333"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[AI Utilization]</a:t>
              </a:r>
            </a:p>
          </p:txBody>
        </p:sp>
        <p:sp>
          <p:nvSpPr>
            <p:cNvPr name="TextBox 10" id="10"/>
            <p:cNvSpPr txBox="true"/>
            <p:nvPr/>
          </p:nvSpPr>
          <p:spPr>
            <a:xfrm rot="0">
              <a:off x="8539440" y="5687784"/>
              <a:ext cx="1170079"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[Data Curation]</a:t>
              </a:r>
            </a:p>
          </p:txBody>
        </p:sp>
        <p:sp>
          <p:nvSpPr>
            <p:cNvPr name="TextBox 11" id="11"/>
            <p:cNvSpPr txBox="true"/>
            <p:nvPr/>
          </p:nvSpPr>
          <p:spPr>
            <a:xfrm rot="0">
              <a:off x="13494831" y="5687784"/>
              <a:ext cx="729421"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[Security]</a:t>
              </a:r>
            </a:p>
          </p:txBody>
        </p:sp>
        <p:sp>
          <p:nvSpPr>
            <p:cNvPr name="TextBox 12" id="12"/>
            <p:cNvSpPr txBox="true"/>
            <p:nvPr/>
          </p:nvSpPr>
          <p:spPr>
            <a:xfrm rot="0">
              <a:off x="10858972" y="5687784"/>
              <a:ext cx="1133424"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[Multi-Context]</a:t>
              </a:r>
            </a:p>
          </p:txBody>
        </p:sp>
        <p:sp>
          <p:nvSpPr>
            <p:cNvPr name="TextBox 13" id="13"/>
            <p:cNvSpPr txBox="true"/>
            <p:nvPr/>
          </p:nvSpPr>
          <p:spPr>
            <a:xfrm rot="0">
              <a:off x="15668367" y="5687784"/>
              <a:ext cx="1136764" cy="230580"/>
            </a:xfrm>
            <a:prstGeom prst="rect">
              <a:avLst/>
            </a:prstGeom>
          </p:spPr>
          <p:txBody>
            <a:bodyPr anchor="t" rtlCol="false" tIns="0" lIns="0" bIns="0" rIns="0">
              <a:spAutoFit/>
            </a:bodyPr>
            <a:lstStyle/>
            <a:p>
              <a:pPr algn="ctr">
                <a:lnSpc>
                  <a:spcPts val="1488"/>
                </a:lnSpc>
              </a:pPr>
              <a:r>
                <a:rPr lang="en-US" sz="1063" spc="-10">
                  <a:solidFill>
                    <a:srgbClr val="FFFFFF">
                      <a:alpha val="49804"/>
                    </a:srgbClr>
                  </a:solidFill>
                  <a:latin typeface="Helvetica World"/>
                  <a:ea typeface="Helvetica World"/>
                  <a:cs typeface="Helvetica World"/>
                  <a:sym typeface="Helvetica World"/>
                </a:rPr>
                <a:t>[Tech-support]</a:t>
              </a:r>
            </a:p>
          </p:txBody>
        </p:sp>
      </p:grpSp>
      <p:sp>
        <p:nvSpPr>
          <p:cNvPr name="TextBox 14" id="14"/>
          <p:cNvSpPr txBox="true"/>
          <p:nvPr/>
        </p:nvSpPr>
        <p:spPr>
          <a:xfrm rot="0">
            <a:off x="15158368" y="990600"/>
            <a:ext cx="210093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Service Ecosystem</a:t>
            </a:r>
          </a:p>
        </p:txBody>
      </p:sp>
      <p:sp>
        <p:nvSpPr>
          <p:cNvPr name="TextBox 15" id="15"/>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sp>
        <p:nvSpPr>
          <p:cNvPr name="TextBox 16" id="16"/>
          <p:cNvSpPr txBox="true"/>
          <p:nvPr/>
        </p:nvSpPr>
        <p:spPr>
          <a:xfrm rot="0">
            <a:off x="1056870" y="1938683"/>
            <a:ext cx="7072348" cy="1921510"/>
          </a:xfrm>
          <a:prstGeom prst="rect">
            <a:avLst/>
          </a:prstGeom>
        </p:spPr>
        <p:txBody>
          <a:bodyPr anchor="t" rtlCol="false" tIns="0" lIns="0" bIns="0" rIns="0">
            <a:spAutoFit/>
          </a:bodyPr>
          <a:lstStyle/>
          <a:p>
            <a:pPr algn="l">
              <a:lnSpc>
                <a:spcPts val="2239"/>
              </a:lnSpc>
              <a:spcBef>
                <a:spcPct val="0"/>
              </a:spcBef>
            </a:pPr>
            <a:r>
              <a:rPr lang="en-US" sz="1599" spc="-23">
                <a:solidFill>
                  <a:srgbClr val="FFFFFF"/>
                </a:solidFill>
                <a:latin typeface="Helvetica World"/>
                <a:ea typeface="Helvetica World"/>
                <a:cs typeface="Helvetica World"/>
                <a:sym typeface="Helvetica World"/>
              </a:rPr>
              <a:t>Amazon</a:t>
            </a:r>
            <a:r>
              <a:rPr lang="en-US" sz="1599" spc="-23">
                <a:solidFill>
                  <a:srgbClr val="FFFFFF"/>
                </a:solidFill>
                <a:latin typeface="Helvetica World"/>
                <a:ea typeface="Helvetica World"/>
                <a:cs typeface="Helvetica World"/>
                <a:sym typeface="Helvetica World"/>
              </a:rPr>
              <a:t> Rufus serves as the central AI layer connecting Amazon's buyer and seller ecosystems, drawing from the full product catalog, customer reviews, Sponsored Ads, Alexa+, and Amazon Lens to create a unified cross-channel discovery experience. Its most strategic integration is with Project Amelia: Rufus captures unmet demand signals from buyers, while Amelia converts that intelligence into actionable insights for sellers, forming a closed-loop system that keeps the entire commerce cycle within Amazon's ecosystem.</a:t>
            </a:r>
          </a:p>
        </p:txBody>
      </p:sp>
      <p:sp>
        <p:nvSpPr>
          <p:cNvPr name="TextBox 17" id="17"/>
          <p:cNvSpPr txBox="true"/>
          <p:nvPr/>
        </p:nvSpPr>
        <p:spPr>
          <a:xfrm rot="0">
            <a:off x="10186952" y="1938683"/>
            <a:ext cx="7072348" cy="540385"/>
          </a:xfrm>
          <a:prstGeom prst="rect">
            <a:avLst/>
          </a:prstGeom>
        </p:spPr>
        <p:txBody>
          <a:bodyPr anchor="t" rtlCol="false" tIns="0" lIns="0" bIns="0" rIns="0">
            <a:spAutoFit/>
          </a:bodyPr>
          <a:lstStyle/>
          <a:p>
            <a:pPr algn="r">
              <a:lnSpc>
                <a:spcPts val="2239"/>
              </a:lnSpc>
              <a:spcBef>
                <a:spcPct val="0"/>
              </a:spcBef>
            </a:pPr>
            <a:r>
              <a:rPr lang="en-US" sz="1599" spc="-23">
                <a:solidFill>
                  <a:srgbClr val="FFFFFF">
                    <a:alpha val="49804"/>
                  </a:srgbClr>
                </a:solidFill>
                <a:latin typeface="Helvetica World"/>
                <a:ea typeface="Helvetica World"/>
                <a:cs typeface="Helvetica World"/>
                <a:sym typeface="Helvetica World"/>
              </a:rPr>
              <a:t>Source: https://www.aboutamazon.com/news/retail/amazon-rufus-ai-assistant-personalized-shopping-features</a:t>
            </a:r>
          </a:p>
        </p:txBody>
      </p:sp>
      <p:sp>
        <p:nvSpPr>
          <p:cNvPr name="TextBox 18" id="18"/>
          <p:cNvSpPr txBox="true"/>
          <p:nvPr/>
        </p:nvSpPr>
        <p:spPr>
          <a:xfrm rot="0">
            <a:off x="1056870" y="8058150"/>
            <a:ext cx="3228593" cy="1200150"/>
          </a:xfrm>
          <a:prstGeom prst="rect">
            <a:avLst/>
          </a:prstGeom>
        </p:spPr>
        <p:txBody>
          <a:bodyPr anchor="t" rtlCol="false" tIns="0" lIns="0" bIns="0" rIns="0">
            <a:spAutoFit/>
          </a:bodyPr>
          <a:lstStyle/>
          <a:p>
            <a:pPr algn="l">
              <a:lnSpc>
                <a:spcPts val="4799"/>
              </a:lnSpc>
            </a:pPr>
            <a:r>
              <a:rPr lang="en-US" sz="3999" spc="-59">
                <a:solidFill>
                  <a:srgbClr val="FFFFFF"/>
                </a:solidFill>
                <a:latin typeface="Helvetica World"/>
                <a:ea typeface="Helvetica World"/>
                <a:cs typeface="Helvetica World"/>
                <a:sym typeface="Helvetica World"/>
              </a:rPr>
              <a:t>Closed-loop System</a:t>
            </a:r>
          </a:p>
        </p:txBody>
      </p:sp>
      <p:sp>
        <p:nvSpPr>
          <p:cNvPr name="AutoShape 19" id="19"/>
          <p:cNvSpPr/>
          <p:nvPr/>
        </p:nvSpPr>
        <p:spPr>
          <a:xfrm>
            <a:off x="1028700" y="5459124"/>
            <a:ext cx="16230600" cy="0"/>
          </a:xfrm>
          <a:prstGeom prst="line">
            <a:avLst/>
          </a:prstGeom>
          <a:ln cap="rnd" w="19050">
            <a:solidFill>
              <a:srgbClr val="FFFFFF">
                <a:alpha val="49804"/>
              </a:srgbClr>
            </a:solidFill>
            <a:prstDash val="sysDash"/>
            <a:headEnd type="none" len="sm" w="sm"/>
            <a:tailEnd type="none" len="sm" w="sm"/>
          </a:ln>
        </p:spPr>
      </p:sp>
      <p:sp>
        <p:nvSpPr>
          <p:cNvPr name="TextBox 20" id="20"/>
          <p:cNvSpPr txBox="true"/>
          <p:nvPr/>
        </p:nvSpPr>
        <p:spPr>
          <a:xfrm rot="0">
            <a:off x="1028700" y="5471139"/>
            <a:ext cx="2998063" cy="264160"/>
          </a:xfrm>
          <a:prstGeom prst="rect">
            <a:avLst/>
          </a:prstGeom>
        </p:spPr>
        <p:txBody>
          <a:bodyPr anchor="t" rtlCol="false" tIns="0" lIns="0" bIns="0" rIns="0">
            <a:spAutoFit/>
          </a:bodyPr>
          <a:lstStyle/>
          <a:p>
            <a:pPr algn="l">
              <a:lnSpc>
                <a:spcPts val="2239"/>
              </a:lnSpc>
              <a:spcBef>
                <a:spcPct val="0"/>
              </a:spcBef>
            </a:pPr>
            <a:r>
              <a:rPr lang="en-US" sz="1599" spc="-23">
                <a:solidFill>
                  <a:srgbClr val="FFFFFF">
                    <a:alpha val="49804"/>
                  </a:srgbClr>
                </a:solidFill>
                <a:latin typeface="Helvetica World"/>
                <a:ea typeface="Helvetica World"/>
                <a:cs typeface="Helvetica World"/>
                <a:sym typeface="Helvetica World"/>
              </a:rPr>
              <a:t>[Data Exchange Circulation]</a:t>
            </a:r>
          </a:p>
        </p:txBody>
      </p:sp>
      <p:sp>
        <p:nvSpPr>
          <p:cNvPr name="AutoShape 21" id="21"/>
          <p:cNvSpPr/>
          <p:nvPr/>
        </p:nvSpPr>
        <p:spPr>
          <a:xfrm>
            <a:off x="1038225" y="1967258"/>
            <a:ext cx="0" cy="7291042"/>
          </a:xfrm>
          <a:prstGeom prst="line">
            <a:avLst/>
          </a:prstGeom>
          <a:ln cap="rnd" w="19050">
            <a:solidFill>
              <a:srgbClr val="FFFFFF">
                <a:alpha val="49804"/>
              </a:srgbClr>
            </a:solidFill>
            <a:prstDash val="sysDash"/>
            <a:headEnd type="none" len="sm" w="sm"/>
            <a:tailEnd type="none" len="sm" w="sm"/>
          </a:ln>
        </p:spPr>
      </p:sp>
      <p:sp>
        <p:nvSpPr>
          <p:cNvPr name="AutoShape 22" id="22"/>
          <p:cNvSpPr/>
          <p:nvPr/>
        </p:nvSpPr>
        <p:spPr>
          <a:xfrm>
            <a:off x="17268825" y="1967258"/>
            <a:ext cx="0" cy="7291042"/>
          </a:xfrm>
          <a:prstGeom prst="line">
            <a:avLst/>
          </a:prstGeom>
          <a:ln cap="rnd" w="19050">
            <a:solidFill>
              <a:srgbClr val="FFFFFF">
                <a:alpha val="49804"/>
              </a:srgbClr>
            </a:solidFill>
            <a:prstDash val="sysDash"/>
            <a:headEnd type="none" len="sm" w="sm"/>
            <a:tailEnd type="none" len="sm" w="sm"/>
          </a:ln>
        </p:spPr>
      </p:sp>
      <p:grpSp>
        <p:nvGrpSpPr>
          <p:cNvPr name="Group 23" id="23"/>
          <p:cNvGrpSpPr/>
          <p:nvPr/>
        </p:nvGrpSpPr>
        <p:grpSpPr>
          <a:xfrm rot="0">
            <a:off x="1028700" y="9258300"/>
            <a:ext cx="16230600" cy="301625"/>
            <a:chOff x="0" y="0"/>
            <a:chExt cx="21640800" cy="402167"/>
          </a:xfrm>
        </p:grpSpPr>
        <p:sp>
          <p:nvSpPr>
            <p:cNvPr name="TextBox 24" id="2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5" id="2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15</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5480506" y="990600"/>
            <a:ext cx="1778794"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Limit of Rufus AI</a:t>
            </a:r>
          </a:p>
        </p:txBody>
      </p:sp>
      <p:grpSp>
        <p:nvGrpSpPr>
          <p:cNvPr name="Group 6" id="6"/>
          <p:cNvGrpSpPr/>
          <p:nvPr/>
        </p:nvGrpSpPr>
        <p:grpSpPr>
          <a:xfrm rot="0">
            <a:off x="1028700" y="1668795"/>
            <a:ext cx="16230600" cy="6949409"/>
            <a:chOff x="0" y="0"/>
            <a:chExt cx="21640800" cy="9265879"/>
          </a:xfrm>
        </p:grpSpPr>
        <p:sp>
          <p:nvSpPr>
            <p:cNvPr name="TextBox 7" id="7"/>
            <p:cNvSpPr txBox="true"/>
            <p:nvPr/>
          </p:nvSpPr>
          <p:spPr>
            <a:xfrm rot="0">
              <a:off x="0" y="-66675"/>
              <a:ext cx="14969902" cy="3151928"/>
            </a:xfrm>
            <a:prstGeom prst="rect">
              <a:avLst/>
            </a:prstGeom>
          </p:spPr>
          <p:txBody>
            <a:bodyPr anchor="t" rtlCol="false" tIns="0" lIns="0" bIns="0" rIns="0">
              <a:spAutoFit/>
            </a:bodyPr>
            <a:lstStyle/>
            <a:p>
              <a:pPr algn="l">
                <a:lnSpc>
                  <a:spcPts val="4759"/>
                </a:lnSpc>
                <a:spcBef>
                  <a:spcPct val="0"/>
                </a:spcBef>
              </a:pPr>
              <a:r>
                <a:rPr lang="en-US" sz="3399" spc="-50">
                  <a:solidFill>
                    <a:srgbClr val="FFFFFF">
                      <a:alpha val="49804"/>
                    </a:srgbClr>
                  </a:solidFill>
                  <a:latin typeface="Helvetica World"/>
                  <a:ea typeface="Helvetica World"/>
                  <a:cs typeface="Helvetica World"/>
                  <a:sym typeface="Helvetica World"/>
                </a:rPr>
                <a:t>According to Amazon Science's official blog, Rufus was designed from the ground up as a B2C shopping assistant, trained on shopping-specific data including the entire Amazon product catalog, customer reviews, and Q&amp;As.</a:t>
              </a:r>
            </a:p>
          </p:txBody>
        </p:sp>
        <p:sp>
          <p:nvSpPr>
            <p:cNvPr name="TextBox 8" id="8"/>
            <p:cNvSpPr txBox="true"/>
            <p:nvPr/>
          </p:nvSpPr>
          <p:spPr>
            <a:xfrm rot="0">
              <a:off x="0" y="3492248"/>
              <a:ext cx="14969902" cy="641562"/>
            </a:xfrm>
            <a:prstGeom prst="rect">
              <a:avLst/>
            </a:prstGeom>
          </p:spPr>
          <p:txBody>
            <a:bodyPr anchor="t" rtlCol="false" tIns="0" lIns="0" bIns="0" rIns="0">
              <a:spAutoFit/>
            </a:bodyPr>
            <a:lstStyle/>
            <a:p>
              <a:pPr algn="l">
                <a:lnSpc>
                  <a:spcPts val="1960"/>
                </a:lnSpc>
                <a:spcBef>
                  <a:spcPct val="0"/>
                </a:spcBef>
              </a:pPr>
              <a:r>
                <a:rPr lang="en-US" sz="1400" spc="-21">
                  <a:solidFill>
                    <a:srgbClr val="FFFFFF">
                      <a:alpha val="49804"/>
                    </a:srgbClr>
                  </a:solidFill>
                  <a:latin typeface="Helvetica World"/>
                  <a:ea typeface="Helvetica World"/>
                  <a:cs typeface="Helvetica World"/>
                  <a:sym typeface="Helvetica World"/>
                </a:rPr>
                <a:t>Source: https://aws.amazon.com/blogs/machine-learning/how-rufus-scales-conversational-shopping-experiences-to-millions-of-amazon-customers-with-amazon-bedrock/</a:t>
              </a:r>
            </a:p>
          </p:txBody>
        </p:sp>
        <p:sp>
          <p:nvSpPr>
            <p:cNvPr name="TextBox 9" id="9"/>
            <p:cNvSpPr txBox="true"/>
            <p:nvPr/>
          </p:nvSpPr>
          <p:spPr>
            <a:xfrm rot="0">
              <a:off x="4079710" y="5343313"/>
              <a:ext cx="17561090" cy="3177963"/>
            </a:xfrm>
            <a:prstGeom prst="rect">
              <a:avLst/>
            </a:prstGeom>
          </p:spPr>
          <p:txBody>
            <a:bodyPr anchor="t" rtlCol="false" tIns="0" lIns="0" bIns="0" rIns="0">
              <a:spAutoFit/>
            </a:bodyPr>
            <a:lstStyle/>
            <a:p>
              <a:pPr algn="r">
                <a:lnSpc>
                  <a:spcPts val="6439"/>
                </a:lnSpc>
                <a:spcBef>
                  <a:spcPct val="0"/>
                </a:spcBef>
              </a:pPr>
              <a:r>
                <a:rPr lang="en-US" sz="4599" spc="-68">
                  <a:solidFill>
                    <a:srgbClr val="FFFFFF"/>
                  </a:solidFill>
                  <a:latin typeface="Helvetica World"/>
                  <a:ea typeface="Helvetica World"/>
                  <a:cs typeface="Helvetica World"/>
                  <a:sym typeface="Helvetica World"/>
                </a:rPr>
                <a:t> </a:t>
              </a:r>
              <a:r>
                <a:rPr lang="en-US" sz="4599" spc="-68">
                  <a:solidFill>
                    <a:srgbClr val="FFFFFF"/>
                  </a:solidFill>
                  <a:latin typeface="Helvetica World"/>
                  <a:ea typeface="Helvetica World"/>
                  <a:cs typeface="Helvetica World"/>
                  <a:sym typeface="Helvetica World"/>
                </a:rPr>
                <a:t>In other words, Rufus's B2B touchpoint is limited to providing sellers with advertising placement and exposure opportunities.</a:t>
              </a:r>
            </a:p>
          </p:txBody>
        </p:sp>
        <p:sp>
          <p:nvSpPr>
            <p:cNvPr name="TextBox 10" id="10"/>
            <p:cNvSpPr txBox="true"/>
            <p:nvPr/>
          </p:nvSpPr>
          <p:spPr>
            <a:xfrm rot="0">
              <a:off x="5037514" y="8954518"/>
              <a:ext cx="16603286" cy="311362"/>
            </a:xfrm>
            <a:prstGeom prst="rect">
              <a:avLst/>
            </a:prstGeom>
          </p:spPr>
          <p:txBody>
            <a:bodyPr anchor="t" rtlCol="false" tIns="0" lIns="0" bIns="0" rIns="0">
              <a:spAutoFit/>
            </a:bodyPr>
            <a:lstStyle/>
            <a:p>
              <a:pPr algn="r">
                <a:lnSpc>
                  <a:spcPts val="1960"/>
                </a:lnSpc>
                <a:spcBef>
                  <a:spcPct val="0"/>
                </a:spcBef>
              </a:pPr>
              <a:r>
                <a:rPr lang="en-US" sz="1400" spc="-21">
                  <a:solidFill>
                    <a:srgbClr val="FFFFFF"/>
                  </a:solidFill>
                  <a:latin typeface="Helvetica World"/>
                  <a:ea typeface="Helvetica World"/>
                  <a:cs typeface="Helvetica World"/>
                  <a:sym typeface="Helvetica World"/>
                </a:rPr>
                <a:t>Source: https://advertising.amazon.com/en-ca/resources/whats-new/unboxed-2025-sponsored-products-and-sponsored-brands-prompts</a:t>
              </a:r>
            </a:p>
          </p:txBody>
        </p:sp>
      </p:grpSp>
      <p:sp>
        <p:nvSpPr>
          <p:cNvPr name="TextBox 11" id="11"/>
          <p:cNvSpPr txBox="true"/>
          <p:nvPr/>
        </p:nvSpPr>
        <p:spPr>
          <a:xfrm rot="0">
            <a:off x="1028700" y="990600"/>
            <a:ext cx="244695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Rufus</a:t>
            </a:r>
          </a:p>
        </p:txBody>
      </p:sp>
      <p:grpSp>
        <p:nvGrpSpPr>
          <p:cNvPr name="Group 12" id="12"/>
          <p:cNvGrpSpPr/>
          <p:nvPr/>
        </p:nvGrpSpPr>
        <p:grpSpPr>
          <a:xfrm rot="0">
            <a:off x="1028700" y="9258300"/>
            <a:ext cx="16230600" cy="301625"/>
            <a:chOff x="0" y="0"/>
            <a:chExt cx="21640800" cy="402167"/>
          </a:xfrm>
        </p:grpSpPr>
        <p:sp>
          <p:nvSpPr>
            <p:cNvPr name="TextBox 13" id="1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4" id="1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16</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5" id="5"/>
          <p:cNvGrpSpPr/>
          <p:nvPr/>
        </p:nvGrpSpPr>
        <p:grpSpPr>
          <a:xfrm rot="0">
            <a:off x="1028700" y="4111307"/>
            <a:ext cx="16230600" cy="2064385"/>
            <a:chOff x="0" y="0"/>
            <a:chExt cx="21640800" cy="2752513"/>
          </a:xfrm>
        </p:grpSpPr>
        <p:sp>
          <p:nvSpPr>
            <p:cNvPr name="TextBox 6" id="6"/>
            <p:cNvSpPr txBox="true"/>
            <p:nvPr/>
          </p:nvSpPr>
          <p:spPr>
            <a:xfrm rot="0">
              <a:off x="0" y="2085763"/>
              <a:ext cx="1791295"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[Priority]</a:t>
              </a:r>
            </a:p>
          </p:txBody>
        </p:sp>
        <p:sp>
          <p:nvSpPr>
            <p:cNvPr name="TextBox 7" id="7"/>
            <p:cNvSpPr txBox="true"/>
            <p:nvPr/>
          </p:nvSpPr>
          <p:spPr>
            <a:xfrm rot="0">
              <a:off x="0" y="724535"/>
              <a:ext cx="9034412"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Seller Assistant</a:t>
              </a:r>
            </a:p>
          </p:txBody>
        </p:sp>
        <p:sp>
          <p:nvSpPr>
            <p:cNvPr name="TextBox 8" id="8"/>
            <p:cNvSpPr txBox="true"/>
            <p:nvPr/>
          </p:nvSpPr>
          <p:spPr>
            <a:xfrm rot="0">
              <a:off x="15493504" y="724535"/>
              <a:ext cx="6147296"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B2B Solution</a:t>
              </a:r>
            </a:p>
          </p:txBody>
        </p:sp>
        <p:sp>
          <p:nvSpPr>
            <p:cNvPr name="TextBox 9" id="9"/>
            <p:cNvSpPr txBox="true"/>
            <p:nvPr/>
          </p:nvSpPr>
          <p:spPr>
            <a:xfrm rot="0">
              <a:off x="17883088" y="2085763"/>
              <a:ext cx="3757712" cy="6667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[Service Context]</a:t>
              </a:r>
            </a:p>
          </p:txBody>
        </p:sp>
        <p:sp>
          <p:nvSpPr>
            <p:cNvPr name="TextBox 10" id="10"/>
            <p:cNvSpPr txBox="true"/>
            <p:nvPr/>
          </p:nvSpPr>
          <p:spPr>
            <a:xfrm rot="0">
              <a:off x="0" y="-76200"/>
              <a:ext cx="2223749" cy="924560"/>
            </a:xfrm>
            <a:prstGeom prst="rect">
              <a:avLst/>
            </a:prstGeom>
          </p:spPr>
          <p:txBody>
            <a:bodyPr anchor="t" rtlCol="false" tIns="0" lIns="0" bIns="0" rIns="0">
              <a:spAutoFit/>
            </a:bodyPr>
            <a:lstStyle/>
            <a:p>
              <a:pPr algn="l">
                <a:lnSpc>
                  <a:spcPts val="5880"/>
                </a:lnSpc>
              </a:pPr>
              <a:r>
                <a:rPr lang="en-US" sz="4200" spc="-42">
                  <a:solidFill>
                    <a:srgbClr val="FFFFFF">
                      <a:alpha val="49804"/>
                    </a:srgbClr>
                  </a:solidFill>
                  <a:latin typeface="Helvetica World"/>
                  <a:ea typeface="Helvetica World"/>
                  <a:cs typeface="Helvetica World"/>
                  <a:sym typeface="Helvetica World"/>
                </a:rPr>
                <a:t>Amelia</a:t>
              </a:r>
            </a:p>
          </p:txBody>
        </p:sp>
      </p:grpSp>
      <p:sp>
        <p:nvSpPr>
          <p:cNvPr name="TextBox 11" id="11"/>
          <p:cNvSpPr txBox="true"/>
          <p:nvPr/>
        </p:nvSpPr>
        <p:spPr>
          <a:xfrm rot="0">
            <a:off x="16784315" y="990600"/>
            <a:ext cx="47498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B2B</a:t>
            </a:r>
          </a:p>
        </p:txBody>
      </p:sp>
      <p:sp>
        <p:nvSpPr>
          <p:cNvPr name="Freeform 12" id="12"/>
          <p:cNvSpPr/>
          <p:nvPr/>
        </p:nvSpPr>
        <p:spPr>
          <a:xfrm flipH="false" flipV="false" rot="0">
            <a:off x="1028700" y="5143500"/>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13" id="13"/>
          <p:cNvSpPr txBox="true"/>
          <p:nvPr/>
        </p:nvSpPr>
        <p:spPr>
          <a:xfrm rot="0">
            <a:off x="1066800" y="990600"/>
            <a:ext cx="178958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II</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6" id="1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17</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7744830" y="8918575"/>
            <a:ext cx="2798341" cy="306705"/>
          </a:xfrm>
          <a:prstGeom prst="rect">
            <a:avLst/>
          </a:prstGeom>
        </p:spPr>
        <p:txBody>
          <a:bodyPr anchor="t" rtlCol="false" tIns="0" lIns="0" bIns="0" rIns="0">
            <a:spAutoFit/>
          </a:bodyPr>
          <a:lstStyle/>
          <a:p>
            <a:pPr algn="ctr">
              <a:lnSpc>
                <a:spcPts val="2520"/>
              </a:lnSpc>
            </a:pPr>
            <a:r>
              <a:rPr lang="en-US" sz="1800" spc="-18">
                <a:solidFill>
                  <a:srgbClr val="FFFFFF"/>
                </a:solidFill>
                <a:latin typeface="Helvetica World"/>
                <a:ea typeface="Helvetica World"/>
                <a:cs typeface="Helvetica World"/>
                <a:sym typeface="Helvetica World"/>
              </a:rPr>
              <a:t>Amelia</a:t>
            </a:r>
            <a:r>
              <a:rPr lang="en-US" sz="1800" spc="-18">
                <a:solidFill>
                  <a:srgbClr val="FFFFFF"/>
                </a:solidFill>
                <a:latin typeface="Helvetica World"/>
                <a:ea typeface="Helvetica World"/>
                <a:cs typeface="Helvetica World"/>
                <a:sym typeface="Helvetica World"/>
              </a:rPr>
              <a:t> — Seller AI Assistant</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6" id="6"/>
          <p:cNvSpPr/>
          <p:nvPr/>
        </p:nvSpPr>
        <p:spPr>
          <a:xfrm flipH="false" flipV="false" rot="0">
            <a:off x="5276088" y="1330325"/>
            <a:ext cx="7735824" cy="7626350"/>
          </a:xfrm>
          <a:custGeom>
            <a:avLst/>
            <a:gdLst/>
            <a:ahLst/>
            <a:cxnLst/>
            <a:rect r="r" b="b" t="t" l="l"/>
            <a:pathLst>
              <a:path h="7626350" w="7735824">
                <a:moveTo>
                  <a:pt x="0" y="0"/>
                </a:moveTo>
                <a:lnTo>
                  <a:pt x="7735824" y="0"/>
                </a:lnTo>
                <a:lnTo>
                  <a:pt x="7735824" y="7626350"/>
                </a:lnTo>
                <a:lnTo>
                  <a:pt x="0" y="7626350"/>
                </a:lnTo>
                <a:lnTo>
                  <a:pt x="0" y="0"/>
                </a:lnTo>
                <a:close/>
              </a:path>
            </a:pathLst>
          </a:custGeom>
          <a:blipFill>
            <a:blip r:embed="rId2"/>
            <a:stretch>
              <a:fillRect l="0" t="-3955" r="0" b="-3955"/>
            </a:stretch>
          </a:blipFill>
        </p:spPr>
      </p:sp>
      <p:sp>
        <p:nvSpPr>
          <p:cNvPr name="TextBox 7" id="7"/>
          <p:cNvSpPr txBox="true"/>
          <p:nvPr/>
        </p:nvSpPr>
        <p:spPr>
          <a:xfrm rot="0">
            <a:off x="1028700" y="8918575"/>
            <a:ext cx="3149575" cy="306705"/>
          </a:xfrm>
          <a:prstGeom prst="rect">
            <a:avLst/>
          </a:prstGeom>
        </p:spPr>
        <p:txBody>
          <a:bodyPr anchor="t" rtlCol="false" tIns="0" lIns="0" bIns="0" rIns="0">
            <a:spAutoFit/>
          </a:bodyPr>
          <a:lstStyle/>
          <a:p>
            <a:pPr algn="l">
              <a:lnSpc>
                <a:spcPts val="2520"/>
              </a:lnSpc>
            </a:pPr>
            <a:r>
              <a:rPr lang="en-US" sz="1800" spc="-18">
                <a:solidFill>
                  <a:srgbClr val="FFFFFF"/>
                </a:solidFill>
                <a:latin typeface="Helvetica World"/>
                <a:ea typeface="Helvetica World"/>
                <a:cs typeface="Helvetica World"/>
                <a:sym typeface="Helvetica World"/>
              </a:rPr>
              <a:t>S</a:t>
            </a:r>
            <a:r>
              <a:rPr lang="en-US" sz="1800" spc="-18">
                <a:solidFill>
                  <a:srgbClr val="FFFFFF"/>
                </a:solidFill>
                <a:latin typeface="Helvetica World"/>
                <a:ea typeface="Helvetica World"/>
                <a:cs typeface="Helvetica World"/>
                <a:sym typeface="Helvetica World"/>
              </a:rPr>
              <a:t>upply Chain by Amazon (SCA)</a:t>
            </a:r>
          </a:p>
        </p:txBody>
      </p:sp>
      <p:sp>
        <p:nvSpPr>
          <p:cNvPr name="Freeform 8" id="8"/>
          <p:cNvSpPr/>
          <p:nvPr/>
        </p:nvSpPr>
        <p:spPr>
          <a:xfrm flipH="false" flipV="false" rot="0">
            <a:off x="1028700" y="1596741"/>
            <a:ext cx="3904488" cy="7359934"/>
          </a:xfrm>
          <a:custGeom>
            <a:avLst/>
            <a:gdLst/>
            <a:ahLst/>
            <a:cxnLst/>
            <a:rect r="r" b="b" t="t" l="l"/>
            <a:pathLst>
              <a:path h="7359934" w="3904488">
                <a:moveTo>
                  <a:pt x="0" y="0"/>
                </a:moveTo>
                <a:lnTo>
                  <a:pt x="3904488" y="0"/>
                </a:lnTo>
                <a:lnTo>
                  <a:pt x="3904488" y="7359934"/>
                </a:lnTo>
                <a:lnTo>
                  <a:pt x="0" y="7359934"/>
                </a:lnTo>
                <a:lnTo>
                  <a:pt x="0" y="0"/>
                </a:lnTo>
                <a:close/>
              </a:path>
            </a:pathLst>
          </a:custGeom>
          <a:blipFill>
            <a:blip r:embed="rId3"/>
            <a:stretch>
              <a:fillRect l="-99999" t="-6436" r="0" b="-6436"/>
            </a:stretch>
          </a:blipFill>
        </p:spPr>
      </p:sp>
      <p:sp>
        <p:nvSpPr>
          <p:cNvPr name="TextBox 9" id="9"/>
          <p:cNvSpPr txBox="true"/>
          <p:nvPr/>
        </p:nvSpPr>
        <p:spPr>
          <a:xfrm rot="0">
            <a:off x="12090425" y="8918575"/>
            <a:ext cx="5168875" cy="306705"/>
          </a:xfrm>
          <a:prstGeom prst="rect">
            <a:avLst/>
          </a:prstGeom>
        </p:spPr>
        <p:txBody>
          <a:bodyPr anchor="t" rtlCol="false" tIns="0" lIns="0" bIns="0" rIns="0">
            <a:spAutoFit/>
          </a:bodyPr>
          <a:lstStyle/>
          <a:p>
            <a:pPr algn="r">
              <a:lnSpc>
                <a:spcPts val="2520"/>
              </a:lnSpc>
            </a:pPr>
            <a:r>
              <a:rPr lang="en-US" sz="1800" spc="-18">
                <a:solidFill>
                  <a:srgbClr val="FFFFFF"/>
                </a:solidFill>
                <a:latin typeface="Helvetica World"/>
                <a:ea typeface="Helvetica World"/>
                <a:cs typeface="Helvetica World"/>
                <a:sym typeface="Helvetica World"/>
              </a:rPr>
              <a:t>Amazon Lending + Amazon Business Lines of Credit</a:t>
            </a:r>
          </a:p>
        </p:txBody>
      </p:sp>
      <p:sp>
        <p:nvSpPr>
          <p:cNvPr name="TextBox 10" id="10"/>
          <p:cNvSpPr txBox="true"/>
          <p:nvPr/>
        </p:nvSpPr>
        <p:spPr>
          <a:xfrm rot="0">
            <a:off x="16784315" y="990600"/>
            <a:ext cx="47498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B2B</a:t>
            </a:r>
          </a:p>
        </p:txBody>
      </p:sp>
      <p:sp>
        <p:nvSpPr>
          <p:cNvPr name="Freeform 11" id="11"/>
          <p:cNvSpPr/>
          <p:nvPr/>
        </p:nvSpPr>
        <p:spPr>
          <a:xfrm flipH="false" flipV="false" rot="0">
            <a:off x="13485549" y="1596741"/>
            <a:ext cx="3773751" cy="7359934"/>
          </a:xfrm>
          <a:custGeom>
            <a:avLst/>
            <a:gdLst/>
            <a:ahLst/>
            <a:cxnLst/>
            <a:rect r="r" b="b" t="t" l="l"/>
            <a:pathLst>
              <a:path h="7359934" w="3773751">
                <a:moveTo>
                  <a:pt x="0" y="0"/>
                </a:moveTo>
                <a:lnTo>
                  <a:pt x="3773751" y="0"/>
                </a:lnTo>
                <a:lnTo>
                  <a:pt x="3773751" y="7359934"/>
                </a:lnTo>
                <a:lnTo>
                  <a:pt x="0" y="7359934"/>
                </a:lnTo>
                <a:lnTo>
                  <a:pt x="0" y="0"/>
                </a:lnTo>
                <a:close/>
              </a:path>
            </a:pathLst>
          </a:custGeom>
          <a:blipFill>
            <a:blip r:embed="rId4"/>
            <a:stretch>
              <a:fillRect l="0" t="-4547" r="-99999" b="-4547"/>
            </a:stretch>
          </a:blipFill>
        </p:spPr>
      </p:sp>
      <p:grpSp>
        <p:nvGrpSpPr>
          <p:cNvPr name="Group 12" id="12"/>
          <p:cNvGrpSpPr/>
          <p:nvPr/>
        </p:nvGrpSpPr>
        <p:grpSpPr>
          <a:xfrm rot="0">
            <a:off x="5095113" y="1463533"/>
            <a:ext cx="8163142" cy="7359934"/>
            <a:chOff x="0" y="0"/>
            <a:chExt cx="10884190" cy="9813245"/>
          </a:xfrm>
        </p:grpSpPr>
        <p:sp>
          <p:nvSpPr>
            <p:cNvPr name="AutoShape 13" id="13"/>
            <p:cNvSpPr/>
            <p:nvPr/>
          </p:nvSpPr>
          <p:spPr>
            <a:xfrm>
              <a:off x="12700" y="0"/>
              <a:ext cx="0" cy="9813245"/>
            </a:xfrm>
            <a:prstGeom prst="line">
              <a:avLst/>
            </a:prstGeom>
            <a:ln cap="rnd" w="25400">
              <a:solidFill>
                <a:srgbClr val="FFFFFF">
                  <a:alpha val="49804"/>
                </a:srgbClr>
              </a:solidFill>
              <a:prstDash val="sysDash"/>
              <a:headEnd type="none" len="sm" w="sm"/>
              <a:tailEnd type="none" len="sm" w="sm"/>
            </a:ln>
          </p:spPr>
        </p:sp>
        <p:sp>
          <p:nvSpPr>
            <p:cNvPr name="AutoShape 14" id="14"/>
            <p:cNvSpPr/>
            <p:nvPr/>
          </p:nvSpPr>
          <p:spPr>
            <a:xfrm>
              <a:off x="10871490" y="0"/>
              <a:ext cx="0" cy="9813245"/>
            </a:xfrm>
            <a:prstGeom prst="line">
              <a:avLst/>
            </a:prstGeom>
            <a:ln cap="rnd" w="25400">
              <a:solidFill>
                <a:srgbClr val="FFFFFF">
                  <a:alpha val="49804"/>
                </a:srgbClr>
              </a:solidFill>
              <a:prstDash val="sysDash"/>
              <a:headEnd type="none" len="sm" w="sm"/>
              <a:tailEnd type="none" len="sm" w="sm"/>
            </a:ln>
          </p:spPr>
        </p:sp>
      </p:grpSp>
      <p:grpSp>
        <p:nvGrpSpPr>
          <p:cNvPr name="Group 15" id="15"/>
          <p:cNvGrpSpPr/>
          <p:nvPr/>
        </p:nvGrpSpPr>
        <p:grpSpPr>
          <a:xfrm rot="0">
            <a:off x="1028700" y="1463533"/>
            <a:ext cx="16249650" cy="7359934"/>
            <a:chOff x="0" y="0"/>
            <a:chExt cx="21666200" cy="9813245"/>
          </a:xfrm>
        </p:grpSpPr>
        <p:sp>
          <p:nvSpPr>
            <p:cNvPr name="AutoShape 16" id="16"/>
            <p:cNvSpPr/>
            <p:nvPr/>
          </p:nvSpPr>
          <p:spPr>
            <a:xfrm>
              <a:off x="12700" y="0"/>
              <a:ext cx="0" cy="9813245"/>
            </a:xfrm>
            <a:prstGeom prst="line">
              <a:avLst/>
            </a:prstGeom>
            <a:ln cap="rnd" w="25400">
              <a:solidFill>
                <a:srgbClr val="FFFFFF">
                  <a:alpha val="49804"/>
                </a:srgbClr>
              </a:solidFill>
              <a:prstDash val="sysDash"/>
              <a:headEnd type="none" len="sm" w="sm"/>
              <a:tailEnd type="none" len="sm" w="sm"/>
            </a:ln>
          </p:spPr>
        </p:sp>
        <p:sp>
          <p:nvSpPr>
            <p:cNvPr name="AutoShape 17" id="17"/>
            <p:cNvSpPr/>
            <p:nvPr/>
          </p:nvSpPr>
          <p:spPr>
            <a:xfrm>
              <a:off x="21653500" y="0"/>
              <a:ext cx="0" cy="9813245"/>
            </a:xfrm>
            <a:prstGeom prst="line">
              <a:avLst/>
            </a:prstGeom>
            <a:ln cap="rnd" w="25400">
              <a:solidFill>
                <a:srgbClr val="FFFFFF">
                  <a:alpha val="49804"/>
                </a:srgbClr>
              </a:solidFill>
              <a:prstDash val="sysDash"/>
              <a:headEnd type="none" len="sm" w="sm"/>
              <a:tailEnd type="none" len="sm" w="sm"/>
            </a:ln>
          </p:spPr>
        </p:sp>
      </p:grpSp>
      <p:sp>
        <p:nvSpPr>
          <p:cNvPr name="TextBox 18" id="18"/>
          <p:cNvSpPr txBox="true"/>
          <p:nvPr/>
        </p:nvSpPr>
        <p:spPr>
          <a:xfrm rot="0">
            <a:off x="1028700" y="990600"/>
            <a:ext cx="178958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II</a:t>
            </a:r>
          </a:p>
        </p:txBody>
      </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18</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49650" cy="8229600"/>
            <a:chOff x="0" y="0"/>
            <a:chExt cx="21666200" cy="10972800"/>
          </a:xfrm>
        </p:grpSpPr>
        <p:sp>
          <p:nvSpPr>
            <p:cNvPr name="TextBox 3" id="3"/>
            <p:cNvSpPr txBox="true"/>
            <p:nvPr/>
          </p:nvSpPr>
          <p:spPr>
            <a:xfrm rot="0">
              <a:off x="8954839" y="10532533"/>
              <a:ext cx="3731121" cy="396240"/>
            </a:xfrm>
            <a:prstGeom prst="rect">
              <a:avLst/>
            </a:prstGeom>
          </p:spPr>
          <p:txBody>
            <a:bodyPr anchor="t" rtlCol="false" tIns="0" lIns="0" bIns="0" rIns="0">
              <a:spAutoFit/>
            </a:bodyPr>
            <a:lstStyle/>
            <a:p>
              <a:pPr algn="ctr">
                <a:lnSpc>
                  <a:spcPts val="2520"/>
                </a:lnSpc>
              </a:pPr>
              <a:r>
                <a:rPr lang="en-US" sz="1800" spc="-18">
                  <a:solidFill>
                    <a:srgbClr val="FFFFFF"/>
                  </a:solidFill>
                  <a:latin typeface="Helvetica World"/>
                  <a:ea typeface="Helvetica World"/>
                  <a:cs typeface="Helvetica World"/>
                  <a:sym typeface="Helvetica World"/>
                </a:rPr>
                <a:t>Amelia</a:t>
              </a:r>
              <a:r>
                <a:rPr lang="en-US" sz="1800" spc="-18">
                  <a:solidFill>
                    <a:srgbClr val="FFFFFF"/>
                  </a:solidFill>
                  <a:latin typeface="Helvetica World"/>
                  <a:ea typeface="Helvetica World"/>
                  <a:cs typeface="Helvetica World"/>
                  <a:sym typeface="Helvetica World"/>
                </a:rPr>
                <a:t> — Seller AI Assistant</a:t>
              </a:r>
            </a:p>
          </p:txBody>
        </p:sp>
        <p:sp>
          <p:nvSpPr>
            <p:cNvPr name="Freeform 4" id="4"/>
            <p:cNvSpPr/>
            <p:nvPr/>
          </p:nvSpPr>
          <p:spPr>
            <a:xfrm flipH="false" flipV="false" rot="0">
              <a:off x="5663184" y="0"/>
              <a:ext cx="10314432" cy="10972800"/>
            </a:xfrm>
            <a:custGeom>
              <a:avLst/>
              <a:gdLst/>
              <a:ahLst/>
              <a:cxnLst/>
              <a:rect r="r" b="b" t="t" l="l"/>
              <a:pathLst>
                <a:path h="10972800" w="10314432">
                  <a:moveTo>
                    <a:pt x="0" y="0"/>
                  </a:moveTo>
                  <a:lnTo>
                    <a:pt x="10314432" y="0"/>
                  </a:lnTo>
                  <a:lnTo>
                    <a:pt x="10314432" y="10972800"/>
                  </a:lnTo>
                  <a:lnTo>
                    <a:pt x="0" y="10972800"/>
                  </a:lnTo>
                  <a:lnTo>
                    <a:pt x="0" y="0"/>
                  </a:lnTo>
                  <a:close/>
                </a:path>
              </a:pathLst>
            </a:custGeom>
            <a:blipFill>
              <a:blip r:embed="rId2"/>
              <a:stretch>
                <a:fillRect l="0" t="0" r="0" b="0"/>
              </a:stretch>
            </a:blipFill>
          </p:spPr>
        </p:sp>
        <p:sp>
          <p:nvSpPr>
            <p:cNvPr name="TextBox 5" id="5"/>
            <p:cNvSpPr txBox="true"/>
            <p:nvPr/>
          </p:nvSpPr>
          <p:spPr>
            <a:xfrm rot="0">
              <a:off x="0" y="10532533"/>
              <a:ext cx="4199434" cy="396240"/>
            </a:xfrm>
            <a:prstGeom prst="rect">
              <a:avLst/>
            </a:prstGeom>
          </p:spPr>
          <p:txBody>
            <a:bodyPr anchor="t" rtlCol="false" tIns="0" lIns="0" bIns="0" rIns="0">
              <a:spAutoFit/>
            </a:bodyPr>
            <a:lstStyle/>
            <a:p>
              <a:pPr algn="l">
                <a:lnSpc>
                  <a:spcPts val="2520"/>
                </a:lnSpc>
              </a:pPr>
              <a:r>
                <a:rPr lang="en-US" sz="1800" spc="-18">
                  <a:solidFill>
                    <a:srgbClr val="FFFFFF">
                      <a:alpha val="19608"/>
                    </a:srgbClr>
                  </a:solidFill>
                  <a:latin typeface="Helvetica World"/>
                  <a:ea typeface="Helvetica World"/>
                  <a:cs typeface="Helvetica World"/>
                  <a:sym typeface="Helvetica World"/>
                </a:rPr>
                <a:t>S</a:t>
              </a:r>
              <a:r>
                <a:rPr lang="en-US" sz="1800" spc="-18">
                  <a:solidFill>
                    <a:srgbClr val="FFFFFF">
                      <a:alpha val="19608"/>
                    </a:srgbClr>
                  </a:solidFill>
                  <a:latin typeface="Helvetica World"/>
                  <a:ea typeface="Helvetica World"/>
                  <a:cs typeface="Helvetica World"/>
                  <a:sym typeface="Helvetica World"/>
                </a:rPr>
                <a:t>upply Chain by Amazon (SCA)</a:t>
              </a:r>
            </a:p>
          </p:txBody>
        </p:sp>
        <p:sp>
          <p:nvSpPr>
            <p:cNvPr name="Freeform 6" id="6"/>
            <p:cNvSpPr/>
            <p:nvPr/>
          </p:nvSpPr>
          <p:spPr>
            <a:xfrm flipH="false" flipV="false" rot="0">
              <a:off x="0" y="757388"/>
              <a:ext cx="5205984" cy="9813245"/>
            </a:xfrm>
            <a:custGeom>
              <a:avLst/>
              <a:gdLst/>
              <a:ahLst/>
              <a:cxnLst/>
              <a:rect r="r" b="b" t="t" l="l"/>
              <a:pathLst>
                <a:path h="9813245" w="5205984">
                  <a:moveTo>
                    <a:pt x="0" y="0"/>
                  </a:moveTo>
                  <a:lnTo>
                    <a:pt x="5205984" y="0"/>
                  </a:lnTo>
                  <a:lnTo>
                    <a:pt x="5205984" y="9813245"/>
                  </a:lnTo>
                  <a:lnTo>
                    <a:pt x="0" y="9813245"/>
                  </a:lnTo>
                  <a:lnTo>
                    <a:pt x="0" y="0"/>
                  </a:lnTo>
                  <a:close/>
                </a:path>
              </a:pathLst>
            </a:custGeom>
            <a:blipFill>
              <a:blip r:embed="rId3">
                <a:alphaModFix amt="19999"/>
              </a:blip>
              <a:stretch>
                <a:fillRect l="-99999" t="-6436" r="0" b="-6436"/>
              </a:stretch>
            </a:blipFill>
          </p:spPr>
        </p:sp>
        <p:sp>
          <p:nvSpPr>
            <p:cNvPr name="TextBox 7" id="7"/>
            <p:cNvSpPr txBox="true"/>
            <p:nvPr/>
          </p:nvSpPr>
          <p:spPr>
            <a:xfrm rot="0">
              <a:off x="14748966" y="10532533"/>
              <a:ext cx="6891834" cy="396240"/>
            </a:xfrm>
            <a:prstGeom prst="rect">
              <a:avLst/>
            </a:prstGeom>
          </p:spPr>
          <p:txBody>
            <a:bodyPr anchor="t" rtlCol="false" tIns="0" lIns="0" bIns="0" rIns="0">
              <a:spAutoFit/>
            </a:bodyPr>
            <a:lstStyle/>
            <a:p>
              <a:pPr algn="r">
                <a:lnSpc>
                  <a:spcPts val="2520"/>
                </a:lnSpc>
              </a:pPr>
              <a:r>
                <a:rPr lang="en-US" sz="1800" spc="-18">
                  <a:solidFill>
                    <a:srgbClr val="FFFFFF">
                      <a:alpha val="19608"/>
                    </a:srgbClr>
                  </a:solidFill>
                  <a:latin typeface="Helvetica World"/>
                  <a:ea typeface="Helvetica World"/>
                  <a:cs typeface="Helvetica World"/>
                  <a:sym typeface="Helvetica World"/>
                </a:rPr>
                <a:t>Amazon Lending + Amazon Business Lines of Credit</a:t>
              </a:r>
            </a:p>
          </p:txBody>
        </p:sp>
        <p:sp>
          <p:nvSpPr>
            <p:cNvPr name="Freeform 8" id="8"/>
            <p:cNvSpPr/>
            <p:nvPr/>
          </p:nvSpPr>
          <p:spPr>
            <a:xfrm flipH="false" flipV="false" rot="0">
              <a:off x="16609132" y="757388"/>
              <a:ext cx="5031668" cy="9813245"/>
            </a:xfrm>
            <a:custGeom>
              <a:avLst/>
              <a:gdLst/>
              <a:ahLst/>
              <a:cxnLst/>
              <a:rect r="r" b="b" t="t" l="l"/>
              <a:pathLst>
                <a:path h="9813245" w="5031668">
                  <a:moveTo>
                    <a:pt x="0" y="0"/>
                  </a:moveTo>
                  <a:lnTo>
                    <a:pt x="5031668" y="0"/>
                  </a:lnTo>
                  <a:lnTo>
                    <a:pt x="5031668" y="9813245"/>
                  </a:lnTo>
                  <a:lnTo>
                    <a:pt x="0" y="9813245"/>
                  </a:lnTo>
                  <a:lnTo>
                    <a:pt x="0" y="0"/>
                  </a:lnTo>
                  <a:close/>
                </a:path>
              </a:pathLst>
            </a:custGeom>
            <a:blipFill>
              <a:blip r:embed="rId4">
                <a:alphaModFix amt="19999"/>
              </a:blip>
              <a:stretch>
                <a:fillRect l="0" t="-4547" r="-99999" b="-4547"/>
              </a:stretch>
            </a:blipFill>
          </p:spPr>
        </p:sp>
        <p:sp>
          <p:nvSpPr>
            <p:cNvPr name="AutoShape 9" id="9"/>
            <p:cNvSpPr/>
            <p:nvPr/>
          </p:nvSpPr>
          <p:spPr>
            <a:xfrm>
              <a:off x="12700" y="579777"/>
              <a:ext cx="0" cy="9813245"/>
            </a:xfrm>
            <a:prstGeom prst="line">
              <a:avLst/>
            </a:prstGeom>
            <a:ln cap="rnd" w="25400">
              <a:solidFill>
                <a:srgbClr val="FFFFFF">
                  <a:alpha val="49804"/>
                </a:srgbClr>
              </a:solidFill>
              <a:prstDash val="sysDash"/>
              <a:headEnd type="none" len="sm" w="sm"/>
              <a:tailEnd type="none" len="sm" w="sm"/>
            </a:ln>
          </p:spPr>
        </p:sp>
        <p:sp>
          <p:nvSpPr>
            <p:cNvPr name="AutoShape 10" id="10"/>
            <p:cNvSpPr/>
            <p:nvPr/>
          </p:nvSpPr>
          <p:spPr>
            <a:xfrm>
              <a:off x="21653500" y="579777"/>
              <a:ext cx="0" cy="9813245"/>
            </a:xfrm>
            <a:prstGeom prst="line">
              <a:avLst/>
            </a:prstGeom>
            <a:ln cap="rnd" w="25400">
              <a:solidFill>
                <a:srgbClr val="FFFFFF">
                  <a:alpha val="49804"/>
                </a:srgbClr>
              </a:solidFill>
              <a:prstDash val="sysDash"/>
              <a:headEnd type="none" len="sm" w="sm"/>
              <a:tailEnd type="none" len="sm" w="sm"/>
            </a:ln>
          </p:spPr>
        </p:sp>
        <p:sp>
          <p:nvSpPr>
            <p:cNvPr name="AutoShape 11" id="11"/>
            <p:cNvSpPr/>
            <p:nvPr/>
          </p:nvSpPr>
          <p:spPr>
            <a:xfrm flipV="true">
              <a:off x="12700" y="5486400"/>
              <a:ext cx="5193284" cy="0"/>
            </a:xfrm>
            <a:prstGeom prst="line">
              <a:avLst/>
            </a:prstGeom>
            <a:ln cap="rnd" w="25400">
              <a:solidFill>
                <a:srgbClr val="FFFFFF">
                  <a:alpha val="49804"/>
                </a:srgbClr>
              </a:solidFill>
              <a:prstDash val="sysDash"/>
              <a:headEnd type="none" len="sm" w="sm"/>
              <a:tailEnd type="none" len="sm" w="sm"/>
            </a:ln>
          </p:spPr>
        </p:sp>
        <p:sp>
          <p:nvSpPr>
            <p:cNvPr name="AutoShape 12" id="12"/>
            <p:cNvSpPr/>
            <p:nvPr/>
          </p:nvSpPr>
          <p:spPr>
            <a:xfrm flipV="true">
              <a:off x="16460216" y="5486400"/>
              <a:ext cx="5193284" cy="0"/>
            </a:xfrm>
            <a:prstGeom prst="line">
              <a:avLst/>
            </a:prstGeom>
            <a:ln cap="rnd" w="25400">
              <a:solidFill>
                <a:srgbClr val="FFFFFF">
                  <a:alpha val="49804"/>
                </a:srgbClr>
              </a:solidFill>
              <a:prstDash val="sysDash"/>
              <a:headEnd type="none" len="sm" w="sm"/>
              <a:tailEnd type="none" len="sm" w="sm"/>
            </a:ln>
          </p:spPr>
        </p:sp>
      </p:grpSp>
      <p:grpSp>
        <p:nvGrpSpPr>
          <p:cNvPr name="Group 13" id="13"/>
          <p:cNvGrpSpPr/>
          <p:nvPr/>
        </p:nvGrpSpPr>
        <p:grpSpPr>
          <a:xfrm rot="0">
            <a:off x="1028700" y="727075"/>
            <a:ext cx="16230600" cy="301625"/>
            <a:chOff x="0" y="0"/>
            <a:chExt cx="21640800" cy="402167"/>
          </a:xfrm>
        </p:grpSpPr>
        <p:sp>
          <p:nvSpPr>
            <p:cNvPr name="TextBox 14" id="1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5" id="1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6" id="16"/>
          <p:cNvSpPr txBox="true"/>
          <p:nvPr/>
        </p:nvSpPr>
        <p:spPr>
          <a:xfrm rot="0">
            <a:off x="15154573" y="990600"/>
            <a:ext cx="210472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B2B - Core Service</a:t>
            </a:r>
          </a:p>
        </p:txBody>
      </p:sp>
      <p:sp>
        <p:nvSpPr>
          <p:cNvPr name="TextBox 17" id="17"/>
          <p:cNvSpPr txBox="true"/>
          <p:nvPr/>
        </p:nvSpPr>
        <p:spPr>
          <a:xfrm rot="0">
            <a:off x="1028700" y="990600"/>
            <a:ext cx="178958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II</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19</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4356720" y="7426286"/>
            <a:ext cx="12902580" cy="989965"/>
          </a:xfrm>
          <a:prstGeom prst="rect">
            <a:avLst/>
          </a:prstGeom>
        </p:spPr>
        <p:txBody>
          <a:bodyPr anchor="t" rtlCol="false" tIns="0" lIns="0" bIns="0" rIns="0">
            <a:spAutoFit/>
          </a:bodyPr>
          <a:lstStyle/>
          <a:p>
            <a:pPr algn="l">
              <a:lnSpc>
                <a:spcPts val="2659"/>
              </a:lnSpc>
              <a:spcBef>
                <a:spcPct val="0"/>
              </a:spcBef>
            </a:pPr>
            <a:r>
              <a:rPr lang="en-US" sz="1899" spc="-28">
                <a:solidFill>
                  <a:srgbClr val="FFFFFF"/>
                </a:solidFill>
                <a:latin typeface="Helvetica World"/>
                <a:ea typeface="Helvetica World"/>
                <a:cs typeface="Helvetica World"/>
                <a:sym typeface="Helvetica World"/>
              </a:rPr>
              <a:t>Amelia</a:t>
            </a:r>
            <a:r>
              <a:rPr lang="en-US" sz="1899" spc="-28">
                <a:solidFill>
                  <a:srgbClr val="FFFFFF"/>
                </a:solidFill>
                <a:latin typeface="Helvetica World"/>
                <a:ea typeface="Helvetica World"/>
                <a:cs typeface="Helvetica World"/>
                <a:sym typeface="Helvetica World"/>
              </a:rPr>
              <a:t> is a seller-focused AI assistant embedded across Seller Central, delivering real-time metrics, operational diagnostics, and context-aware insights tailored to each seller's business." "It functions as a persistent intelligence layerthat supports commercial decision-making without disrupting workflow</a:t>
            </a:r>
          </a:p>
        </p:txBody>
      </p:sp>
      <p:sp>
        <p:nvSpPr>
          <p:cNvPr name="TextBox 6" id="6"/>
          <p:cNvSpPr txBox="true"/>
          <p:nvPr/>
        </p:nvSpPr>
        <p:spPr>
          <a:xfrm rot="0">
            <a:off x="13919448" y="990600"/>
            <a:ext cx="333985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Future Service Direction (Shift)</a:t>
            </a:r>
          </a:p>
        </p:txBody>
      </p:sp>
      <p:sp>
        <p:nvSpPr>
          <p:cNvPr name="TextBox 7" id="7"/>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grpSp>
        <p:nvGrpSpPr>
          <p:cNvPr name="Group 8" id="8"/>
          <p:cNvGrpSpPr/>
          <p:nvPr/>
        </p:nvGrpSpPr>
        <p:grpSpPr>
          <a:xfrm rot="0">
            <a:off x="1028700" y="4136073"/>
            <a:ext cx="16230600" cy="2014854"/>
            <a:chOff x="0" y="0"/>
            <a:chExt cx="21640800" cy="2686472"/>
          </a:xfrm>
        </p:grpSpPr>
        <p:sp>
          <p:nvSpPr>
            <p:cNvPr name="AutoShape 9" id="9"/>
            <p:cNvSpPr/>
            <p:nvPr/>
          </p:nvSpPr>
          <p:spPr>
            <a:xfrm>
              <a:off x="12862011" y="1119883"/>
              <a:ext cx="3072851" cy="0"/>
            </a:xfrm>
            <a:prstGeom prst="line">
              <a:avLst/>
            </a:prstGeom>
            <a:ln cap="flat" w="25400">
              <a:solidFill>
                <a:srgbClr val="FFFFFF"/>
              </a:solidFill>
              <a:prstDash val="sysDash"/>
              <a:headEnd type="none" len="sm" w="sm"/>
              <a:tailEnd type="arrow" len="sm" w="med"/>
            </a:ln>
          </p:spPr>
        </p:sp>
        <p:sp>
          <p:nvSpPr>
            <p:cNvPr name="TextBox 10" id="10"/>
            <p:cNvSpPr txBox="true"/>
            <p:nvPr/>
          </p:nvSpPr>
          <p:spPr>
            <a:xfrm rot="0">
              <a:off x="7600998" y="69593"/>
              <a:ext cx="3219402" cy="1062990"/>
            </a:xfrm>
            <a:prstGeom prst="rect">
              <a:avLst/>
            </a:prstGeom>
          </p:spPr>
          <p:txBody>
            <a:bodyPr anchor="t" rtlCol="false" tIns="0" lIns="0" bIns="0" rIns="0">
              <a:spAutoFit/>
            </a:bodyPr>
            <a:lstStyle/>
            <a:p>
              <a:pPr algn="just">
                <a:lnSpc>
                  <a:spcPts val="6719"/>
                </a:lnSpc>
                <a:spcBef>
                  <a:spcPct val="0"/>
                </a:spcBef>
              </a:pPr>
              <a:r>
                <a:rPr lang="en-US" sz="4800" spc="-72">
                  <a:solidFill>
                    <a:srgbClr val="FFFFFF">
                      <a:alpha val="49804"/>
                    </a:srgbClr>
                  </a:solidFill>
                  <a:latin typeface="Helvetica World"/>
                  <a:ea typeface="Helvetica World"/>
                  <a:cs typeface="Helvetica World"/>
                  <a:sym typeface="Helvetica World"/>
                </a:rPr>
                <a:t>Action </a:t>
              </a:r>
            </a:p>
          </p:txBody>
        </p:sp>
        <p:sp>
          <p:nvSpPr>
            <p:cNvPr name="TextBox 11" id="11"/>
            <p:cNvSpPr txBox="true"/>
            <p:nvPr/>
          </p:nvSpPr>
          <p:spPr>
            <a:xfrm rot="0">
              <a:off x="17976472" y="69593"/>
              <a:ext cx="3664328" cy="1062990"/>
            </a:xfrm>
            <a:prstGeom prst="rect">
              <a:avLst/>
            </a:prstGeom>
          </p:spPr>
          <p:txBody>
            <a:bodyPr anchor="t" rtlCol="false" tIns="0" lIns="0" bIns="0" rIns="0">
              <a:spAutoFit/>
            </a:bodyPr>
            <a:lstStyle/>
            <a:p>
              <a:pPr algn="r">
                <a:lnSpc>
                  <a:spcPts val="6719"/>
                </a:lnSpc>
                <a:spcBef>
                  <a:spcPct val="0"/>
                </a:spcBef>
              </a:pPr>
              <a:r>
                <a:rPr lang="en-US" sz="4800" spc="-72">
                  <a:solidFill>
                    <a:srgbClr val="FFFFFF"/>
                  </a:solidFill>
                  <a:latin typeface="Helvetica World"/>
                  <a:ea typeface="Helvetica World"/>
                  <a:cs typeface="Helvetica World"/>
                  <a:sym typeface="Helvetica World"/>
                </a:rPr>
                <a:t>Autonomy</a:t>
              </a:r>
            </a:p>
          </p:txBody>
        </p:sp>
        <p:sp>
          <p:nvSpPr>
            <p:cNvPr name="TextBox 12" id="12"/>
            <p:cNvSpPr txBox="true"/>
            <p:nvPr/>
          </p:nvSpPr>
          <p:spPr>
            <a:xfrm rot="0">
              <a:off x="7600998" y="1767249"/>
              <a:ext cx="3664328" cy="515620"/>
            </a:xfrm>
            <a:prstGeom prst="rect">
              <a:avLst/>
            </a:prstGeom>
          </p:spPr>
          <p:txBody>
            <a:bodyPr anchor="t" rtlCol="false" tIns="0" lIns="0" bIns="0" rIns="0">
              <a:spAutoFit/>
            </a:bodyPr>
            <a:lstStyle/>
            <a:p>
              <a:pPr algn="l">
                <a:lnSpc>
                  <a:spcPts val="3359"/>
                </a:lnSpc>
                <a:spcBef>
                  <a:spcPct val="0"/>
                </a:spcBef>
              </a:pPr>
              <a:r>
                <a:rPr lang="en-US" sz="2400" spc="-36">
                  <a:solidFill>
                    <a:srgbClr val="FFFFFF">
                      <a:alpha val="49804"/>
                    </a:srgbClr>
                  </a:solidFill>
                  <a:latin typeface="Helvetica World"/>
                  <a:ea typeface="Helvetica World"/>
                  <a:cs typeface="Helvetica World"/>
                  <a:sym typeface="Helvetica World"/>
                </a:rPr>
                <a:t>[2026]</a:t>
              </a:r>
            </a:p>
          </p:txBody>
        </p:sp>
        <p:sp>
          <p:nvSpPr>
            <p:cNvPr name="TextBox 13" id="13"/>
            <p:cNvSpPr txBox="true"/>
            <p:nvPr/>
          </p:nvSpPr>
          <p:spPr>
            <a:xfrm rot="0">
              <a:off x="17976472" y="2006009"/>
              <a:ext cx="3664328" cy="515620"/>
            </a:xfrm>
            <a:prstGeom prst="rect">
              <a:avLst/>
            </a:prstGeom>
          </p:spPr>
          <p:txBody>
            <a:bodyPr anchor="t" rtlCol="false" tIns="0" lIns="0" bIns="0" rIns="0">
              <a:spAutoFit/>
            </a:bodyPr>
            <a:lstStyle/>
            <a:p>
              <a:pPr algn="r">
                <a:lnSpc>
                  <a:spcPts val="3359"/>
                </a:lnSpc>
                <a:spcBef>
                  <a:spcPct val="0"/>
                </a:spcBef>
              </a:pPr>
              <a:r>
                <a:rPr lang="en-US" sz="2400" spc="-36">
                  <a:solidFill>
                    <a:srgbClr val="FFFFFF"/>
                  </a:solidFill>
                  <a:latin typeface="Helvetica World"/>
                  <a:ea typeface="Helvetica World"/>
                  <a:cs typeface="Helvetica World"/>
                  <a:sym typeface="Helvetica World"/>
                </a:rPr>
                <a:t>[2030]</a:t>
              </a:r>
            </a:p>
          </p:txBody>
        </p:sp>
        <p:sp>
          <p:nvSpPr>
            <p:cNvPr name="Freeform 14" id="14"/>
            <p:cNvSpPr/>
            <p:nvPr/>
          </p:nvSpPr>
          <p:spPr>
            <a:xfrm flipH="false" flipV="false" rot="0">
              <a:off x="0" y="0"/>
              <a:ext cx="6834205" cy="2686472"/>
            </a:xfrm>
            <a:custGeom>
              <a:avLst/>
              <a:gdLst/>
              <a:ahLst/>
              <a:cxnLst/>
              <a:rect r="r" b="b" t="t" l="l"/>
              <a:pathLst>
                <a:path h="2686472" w="6834205">
                  <a:moveTo>
                    <a:pt x="0" y="0"/>
                  </a:moveTo>
                  <a:lnTo>
                    <a:pt x="6834205" y="0"/>
                  </a:lnTo>
                  <a:lnTo>
                    <a:pt x="6834205" y="2686472"/>
                  </a:lnTo>
                  <a:lnTo>
                    <a:pt x="0" y="2686472"/>
                  </a:lnTo>
                  <a:lnTo>
                    <a:pt x="0" y="0"/>
                  </a:lnTo>
                  <a:close/>
                </a:path>
              </a:pathLst>
            </a:custGeom>
            <a:blipFill>
              <a:blip r:embed="rId2"/>
              <a:stretch>
                <a:fillRect l="0" t="0" r="0" b="0"/>
              </a:stretch>
            </a:blipFill>
          </p:spPr>
        </p:sp>
      </p:grpSp>
      <p:sp>
        <p:nvSpPr>
          <p:cNvPr name="AutoShape 15" id="15"/>
          <p:cNvSpPr/>
          <p:nvPr/>
        </p:nvSpPr>
        <p:spPr>
          <a:xfrm>
            <a:off x="1028700" y="7017260"/>
            <a:ext cx="16230600" cy="0"/>
          </a:xfrm>
          <a:prstGeom prst="line">
            <a:avLst/>
          </a:prstGeom>
          <a:ln cap="rnd" w="19050">
            <a:solidFill>
              <a:srgbClr val="FFFFFF">
                <a:alpha val="49804"/>
              </a:srgbClr>
            </a:solidFill>
            <a:prstDash val="sysDash"/>
            <a:headEnd type="none" len="sm" w="sm"/>
            <a:tailEnd type="none" len="sm" w="sm"/>
          </a:ln>
        </p:spPr>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20</a:t>
              </a:r>
            </a:p>
          </p:txBody>
        </p:sp>
      </p:grpSp>
    </p:spTree>
  </p:cSld>
  <p:clrMapOvr>
    <a:masterClrMapping/>
  </p:clrMapOvr>
</p:sld>
</file>

<file path=ppt/slides/slide2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82775" y="2842577"/>
            <a:ext cx="6156127" cy="712470"/>
          </a:xfrm>
          <a:prstGeom prst="rect">
            <a:avLst/>
          </a:prstGeom>
        </p:spPr>
        <p:txBody>
          <a:bodyPr anchor="t" rtlCol="false" tIns="0" lIns="0" bIns="0" rIns="0">
            <a:spAutoFit/>
          </a:bodyPr>
          <a:lstStyle/>
          <a:p>
            <a:pPr algn="l">
              <a:lnSpc>
                <a:spcPts val="5880"/>
              </a:lnSpc>
            </a:pPr>
            <a:r>
              <a:rPr lang="en-US" sz="4200" spc="-42">
                <a:solidFill>
                  <a:srgbClr val="FFFFFF"/>
                </a:solidFill>
                <a:latin typeface="Helvetica World"/>
                <a:ea typeface="Helvetica World"/>
                <a:cs typeface="Helvetica World"/>
                <a:sym typeface="Helvetica World"/>
              </a:rPr>
              <a:t>Amelia </a:t>
            </a:r>
            <a:r>
              <a:rPr lang="en-US" sz="4200" spc="-42">
                <a:solidFill>
                  <a:srgbClr val="FFFFFF"/>
                </a:solidFill>
                <a:latin typeface="Helvetica World"/>
                <a:ea typeface="Helvetica World"/>
                <a:cs typeface="Helvetica World"/>
                <a:sym typeface="Helvetica World"/>
              </a:rPr>
              <a:t>makes it easier to...</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6" id="6"/>
          <p:cNvGrpSpPr/>
          <p:nvPr/>
        </p:nvGrpSpPr>
        <p:grpSpPr>
          <a:xfrm rot="0">
            <a:off x="1028700" y="4258370"/>
            <a:ext cx="16230600" cy="2782729"/>
            <a:chOff x="0" y="0"/>
            <a:chExt cx="21640800" cy="3710305"/>
          </a:xfrm>
        </p:grpSpPr>
        <p:sp>
          <p:nvSpPr>
            <p:cNvPr name="TextBox 7" id="7"/>
            <p:cNvSpPr txBox="true"/>
            <p:nvPr/>
          </p:nvSpPr>
          <p:spPr>
            <a:xfrm rot="0">
              <a:off x="0" y="1153583"/>
              <a:ext cx="4503350" cy="25524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Access accurate answers witho</a:t>
              </a:r>
              <a:r>
                <a:rPr lang="en-US" sz="1599" spc="-15">
                  <a:solidFill>
                    <a:srgbClr val="FFFFFF">
                      <a:alpha val="69804"/>
                    </a:srgbClr>
                  </a:solidFill>
                  <a:latin typeface="Helvetica World"/>
                  <a:ea typeface="Helvetica World"/>
                  <a:cs typeface="Helvetica World"/>
                  <a:sym typeface="Helvetica World"/>
                </a:rPr>
                <a:t>ut navigating multiple resources. Sellers can ask questions on any topic, from policy compliance to seasonal preparation, and receive personalized, source-backed responses directly within Seller Central.</a:t>
              </a:r>
            </a:p>
          </p:txBody>
        </p:sp>
        <p:sp>
          <p:nvSpPr>
            <p:cNvPr name="TextBox 8" id="8"/>
            <p:cNvSpPr txBox="true"/>
            <p:nvPr/>
          </p:nvSpPr>
          <p:spPr>
            <a:xfrm rot="0">
              <a:off x="0" y="-35983"/>
              <a:ext cx="3135610"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Rapid Intelligence</a:t>
              </a:r>
            </a:p>
          </p:txBody>
        </p:sp>
        <p:sp>
          <p:nvSpPr>
            <p:cNvPr name="TextBox 9" id="9"/>
            <p:cNvSpPr txBox="true"/>
            <p:nvPr/>
          </p:nvSpPr>
          <p:spPr>
            <a:xfrm rot="0">
              <a:off x="5712483" y="1153583"/>
              <a:ext cx="4503350" cy="18158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Sale</a:t>
              </a:r>
              <a:r>
                <a:rPr lang="en-US" sz="1599" spc="-15">
                  <a:solidFill>
                    <a:srgbClr val="FFFFFF">
                      <a:alpha val="69804"/>
                    </a:srgbClr>
                  </a:solidFill>
                  <a:latin typeface="Helvetica World"/>
                  <a:ea typeface="Helvetica World"/>
                  <a:cs typeface="Helvetica World"/>
                  <a:sym typeface="Helvetica World"/>
                </a:rPr>
                <a:t>s figures, units sold,</a:t>
              </a:r>
              <a:r>
                <a:rPr lang="en-US" sz="1599" spc="-15">
                  <a:solidFill>
                    <a:srgbClr val="FFFFFF">
                      <a:alpha val="69804"/>
                    </a:srgbClr>
                  </a:solidFill>
                  <a:latin typeface="Helvetica World"/>
                  <a:ea typeface="Helvetica World"/>
                  <a:cs typeface="Helvetica World"/>
                  <a:sym typeface="Helvetica World"/>
                </a:rPr>
                <a:t> and website traffic are surfaced on demand, with year-over-year comparisons. Results can be filtered down to individual product level for more granular insight.</a:t>
              </a:r>
            </a:p>
          </p:txBody>
        </p:sp>
        <p:sp>
          <p:nvSpPr>
            <p:cNvPr name="TextBox 10" id="10"/>
            <p:cNvSpPr txBox="true"/>
            <p:nvPr/>
          </p:nvSpPr>
          <p:spPr>
            <a:xfrm rot="0">
              <a:off x="5712483" y="-38100"/>
              <a:ext cx="2604492"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Metric Visibility</a:t>
              </a:r>
            </a:p>
          </p:txBody>
        </p:sp>
        <p:sp>
          <p:nvSpPr>
            <p:cNvPr name="TextBox 11" id="11"/>
            <p:cNvSpPr txBox="true"/>
            <p:nvPr/>
          </p:nvSpPr>
          <p:spPr>
            <a:xfrm rot="0">
              <a:off x="11424967" y="1153583"/>
              <a:ext cx="4503350" cy="21841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Seller</a:t>
              </a:r>
              <a:r>
                <a:rPr lang="en-US" sz="1599" spc="-15">
                  <a:solidFill>
                    <a:srgbClr val="FFFFFF">
                      <a:alpha val="69804"/>
                    </a:srgbClr>
                  </a:solidFill>
                  <a:latin typeface="Helvetica World"/>
                  <a:ea typeface="Helvetica World"/>
                  <a:cs typeface="Helvetica World"/>
                  <a:sym typeface="Helvetica World"/>
                </a:rPr>
                <a:t>s describe a problem and receive a struct</a:t>
              </a:r>
              <a:r>
                <a:rPr lang="en-US" sz="1599" spc="-15">
                  <a:solidFill>
                    <a:srgbClr val="FFFFFF">
                      <a:alpha val="69804"/>
                    </a:srgbClr>
                  </a:solidFill>
                  <a:latin typeface="Helvetica World"/>
                  <a:ea typeface="Helvetica World"/>
                  <a:cs typeface="Helvetica World"/>
                  <a:sym typeface="Helvetica World"/>
                </a:rPr>
                <a:t>ured resolution path. When necessary, the system escalates directly to support without requiring the seller to navigate separately.</a:t>
              </a:r>
            </a:p>
          </p:txBody>
        </p:sp>
        <p:sp>
          <p:nvSpPr>
            <p:cNvPr name="TextBox 12" id="12"/>
            <p:cNvSpPr txBox="true"/>
            <p:nvPr/>
          </p:nvSpPr>
          <p:spPr>
            <a:xfrm rot="0">
              <a:off x="11424967" y="-35983"/>
              <a:ext cx="3090069"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Issue Diagnostics</a:t>
              </a:r>
            </a:p>
          </p:txBody>
        </p:sp>
        <p:sp>
          <p:nvSpPr>
            <p:cNvPr name="TextBox 13" id="13"/>
            <p:cNvSpPr txBox="true"/>
            <p:nvPr/>
          </p:nvSpPr>
          <p:spPr>
            <a:xfrm rot="0">
              <a:off x="17137450" y="1153583"/>
              <a:ext cx="4503350" cy="18158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Available across all pages of Selle</a:t>
              </a:r>
              <a:r>
                <a:rPr lang="en-US" sz="1599" spc="-15">
                  <a:solidFill>
                    <a:srgbClr val="FFFFFF">
                      <a:alpha val="69804"/>
                    </a:srgbClr>
                  </a:solidFill>
                  <a:latin typeface="Helvetica World"/>
                  <a:ea typeface="Helvetica World"/>
                  <a:cs typeface="Helvetica World"/>
                  <a:sym typeface="Helvetica World"/>
                </a:rPr>
                <a:t>r Central at any time. Sellers can initiate a query from any point in their workflow without switching contexts or waiting for scheduled support hours.</a:t>
              </a:r>
            </a:p>
          </p:txBody>
        </p:sp>
        <p:sp>
          <p:nvSpPr>
            <p:cNvPr name="TextBox 14" id="14"/>
            <p:cNvSpPr txBox="true"/>
            <p:nvPr/>
          </p:nvSpPr>
          <p:spPr>
            <a:xfrm rot="0">
              <a:off x="17137450" y="-38100"/>
              <a:ext cx="4270077"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Continuous Accessibility</a:t>
              </a:r>
            </a:p>
          </p:txBody>
        </p:sp>
        <p:sp>
          <p:nvSpPr>
            <p:cNvPr name="AutoShape 15" id="15"/>
            <p:cNvSpPr/>
            <p:nvPr/>
          </p:nvSpPr>
          <p:spPr>
            <a:xfrm flipH="true">
              <a:off x="16537917" y="0"/>
              <a:ext cx="0" cy="3706072"/>
            </a:xfrm>
            <a:prstGeom prst="line">
              <a:avLst/>
            </a:prstGeom>
            <a:ln cap="rnd" w="25400">
              <a:solidFill>
                <a:srgbClr val="FFFFFF">
                  <a:alpha val="49804"/>
                </a:srgbClr>
              </a:solidFill>
              <a:prstDash val="sysDash"/>
              <a:headEnd type="none" len="sm" w="sm"/>
              <a:tailEnd type="none" len="sm" w="sm"/>
            </a:ln>
          </p:spPr>
        </p:sp>
        <p:sp>
          <p:nvSpPr>
            <p:cNvPr name="AutoShape 16" id="16"/>
            <p:cNvSpPr/>
            <p:nvPr/>
          </p:nvSpPr>
          <p:spPr>
            <a:xfrm flipH="true">
              <a:off x="10833100" y="2117"/>
              <a:ext cx="0" cy="3706072"/>
            </a:xfrm>
            <a:prstGeom prst="line">
              <a:avLst/>
            </a:prstGeom>
            <a:ln cap="rnd" w="25400">
              <a:solidFill>
                <a:srgbClr val="FFFFFF">
                  <a:alpha val="49804"/>
                </a:srgbClr>
              </a:solidFill>
              <a:prstDash val="sysDash"/>
              <a:headEnd type="none" len="sm" w="sm"/>
              <a:tailEnd type="none" len="sm" w="sm"/>
            </a:ln>
          </p:spPr>
        </p:sp>
        <p:sp>
          <p:nvSpPr>
            <p:cNvPr name="AutoShape 17" id="17"/>
            <p:cNvSpPr/>
            <p:nvPr/>
          </p:nvSpPr>
          <p:spPr>
            <a:xfrm flipH="true">
              <a:off x="5115583" y="4233"/>
              <a:ext cx="0" cy="3706072"/>
            </a:xfrm>
            <a:prstGeom prst="line">
              <a:avLst/>
            </a:prstGeom>
            <a:ln cap="rnd" w="25400">
              <a:solidFill>
                <a:srgbClr val="FFFFFF">
                  <a:alpha val="49804"/>
                </a:srgbClr>
              </a:solidFill>
              <a:prstDash val="sysDash"/>
              <a:headEnd type="none" len="sm" w="sm"/>
              <a:tailEnd type="none" len="sm" w="sm"/>
            </a:ln>
          </p:spPr>
        </p:sp>
      </p:grpSp>
      <p:sp>
        <p:nvSpPr>
          <p:cNvPr name="TextBox 18" id="18"/>
          <p:cNvSpPr txBox="true"/>
          <p:nvPr/>
        </p:nvSpPr>
        <p:spPr>
          <a:xfrm rot="0">
            <a:off x="14175581" y="990600"/>
            <a:ext cx="3083719"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Amazon’s Definition of Value</a:t>
            </a:r>
          </a:p>
        </p:txBody>
      </p:sp>
      <p:sp>
        <p:nvSpPr>
          <p:cNvPr name="TextBox 19" id="19"/>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sp>
        <p:nvSpPr>
          <p:cNvPr name="TextBox 20" id="20"/>
          <p:cNvSpPr txBox="true"/>
          <p:nvPr/>
        </p:nvSpPr>
        <p:spPr>
          <a:xfrm rot="0">
            <a:off x="9544164" y="3102292"/>
            <a:ext cx="7715136" cy="240665"/>
          </a:xfrm>
          <a:prstGeom prst="rect">
            <a:avLst/>
          </a:prstGeom>
        </p:spPr>
        <p:txBody>
          <a:bodyPr anchor="t" rtlCol="false" tIns="0" lIns="0" bIns="0" rIns="0">
            <a:spAutoFit/>
          </a:bodyPr>
          <a:lstStyle/>
          <a:p>
            <a:pPr algn="r">
              <a:lnSpc>
                <a:spcPts val="1960"/>
              </a:lnSpc>
              <a:spcBef>
                <a:spcPct val="0"/>
              </a:spcBef>
            </a:pPr>
            <a:r>
              <a:rPr lang="en-US" sz="1400" spc="-21">
                <a:solidFill>
                  <a:srgbClr val="FFFFFF">
                    <a:alpha val="49804"/>
                  </a:srgbClr>
                </a:solidFill>
                <a:latin typeface="Helvetica World"/>
                <a:ea typeface="Helvetica World"/>
                <a:cs typeface="Helvetica World"/>
                <a:sym typeface="Helvetica World"/>
              </a:rPr>
              <a:t>Source: https://www.aboutamazon.com/news/innovation-at-amazon/amazon-project-amelia</a:t>
            </a:r>
          </a:p>
        </p:txBody>
      </p:sp>
      <p:sp>
        <p:nvSpPr>
          <p:cNvPr name="TextBox 21" id="21"/>
          <p:cNvSpPr txBox="true"/>
          <p:nvPr/>
        </p:nvSpPr>
        <p:spPr>
          <a:xfrm rot="0">
            <a:off x="1028700" y="7759661"/>
            <a:ext cx="16230600" cy="656590"/>
          </a:xfrm>
          <a:prstGeom prst="rect">
            <a:avLst/>
          </a:prstGeom>
        </p:spPr>
        <p:txBody>
          <a:bodyPr anchor="t" rtlCol="false" tIns="0" lIns="0" bIns="0" rIns="0">
            <a:spAutoFit/>
          </a:bodyPr>
          <a:lstStyle/>
          <a:p>
            <a:pPr algn="r">
              <a:lnSpc>
                <a:spcPts val="2659"/>
              </a:lnSpc>
            </a:pPr>
            <a:r>
              <a:rPr lang="en-US" sz="1899" spc="-18">
                <a:solidFill>
                  <a:srgbClr val="FFFFFF"/>
                </a:solidFill>
                <a:latin typeface="Helvetica World"/>
                <a:ea typeface="Helvetica World"/>
                <a:cs typeface="Helvetica World"/>
                <a:sym typeface="Helvetica World"/>
              </a:rPr>
              <a:t>P</a:t>
            </a:r>
            <a:r>
              <a:rPr lang="en-US" sz="1899" spc="-18">
                <a:solidFill>
                  <a:srgbClr val="FFFFFF"/>
                </a:solidFill>
                <a:latin typeface="Helvetica World"/>
                <a:ea typeface="Helvetica World"/>
                <a:cs typeface="Helvetica World"/>
                <a:sym typeface="Helvetica World"/>
              </a:rPr>
              <a:t>roject Amelia is a seller-focused AI assistant embedded across Seller Central, delivering real-time metrics, operational diagnostics, and context-aware insights tailored to each seller's business. It functions as a persistent intelligence layer that supports commercial decision-making without disrupting workflow.</a:t>
            </a:r>
          </a:p>
        </p:txBody>
      </p:sp>
      <p:grpSp>
        <p:nvGrpSpPr>
          <p:cNvPr name="Group 22" id="22"/>
          <p:cNvGrpSpPr/>
          <p:nvPr/>
        </p:nvGrpSpPr>
        <p:grpSpPr>
          <a:xfrm rot="0">
            <a:off x="1028700" y="9258300"/>
            <a:ext cx="16230600" cy="301625"/>
            <a:chOff x="0" y="0"/>
            <a:chExt cx="21640800" cy="402167"/>
          </a:xfrm>
        </p:grpSpPr>
        <p:sp>
          <p:nvSpPr>
            <p:cNvPr name="TextBox 23" id="2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4" id="2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21</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02025" cy="7371921"/>
          </a:xfrm>
          <a:custGeom>
            <a:avLst/>
            <a:gdLst/>
            <a:ahLst/>
            <a:cxnLst/>
            <a:rect r="r" b="b" t="t" l="l"/>
            <a:pathLst>
              <a:path h="7371921" w="16202025">
                <a:moveTo>
                  <a:pt x="0" y="0"/>
                </a:moveTo>
                <a:lnTo>
                  <a:pt x="16202026" y="0"/>
                </a:lnTo>
                <a:lnTo>
                  <a:pt x="16202026" y="7371921"/>
                </a:lnTo>
                <a:lnTo>
                  <a:pt x="0" y="7371921"/>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sp>
        <p:nvSpPr>
          <p:cNvPr name="TextBox 5" id="5"/>
          <p:cNvSpPr txBox="true"/>
          <p:nvPr/>
        </p:nvSpPr>
        <p:spPr>
          <a:xfrm rot="0">
            <a:off x="1019175" y="8578850"/>
            <a:ext cx="6404446"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Amelia 1.0 - Analytics Branch</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sp>
        <p:nvSpPr>
          <p:cNvPr name="TextBox 10" id="10"/>
          <p:cNvSpPr txBox="true"/>
          <p:nvPr/>
        </p:nvSpPr>
        <p:spPr>
          <a:xfrm rot="0">
            <a:off x="7705933" y="8566150"/>
            <a:ext cx="953907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Accel</a:t>
            </a:r>
            <a:r>
              <a:rPr lang="en-US" sz="2000" spc="-30">
                <a:solidFill>
                  <a:srgbClr val="FFFFFF"/>
                </a:solidFill>
                <a:latin typeface="Helvetica World"/>
                <a:ea typeface="Helvetica World"/>
                <a:cs typeface="Helvetica World"/>
                <a:sym typeface="Helvetica World"/>
              </a:rPr>
              <a:t>erates data-driven decisions; enables early anomaly detection; improves operational efficiency.</a:t>
            </a:r>
          </a:p>
        </p:txBody>
      </p:sp>
      <p:sp>
        <p:nvSpPr>
          <p:cNvPr name="TextBox 11" id="11"/>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2" id="12"/>
          <p:cNvSpPr txBox="true"/>
          <p:nvPr/>
        </p:nvSpPr>
        <p:spPr>
          <a:xfrm rot="0">
            <a:off x="3794641"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S</a:t>
            </a:r>
            <a:r>
              <a:rPr lang="en-US" sz="999" spc="-14">
                <a:solidFill>
                  <a:srgbClr val="FFFFFF">
                    <a:alpha val="49804"/>
                  </a:srgbClr>
                </a:solidFill>
                <a:latin typeface="Helvetica World"/>
                <a:ea typeface="Helvetica World"/>
                <a:cs typeface="Helvetica World"/>
                <a:sym typeface="Helvetica World"/>
              </a:rPr>
              <a:t>ales Analytics ingests revenue and orders, detects trends and seasonal patterns, tracks conversions and refunds by channel. Ingest → Aggregate → Detect → Correlate → Emit.</a:t>
            </a:r>
          </a:p>
        </p:txBody>
      </p:sp>
      <p:sp>
        <p:nvSpPr>
          <p:cNvPr name="TextBox 13" id="13"/>
          <p:cNvSpPr txBox="true"/>
          <p:nvPr/>
        </p:nvSpPr>
        <p:spPr>
          <a:xfrm rot="0">
            <a:off x="9057564"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erformance Metrics calculates KPIs, benchmarks against industry, projects growth, and indexes account health. Collect → Calculate → Benchmark → Project → Emit.</a:t>
            </a:r>
          </a:p>
        </p:txBody>
      </p:sp>
      <p:sp>
        <p:nvSpPr>
          <p:cNvPr name="TextBox 14" id="14"/>
          <p:cNvSpPr txBox="true"/>
          <p:nvPr/>
        </p:nvSpPr>
        <p:spPr>
          <a:xfrm rot="0">
            <a:off x="14320488"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B</a:t>
            </a:r>
            <a:r>
              <a:rPr lang="en-US" sz="999" spc="-14">
                <a:solidFill>
                  <a:srgbClr val="FFFFFF">
                    <a:alpha val="49804"/>
                  </a:srgbClr>
                </a:solidFill>
                <a:latin typeface="Helvetica World"/>
                <a:ea typeface="Helvetica World"/>
                <a:cs typeface="Helvetica World"/>
                <a:sym typeface="Helvetica World"/>
              </a:rPr>
              <a:t>usiness Intelligence generates insights, detects anomalies, forecasts demand, and renders dashboards with alerts. Analyze → Predict → Segment → Visualize → Render.</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Real-ti</a:t>
            </a:r>
            <a:r>
              <a:rPr lang="en-US" sz="1599" spc="-23">
                <a:solidFill>
                  <a:srgbClr val="FFFFFF">
                    <a:alpha val="49804"/>
                  </a:srgbClr>
                </a:solidFill>
                <a:latin typeface="Helvetica World"/>
                <a:ea typeface="Helvetica World"/>
                <a:cs typeface="Helvetica World"/>
                <a:sym typeface="Helvetica World"/>
              </a:rPr>
              <a:t>me sales analysis and business insights.</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22</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02025" cy="7371921"/>
          </a:xfrm>
          <a:custGeom>
            <a:avLst/>
            <a:gdLst/>
            <a:ahLst/>
            <a:cxnLst/>
            <a:rect r="r" b="b" t="t" l="l"/>
            <a:pathLst>
              <a:path h="7371921" w="16202025">
                <a:moveTo>
                  <a:pt x="0" y="0"/>
                </a:moveTo>
                <a:lnTo>
                  <a:pt x="16202026" y="0"/>
                </a:lnTo>
                <a:lnTo>
                  <a:pt x="16202026" y="7371921"/>
                </a:lnTo>
                <a:lnTo>
                  <a:pt x="0" y="7371921"/>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sp>
        <p:nvSpPr>
          <p:cNvPr name="TextBox 5" id="5"/>
          <p:cNvSpPr txBox="true"/>
          <p:nvPr/>
        </p:nvSpPr>
        <p:spPr>
          <a:xfrm rot="0">
            <a:off x="1019175" y="8578850"/>
            <a:ext cx="7160568"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Amelia 1.0 - Optimization Branch</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sp>
        <p:nvSpPr>
          <p:cNvPr name="TextBox 10" id="10"/>
          <p:cNvSpPr txBox="true"/>
          <p:nvPr/>
        </p:nvSpPr>
        <p:spPr>
          <a:xfrm rot="0">
            <a:off x="8624824" y="8566150"/>
            <a:ext cx="862018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Boo</a:t>
            </a:r>
            <a:r>
              <a:rPr lang="en-US" sz="2000" spc="-30">
                <a:solidFill>
                  <a:srgbClr val="FFFFFF"/>
                </a:solidFill>
                <a:latin typeface="Helvetica World"/>
                <a:ea typeface="Helvetica World"/>
                <a:cs typeface="Helvetica World"/>
                <a:sym typeface="Helvetica World"/>
              </a:rPr>
              <a:t>sts listing search rank; strengthens price competitiveness; improves advertising ROAS.</a:t>
            </a:r>
          </a:p>
        </p:txBody>
      </p:sp>
      <p:sp>
        <p:nvSpPr>
          <p:cNvPr name="TextBox 11" id="11"/>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2" id="12"/>
          <p:cNvSpPr txBox="true"/>
          <p:nvPr/>
        </p:nvSpPr>
        <p:spPr>
          <a:xfrm rot="0">
            <a:off x="3794641"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L</a:t>
            </a:r>
            <a:r>
              <a:rPr lang="en-US" sz="999" spc="-14">
                <a:solidFill>
                  <a:srgbClr val="FFFFFF">
                    <a:alpha val="49804"/>
                  </a:srgbClr>
                </a:solidFill>
                <a:latin typeface="Helvetica World"/>
                <a:ea typeface="Helvetica World"/>
                <a:cs typeface="Helvetica World"/>
                <a:sym typeface="Helvetica World"/>
              </a:rPr>
              <a:t>isting Optimizer analyzes titles/keywords/images, generates descriptions, and finalizes SEO-compliant A+ content. Parse → Score → Generate → Optimize → Publish.</a:t>
            </a:r>
          </a:p>
        </p:txBody>
      </p:sp>
      <p:sp>
        <p:nvSpPr>
          <p:cNvPr name="TextBox 13" id="13"/>
          <p:cNvSpPr txBox="true"/>
          <p:nvPr/>
        </p:nvSpPr>
        <p:spPr>
          <a:xfrm rot="0">
            <a:off x="9057564" y="7376463"/>
            <a:ext cx="2924525" cy="67945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P</a:t>
            </a:r>
            <a:r>
              <a:rPr lang="en-US" sz="999" spc="-14">
                <a:solidFill>
                  <a:srgbClr val="FFFFFF">
                    <a:alpha val="49804"/>
                  </a:srgbClr>
                </a:solidFill>
                <a:latin typeface="Helvetica World"/>
                <a:ea typeface="Helvetica World"/>
                <a:cs typeface="Helvetica World"/>
                <a:sym typeface="Helvetica World"/>
              </a:rPr>
              <a:t>ricing Engine scans competitors, models elasticity, calculates margins, and automates repricing with promotions. Scan → Model → Calculate → Reprice → Emit.</a:t>
            </a:r>
          </a:p>
        </p:txBody>
      </p:sp>
      <p:sp>
        <p:nvSpPr>
          <p:cNvPr name="TextBox 14" id="14"/>
          <p:cNvSpPr txBox="true"/>
          <p:nvPr/>
        </p:nvSpPr>
        <p:spPr>
          <a:xfrm rot="0">
            <a:off x="14320488"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Ad</a:t>
            </a:r>
            <a:r>
              <a:rPr lang="en-US" sz="999" spc="-14">
                <a:solidFill>
                  <a:srgbClr val="FFFFFF">
                    <a:alpha val="49804"/>
                  </a:srgbClr>
                </a:solidFill>
                <a:latin typeface="Helvetica World"/>
                <a:ea typeface="Helvetica World"/>
                <a:cs typeface="Helvetica World"/>
                <a:sym typeface="Helvetica World"/>
              </a:rPr>
              <a:t> Campaign builds campaigns, targets audiences, optimizes bids/placements, and tracks ROI. Target → Bid → Place → Test → Report.</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AI opti</a:t>
            </a:r>
            <a:r>
              <a:rPr lang="en-US" sz="1599" spc="-23">
                <a:solidFill>
                  <a:srgbClr val="FFFFFF">
                    <a:alpha val="49804"/>
                  </a:srgbClr>
                </a:solidFill>
                <a:latin typeface="Helvetica World"/>
                <a:ea typeface="Helvetica World"/>
                <a:cs typeface="Helvetica World"/>
                <a:sym typeface="Helvetica World"/>
              </a:rPr>
              <a:t>mizes listings, pricing, and advertising.</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23</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42987" y="1028700"/>
            <a:ext cx="16202025" cy="7371921"/>
          </a:xfrm>
          <a:custGeom>
            <a:avLst/>
            <a:gdLst/>
            <a:ahLst/>
            <a:cxnLst/>
            <a:rect r="r" b="b" t="t" l="l"/>
            <a:pathLst>
              <a:path h="7371921" w="16202025">
                <a:moveTo>
                  <a:pt x="0" y="0"/>
                </a:moveTo>
                <a:lnTo>
                  <a:pt x="16202026" y="0"/>
                </a:lnTo>
                <a:lnTo>
                  <a:pt x="16202026" y="7371921"/>
                </a:lnTo>
                <a:lnTo>
                  <a:pt x="0" y="7371921"/>
                </a:lnTo>
                <a:lnTo>
                  <a:pt x="0" y="0"/>
                </a:lnTo>
                <a:close/>
              </a:path>
            </a:pathLst>
          </a:custGeom>
          <a:blipFill>
            <a:blip r:embed="rId2"/>
            <a:stretch>
              <a:fillRect l="0" t="0" r="0" b="0"/>
            </a:stretch>
          </a:blipFill>
        </p:spPr>
      </p:sp>
      <p:sp>
        <p:nvSpPr>
          <p:cNvPr name="AutoShape 3" id="3"/>
          <p:cNvSpPr/>
          <p:nvPr/>
        </p:nvSpPr>
        <p:spPr>
          <a:xfrm flipH="true">
            <a:off x="1033462" y="1425079"/>
            <a:ext cx="9525" cy="6630833"/>
          </a:xfrm>
          <a:prstGeom prst="line">
            <a:avLst/>
          </a:prstGeom>
          <a:ln cap="rnd" w="19050">
            <a:solidFill>
              <a:srgbClr val="FFFFFF">
                <a:alpha val="49804"/>
              </a:srgbClr>
            </a:solidFill>
            <a:prstDash val="sysDash"/>
            <a:headEnd type="none" len="sm" w="sm"/>
            <a:tailEnd type="none" len="sm" w="sm"/>
          </a:ln>
        </p:spPr>
      </p:sp>
      <p:sp>
        <p:nvSpPr>
          <p:cNvPr name="AutoShape 4" id="4"/>
          <p:cNvSpPr/>
          <p:nvPr/>
        </p:nvSpPr>
        <p:spPr>
          <a:xfrm flipH="true">
            <a:off x="17245013" y="1425079"/>
            <a:ext cx="9525" cy="6630833"/>
          </a:xfrm>
          <a:prstGeom prst="line">
            <a:avLst/>
          </a:prstGeom>
          <a:ln cap="rnd" w="19050">
            <a:solidFill>
              <a:srgbClr val="FFFFFF">
                <a:alpha val="49804"/>
              </a:srgbClr>
            </a:solidFill>
            <a:prstDash val="sysDash"/>
            <a:headEnd type="none" len="sm" w="sm"/>
            <a:tailEnd type="none" len="sm" w="sm"/>
          </a:ln>
        </p:spPr>
      </p:sp>
      <p:sp>
        <p:nvSpPr>
          <p:cNvPr name="TextBox 5" id="5"/>
          <p:cNvSpPr txBox="true"/>
          <p:nvPr/>
        </p:nvSpPr>
        <p:spPr>
          <a:xfrm rot="0">
            <a:off x="1019175" y="8578850"/>
            <a:ext cx="6590481"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Amelia 1.0 - Operation Branch</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sp>
        <p:nvSpPr>
          <p:cNvPr name="TextBox 10" id="10"/>
          <p:cNvSpPr txBox="true"/>
          <p:nvPr/>
        </p:nvSpPr>
        <p:spPr>
          <a:xfrm rot="0">
            <a:off x="8624824" y="8566150"/>
            <a:ext cx="8620189" cy="692150"/>
          </a:xfrm>
          <a:prstGeom prst="rect">
            <a:avLst/>
          </a:prstGeom>
        </p:spPr>
        <p:txBody>
          <a:bodyPr anchor="t" rtlCol="false" tIns="0" lIns="0" bIns="0" rIns="0">
            <a:spAutoFit/>
          </a:bodyPr>
          <a:lstStyle/>
          <a:p>
            <a:pPr algn="r">
              <a:lnSpc>
                <a:spcPts val="2800"/>
              </a:lnSpc>
              <a:spcBef>
                <a:spcPct val="0"/>
              </a:spcBef>
            </a:pPr>
            <a:r>
              <a:rPr lang="en-US" sz="2000" spc="-30">
                <a:solidFill>
                  <a:srgbClr val="FFFFFF"/>
                </a:solidFill>
                <a:latin typeface="Helvetica World"/>
                <a:ea typeface="Helvetica World"/>
                <a:cs typeface="Helvetica World"/>
                <a:sym typeface="Helvetica World"/>
              </a:rPr>
              <a:t>Preven</a:t>
            </a:r>
            <a:r>
              <a:rPr lang="en-US" sz="2000" spc="-30">
                <a:solidFill>
                  <a:srgbClr val="FFFFFF"/>
                </a:solidFill>
                <a:latin typeface="Helvetica World"/>
                <a:ea typeface="Helvetica World"/>
                <a:cs typeface="Helvetica World"/>
                <a:sym typeface="Helvetica World"/>
              </a:rPr>
              <a:t>ts stock-outs and overstock; reduces CS response time; eliminates account suspension risk.</a:t>
            </a:r>
          </a:p>
        </p:txBody>
      </p:sp>
      <p:sp>
        <p:nvSpPr>
          <p:cNvPr name="TextBox 11" id="11"/>
          <p:cNvSpPr txBox="true"/>
          <p:nvPr/>
        </p:nvSpPr>
        <p:spPr>
          <a:xfrm rot="0">
            <a:off x="14271054" y="990600"/>
            <a:ext cx="298824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Sequence</a:t>
            </a:r>
          </a:p>
        </p:txBody>
      </p:sp>
      <p:sp>
        <p:nvSpPr>
          <p:cNvPr name="TextBox 12" id="12"/>
          <p:cNvSpPr txBox="true"/>
          <p:nvPr/>
        </p:nvSpPr>
        <p:spPr>
          <a:xfrm rot="0">
            <a:off x="3794641"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Inve</a:t>
            </a:r>
            <a:r>
              <a:rPr lang="en-US" sz="999" spc="-14">
                <a:solidFill>
                  <a:srgbClr val="FFFFFF">
                    <a:alpha val="49804"/>
                  </a:srgbClr>
                </a:solidFill>
                <a:latin typeface="Helvetica World"/>
                <a:ea typeface="Helvetica World"/>
                <a:cs typeface="Helvetica World"/>
                <a:sym typeface="Helvetica World"/>
              </a:rPr>
              <a:t>ntory Management monitors stock, forecasts demand, triggers reorders, and optimizes FBA allocation. Track → Forecast → Trigger → Route → Emit.</a:t>
            </a:r>
          </a:p>
        </p:txBody>
      </p:sp>
      <p:sp>
        <p:nvSpPr>
          <p:cNvPr name="TextBox 13" id="13"/>
          <p:cNvSpPr txBox="true"/>
          <p:nvPr/>
        </p:nvSpPr>
        <p:spPr>
          <a:xfrm rot="0">
            <a:off x="9057564"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Customer Se</a:t>
            </a:r>
            <a:r>
              <a:rPr lang="en-US" sz="999" spc="-14">
                <a:solidFill>
                  <a:srgbClr val="FFFFFF">
                    <a:alpha val="49804"/>
                  </a:srgbClr>
                </a:solidFill>
                <a:latin typeface="Helvetica World"/>
                <a:ea typeface="Helvetica World"/>
                <a:cs typeface="Helvetica World"/>
                <a:sym typeface="Helvetica World"/>
              </a:rPr>
              <a:t>rvice classifies tickets, drafts responses, processes refunds, and tracks SLA. Classify → Draft → Resolve → Escalate → Emit.</a:t>
            </a:r>
          </a:p>
        </p:txBody>
      </p:sp>
      <p:sp>
        <p:nvSpPr>
          <p:cNvPr name="TextBox 14" id="14"/>
          <p:cNvSpPr txBox="true"/>
          <p:nvPr/>
        </p:nvSpPr>
        <p:spPr>
          <a:xfrm rot="0">
            <a:off x="14320488" y="7547913"/>
            <a:ext cx="2924525" cy="508000"/>
          </a:xfrm>
          <a:prstGeom prst="rect">
            <a:avLst/>
          </a:prstGeom>
        </p:spPr>
        <p:txBody>
          <a:bodyPr anchor="t" rtlCol="false" tIns="0" lIns="0" bIns="0" rIns="0">
            <a:spAutoFit/>
          </a:bodyPr>
          <a:lstStyle/>
          <a:p>
            <a:pPr algn="l">
              <a:lnSpc>
                <a:spcPts val="1399"/>
              </a:lnSpc>
              <a:spcBef>
                <a:spcPct val="0"/>
              </a:spcBef>
            </a:pPr>
            <a:r>
              <a:rPr lang="en-US" sz="999" spc="-14">
                <a:solidFill>
                  <a:srgbClr val="FFFFFF">
                    <a:alpha val="49804"/>
                  </a:srgbClr>
                </a:solidFill>
                <a:latin typeface="Helvetica World"/>
                <a:ea typeface="Helvetica World"/>
                <a:cs typeface="Helvetica World"/>
                <a:sym typeface="Helvetica World"/>
              </a:rPr>
              <a:t>Compliance Monitor scans policies, detects violations, drafts appeals, and logs audits. Scan → Detect → Score → Appeal → Report.</a:t>
            </a:r>
          </a:p>
        </p:txBody>
      </p:sp>
      <p:sp>
        <p:nvSpPr>
          <p:cNvPr name="TextBox 15" id="15"/>
          <p:cNvSpPr txBox="true"/>
          <p:nvPr/>
        </p:nvSpPr>
        <p:spPr>
          <a:xfrm rot="0">
            <a:off x="14302915" y="1583129"/>
            <a:ext cx="2924525" cy="476250"/>
          </a:xfrm>
          <a:prstGeom prst="rect">
            <a:avLst/>
          </a:prstGeom>
        </p:spPr>
        <p:txBody>
          <a:bodyPr anchor="t" rtlCol="false" tIns="0" lIns="0" bIns="0" rIns="0">
            <a:spAutoFit/>
          </a:bodyPr>
          <a:lstStyle/>
          <a:p>
            <a:pPr algn="r">
              <a:lnSpc>
                <a:spcPts val="1919"/>
              </a:lnSpc>
            </a:pPr>
            <a:r>
              <a:rPr lang="en-US" sz="1599" spc="-23">
                <a:solidFill>
                  <a:srgbClr val="FFFFFF">
                    <a:alpha val="49804"/>
                  </a:srgbClr>
                </a:solidFill>
                <a:latin typeface="Helvetica World"/>
                <a:ea typeface="Helvetica World"/>
                <a:cs typeface="Helvetica World"/>
                <a:sym typeface="Helvetica World"/>
              </a:rPr>
              <a:t>Aut</a:t>
            </a:r>
            <a:r>
              <a:rPr lang="en-US" sz="1599" spc="-23">
                <a:solidFill>
                  <a:srgbClr val="FFFFFF">
                    <a:alpha val="49804"/>
                  </a:srgbClr>
                </a:solidFill>
                <a:latin typeface="Helvetica World"/>
                <a:ea typeface="Helvetica World"/>
                <a:cs typeface="Helvetica World"/>
                <a:sym typeface="Helvetica World"/>
              </a:rPr>
              <a:t>omates inventory, CS, and compliance.</a:t>
            </a:r>
          </a:p>
        </p:txBody>
      </p:sp>
      <p:grpSp>
        <p:nvGrpSpPr>
          <p:cNvPr name="Group 16" id="16"/>
          <p:cNvGrpSpPr/>
          <p:nvPr/>
        </p:nvGrpSpPr>
        <p:grpSpPr>
          <a:xfrm rot="0">
            <a:off x="1416891" y="3475609"/>
            <a:ext cx="15436645" cy="2573845"/>
            <a:chOff x="0" y="0"/>
            <a:chExt cx="20582194" cy="3431794"/>
          </a:xfrm>
        </p:grpSpPr>
        <p:sp>
          <p:nvSpPr>
            <p:cNvPr name="AutoShape 17" id="17"/>
            <p:cNvSpPr/>
            <p:nvPr/>
          </p:nvSpPr>
          <p:spPr>
            <a:xfrm>
              <a:off x="0" y="6350"/>
              <a:ext cx="20582194" cy="0"/>
            </a:xfrm>
            <a:prstGeom prst="line">
              <a:avLst/>
            </a:prstGeom>
            <a:ln cap="rnd" w="12700">
              <a:solidFill>
                <a:srgbClr val="FFFFFF">
                  <a:alpha val="49804"/>
                </a:srgbClr>
              </a:solidFill>
              <a:prstDash val="sysDash"/>
              <a:headEnd type="none" len="sm" w="sm"/>
              <a:tailEnd type="none" len="sm" w="sm"/>
            </a:ln>
          </p:spPr>
        </p:sp>
        <p:sp>
          <p:nvSpPr>
            <p:cNvPr name="AutoShape 18" id="18"/>
            <p:cNvSpPr/>
            <p:nvPr/>
          </p:nvSpPr>
          <p:spPr>
            <a:xfrm>
              <a:off x="0" y="3425444"/>
              <a:ext cx="20582194" cy="0"/>
            </a:xfrm>
            <a:prstGeom prst="line">
              <a:avLst/>
            </a:prstGeom>
            <a:ln cap="rnd" w="12700">
              <a:solidFill>
                <a:srgbClr val="FFFFFF">
                  <a:alpha val="49804"/>
                </a:srgbClr>
              </a:solidFill>
              <a:prstDash val="sysDash"/>
              <a:headEnd type="none" len="sm" w="sm"/>
              <a:tailEnd type="none" len="sm" w="sm"/>
            </a:ln>
          </p:spPr>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1" id="2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24</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5158368" y="990600"/>
            <a:ext cx="210093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Service Ecosystem</a:t>
            </a:r>
          </a:p>
        </p:txBody>
      </p:sp>
      <p:grpSp>
        <p:nvGrpSpPr>
          <p:cNvPr name="Group 6" id="6"/>
          <p:cNvGrpSpPr/>
          <p:nvPr/>
        </p:nvGrpSpPr>
        <p:grpSpPr>
          <a:xfrm rot="0">
            <a:off x="4535323" y="1640898"/>
            <a:ext cx="12723977" cy="7617402"/>
            <a:chOff x="0" y="0"/>
            <a:chExt cx="16965303" cy="10156536"/>
          </a:xfrm>
        </p:grpSpPr>
        <p:sp>
          <p:nvSpPr>
            <p:cNvPr name="Freeform 7" id="7"/>
            <p:cNvSpPr/>
            <p:nvPr/>
          </p:nvSpPr>
          <p:spPr>
            <a:xfrm flipH="false" flipV="false" rot="0">
              <a:off x="0" y="0"/>
              <a:ext cx="16965303" cy="10023018"/>
            </a:xfrm>
            <a:custGeom>
              <a:avLst/>
              <a:gdLst/>
              <a:ahLst/>
              <a:cxnLst/>
              <a:rect r="r" b="b" t="t" l="l"/>
              <a:pathLst>
                <a:path h="10023018" w="16965303">
                  <a:moveTo>
                    <a:pt x="0" y="0"/>
                  </a:moveTo>
                  <a:lnTo>
                    <a:pt x="16965303" y="0"/>
                  </a:lnTo>
                  <a:lnTo>
                    <a:pt x="16965303" y="10023018"/>
                  </a:lnTo>
                  <a:lnTo>
                    <a:pt x="0" y="10023018"/>
                  </a:lnTo>
                  <a:lnTo>
                    <a:pt x="0" y="0"/>
                  </a:lnTo>
                  <a:close/>
                </a:path>
              </a:pathLst>
            </a:custGeom>
            <a:blipFill>
              <a:blip r:embed="rId2"/>
              <a:stretch>
                <a:fillRect l="-2038" t="-175003" r="0" b="-31362"/>
              </a:stretch>
            </a:blipFill>
          </p:spPr>
        </p:sp>
        <p:sp>
          <p:nvSpPr>
            <p:cNvPr name="TextBox 8" id="8"/>
            <p:cNvSpPr txBox="true"/>
            <p:nvPr/>
          </p:nvSpPr>
          <p:spPr>
            <a:xfrm rot="0">
              <a:off x="579439" y="5707376"/>
              <a:ext cx="1303742"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[Infnrastructure]</a:t>
              </a:r>
            </a:p>
          </p:txBody>
        </p:sp>
        <p:sp>
          <p:nvSpPr>
            <p:cNvPr name="TextBox 9" id="9"/>
            <p:cNvSpPr txBox="true"/>
            <p:nvPr/>
          </p:nvSpPr>
          <p:spPr>
            <a:xfrm rot="0">
              <a:off x="2998925" y="5707376"/>
              <a:ext cx="1630666"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[Post Management]</a:t>
              </a:r>
            </a:p>
          </p:txBody>
        </p:sp>
        <p:sp>
          <p:nvSpPr>
            <p:cNvPr name="TextBox 10" id="10"/>
            <p:cNvSpPr txBox="true"/>
            <p:nvPr/>
          </p:nvSpPr>
          <p:spPr>
            <a:xfrm rot="0">
              <a:off x="5749504" y="5707376"/>
              <a:ext cx="1130544"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[AI Utilization]</a:t>
              </a:r>
            </a:p>
          </p:txBody>
        </p:sp>
        <p:sp>
          <p:nvSpPr>
            <p:cNvPr name="TextBox 11" id="11"/>
            <p:cNvSpPr txBox="true"/>
            <p:nvPr/>
          </p:nvSpPr>
          <p:spPr>
            <a:xfrm rot="0">
              <a:off x="7673504" y="5707376"/>
              <a:ext cx="2049699"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[Service Monitoring]</a:t>
              </a:r>
            </a:p>
          </p:txBody>
        </p:sp>
        <p:sp>
          <p:nvSpPr>
            <p:cNvPr name="TextBox 12" id="12"/>
            <p:cNvSpPr txBox="true"/>
            <p:nvPr/>
          </p:nvSpPr>
          <p:spPr>
            <a:xfrm rot="0">
              <a:off x="12453870" y="5707376"/>
              <a:ext cx="1687895"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[Asset Automation]</a:t>
              </a:r>
            </a:p>
          </p:txBody>
        </p:sp>
        <p:sp>
          <p:nvSpPr>
            <p:cNvPr name="TextBox 13" id="13"/>
            <p:cNvSpPr txBox="true"/>
            <p:nvPr/>
          </p:nvSpPr>
          <p:spPr>
            <a:xfrm rot="0">
              <a:off x="9989655" y="5707376"/>
              <a:ext cx="2120280"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[Commercial Analysis]</a:t>
              </a:r>
            </a:p>
          </p:txBody>
        </p:sp>
        <p:sp>
          <p:nvSpPr>
            <p:cNvPr name="TextBox 14" id="14"/>
            <p:cNvSpPr txBox="true"/>
            <p:nvPr/>
          </p:nvSpPr>
          <p:spPr>
            <a:xfrm rot="0">
              <a:off x="14817511" y="5707376"/>
              <a:ext cx="1462654" cy="245441"/>
            </a:xfrm>
            <a:prstGeom prst="rect">
              <a:avLst/>
            </a:prstGeom>
          </p:spPr>
          <p:txBody>
            <a:bodyPr anchor="t" rtlCol="false" tIns="0" lIns="0" bIns="0" rIns="0">
              <a:spAutoFit/>
            </a:bodyPr>
            <a:lstStyle/>
            <a:p>
              <a:pPr algn="ctr">
                <a:lnSpc>
                  <a:spcPts val="1592"/>
                </a:lnSpc>
              </a:pPr>
              <a:r>
                <a:rPr lang="en-US" sz="1137" spc="-11">
                  <a:solidFill>
                    <a:srgbClr val="FFFFFF">
                      <a:alpha val="49804"/>
                    </a:srgbClr>
                  </a:solidFill>
                  <a:latin typeface="Helvetica World"/>
                  <a:ea typeface="Helvetica World"/>
                  <a:cs typeface="Helvetica World"/>
                  <a:sym typeface="Helvetica World"/>
                </a:rPr>
                <a:t>[User Aspects]</a:t>
              </a:r>
            </a:p>
          </p:txBody>
        </p:sp>
        <p:sp>
          <p:nvSpPr>
            <p:cNvPr name="TextBox 15" id="15"/>
            <p:cNvSpPr txBox="true"/>
            <p:nvPr/>
          </p:nvSpPr>
          <p:spPr>
            <a:xfrm rot="-5400000">
              <a:off x="12156936" y="9935400"/>
              <a:ext cx="145559" cy="296712"/>
            </a:xfrm>
            <a:prstGeom prst="rect">
              <a:avLst/>
            </a:prstGeom>
          </p:spPr>
          <p:txBody>
            <a:bodyPr anchor="t" rtlCol="false" tIns="0" lIns="0" bIns="0" rIns="0">
              <a:spAutoFit/>
            </a:bodyPr>
            <a:lstStyle/>
            <a:p>
              <a:pPr algn="ctr">
                <a:lnSpc>
                  <a:spcPts val="1858"/>
                </a:lnSpc>
              </a:pPr>
              <a:r>
                <a:rPr lang="en-US" sz="1327" spc="-13">
                  <a:solidFill>
                    <a:srgbClr val="FFFFFF"/>
                  </a:solidFill>
                  <a:latin typeface="Helvetica World"/>
                  <a:ea typeface="Helvetica World"/>
                  <a:cs typeface="Helvetica World"/>
                  <a:sym typeface="Helvetica World"/>
                </a:rPr>
                <a:t>I</a:t>
              </a:r>
            </a:p>
          </p:txBody>
        </p:sp>
      </p:grpSp>
      <p:sp>
        <p:nvSpPr>
          <p:cNvPr name="TextBox 16" id="16"/>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sp>
        <p:nvSpPr>
          <p:cNvPr name="TextBox 17" id="17"/>
          <p:cNvSpPr txBox="true"/>
          <p:nvPr/>
        </p:nvSpPr>
        <p:spPr>
          <a:xfrm rot="0">
            <a:off x="1038225" y="1938683"/>
            <a:ext cx="7072348" cy="1921510"/>
          </a:xfrm>
          <a:prstGeom prst="rect">
            <a:avLst/>
          </a:prstGeom>
        </p:spPr>
        <p:txBody>
          <a:bodyPr anchor="t" rtlCol="false" tIns="0" lIns="0" bIns="0" rIns="0">
            <a:spAutoFit/>
          </a:bodyPr>
          <a:lstStyle/>
          <a:p>
            <a:pPr algn="l">
              <a:lnSpc>
                <a:spcPts val="2239"/>
              </a:lnSpc>
              <a:spcBef>
                <a:spcPct val="0"/>
              </a:spcBef>
            </a:pPr>
            <a:r>
              <a:rPr lang="en-US" sz="1599" spc="-23">
                <a:solidFill>
                  <a:srgbClr val="FFFFFF"/>
                </a:solidFill>
                <a:latin typeface="Helvetica World"/>
                <a:ea typeface="Helvetica World"/>
                <a:cs typeface="Helvetica World"/>
                <a:sym typeface="Helvetica World"/>
              </a:rPr>
              <a:t>Project Amelia is built on Amazon</a:t>
            </a:r>
            <a:r>
              <a:rPr lang="en-US" sz="1599" spc="-23">
                <a:solidFill>
                  <a:srgbClr val="FFFFFF"/>
                </a:solidFill>
                <a:latin typeface="Helvetica World"/>
                <a:ea typeface="Helvetica World"/>
                <a:cs typeface="Helvetica World"/>
                <a:sym typeface="Helvetica World"/>
              </a:rPr>
              <a:t> Bedrock and operates via retrieval-augmented generation (RAG), pulling seller-specific data from Amazon's internal systems in real time without storing it, ensuring both personalization and data privacy. It connects directly with Fulfillment by Amazon (FBA), Seller Central, and Amazon's broader AI ecosystem including Rufus and Q, and is designed to eventually act autonomously on sellers' behalf, resolving inventory issues, adjusting pricing, and managing account-level operations without requiring manual input.</a:t>
            </a:r>
          </a:p>
        </p:txBody>
      </p:sp>
      <p:sp>
        <p:nvSpPr>
          <p:cNvPr name="TextBox 18" id="18"/>
          <p:cNvSpPr txBox="true"/>
          <p:nvPr/>
        </p:nvSpPr>
        <p:spPr>
          <a:xfrm rot="0">
            <a:off x="10186952" y="1938683"/>
            <a:ext cx="7072348" cy="540385"/>
          </a:xfrm>
          <a:prstGeom prst="rect">
            <a:avLst/>
          </a:prstGeom>
        </p:spPr>
        <p:txBody>
          <a:bodyPr anchor="t" rtlCol="false" tIns="0" lIns="0" bIns="0" rIns="0">
            <a:spAutoFit/>
          </a:bodyPr>
          <a:lstStyle/>
          <a:p>
            <a:pPr algn="r">
              <a:lnSpc>
                <a:spcPts val="2239"/>
              </a:lnSpc>
              <a:spcBef>
                <a:spcPct val="0"/>
              </a:spcBef>
            </a:pPr>
            <a:r>
              <a:rPr lang="en-US" sz="1599" spc="-23">
                <a:solidFill>
                  <a:srgbClr val="FFFFFF">
                    <a:alpha val="49804"/>
                  </a:srgbClr>
                </a:solidFill>
                <a:latin typeface="Helvetica World"/>
                <a:ea typeface="Helvetica World"/>
                <a:cs typeface="Helvetica World"/>
                <a:sym typeface="Helvetica World"/>
              </a:rPr>
              <a:t>Source: https://www.aboutamazon.com/news/innovation-at-amazon/amazon-project-amelia</a:t>
            </a:r>
          </a:p>
        </p:txBody>
      </p:sp>
      <p:sp>
        <p:nvSpPr>
          <p:cNvPr name="TextBox 19" id="19"/>
          <p:cNvSpPr txBox="true"/>
          <p:nvPr/>
        </p:nvSpPr>
        <p:spPr>
          <a:xfrm rot="0">
            <a:off x="1028700" y="8058150"/>
            <a:ext cx="3228593" cy="1200150"/>
          </a:xfrm>
          <a:prstGeom prst="rect">
            <a:avLst/>
          </a:prstGeom>
        </p:spPr>
        <p:txBody>
          <a:bodyPr anchor="t" rtlCol="false" tIns="0" lIns="0" bIns="0" rIns="0">
            <a:spAutoFit/>
          </a:bodyPr>
          <a:lstStyle/>
          <a:p>
            <a:pPr algn="l">
              <a:lnSpc>
                <a:spcPts val="4799"/>
              </a:lnSpc>
            </a:pPr>
            <a:r>
              <a:rPr lang="en-US" sz="3999" spc="-59">
                <a:solidFill>
                  <a:srgbClr val="FFFFFF"/>
                </a:solidFill>
                <a:latin typeface="Helvetica World"/>
                <a:ea typeface="Helvetica World"/>
                <a:cs typeface="Helvetica World"/>
                <a:sym typeface="Helvetica World"/>
              </a:rPr>
              <a:t>Autonomous</a:t>
            </a:r>
          </a:p>
          <a:p>
            <a:pPr algn="l">
              <a:lnSpc>
                <a:spcPts val="4799"/>
              </a:lnSpc>
            </a:pPr>
            <a:r>
              <a:rPr lang="en-US" sz="3999" spc="-59">
                <a:solidFill>
                  <a:srgbClr val="FFFFFF"/>
                </a:solidFill>
                <a:latin typeface="Helvetica World"/>
                <a:ea typeface="Helvetica World"/>
                <a:cs typeface="Helvetica World"/>
                <a:sym typeface="Helvetica World"/>
              </a:rPr>
              <a:t>Management</a:t>
            </a:r>
          </a:p>
        </p:txBody>
      </p:sp>
      <p:sp>
        <p:nvSpPr>
          <p:cNvPr name="AutoShape 20" id="20"/>
          <p:cNvSpPr/>
          <p:nvPr/>
        </p:nvSpPr>
        <p:spPr>
          <a:xfrm>
            <a:off x="1028700" y="5459124"/>
            <a:ext cx="16230600" cy="0"/>
          </a:xfrm>
          <a:prstGeom prst="line">
            <a:avLst/>
          </a:prstGeom>
          <a:ln cap="rnd" w="19050">
            <a:solidFill>
              <a:srgbClr val="FFFFFF">
                <a:alpha val="49804"/>
              </a:srgbClr>
            </a:solidFill>
            <a:prstDash val="sysDash"/>
            <a:headEnd type="none" len="sm" w="sm"/>
            <a:tailEnd type="none" len="sm" w="sm"/>
          </a:ln>
        </p:spPr>
      </p:sp>
      <p:sp>
        <p:nvSpPr>
          <p:cNvPr name="AutoShape 21" id="21"/>
          <p:cNvSpPr/>
          <p:nvPr/>
        </p:nvSpPr>
        <p:spPr>
          <a:xfrm>
            <a:off x="1038225" y="1967258"/>
            <a:ext cx="0" cy="7291042"/>
          </a:xfrm>
          <a:prstGeom prst="line">
            <a:avLst/>
          </a:prstGeom>
          <a:ln cap="rnd" w="19050">
            <a:solidFill>
              <a:srgbClr val="FFFFFF">
                <a:alpha val="49804"/>
              </a:srgbClr>
            </a:solidFill>
            <a:prstDash val="sysDash"/>
            <a:headEnd type="none" len="sm" w="sm"/>
            <a:tailEnd type="none" len="sm" w="sm"/>
          </a:ln>
        </p:spPr>
      </p:sp>
      <p:sp>
        <p:nvSpPr>
          <p:cNvPr name="AutoShape 22" id="22"/>
          <p:cNvSpPr/>
          <p:nvPr/>
        </p:nvSpPr>
        <p:spPr>
          <a:xfrm>
            <a:off x="17268825" y="1967258"/>
            <a:ext cx="0" cy="7291042"/>
          </a:xfrm>
          <a:prstGeom prst="line">
            <a:avLst/>
          </a:prstGeom>
          <a:ln cap="rnd" w="19050">
            <a:solidFill>
              <a:srgbClr val="FFFFFF">
                <a:alpha val="49804"/>
              </a:srgbClr>
            </a:solidFill>
            <a:prstDash val="sysDash"/>
            <a:headEnd type="none" len="sm" w="sm"/>
            <a:tailEnd type="none" len="sm" w="sm"/>
          </a:ln>
        </p:spPr>
      </p:sp>
      <p:sp>
        <p:nvSpPr>
          <p:cNvPr name="TextBox 23" id="23"/>
          <p:cNvSpPr txBox="true"/>
          <p:nvPr/>
        </p:nvSpPr>
        <p:spPr>
          <a:xfrm rot="0">
            <a:off x="1028700" y="5471139"/>
            <a:ext cx="2998063" cy="264160"/>
          </a:xfrm>
          <a:prstGeom prst="rect">
            <a:avLst/>
          </a:prstGeom>
        </p:spPr>
        <p:txBody>
          <a:bodyPr anchor="t" rtlCol="false" tIns="0" lIns="0" bIns="0" rIns="0">
            <a:spAutoFit/>
          </a:bodyPr>
          <a:lstStyle/>
          <a:p>
            <a:pPr algn="l">
              <a:lnSpc>
                <a:spcPts val="2239"/>
              </a:lnSpc>
              <a:spcBef>
                <a:spcPct val="0"/>
              </a:spcBef>
            </a:pPr>
            <a:r>
              <a:rPr lang="en-US" sz="1599" spc="-23">
                <a:solidFill>
                  <a:srgbClr val="FFFFFF">
                    <a:alpha val="49804"/>
                  </a:srgbClr>
                </a:solidFill>
                <a:latin typeface="Helvetica World"/>
                <a:ea typeface="Helvetica World"/>
                <a:cs typeface="Helvetica World"/>
                <a:sym typeface="Helvetica World"/>
              </a:rPr>
              <a:t>[Data Exchange Circulation]</a:t>
            </a:r>
          </a:p>
        </p:txBody>
      </p:sp>
      <p:grpSp>
        <p:nvGrpSpPr>
          <p:cNvPr name="Group 24" id="24"/>
          <p:cNvGrpSpPr/>
          <p:nvPr/>
        </p:nvGrpSpPr>
        <p:grpSpPr>
          <a:xfrm rot="0">
            <a:off x="1028700" y="9258300"/>
            <a:ext cx="16230600" cy="301625"/>
            <a:chOff x="0" y="0"/>
            <a:chExt cx="21640800" cy="402167"/>
          </a:xfrm>
        </p:grpSpPr>
        <p:sp>
          <p:nvSpPr>
            <p:cNvPr name="TextBox 25" id="2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6" id="2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25</a:t>
              </a:r>
            </a:p>
          </p:txBody>
        </p:sp>
      </p:grpSp>
    </p:spTree>
  </p:cSld>
  <p:clrMapOvr>
    <a:masterClrMapping/>
  </p:clrMapOvr>
</p:sld>
</file>

<file path=ppt/slides/slide26.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5365164" y="990600"/>
            <a:ext cx="189413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Limit of Amelia AI</a:t>
            </a:r>
          </a:p>
        </p:txBody>
      </p:sp>
      <p:grpSp>
        <p:nvGrpSpPr>
          <p:cNvPr name="Group 6" id="6"/>
          <p:cNvGrpSpPr/>
          <p:nvPr/>
        </p:nvGrpSpPr>
        <p:grpSpPr>
          <a:xfrm rot="0">
            <a:off x="1028700" y="2073608"/>
            <a:ext cx="16230600" cy="6139784"/>
            <a:chOff x="0" y="0"/>
            <a:chExt cx="21640800" cy="8186379"/>
          </a:xfrm>
        </p:grpSpPr>
        <p:sp>
          <p:nvSpPr>
            <p:cNvPr name="TextBox 7" id="7"/>
            <p:cNvSpPr txBox="true"/>
            <p:nvPr/>
          </p:nvSpPr>
          <p:spPr>
            <a:xfrm rot="0">
              <a:off x="0" y="-66675"/>
              <a:ext cx="14969902" cy="2351828"/>
            </a:xfrm>
            <a:prstGeom prst="rect">
              <a:avLst/>
            </a:prstGeom>
          </p:spPr>
          <p:txBody>
            <a:bodyPr anchor="t" rtlCol="false" tIns="0" lIns="0" bIns="0" rIns="0">
              <a:spAutoFit/>
            </a:bodyPr>
            <a:lstStyle/>
            <a:p>
              <a:pPr algn="l">
                <a:lnSpc>
                  <a:spcPts val="4759"/>
                </a:lnSpc>
                <a:spcBef>
                  <a:spcPct val="0"/>
                </a:spcBef>
              </a:pPr>
              <a:r>
                <a:rPr lang="en-US" sz="3399" spc="-50">
                  <a:solidFill>
                    <a:srgbClr val="FFFFFF">
                      <a:alpha val="49804"/>
                    </a:srgbClr>
                  </a:solidFill>
                  <a:latin typeface="Helvetica World"/>
                  <a:ea typeface="Helvetica World"/>
                  <a:cs typeface="Helvetica World"/>
                  <a:sym typeface="Helvetica World"/>
                </a:rPr>
                <a:t>Amelia doesn't yet provide deep analytics, keyword research, or product improvement insights that many sellers need to grow their businesses strategically.</a:t>
              </a:r>
            </a:p>
          </p:txBody>
        </p:sp>
        <p:sp>
          <p:nvSpPr>
            <p:cNvPr name="TextBox 8" id="8"/>
            <p:cNvSpPr txBox="true"/>
            <p:nvPr/>
          </p:nvSpPr>
          <p:spPr>
            <a:xfrm rot="0">
              <a:off x="0" y="2566502"/>
              <a:ext cx="14969902" cy="311362"/>
            </a:xfrm>
            <a:prstGeom prst="rect">
              <a:avLst/>
            </a:prstGeom>
          </p:spPr>
          <p:txBody>
            <a:bodyPr anchor="t" rtlCol="false" tIns="0" lIns="0" bIns="0" rIns="0">
              <a:spAutoFit/>
            </a:bodyPr>
            <a:lstStyle/>
            <a:p>
              <a:pPr algn="l">
                <a:lnSpc>
                  <a:spcPts val="1960"/>
                </a:lnSpc>
                <a:spcBef>
                  <a:spcPct val="0"/>
                </a:spcBef>
              </a:pPr>
              <a:r>
                <a:rPr lang="en-US" sz="1400" spc="-21">
                  <a:solidFill>
                    <a:srgbClr val="FFFFFF">
                      <a:alpha val="49804"/>
                    </a:srgbClr>
                  </a:solidFill>
                  <a:latin typeface="Helvetica World"/>
                  <a:ea typeface="Helvetica World"/>
                  <a:cs typeface="Helvetica World"/>
                  <a:sym typeface="Helvetica World"/>
                </a:rPr>
                <a:t>Source: https://amzscout.net/blog/amazon-amelia/</a:t>
              </a:r>
            </a:p>
          </p:txBody>
        </p:sp>
        <p:sp>
          <p:nvSpPr>
            <p:cNvPr name="TextBox 9" id="9"/>
            <p:cNvSpPr txBox="true"/>
            <p:nvPr/>
          </p:nvSpPr>
          <p:spPr>
            <a:xfrm rot="0">
              <a:off x="4079710" y="3184313"/>
              <a:ext cx="17561090" cy="4257463"/>
            </a:xfrm>
            <a:prstGeom prst="rect">
              <a:avLst/>
            </a:prstGeom>
          </p:spPr>
          <p:txBody>
            <a:bodyPr anchor="t" rtlCol="false" tIns="0" lIns="0" bIns="0" rIns="0">
              <a:spAutoFit/>
            </a:bodyPr>
            <a:lstStyle/>
            <a:p>
              <a:pPr algn="r">
                <a:lnSpc>
                  <a:spcPts val="6439"/>
                </a:lnSpc>
                <a:spcBef>
                  <a:spcPct val="0"/>
                </a:spcBef>
              </a:pPr>
              <a:r>
                <a:rPr lang="en-US" sz="4599" spc="-68">
                  <a:solidFill>
                    <a:srgbClr val="FFFFFF"/>
                  </a:solidFill>
                  <a:latin typeface="Helvetica World"/>
                  <a:ea typeface="Helvetica World"/>
                  <a:cs typeface="Helvetica World"/>
                  <a:sym typeface="Helvetica World"/>
                </a:rPr>
                <a:t>Amelia and Rufus were</a:t>
              </a:r>
              <a:r>
                <a:rPr lang="en-US" sz="4599" spc="-68">
                  <a:solidFill>
                    <a:srgbClr val="FFFFFF"/>
                  </a:solidFill>
                  <a:latin typeface="Helvetica World"/>
                  <a:ea typeface="Helvetica World"/>
                  <a:cs typeface="Helvetica World"/>
                  <a:sym typeface="Helvetica World"/>
                </a:rPr>
                <a:t> launched as separate tools, and no direct data integration between the two has been confirmed. This suggests that buyer demand signals may not be circulated back to sellers.</a:t>
              </a:r>
            </a:p>
          </p:txBody>
        </p:sp>
        <p:sp>
          <p:nvSpPr>
            <p:cNvPr name="TextBox 10" id="10"/>
            <p:cNvSpPr txBox="true"/>
            <p:nvPr/>
          </p:nvSpPr>
          <p:spPr>
            <a:xfrm rot="0">
              <a:off x="5037514" y="7875018"/>
              <a:ext cx="16603286" cy="311362"/>
            </a:xfrm>
            <a:prstGeom prst="rect">
              <a:avLst/>
            </a:prstGeom>
          </p:spPr>
          <p:txBody>
            <a:bodyPr anchor="t" rtlCol="false" tIns="0" lIns="0" bIns="0" rIns="0">
              <a:spAutoFit/>
            </a:bodyPr>
            <a:lstStyle/>
            <a:p>
              <a:pPr algn="r">
                <a:lnSpc>
                  <a:spcPts val="1960"/>
                </a:lnSpc>
                <a:spcBef>
                  <a:spcPct val="0"/>
                </a:spcBef>
              </a:pPr>
              <a:r>
                <a:rPr lang="en-US" sz="1400" spc="-21">
                  <a:solidFill>
                    <a:srgbClr val="FFFFFF"/>
                  </a:solidFill>
                  <a:latin typeface="Helvetica World"/>
                  <a:ea typeface="Helvetica World"/>
                  <a:cs typeface="Helvetica World"/>
                  <a:sym typeface="Helvetica World"/>
                </a:rPr>
                <a:t>Source: https://pureai.com/articles/2024/09/20/amazon-introduces-ai-tool-to-aid-third-party-sellers.aspx</a:t>
              </a:r>
            </a:p>
          </p:txBody>
        </p:sp>
      </p:grpSp>
      <p:sp>
        <p:nvSpPr>
          <p:cNvPr name="TextBox 11" id="11"/>
          <p:cNvSpPr txBox="true"/>
          <p:nvPr/>
        </p:nvSpPr>
        <p:spPr>
          <a:xfrm rot="0">
            <a:off x="1028700" y="990600"/>
            <a:ext cx="2562374"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Scope - Amelia</a:t>
            </a:r>
          </a:p>
        </p:txBody>
      </p:sp>
      <p:grpSp>
        <p:nvGrpSpPr>
          <p:cNvPr name="Group 12" id="12"/>
          <p:cNvGrpSpPr/>
          <p:nvPr/>
        </p:nvGrpSpPr>
        <p:grpSpPr>
          <a:xfrm rot="0">
            <a:off x="1028700" y="9258300"/>
            <a:ext cx="16230600" cy="301625"/>
            <a:chOff x="0" y="0"/>
            <a:chExt cx="21640800" cy="402167"/>
          </a:xfrm>
        </p:grpSpPr>
        <p:sp>
          <p:nvSpPr>
            <p:cNvPr name="TextBox 13" id="1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4" id="1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26</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TextBox 6" id="6"/>
          <p:cNvSpPr txBox="true"/>
          <p:nvPr/>
        </p:nvSpPr>
        <p:spPr>
          <a:xfrm rot="0">
            <a:off x="12894637" y="990600"/>
            <a:ext cx="436466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 Strong Signal - Service Connectivity</a:t>
            </a:r>
          </a:p>
        </p:txBody>
      </p:sp>
      <p:sp>
        <p:nvSpPr>
          <p:cNvPr name="TextBox 7" id="7"/>
          <p:cNvSpPr txBox="true"/>
          <p:nvPr/>
        </p:nvSpPr>
        <p:spPr>
          <a:xfrm rot="0">
            <a:off x="1895185" y="8580120"/>
            <a:ext cx="14497630" cy="678180"/>
          </a:xfrm>
          <a:prstGeom prst="rect">
            <a:avLst/>
          </a:prstGeom>
        </p:spPr>
        <p:txBody>
          <a:bodyPr anchor="t" rtlCol="false" tIns="0" lIns="0" bIns="0" rIns="0">
            <a:spAutoFit/>
          </a:bodyPr>
          <a:lstStyle/>
          <a:p>
            <a:pPr algn="ctr">
              <a:lnSpc>
                <a:spcPts val="2520"/>
              </a:lnSpc>
              <a:spcBef>
                <a:spcPct val="0"/>
              </a:spcBef>
            </a:pPr>
            <a:r>
              <a:rPr lang="en-US" sz="1800" i="true" spc="-26">
                <a:solidFill>
                  <a:srgbClr val="FFFFFF"/>
                </a:solidFill>
                <a:latin typeface="Helvetica World Italics"/>
                <a:ea typeface="Helvetica World Italics"/>
                <a:cs typeface="Helvetica World Italics"/>
                <a:sym typeface="Helvetica World Italics"/>
              </a:rPr>
              <a:t>We posit that bridging the intelligence gap between Rufus AI and Amelia AI presents a compelling business case and a clear strategic imperative for Amazon's next phase of growth.</a:t>
            </a:r>
          </a:p>
        </p:txBody>
      </p:sp>
      <p:grpSp>
        <p:nvGrpSpPr>
          <p:cNvPr name="Group 8" id="8"/>
          <p:cNvGrpSpPr/>
          <p:nvPr/>
        </p:nvGrpSpPr>
        <p:grpSpPr>
          <a:xfrm rot="0">
            <a:off x="1011127" y="1824955"/>
            <a:ext cx="16248173" cy="6298634"/>
            <a:chOff x="0" y="0"/>
            <a:chExt cx="21664230" cy="8398179"/>
          </a:xfrm>
        </p:grpSpPr>
        <p:sp>
          <p:nvSpPr>
            <p:cNvPr name="TextBox 9" id="9"/>
            <p:cNvSpPr txBox="true"/>
            <p:nvPr/>
          </p:nvSpPr>
          <p:spPr>
            <a:xfrm rot="0">
              <a:off x="9403981" y="-38100"/>
              <a:ext cx="2879699" cy="440267"/>
            </a:xfrm>
            <a:prstGeom prst="rect">
              <a:avLst/>
            </a:prstGeom>
          </p:spPr>
          <p:txBody>
            <a:bodyPr anchor="t" rtlCol="false" tIns="0" lIns="0" bIns="0" rIns="0">
              <a:spAutoFit/>
            </a:bodyPr>
            <a:lstStyle/>
            <a:p>
              <a:pPr algn="ctr">
                <a:lnSpc>
                  <a:spcPts val="2800"/>
                </a:lnSpc>
              </a:pPr>
              <a:r>
                <a:rPr lang="en-US" sz="2000" spc="-20">
                  <a:solidFill>
                    <a:srgbClr val="FFFFFF"/>
                  </a:solidFill>
                  <a:latin typeface="Helvetica World"/>
                  <a:ea typeface="Helvetica World"/>
                  <a:cs typeface="Helvetica World"/>
                  <a:sym typeface="Helvetica World"/>
                </a:rPr>
                <a:t>[Strong Signal]</a:t>
              </a:r>
            </a:p>
          </p:txBody>
        </p:sp>
        <p:sp>
          <p:nvSpPr>
            <p:cNvPr name="TextBox 10" id="10"/>
            <p:cNvSpPr txBox="true"/>
            <p:nvPr/>
          </p:nvSpPr>
          <p:spPr>
            <a:xfrm rot="0">
              <a:off x="8486586" y="7957912"/>
              <a:ext cx="4714490" cy="440267"/>
            </a:xfrm>
            <a:prstGeom prst="rect">
              <a:avLst/>
            </a:prstGeom>
          </p:spPr>
          <p:txBody>
            <a:bodyPr anchor="t" rtlCol="false" tIns="0" lIns="0" bIns="0" rIns="0">
              <a:spAutoFit/>
            </a:bodyPr>
            <a:lstStyle/>
            <a:p>
              <a:pPr algn="ctr">
                <a:lnSpc>
                  <a:spcPts val="2800"/>
                </a:lnSpc>
              </a:pPr>
              <a:r>
                <a:rPr lang="en-US" sz="2000" spc="-20">
                  <a:solidFill>
                    <a:srgbClr val="FFFFFF"/>
                  </a:solidFill>
                  <a:latin typeface="Helvetica World"/>
                  <a:ea typeface="Helvetica World"/>
                  <a:cs typeface="Helvetica World"/>
                  <a:sym typeface="Helvetica World"/>
                </a:rPr>
                <a:t>[Opportunity/Departure Point]</a:t>
              </a:r>
            </a:p>
          </p:txBody>
        </p:sp>
        <p:sp>
          <p:nvSpPr>
            <p:cNvPr name="Freeform 11" id="11"/>
            <p:cNvSpPr/>
            <p:nvPr/>
          </p:nvSpPr>
          <p:spPr>
            <a:xfrm flipH="false" flipV="false" rot="0">
              <a:off x="23430" y="1532467"/>
              <a:ext cx="6928209" cy="5333246"/>
            </a:xfrm>
            <a:custGeom>
              <a:avLst/>
              <a:gdLst/>
              <a:ahLst/>
              <a:cxnLst/>
              <a:rect r="r" b="b" t="t" l="l"/>
              <a:pathLst>
                <a:path h="5333246" w="6928209">
                  <a:moveTo>
                    <a:pt x="0" y="0"/>
                  </a:moveTo>
                  <a:lnTo>
                    <a:pt x="6928209" y="0"/>
                  </a:lnTo>
                  <a:lnTo>
                    <a:pt x="6928209" y="5333245"/>
                  </a:lnTo>
                  <a:lnTo>
                    <a:pt x="0" y="5333245"/>
                  </a:lnTo>
                  <a:lnTo>
                    <a:pt x="0" y="0"/>
                  </a:lnTo>
                  <a:close/>
                </a:path>
              </a:pathLst>
            </a:custGeom>
            <a:blipFill>
              <a:blip r:embed="rId2"/>
              <a:stretch>
                <a:fillRect l="0" t="-16363" r="0" b="-16363"/>
              </a:stretch>
            </a:blipFill>
          </p:spPr>
        </p:sp>
        <p:sp>
          <p:nvSpPr>
            <p:cNvPr name="Freeform 12" id="12"/>
            <p:cNvSpPr/>
            <p:nvPr/>
          </p:nvSpPr>
          <p:spPr>
            <a:xfrm flipH="true" flipV="false" rot="0">
              <a:off x="14736022" y="1532467"/>
              <a:ext cx="6928209" cy="5333246"/>
            </a:xfrm>
            <a:custGeom>
              <a:avLst/>
              <a:gdLst/>
              <a:ahLst/>
              <a:cxnLst/>
              <a:rect r="r" b="b" t="t" l="l"/>
              <a:pathLst>
                <a:path h="5333246" w="6928209">
                  <a:moveTo>
                    <a:pt x="6928208" y="0"/>
                  </a:moveTo>
                  <a:lnTo>
                    <a:pt x="0" y="0"/>
                  </a:lnTo>
                  <a:lnTo>
                    <a:pt x="0" y="5333245"/>
                  </a:lnTo>
                  <a:lnTo>
                    <a:pt x="6928208" y="5333245"/>
                  </a:lnTo>
                  <a:lnTo>
                    <a:pt x="6928208" y="0"/>
                  </a:lnTo>
                  <a:close/>
                </a:path>
              </a:pathLst>
            </a:custGeom>
            <a:blipFill>
              <a:blip r:embed="rId2"/>
              <a:stretch>
                <a:fillRect l="0" t="-16363" r="0" b="-16363"/>
              </a:stretch>
            </a:blipFill>
          </p:spPr>
        </p:sp>
        <p:sp>
          <p:nvSpPr>
            <p:cNvPr name="AutoShape 13" id="13"/>
            <p:cNvSpPr/>
            <p:nvPr/>
          </p:nvSpPr>
          <p:spPr>
            <a:xfrm>
              <a:off x="10843830" y="1532467"/>
              <a:ext cx="0" cy="1858740"/>
            </a:xfrm>
            <a:prstGeom prst="line">
              <a:avLst/>
            </a:prstGeom>
            <a:ln cap="flat" w="25400">
              <a:solidFill>
                <a:srgbClr val="FFFFFF"/>
              </a:solidFill>
              <a:prstDash val="solid"/>
              <a:headEnd type="none" len="sm" w="sm"/>
              <a:tailEnd type="arrow" len="sm" w="med"/>
            </a:ln>
          </p:spPr>
        </p:sp>
        <p:sp>
          <p:nvSpPr>
            <p:cNvPr name="TextBox 14" id="14"/>
            <p:cNvSpPr txBox="true"/>
            <p:nvPr/>
          </p:nvSpPr>
          <p:spPr>
            <a:xfrm rot="0">
              <a:off x="23430" y="3767925"/>
              <a:ext cx="1546225" cy="795655"/>
            </a:xfrm>
            <a:prstGeom prst="rect">
              <a:avLst/>
            </a:prstGeom>
          </p:spPr>
          <p:txBody>
            <a:bodyPr anchor="t" rtlCol="false" tIns="0" lIns="0" bIns="0" rIns="0">
              <a:spAutoFit/>
            </a:bodyPr>
            <a:lstStyle/>
            <a:p>
              <a:pPr algn="ctr">
                <a:lnSpc>
                  <a:spcPts val="5040"/>
                </a:lnSpc>
              </a:pPr>
              <a:r>
                <a:rPr lang="en-US" sz="3600" spc="-36">
                  <a:solidFill>
                    <a:srgbClr val="FFFFFF">
                      <a:alpha val="49804"/>
                    </a:srgbClr>
                  </a:solidFill>
                  <a:latin typeface="Helvetica World"/>
                  <a:ea typeface="Helvetica World"/>
                  <a:cs typeface="Helvetica World"/>
                  <a:sym typeface="Helvetica World"/>
                </a:rPr>
                <a:t>Rufus</a:t>
              </a:r>
            </a:p>
          </p:txBody>
        </p:sp>
        <p:sp>
          <p:nvSpPr>
            <p:cNvPr name="TextBox 15" id="15"/>
            <p:cNvSpPr txBox="true"/>
            <p:nvPr/>
          </p:nvSpPr>
          <p:spPr>
            <a:xfrm rot="0">
              <a:off x="19846940" y="3767925"/>
              <a:ext cx="1817291" cy="795655"/>
            </a:xfrm>
            <a:prstGeom prst="rect">
              <a:avLst/>
            </a:prstGeom>
          </p:spPr>
          <p:txBody>
            <a:bodyPr anchor="t" rtlCol="false" tIns="0" lIns="0" bIns="0" rIns="0">
              <a:spAutoFit/>
            </a:bodyPr>
            <a:lstStyle/>
            <a:p>
              <a:pPr algn="ctr">
                <a:lnSpc>
                  <a:spcPts val="5040"/>
                </a:lnSpc>
              </a:pPr>
              <a:r>
                <a:rPr lang="en-US" sz="3600" spc="-36">
                  <a:solidFill>
                    <a:srgbClr val="FFFFFF">
                      <a:alpha val="49804"/>
                    </a:srgbClr>
                  </a:solidFill>
                  <a:latin typeface="Helvetica World"/>
                  <a:ea typeface="Helvetica World"/>
                  <a:cs typeface="Helvetica World"/>
                  <a:sym typeface="Helvetica World"/>
                </a:rPr>
                <a:t>Amelia</a:t>
              </a:r>
            </a:p>
          </p:txBody>
        </p:sp>
        <p:sp>
          <p:nvSpPr>
            <p:cNvPr name="TextBox 16" id="16"/>
            <p:cNvSpPr txBox="true"/>
            <p:nvPr/>
          </p:nvSpPr>
          <p:spPr>
            <a:xfrm rot="0">
              <a:off x="6951639" y="3758188"/>
              <a:ext cx="7784383" cy="815128"/>
            </a:xfrm>
            <a:prstGeom prst="rect">
              <a:avLst/>
            </a:prstGeom>
          </p:spPr>
          <p:txBody>
            <a:bodyPr anchor="t" rtlCol="false" tIns="0" lIns="0" bIns="0" rIns="0">
              <a:spAutoFit/>
            </a:bodyPr>
            <a:lstStyle/>
            <a:p>
              <a:pPr algn="ctr">
                <a:lnSpc>
                  <a:spcPts val="4759"/>
                </a:lnSpc>
                <a:spcBef>
                  <a:spcPct val="0"/>
                </a:spcBef>
              </a:pPr>
              <a:r>
                <a:rPr lang="en-US" sz="3399" i="true" spc="-50">
                  <a:solidFill>
                    <a:srgbClr val="FFFFFF"/>
                  </a:solidFill>
                  <a:latin typeface="Helvetica World Italics"/>
                  <a:ea typeface="Helvetica World Italics"/>
                  <a:cs typeface="Helvetica World Italics"/>
                  <a:sym typeface="Helvetica World Italics"/>
                </a:rPr>
                <a:t>“Weak Service Connectivity”</a:t>
              </a:r>
            </a:p>
          </p:txBody>
        </p:sp>
        <p:sp>
          <p:nvSpPr>
            <p:cNvPr name="AutoShape 17" id="17"/>
            <p:cNvSpPr/>
            <p:nvPr/>
          </p:nvSpPr>
          <p:spPr>
            <a:xfrm>
              <a:off x="10843830" y="5005116"/>
              <a:ext cx="0" cy="1858740"/>
            </a:xfrm>
            <a:prstGeom prst="line">
              <a:avLst/>
            </a:prstGeom>
            <a:ln cap="flat" w="25400">
              <a:solidFill>
                <a:srgbClr val="FFFFFF"/>
              </a:solidFill>
              <a:prstDash val="solid"/>
              <a:headEnd type="none" len="sm" w="sm"/>
              <a:tailEnd type="arrow" len="sm" w="med"/>
            </a:ln>
          </p:spPr>
        </p:sp>
        <p:sp>
          <p:nvSpPr>
            <p:cNvPr name="AutoShape 18" id="18"/>
            <p:cNvSpPr/>
            <p:nvPr/>
          </p:nvSpPr>
          <p:spPr>
            <a:xfrm>
              <a:off x="0" y="600060"/>
              <a:ext cx="21664230" cy="0"/>
            </a:xfrm>
            <a:prstGeom prst="line">
              <a:avLst/>
            </a:prstGeom>
            <a:ln cap="rnd" w="25400">
              <a:solidFill>
                <a:srgbClr val="FFFFFF">
                  <a:alpha val="49804"/>
                </a:srgbClr>
              </a:solidFill>
              <a:prstDash val="lgDash"/>
              <a:headEnd type="none" len="sm" w="sm"/>
              <a:tailEnd type="none" len="sm" w="sm"/>
            </a:ln>
          </p:spPr>
        </p:sp>
        <p:sp>
          <p:nvSpPr>
            <p:cNvPr name="AutoShape 19" id="19"/>
            <p:cNvSpPr/>
            <p:nvPr/>
          </p:nvSpPr>
          <p:spPr>
            <a:xfrm>
              <a:off x="0" y="7798119"/>
              <a:ext cx="21664230" cy="0"/>
            </a:xfrm>
            <a:prstGeom prst="line">
              <a:avLst/>
            </a:prstGeom>
            <a:ln cap="rnd" w="25400">
              <a:solidFill>
                <a:srgbClr val="FFFFFF">
                  <a:alpha val="49804"/>
                </a:srgbClr>
              </a:solidFill>
              <a:prstDash val="lgDash"/>
              <a:headEnd type="none" len="sm" w="sm"/>
              <a:tailEnd type="none" len="sm" w="sm"/>
            </a:ln>
          </p:spPr>
        </p:sp>
      </p:grpSp>
      <p:grpSp>
        <p:nvGrpSpPr>
          <p:cNvPr name="Group 20" id="20"/>
          <p:cNvGrpSpPr/>
          <p:nvPr/>
        </p:nvGrpSpPr>
        <p:grpSpPr>
          <a:xfrm rot="0">
            <a:off x="1028700" y="9258300"/>
            <a:ext cx="16230600" cy="301625"/>
            <a:chOff x="0" y="0"/>
            <a:chExt cx="21640800" cy="402167"/>
          </a:xfrm>
        </p:grpSpPr>
        <p:sp>
          <p:nvSpPr>
            <p:cNvPr name="TextBox 21" id="2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2" id="2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27</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990600"/>
            <a:ext cx="2123480"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Freeform 6" id="6"/>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7" id="7"/>
          <p:cNvSpPr txBox="true"/>
          <p:nvPr/>
        </p:nvSpPr>
        <p:spPr>
          <a:xfrm rot="0">
            <a:off x="1028700" y="4282440"/>
            <a:ext cx="16230600" cy="2046923"/>
          </a:xfrm>
          <a:prstGeom prst="rect">
            <a:avLst/>
          </a:prstGeom>
        </p:spPr>
        <p:txBody>
          <a:bodyPr anchor="t" rtlCol="false" tIns="0" lIns="0" bIns="0" rIns="0">
            <a:spAutoFit/>
          </a:bodyPr>
          <a:lstStyle/>
          <a:p>
            <a:pPr algn="ctr">
              <a:lnSpc>
                <a:spcPts val="5040"/>
              </a:lnSpc>
              <a:spcBef>
                <a:spcPct val="0"/>
              </a:spcBef>
            </a:pPr>
            <a:r>
              <a:rPr lang="en-US" sz="3600" i="true" spc="-53">
                <a:solidFill>
                  <a:srgbClr val="FFFFFF"/>
                </a:solidFill>
                <a:latin typeface="Helvetica World Italics"/>
                <a:ea typeface="Helvetica World Italics"/>
                <a:cs typeface="Helvetica World Italics"/>
                <a:sym typeface="Helvetica World Italics"/>
              </a:rPr>
              <a:t>“Bridging these two systems should be a near-term strategic goal for Amazon, as doing so has the potential to unlock significant opportunities across both the buyer and seller experience.”</a:t>
            </a:r>
          </a:p>
        </p:txBody>
      </p:sp>
      <p:sp>
        <p:nvSpPr>
          <p:cNvPr name="TextBox 8" id="8"/>
          <p:cNvSpPr txBox="true"/>
          <p:nvPr/>
        </p:nvSpPr>
        <p:spPr>
          <a:xfrm rot="0">
            <a:off x="1895185" y="8742363"/>
            <a:ext cx="14497630" cy="339725"/>
          </a:xfrm>
          <a:prstGeom prst="rect">
            <a:avLst/>
          </a:prstGeom>
        </p:spPr>
        <p:txBody>
          <a:bodyPr anchor="t" rtlCol="false" tIns="0" lIns="0" bIns="0" rIns="0">
            <a:spAutoFit/>
          </a:bodyPr>
          <a:lstStyle/>
          <a:p>
            <a:pPr algn="ctr">
              <a:lnSpc>
                <a:spcPts val="2800"/>
              </a:lnSpc>
              <a:spcBef>
                <a:spcPct val="0"/>
              </a:spcBef>
            </a:pPr>
            <a:r>
              <a:rPr lang="en-US" sz="2000" spc="-30">
                <a:solidFill>
                  <a:srgbClr val="FFFFFF">
                    <a:alpha val="49804"/>
                  </a:srgbClr>
                </a:solidFill>
                <a:latin typeface="Helvetica World"/>
                <a:ea typeface="Helvetica World"/>
                <a:cs typeface="Helvetica World"/>
                <a:sym typeface="Helvetica World"/>
              </a:rPr>
              <a:t>The data from Rufus and Amelia currently circulate independently rather than in a shared loop.</a:t>
            </a:r>
          </a:p>
        </p:txBody>
      </p:sp>
      <p:sp>
        <p:nvSpPr>
          <p:cNvPr name="TextBox 9" id="9"/>
          <p:cNvSpPr txBox="true"/>
          <p:nvPr/>
        </p:nvSpPr>
        <p:spPr>
          <a:xfrm rot="0">
            <a:off x="12894637" y="990600"/>
            <a:ext cx="436466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 Strong Signal - Service Connectivity</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28</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Freeform 6" id="6"/>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7" id="7"/>
          <p:cNvSpPr txBox="true"/>
          <p:nvPr/>
        </p:nvSpPr>
        <p:spPr>
          <a:xfrm rot="0">
            <a:off x="1028700" y="4455795"/>
            <a:ext cx="16230600" cy="1709738"/>
          </a:xfrm>
          <a:prstGeom prst="rect">
            <a:avLst/>
          </a:prstGeom>
        </p:spPr>
        <p:txBody>
          <a:bodyPr anchor="t" rtlCol="false" tIns="0" lIns="0" bIns="0" rIns="0">
            <a:spAutoFit/>
          </a:bodyPr>
          <a:lstStyle/>
          <a:p>
            <a:pPr algn="ctr">
              <a:lnSpc>
                <a:spcPts val="4200"/>
              </a:lnSpc>
              <a:spcBef>
                <a:spcPct val="0"/>
              </a:spcBef>
            </a:pPr>
            <a:r>
              <a:rPr lang="en-US" sz="3000" i="true" spc="-44">
                <a:solidFill>
                  <a:srgbClr val="FFFFFF"/>
                </a:solidFill>
                <a:latin typeface="Helvetica World Italics"/>
                <a:ea typeface="Helvetica World Italics"/>
                <a:cs typeface="Helvetica World Italics"/>
                <a:sym typeface="Helvetica World Italics"/>
              </a:rPr>
              <a:t>“Rufus tells shoppers what to buy while Amazon profits from the answer. Amelia helps sellers navigate Amazon's rules, while Amazon wrote those rules and can change them. In both cases, the chatbot format lends a false sense of neutrality to interactions that are fundamentally not neutral.”</a:t>
            </a:r>
          </a:p>
        </p:txBody>
      </p:sp>
      <p:sp>
        <p:nvSpPr>
          <p:cNvPr name="TextBox 8" id="8"/>
          <p:cNvSpPr txBox="true"/>
          <p:nvPr/>
        </p:nvSpPr>
        <p:spPr>
          <a:xfrm rot="0">
            <a:off x="1895185" y="8566150"/>
            <a:ext cx="14497630" cy="692150"/>
          </a:xfrm>
          <a:prstGeom prst="rect">
            <a:avLst/>
          </a:prstGeom>
        </p:spPr>
        <p:txBody>
          <a:bodyPr anchor="t" rtlCol="false" tIns="0" lIns="0" bIns="0" rIns="0">
            <a:spAutoFit/>
          </a:bodyPr>
          <a:lstStyle/>
          <a:p>
            <a:pPr algn="ctr">
              <a:lnSpc>
                <a:spcPts val="2800"/>
              </a:lnSpc>
              <a:spcBef>
                <a:spcPct val="0"/>
              </a:spcBef>
            </a:pPr>
            <a:r>
              <a:rPr lang="en-US" sz="2000" spc="-30">
                <a:solidFill>
                  <a:srgbClr val="FFFFFF">
                    <a:alpha val="49804"/>
                  </a:srgbClr>
                </a:solidFill>
                <a:latin typeface="Helvetica World"/>
                <a:ea typeface="Helvetica World"/>
                <a:cs typeface="Helvetica World"/>
                <a:sym typeface="Helvetica World"/>
              </a:rPr>
              <a:t>Rufus and Amelia both embed AI assistance inside a system where Amazon is simultaneously the platform, the competitor, and the beneficiary — leaving most of its potential value unrealized.</a:t>
            </a:r>
          </a:p>
        </p:txBody>
      </p:sp>
      <p:sp>
        <p:nvSpPr>
          <p:cNvPr name="TextBox 9" id="9"/>
          <p:cNvSpPr txBox="true"/>
          <p:nvPr/>
        </p:nvSpPr>
        <p:spPr>
          <a:xfrm rot="0">
            <a:off x="12894637" y="990600"/>
            <a:ext cx="436466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 Strong Signal - Service Connectivity</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29</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19175" y="1330308"/>
            <a:ext cx="16240125" cy="7927998"/>
            <a:chOff x="0" y="0"/>
            <a:chExt cx="21653500" cy="10570664"/>
          </a:xfrm>
        </p:grpSpPr>
        <p:sp>
          <p:nvSpPr>
            <p:cNvPr name="AutoShape 3" id="3"/>
            <p:cNvSpPr/>
            <p:nvPr/>
          </p:nvSpPr>
          <p:spPr>
            <a:xfrm flipH="true">
              <a:off x="12700" y="15"/>
              <a:ext cx="12700" cy="10570633"/>
            </a:xfrm>
            <a:prstGeom prst="line">
              <a:avLst/>
            </a:prstGeom>
            <a:ln cap="rnd" w="25400">
              <a:solidFill>
                <a:srgbClr val="FFFFFF">
                  <a:alpha val="49804"/>
                </a:srgbClr>
              </a:solidFill>
              <a:prstDash val="sysDash"/>
              <a:headEnd type="none" len="sm" w="sm"/>
              <a:tailEnd type="none" len="sm" w="sm"/>
            </a:ln>
          </p:spPr>
        </p:sp>
        <p:sp>
          <p:nvSpPr>
            <p:cNvPr name="AutoShape 4" id="4"/>
            <p:cNvSpPr/>
            <p:nvPr/>
          </p:nvSpPr>
          <p:spPr>
            <a:xfrm flipH="true">
              <a:off x="21628100" y="15"/>
              <a:ext cx="12700" cy="10570633"/>
            </a:xfrm>
            <a:prstGeom prst="line">
              <a:avLst/>
            </a:prstGeom>
            <a:ln cap="rnd" w="25400">
              <a:solidFill>
                <a:srgbClr val="FFFFFF">
                  <a:alpha val="49804"/>
                </a:srgbClr>
              </a:solidFill>
              <a:prstDash val="sysDash"/>
              <a:headEnd type="none" len="sm" w="sm"/>
              <a:tailEnd type="none" len="sm" w="sm"/>
            </a:ln>
          </p:spPr>
        </p:sp>
      </p:grpSp>
      <p:sp>
        <p:nvSpPr>
          <p:cNvPr name="Freeform 5" id="5"/>
          <p:cNvSpPr/>
          <p:nvPr/>
        </p:nvSpPr>
        <p:spPr>
          <a:xfrm flipH="false" flipV="false" rot="0">
            <a:off x="1028700" y="1179512"/>
            <a:ext cx="16230600" cy="7927975"/>
          </a:xfrm>
          <a:custGeom>
            <a:avLst/>
            <a:gdLst/>
            <a:ahLst/>
            <a:cxnLst/>
            <a:rect r="r" b="b" t="t" l="l"/>
            <a:pathLst>
              <a:path h="7927975" w="16230600">
                <a:moveTo>
                  <a:pt x="0" y="0"/>
                </a:moveTo>
                <a:lnTo>
                  <a:pt x="16230600" y="0"/>
                </a:lnTo>
                <a:lnTo>
                  <a:pt x="16230600" y="7927976"/>
                </a:lnTo>
                <a:lnTo>
                  <a:pt x="0" y="7927976"/>
                </a:lnTo>
                <a:lnTo>
                  <a:pt x="0" y="0"/>
                </a:lnTo>
                <a:close/>
              </a:path>
            </a:pathLst>
          </a:custGeom>
          <a:blipFill>
            <a:blip r:embed="rId2"/>
            <a:stretch>
              <a:fillRect l="0" t="-115030" r="0" b="-2473"/>
            </a:stretch>
          </a:blipFill>
        </p:spPr>
      </p:sp>
      <p:sp>
        <p:nvSpPr>
          <p:cNvPr name="Freeform 6" id="6"/>
          <p:cNvSpPr/>
          <p:nvPr/>
        </p:nvSpPr>
        <p:spPr>
          <a:xfrm flipH="false" flipV="false" rot="0">
            <a:off x="1580335" y="1676118"/>
            <a:ext cx="1010387" cy="926862"/>
          </a:xfrm>
          <a:custGeom>
            <a:avLst/>
            <a:gdLst/>
            <a:ahLst/>
            <a:cxnLst/>
            <a:rect r="r" b="b" t="t" l="l"/>
            <a:pathLst>
              <a:path h="926862" w="1010387">
                <a:moveTo>
                  <a:pt x="0" y="0"/>
                </a:moveTo>
                <a:lnTo>
                  <a:pt x="1010387" y="0"/>
                </a:lnTo>
                <a:lnTo>
                  <a:pt x="1010387" y="926862"/>
                </a:lnTo>
                <a:lnTo>
                  <a:pt x="0" y="926862"/>
                </a:lnTo>
                <a:lnTo>
                  <a:pt x="0" y="0"/>
                </a:lnTo>
                <a:close/>
              </a:path>
            </a:pathLst>
          </a:custGeom>
          <a:blipFill>
            <a:blip r:embed="rId3"/>
            <a:stretch>
              <a:fillRect l="0" t="0" r="0" b="0"/>
            </a:stretch>
          </a:blipFill>
        </p:spPr>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0" id="10"/>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TextBox 11" id="11"/>
          <p:cNvSpPr txBox="true"/>
          <p:nvPr/>
        </p:nvSpPr>
        <p:spPr>
          <a:xfrm rot="0">
            <a:off x="14641406" y="990600"/>
            <a:ext cx="262175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Value Mapping of Rufus</a:t>
            </a:r>
          </a:p>
        </p:txBody>
      </p:sp>
      <p:sp>
        <p:nvSpPr>
          <p:cNvPr name="TextBox 12" id="12"/>
          <p:cNvSpPr txBox="true"/>
          <p:nvPr/>
        </p:nvSpPr>
        <p:spPr>
          <a:xfrm rot="0">
            <a:off x="2670282" y="8589651"/>
            <a:ext cx="14497630" cy="621030"/>
          </a:xfrm>
          <a:prstGeom prst="rect">
            <a:avLst/>
          </a:prstGeom>
        </p:spPr>
        <p:txBody>
          <a:bodyPr anchor="t" rtlCol="false" tIns="0" lIns="0" bIns="0" rIns="0">
            <a:spAutoFit/>
          </a:bodyPr>
          <a:lstStyle/>
          <a:p>
            <a:pPr algn="r">
              <a:lnSpc>
                <a:spcPts val="2520"/>
              </a:lnSpc>
              <a:spcBef>
                <a:spcPct val="0"/>
              </a:spcBef>
            </a:pPr>
            <a:r>
              <a:rPr lang="en-US" sz="1800" spc="-26">
                <a:solidFill>
                  <a:srgbClr val="FFFFFF"/>
                </a:solidFill>
                <a:latin typeface="Helvetica World"/>
                <a:ea typeface="Helvetica World"/>
                <a:cs typeface="Helvetica World"/>
                <a:sym typeface="Helvetica World"/>
              </a:rPr>
              <a:t>Rufus structurally undermines Amazon's own revenue model: by optimizing for purchase intent, it systematically erodes the browse-and-discover behavior responsible for approximately 20% of e-commerce sales, the unplanned purchases that no AI assistant is asked to generate.</a:t>
            </a:r>
          </a:p>
        </p:txBody>
      </p:sp>
      <p:sp>
        <p:nvSpPr>
          <p:cNvPr name="TextBox 13" id="13"/>
          <p:cNvSpPr txBox="true"/>
          <p:nvPr/>
        </p:nvSpPr>
        <p:spPr>
          <a:xfrm rot="0">
            <a:off x="12268135" y="8439156"/>
            <a:ext cx="4895915" cy="188595"/>
          </a:xfrm>
          <a:prstGeom prst="rect">
            <a:avLst/>
          </a:prstGeom>
        </p:spPr>
        <p:txBody>
          <a:bodyPr anchor="t" rtlCol="false" tIns="0" lIns="0" bIns="0" rIns="0">
            <a:spAutoFit/>
          </a:bodyPr>
          <a:lstStyle/>
          <a:p>
            <a:pPr algn="r">
              <a:lnSpc>
                <a:spcPts val="1679"/>
              </a:lnSpc>
              <a:spcBef>
                <a:spcPct val="0"/>
              </a:spcBef>
            </a:pPr>
            <a:r>
              <a:rPr lang="en-US" sz="1200" spc="-18">
                <a:solidFill>
                  <a:srgbClr val="FFFFFF">
                    <a:alpha val="49804"/>
                  </a:srgbClr>
                </a:solidFill>
                <a:latin typeface="Helvetica World"/>
                <a:ea typeface="Helvetica World"/>
                <a:cs typeface="Helvetica World"/>
                <a:sym typeface="Helvetica World"/>
              </a:rPr>
              <a:t>Source: https://capitaloneshopping.com/research/impulse-buying-statistics/</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6" id="1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30</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19175" y="1330308"/>
            <a:ext cx="16240125" cy="7927998"/>
            <a:chOff x="0" y="0"/>
            <a:chExt cx="21653500" cy="10570664"/>
          </a:xfrm>
        </p:grpSpPr>
        <p:sp>
          <p:nvSpPr>
            <p:cNvPr name="AutoShape 3" id="3"/>
            <p:cNvSpPr/>
            <p:nvPr/>
          </p:nvSpPr>
          <p:spPr>
            <a:xfrm flipH="true">
              <a:off x="12700" y="15"/>
              <a:ext cx="12700" cy="10570633"/>
            </a:xfrm>
            <a:prstGeom prst="line">
              <a:avLst/>
            </a:prstGeom>
            <a:ln cap="rnd" w="25400">
              <a:solidFill>
                <a:srgbClr val="FFFFFF">
                  <a:alpha val="49804"/>
                </a:srgbClr>
              </a:solidFill>
              <a:prstDash val="sysDash"/>
              <a:headEnd type="none" len="sm" w="sm"/>
              <a:tailEnd type="none" len="sm" w="sm"/>
            </a:ln>
          </p:spPr>
        </p:sp>
        <p:sp>
          <p:nvSpPr>
            <p:cNvPr name="AutoShape 4" id="4"/>
            <p:cNvSpPr/>
            <p:nvPr/>
          </p:nvSpPr>
          <p:spPr>
            <a:xfrm flipH="true">
              <a:off x="21628100" y="15"/>
              <a:ext cx="12700" cy="10570633"/>
            </a:xfrm>
            <a:prstGeom prst="line">
              <a:avLst/>
            </a:prstGeom>
            <a:ln cap="rnd" w="25400">
              <a:solidFill>
                <a:srgbClr val="FFFFFF">
                  <a:alpha val="49804"/>
                </a:srgbClr>
              </a:solidFill>
              <a:prstDash val="sysDash"/>
              <a:headEnd type="none" len="sm" w="sm"/>
              <a:tailEnd type="none" len="sm" w="sm"/>
            </a:ln>
          </p:spPr>
        </p:sp>
      </p:grpSp>
      <p:sp>
        <p:nvSpPr>
          <p:cNvPr name="Freeform 5" id="5"/>
          <p:cNvSpPr/>
          <p:nvPr/>
        </p:nvSpPr>
        <p:spPr>
          <a:xfrm flipH="false" flipV="false" rot="0">
            <a:off x="1028700" y="1179512"/>
            <a:ext cx="16230600" cy="7927975"/>
          </a:xfrm>
          <a:custGeom>
            <a:avLst/>
            <a:gdLst/>
            <a:ahLst/>
            <a:cxnLst/>
            <a:rect r="r" b="b" t="t" l="l"/>
            <a:pathLst>
              <a:path h="7927975" w="16230600">
                <a:moveTo>
                  <a:pt x="0" y="0"/>
                </a:moveTo>
                <a:lnTo>
                  <a:pt x="16230600" y="0"/>
                </a:lnTo>
                <a:lnTo>
                  <a:pt x="16230600" y="7927976"/>
                </a:lnTo>
                <a:lnTo>
                  <a:pt x="0" y="7927976"/>
                </a:lnTo>
                <a:lnTo>
                  <a:pt x="0" y="0"/>
                </a:lnTo>
                <a:close/>
              </a:path>
            </a:pathLst>
          </a:custGeom>
          <a:blipFill>
            <a:blip r:embed="rId2"/>
            <a:stretch>
              <a:fillRect l="0" t="-115030" r="0" b="-2473"/>
            </a:stretch>
          </a:blipFill>
        </p:spPr>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TextBox 10" id="10"/>
          <p:cNvSpPr txBox="true"/>
          <p:nvPr/>
        </p:nvSpPr>
        <p:spPr>
          <a:xfrm rot="0">
            <a:off x="14528445" y="990600"/>
            <a:ext cx="273471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Value Mapping of Amelia</a:t>
            </a:r>
          </a:p>
        </p:txBody>
      </p:sp>
      <p:sp>
        <p:nvSpPr>
          <p:cNvPr name="Freeform 11" id="11"/>
          <p:cNvSpPr/>
          <p:nvPr/>
        </p:nvSpPr>
        <p:spPr>
          <a:xfrm flipH="false" flipV="false" rot="0">
            <a:off x="1586594" y="1676118"/>
            <a:ext cx="2357875" cy="926862"/>
          </a:xfrm>
          <a:custGeom>
            <a:avLst/>
            <a:gdLst/>
            <a:ahLst/>
            <a:cxnLst/>
            <a:rect r="r" b="b" t="t" l="l"/>
            <a:pathLst>
              <a:path h="926862" w="2357875">
                <a:moveTo>
                  <a:pt x="0" y="0"/>
                </a:moveTo>
                <a:lnTo>
                  <a:pt x="2357875" y="0"/>
                </a:lnTo>
                <a:lnTo>
                  <a:pt x="2357875" y="926862"/>
                </a:lnTo>
                <a:lnTo>
                  <a:pt x="0" y="926862"/>
                </a:lnTo>
                <a:lnTo>
                  <a:pt x="0" y="0"/>
                </a:lnTo>
                <a:close/>
              </a:path>
            </a:pathLst>
          </a:custGeom>
          <a:blipFill>
            <a:blip r:embed="rId3"/>
            <a:stretch>
              <a:fillRect l="0" t="0" r="0" b="0"/>
            </a:stretch>
          </a:blipFill>
        </p:spPr>
      </p:sp>
      <p:sp>
        <p:nvSpPr>
          <p:cNvPr name="TextBox 12" id="12"/>
          <p:cNvSpPr txBox="true"/>
          <p:nvPr/>
        </p:nvSpPr>
        <p:spPr>
          <a:xfrm rot="0">
            <a:off x="2670282" y="8589651"/>
            <a:ext cx="14497630" cy="621030"/>
          </a:xfrm>
          <a:prstGeom prst="rect">
            <a:avLst/>
          </a:prstGeom>
        </p:spPr>
        <p:txBody>
          <a:bodyPr anchor="t" rtlCol="false" tIns="0" lIns="0" bIns="0" rIns="0">
            <a:spAutoFit/>
          </a:bodyPr>
          <a:lstStyle/>
          <a:p>
            <a:pPr algn="r">
              <a:lnSpc>
                <a:spcPts val="2520"/>
              </a:lnSpc>
              <a:spcBef>
                <a:spcPct val="0"/>
              </a:spcBef>
            </a:pPr>
            <a:r>
              <a:rPr lang="en-US" sz="1800" spc="-26">
                <a:solidFill>
                  <a:srgbClr val="FFFFFF"/>
                </a:solidFill>
                <a:latin typeface="Helvetica World"/>
                <a:ea typeface="Helvetica World"/>
                <a:cs typeface="Helvetica World"/>
                <a:sym typeface="Helvetica World"/>
              </a:rPr>
              <a:t>Amelia risks becoming not a tool that empowers sellers, but a tool that enables Amazon to replace them, and once sellers recognize this structural dynamic, platform migration will accelerate.</a:t>
            </a:r>
          </a:p>
        </p:txBody>
      </p:sp>
      <p:sp>
        <p:nvSpPr>
          <p:cNvPr name="TextBox 13" id="13"/>
          <p:cNvSpPr txBox="true"/>
          <p:nvPr/>
        </p:nvSpPr>
        <p:spPr>
          <a:xfrm rot="0">
            <a:off x="12315936" y="8229606"/>
            <a:ext cx="4848114" cy="398145"/>
          </a:xfrm>
          <a:prstGeom prst="rect">
            <a:avLst/>
          </a:prstGeom>
        </p:spPr>
        <p:txBody>
          <a:bodyPr anchor="t" rtlCol="false" tIns="0" lIns="0" bIns="0" rIns="0">
            <a:spAutoFit/>
          </a:bodyPr>
          <a:lstStyle/>
          <a:p>
            <a:pPr algn="r">
              <a:lnSpc>
                <a:spcPts val="1679"/>
              </a:lnSpc>
              <a:spcBef>
                <a:spcPct val="0"/>
              </a:spcBef>
            </a:pPr>
            <a:r>
              <a:rPr lang="en-US" sz="1200" spc="-18">
                <a:solidFill>
                  <a:srgbClr val="FFFFFF">
                    <a:alpha val="49804"/>
                  </a:srgbClr>
                </a:solidFill>
                <a:latin typeface="Helvetica World"/>
                <a:ea typeface="Helvetica World"/>
                <a:cs typeface="Helvetica World"/>
                <a:sym typeface="Helvetica World"/>
              </a:rPr>
              <a:t>Source: https://www.cnbc.com/2026/01/06/amazons-ai-shopping-tool-sparks-backlash-from-some-online-retailers.html</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6" id="1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31</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5562064" y="990600"/>
            <a:ext cx="169723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Value Definition</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sp>
        <p:nvSpPr>
          <p:cNvPr name="Freeform 7" id="7"/>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8" id="8"/>
          <p:cNvSpPr txBox="true"/>
          <p:nvPr/>
        </p:nvSpPr>
        <p:spPr>
          <a:xfrm rot="0">
            <a:off x="1028700" y="4282440"/>
            <a:ext cx="16230600" cy="2046923"/>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“Amazon is using AI to capture the value that third parties once created on its platform. But in doing so, it is undermining the network effects and participant incentives that gave the platform its value to begin with.”</a:t>
            </a:r>
          </a:p>
        </p:txBody>
      </p:sp>
      <p:grpSp>
        <p:nvGrpSpPr>
          <p:cNvPr name="Group 9" id="9"/>
          <p:cNvGrpSpPr/>
          <p:nvPr/>
        </p:nvGrpSpPr>
        <p:grpSpPr>
          <a:xfrm rot="0">
            <a:off x="1028700" y="9258300"/>
            <a:ext cx="16230600" cy="301625"/>
            <a:chOff x="0" y="0"/>
            <a:chExt cx="21640800" cy="402167"/>
          </a:xfrm>
        </p:grpSpPr>
        <p:sp>
          <p:nvSpPr>
            <p:cNvPr name="TextBox 10" id="1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1" id="1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32</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4136078" y="1028700"/>
            <a:ext cx="10015845" cy="8229600"/>
          </a:xfrm>
          <a:custGeom>
            <a:avLst/>
            <a:gdLst/>
            <a:ahLst/>
            <a:cxnLst/>
            <a:rect r="r" b="b" t="t" l="l"/>
            <a:pathLst>
              <a:path h="8229600" w="10015845">
                <a:moveTo>
                  <a:pt x="0" y="0"/>
                </a:moveTo>
                <a:lnTo>
                  <a:pt x="10015844" y="0"/>
                </a:lnTo>
                <a:lnTo>
                  <a:pt x="10015844" y="8229600"/>
                </a:lnTo>
                <a:lnTo>
                  <a:pt x="0" y="8229600"/>
                </a:lnTo>
                <a:lnTo>
                  <a:pt x="0" y="0"/>
                </a:lnTo>
                <a:close/>
              </a:path>
            </a:pathLst>
          </a:custGeom>
          <a:blipFill>
            <a:blip r:embed="rId2"/>
            <a:stretch>
              <a:fillRect l="-5316" t="-17322" r="-5316" b="-17322"/>
            </a:stretch>
          </a:blipFill>
        </p:spPr>
      </p:sp>
      <p:sp>
        <p:nvSpPr>
          <p:cNvPr name="TextBox 3" id="3"/>
          <p:cNvSpPr txBox="true"/>
          <p:nvPr/>
        </p:nvSpPr>
        <p:spPr>
          <a:xfrm rot="0">
            <a:off x="14950083" y="990600"/>
            <a:ext cx="230921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Opportunity Mapping</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28700" y="2830702"/>
            <a:ext cx="3547839" cy="5143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AI Layer C</a:t>
            </a:r>
            <a:r>
              <a:rPr lang="en-US" sz="3000" spc="-30">
                <a:solidFill>
                  <a:srgbClr val="FFFFFF"/>
                </a:solidFill>
                <a:latin typeface="Helvetica World"/>
                <a:ea typeface="Helvetica World"/>
                <a:cs typeface="Helvetica World"/>
                <a:sym typeface="Helvetica World"/>
              </a:rPr>
              <a:t>onnectivity </a:t>
            </a:r>
          </a:p>
        </p:txBody>
      </p:sp>
      <p:sp>
        <p:nvSpPr>
          <p:cNvPr name="TextBox 8" id="8"/>
          <p:cNvSpPr txBox="true"/>
          <p:nvPr/>
        </p:nvSpPr>
        <p:spPr>
          <a:xfrm rot="0">
            <a:off x="11869527" y="6960998"/>
            <a:ext cx="5389773" cy="457200"/>
          </a:xfrm>
          <a:prstGeom prst="rect">
            <a:avLst/>
          </a:prstGeom>
        </p:spPr>
        <p:txBody>
          <a:bodyPr anchor="t" rtlCol="false" tIns="0" lIns="0" bIns="0" rIns="0">
            <a:spAutoFit/>
          </a:bodyPr>
          <a:lstStyle/>
          <a:p>
            <a:pPr algn="r">
              <a:lnSpc>
                <a:spcPts val="3600"/>
              </a:lnSpc>
            </a:pPr>
            <a:r>
              <a:rPr lang="en-US" sz="3000" spc="-30">
                <a:solidFill>
                  <a:srgbClr val="FFFFFF"/>
                </a:solidFill>
                <a:latin typeface="Helvetica World"/>
                <a:ea typeface="Helvetica World"/>
                <a:cs typeface="Helvetica World"/>
                <a:sym typeface="Helvetica World"/>
              </a:rPr>
              <a:t>Proactive Decision Making</a:t>
            </a:r>
          </a:p>
        </p:txBody>
      </p:sp>
      <p:sp>
        <p:nvSpPr>
          <p:cNvPr name="AutoShape 9" id="9"/>
          <p:cNvSpPr/>
          <p:nvPr/>
        </p:nvSpPr>
        <p:spPr>
          <a:xfrm>
            <a:off x="1028700" y="5153025"/>
            <a:ext cx="2806021" cy="0"/>
          </a:xfrm>
          <a:prstGeom prst="line">
            <a:avLst/>
          </a:prstGeom>
          <a:ln cap="rnd" w="19050">
            <a:solidFill>
              <a:srgbClr val="FFFFFF">
                <a:alpha val="49804"/>
              </a:srgbClr>
            </a:solidFill>
            <a:prstDash val="sysDash"/>
            <a:headEnd type="none" len="sm" w="sm"/>
            <a:tailEnd type="none" len="sm" w="sm"/>
          </a:ln>
        </p:spPr>
      </p:sp>
      <p:sp>
        <p:nvSpPr>
          <p:cNvPr name="AutoShape 10" id="10"/>
          <p:cNvSpPr/>
          <p:nvPr/>
        </p:nvSpPr>
        <p:spPr>
          <a:xfrm>
            <a:off x="14453279" y="5133975"/>
            <a:ext cx="2806021" cy="0"/>
          </a:xfrm>
          <a:prstGeom prst="line">
            <a:avLst/>
          </a:prstGeom>
          <a:ln cap="rnd" w="19050">
            <a:solidFill>
              <a:srgbClr val="FFFFFF">
                <a:alpha val="49804"/>
              </a:srgbClr>
            </a:solidFill>
            <a:prstDash val="sysDash"/>
            <a:headEnd type="none" len="sm" w="sm"/>
            <a:tailEnd type="none" len="sm" w="sm"/>
          </a:ln>
        </p:spPr>
      </p:sp>
      <p:sp>
        <p:nvSpPr>
          <p:cNvPr name="TextBox 11" id="11"/>
          <p:cNvSpPr txBox="true"/>
          <p:nvPr/>
        </p:nvSpPr>
        <p:spPr>
          <a:xfrm rot="0">
            <a:off x="1028700" y="3316477"/>
            <a:ext cx="1289521" cy="264160"/>
          </a:xfrm>
          <a:prstGeom prst="rect">
            <a:avLst/>
          </a:prstGeom>
        </p:spPr>
        <p:txBody>
          <a:bodyPr anchor="t" rtlCol="false" tIns="0" lIns="0" bIns="0" rIns="0">
            <a:spAutoFit/>
          </a:bodyPr>
          <a:lstStyle/>
          <a:p>
            <a:pPr algn="l">
              <a:lnSpc>
                <a:spcPts val="2239"/>
              </a:lnSpc>
            </a:pPr>
            <a:r>
              <a:rPr lang="en-US" sz="1599" spc="-15">
                <a:solidFill>
                  <a:srgbClr val="FFFFFF"/>
                </a:solidFill>
                <a:latin typeface="Helvetica World"/>
                <a:ea typeface="Helvetica World"/>
                <a:cs typeface="Helvetica World"/>
                <a:sym typeface="Helvetica World"/>
              </a:rPr>
              <a:t>[Strong Signal]</a:t>
            </a:r>
          </a:p>
        </p:txBody>
      </p:sp>
      <p:sp>
        <p:nvSpPr>
          <p:cNvPr name="TextBox 12" id="12"/>
          <p:cNvSpPr txBox="true"/>
          <p:nvPr/>
        </p:nvSpPr>
        <p:spPr>
          <a:xfrm rot="0">
            <a:off x="16042481" y="6696838"/>
            <a:ext cx="1216819" cy="264160"/>
          </a:xfrm>
          <a:prstGeom prst="rect">
            <a:avLst/>
          </a:prstGeom>
        </p:spPr>
        <p:txBody>
          <a:bodyPr anchor="t" rtlCol="false" tIns="0" lIns="0" bIns="0" rIns="0">
            <a:spAutoFit/>
          </a:bodyPr>
          <a:lstStyle/>
          <a:p>
            <a:pPr algn="r">
              <a:lnSpc>
                <a:spcPts val="2239"/>
              </a:lnSpc>
            </a:pPr>
            <a:r>
              <a:rPr lang="en-US" sz="1599" spc="-15">
                <a:solidFill>
                  <a:srgbClr val="FFFFFF"/>
                </a:solidFill>
                <a:latin typeface="Helvetica World"/>
                <a:ea typeface="Helvetica World"/>
                <a:cs typeface="Helvetica World"/>
                <a:sym typeface="Helvetica World"/>
              </a:rPr>
              <a:t>[Weak Signal]</a:t>
            </a:r>
          </a:p>
        </p:txBody>
      </p:sp>
      <p:grpSp>
        <p:nvGrpSpPr>
          <p:cNvPr name="Group 13" id="13"/>
          <p:cNvGrpSpPr/>
          <p:nvPr/>
        </p:nvGrpSpPr>
        <p:grpSpPr>
          <a:xfrm rot="0">
            <a:off x="1028700" y="3883703"/>
            <a:ext cx="16230600" cy="2500544"/>
            <a:chOff x="0" y="0"/>
            <a:chExt cx="21640800" cy="3334058"/>
          </a:xfrm>
        </p:grpSpPr>
        <p:sp>
          <p:nvSpPr>
            <p:cNvPr name="TextBox 14" id="14"/>
            <p:cNvSpPr txBox="true"/>
            <p:nvPr/>
          </p:nvSpPr>
          <p:spPr>
            <a:xfrm rot="0">
              <a:off x="16574476" y="-38100"/>
              <a:ext cx="5066324" cy="1234440"/>
            </a:xfrm>
            <a:prstGeom prst="rect">
              <a:avLst/>
            </a:prstGeom>
          </p:spPr>
          <p:txBody>
            <a:bodyPr anchor="t" rtlCol="false" tIns="0" lIns="0" bIns="0" rIns="0">
              <a:spAutoFit/>
            </a:bodyPr>
            <a:lstStyle/>
            <a:p>
              <a:pPr algn="r">
                <a:lnSpc>
                  <a:spcPts val="2520"/>
                </a:lnSpc>
                <a:spcBef>
                  <a:spcPct val="0"/>
                </a:spcBef>
              </a:pPr>
              <a:r>
                <a:rPr lang="en-US" sz="1800" spc="-26">
                  <a:solidFill>
                    <a:srgbClr val="FFFFFF">
                      <a:alpha val="49804"/>
                    </a:srgbClr>
                  </a:solidFill>
                  <a:latin typeface="Helvetica World"/>
                  <a:ea typeface="Helvetica World"/>
                  <a:cs typeface="Helvetica World"/>
                  <a:sym typeface="Helvetica World"/>
                </a:rPr>
                <a:t>Not a tool that optimizes for purchase intent, but a tool that expands the surface area of demand discovery.</a:t>
              </a:r>
            </a:p>
          </p:txBody>
        </p:sp>
        <p:sp>
          <p:nvSpPr>
            <p:cNvPr name="TextBox 15" id="15"/>
            <p:cNvSpPr txBox="true"/>
            <p:nvPr/>
          </p:nvSpPr>
          <p:spPr>
            <a:xfrm rot="0">
              <a:off x="0" y="2099618"/>
              <a:ext cx="5066324" cy="1234440"/>
            </a:xfrm>
            <a:prstGeom prst="rect">
              <a:avLst/>
            </a:prstGeom>
          </p:spPr>
          <p:txBody>
            <a:bodyPr anchor="t" rtlCol="false" tIns="0" lIns="0" bIns="0" rIns="0">
              <a:spAutoFit/>
            </a:bodyPr>
            <a:lstStyle/>
            <a:p>
              <a:pPr algn="l">
                <a:lnSpc>
                  <a:spcPts val="2520"/>
                </a:lnSpc>
                <a:spcBef>
                  <a:spcPct val="0"/>
                </a:spcBef>
              </a:pPr>
              <a:r>
                <a:rPr lang="en-US" sz="1800" spc="-26">
                  <a:solidFill>
                    <a:srgbClr val="FFFFFF">
                      <a:alpha val="49804"/>
                    </a:srgbClr>
                  </a:solidFill>
                  <a:latin typeface="Helvetica World"/>
                  <a:ea typeface="Helvetica World"/>
                  <a:cs typeface="Helvetica World"/>
                  <a:sym typeface="Helvetica World"/>
                </a:rPr>
                <a:t>A structure where sellers achieve growth outcomes that are only attainable through Amazon's platform.</a:t>
              </a:r>
            </a:p>
          </p:txBody>
        </p:sp>
      </p:grpSp>
      <p:sp>
        <p:nvSpPr>
          <p:cNvPr name="TextBox 16" id="16"/>
          <p:cNvSpPr txBox="true"/>
          <p:nvPr/>
        </p:nvSpPr>
        <p:spPr>
          <a:xfrm rot="0">
            <a:off x="1028700" y="990600"/>
            <a:ext cx="211365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Strategic Foresight </a:t>
            </a:r>
          </a:p>
        </p:txBody>
      </p:sp>
      <p:grpSp>
        <p:nvGrpSpPr>
          <p:cNvPr name="Group 17" id="17"/>
          <p:cNvGrpSpPr/>
          <p:nvPr/>
        </p:nvGrpSpPr>
        <p:grpSpPr>
          <a:xfrm rot="0">
            <a:off x="1028700" y="9258300"/>
            <a:ext cx="16230600" cy="301625"/>
            <a:chOff x="0" y="0"/>
            <a:chExt cx="21640800" cy="402167"/>
          </a:xfrm>
        </p:grpSpPr>
        <p:sp>
          <p:nvSpPr>
            <p:cNvPr name="TextBox 18" id="18"/>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9" id="19"/>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33</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877888"/>
            <a:ext cx="16230600" cy="6089651"/>
            <a:chOff x="0" y="0"/>
            <a:chExt cx="21640800" cy="8119534"/>
          </a:xfrm>
        </p:grpSpPr>
        <p:sp>
          <p:nvSpPr>
            <p:cNvPr name="TextBox 3" id="3"/>
            <p:cNvSpPr txBox="true"/>
            <p:nvPr/>
          </p:nvSpPr>
          <p:spPr>
            <a:xfrm rot="0">
              <a:off x="13240941" y="-762000"/>
              <a:ext cx="8399859" cy="8881534"/>
            </a:xfrm>
            <a:prstGeom prst="rect">
              <a:avLst/>
            </a:prstGeom>
          </p:spPr>
          <p:txBody>
            <a:bodyPr anchor="t" rtlCol="false" tIns="0" lIns="0" bIns="0" rIns="0">
              <a:spAutoFit/>
            </a:bodyPr>
            <a:lstStyle/>
            <a:p>
              <a:pPr algn="ctr">
                <a:lnSpc>
                  <a:spcPts val="55999"/>
                </a:lnSpc>
              </a:pPr>
              <a:r>
                <a:rPr lang="en-US" sz="39999" spc="-1999">
                  <a:solidFill>
                    <a:srgbClr val="FFFFFF"/>
                  </a:solidFill>
                  <a:latin typeface="Helvetica World"/>
                  <a:ea typeface="Helvetica World"/>
                  <a:cs typeface="Helvetica World"/>
                  <a:sym typeface="Helvetica World"/>
                </a:rPr>
                <a:t>2.0</a:t>
              </a:r>
            </a:p>
          </p:txBody>
        </p:sp>
        <p:sp>
          <p:nvSpPr>
            <p:cNvPr name="Freeform 4" id="4"/>
            <p:cNvSpPr/>
            <p:nvPr/>
          </p:nvSpPr>
          <p:spPr>
            <a:xfrm flipH="false" flipV="false" rot="0">
              <a:off x="0" y="2418351"/>
              <a:ext cx="2167455" cy="1988279"/>
            </a:xfrm>
            <a:custGeom>
              <a:avLst/>
              <a:gdLst/>
              <a:ahLst/>
              <a:cxnLst/>
              <a:rect r="r" b="b" t="t" l="l"/>
              <a:pathLst>
                <a:path h="1988279" w="2167455">
                  <a:moveTo>
                    <a:pt x="0" y="0"/>
                  </a:moveTo>
                  <a:lnTo>
                    <a:pt x="2167455" y="0"/>
                  </a:lnTo>
                  <a:lnTo>
                    <a:pt x="2167455" y="1988279"/>
                  </a:lnTo>
                  <a:lnTo>
                    <a:pt x="0" y="1988279"/>
                  </a:lnTo>
                  <a:lnTo>
                    <a:pt x="0" y="0"/>
                  </a:lnTo>
                  <a:close/>
                </a:path>
              </a:pathLst>
            </a:custGeom>
            <a:blipFill>
              <a:blip r:embed="rId2"/>
              <a:stretch>
                <a:fillRect l="0" t="0" r="0" b="0"/>
              </a:stretch>
            </a:blipFill>
          </p:spPr>
        </p:sp>
        <p:sp>
          <p:nvSpPr>
            <p:cNvPr name="Freeform 5" id="5"/>
            <p:cNvSpPr/>
            <p:nvPr/>
          </p:nvSpPr>
          <p:spPr>
            <a:xfrm flipH="false" flipV="false" rot="0">
              <a:off x="5830722" y="2445227"/>
              <a:ext cx="4989678" cy="1961403"/>
            </a:xfrm>
            <a:custGeom>
              <a:avLst/>
              <a:gdLst/>
              <a:ahLst/>
              <a:cxnLst/>
              <a:rect r="r" b="b" t="t" l="l"/>
              <a:pathLst>
                <a:path h="1961403" w="4989678">
                  <a:moveTo>
                    <a:pt x="0" y="0"/>
                  </a:moveTo>
                  <a:lnTo>
                    <a:pt x="4989678" y="0"/>
                  </a:lnTo>
                  <a:lnTo>
                    <a:pt x="4989678" y="1961403"/>
                  </a:lnTo>
                  <a:lnTo>
                    <a:pt x="0" y="1961403"/>
                  </a:lnTo>
                  <a:lnTo>
                    <a:pt x="0" y="0"/>
                  </a:lnTo>
                  <a:close/>
                </a:path>
              </a:pathLst>
            </a:custGeom>
            <a:blipFill>
              <a:blip r:embed="rId3"/>
              <a:stretch>
                <a:fillRect l="0" t="0" r="0" b="0"/>
              </a:stretch>
            </a:blipFill>
          </p:spPr>
        </p:sp>
        <p:sp>
          <p:nvSpPr>
            <p:cNvPr name="TextBox 6" id="6"/>
            <p:cNvSpPr txBox="true"/>
            <p:nvPr/>
          </p:nvSpPr>
          <p:spPr>
            <a:xfrm rot="0">
              <a:off x="3863754" y="2641389"/>
              <a:ext cx="270669"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a:t>
              </a:r>
            </a:p>
          </p:txBody>
        </p:sp>
      </p:grpSp>
      <p:sp>
        <p:nvSpPr>
          <p:cNvPr name="TextBox 7" id="7"/>
          <p:cNvSpPr txBox="true"/>
          <p:nvPr/>
        </p:nvSpPr>
        <p:spPr>
          <a:xfrm rot="0">
            <a:off x="1028700" y="5213736"/>
            <a:ext cx="6514951" cy="514350"/>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C</a:t>
            </a:r>
            <a:r>
              <a:rPr lang="en-US" sz="3000" spc="-30">
                <a:solidFill>
                  <a:srgbClr val="FFFFFF">
                    <a:alpha val="49804"/>
                  </a:srgbClr>
                </a:solidFill>
                <a:latin typeface="Helvetica World"/>
                <a:ea typeface="Helvetica World"/>
                <a:cs typeface="Helvetica World"/>
                <a:sym typeface="Helvetica World"/>
              </a:rPr>
              <a:t>onnectivity between two distinct layers</a:t>
            </a:r>
          </a:p>
        </p:txBody>
      </p:sp>
      <p:sp>
        <p:nvSpPr>
          <p:cNvPr name="TextBox 8" id="8"/>
          <p:cNvSpPr txBox="true"/>
          <p:nvPr/>
        </p:nvSpPr>
        <p:spPr>
          <a:xfrm rot="0">
            <a:off x="1028700" y="990600"/>
            <a:ext cx="84616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Mission</a:t>
            </a:r>
          </a:p>
        </p:txBody>
      </p:sp>
      <p:grpSp>
        <p:nvGrpSpPr>
          <p:cNvPr name="Group 9" id="9"/>
          <p:cNvGrpSpPr/>
          <p:nvPr/>
        </p:nvGrpSpPr>
        <p:grpSpPr>
          <a:xfrm rot="0">
            <a:off x="1028700" y="727075"/>
            <a:ext cx="16230600" cy="301625"/>
            <a:chOff x="0" y="0"/>
            <a:chExt cx="21640800" cy="402167"/>
          </a:xfrm>
        </p:grpSpPr>
        <p:sp>
          <p:nvSpPr>
            <p:cNvPr name="TextBox 10" id="1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1" id="1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2" id="12"/>
          <p:cNvSpPr txBox="true"/>
          <p:nvPr/>
        </p:nvSpPr>
        <p:spPr>
          <a:xfrm rot="0">
            <a:off x="5053118" y="7759661"/>
            <a:ext cx="12206182" cy="656590"/>
          </a:xfrm>
          <a:prstGeom prst="rect">
            <a:avLst/>
          </a:prstGeom>
        </p:spPr>
        <p:txBody>
          <a:bodyPr anchor="t" rtlCol="false" tIns="0" lIns="0" bIns="0" rIns="0">
            <a:spAutoFit/>
          </a:bodyPr>
          <a:lstStyle/>
          <a:p>
            <a:pPr algn="r">
              <a:lnSpc>
                <a:spcPts val="2659"/>
              </a:lnSpc>
              <a:spcBef>
                <a:spcPct val="0"/>
              </a:spcBef>
            </a:pPr>
            <a:r>
              <a:rPr lang="en-US" sz="1899" spc="-28">
                <a:solidFill>
                  <a:srgbClr val="FFFFFF"/>
                </a:solidFill>
                <a:latin typeface="Helvetica World"/>
                <a:ea typeface="Helvetica World"/>
                <a:cs typeface="Helvetica World"/>
                <a:sym typeface="Helvetica World"/>
              </a:rPr>
              <a:t>Synchron</a:t>
            </a:r>
            <a:r>
              <a:rPr lang="en-US" sz="1899" spc="-28">
                <a:solidFill>
                  <a:srgbClr val="FFFFFF"/>
                </a:solidFill>
                <a:latin typeface="Helvetica World"/>
                <a:ea typeface="Helvetica World"/>
                <a:cs typeface="Helvetica World"/>
                <a:sym typeface="Helvetica World"/>
              </a:rPr>
              <a:t>izing Consumer Intent with Operational Intelligence: Establishing a real-time feedback loop between Rufus (B2C) and Amelia (B2B) to eliminate information silos and maximize fulfillment efficiency</a:t>
            </a:r>
          </a:p>
        </p:txBody>
      </p:sp>
      <p:sp>
        <p:nvSpPr>
          <p:cNvPr name="AutoShape 13" id="13"/>
          <p:cNvSpPr/>
          <p:nvPr/>
        </p:nvSpPr>
        <p:spPr>
          <a:xfrm>
            <a:off x="1028700" y="7017260"/>
            <a:ext cx="16230600" cy="0"/>
          </a:xfrm>
          <a:prstGeom prst="line">
            <a:avLst/>
          </a:prstGeom>
          <a:ln cap="rnd" w="19050">
            <a:solidFill>
              <a:srgbClr val="FFFFFF">
                <a:alpha val="49804"/>
              </a:srgbClr>
            </a:solidFill>
            <a:prstDash val="sysDash"/>
            <a:headEnd type="none" len="sm" w="sm"/>
            <a:tailEnd type="none" len="sm" w="sm"/>
          </a:ln>
        </p:spPr>
      </p:sp>
      <p:sp>
        <p:nvSpPr>
          <p:cNvPr name="TextBox 14" id="14"/>
          <p:cNvSpPr txBox="true"/>
          <p:nvPr/>
        </p:nvSpPr>
        <p:spPr>
          <a:xfrm rot="0">
            <a:off x="15323195" y="990600"/>
            <a:ext cx="193610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Mission Overview</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7" id="1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34</a:t>
              </a:r>
            </a:p>
          </p:txBody>
        </p:sp>
      </p:grpSp>
    </p:spTree>
  </p:cSld>
  <p:clrMapOvr>
    <a:masterClrMapping/>
  </p:clrMapOvr>
</p:sld>
</file>

<file path=ppt/slides/slide35.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2305606"/>
            <a:ext cx="9716616" cy="537845"/>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Previously, we discussed how the paradigm shifted </a:t>
            </a:r>
            <a:r>
              <a:rPr lang="en-US" sz="3200" spc="-32">
                <a:solidFill>
                  <a:srgbClr val="FFFFFF"/>
                </a:solidFill>
                <a:latin typeface="Helvetica World"/>
                <a:ea typeface="Helvetica World"/>
                <a:cs typeface="Helvetica World"/>
                <a:sym typeface="Helvetica World"/>
              </a:rPr>
              <a:t>from</a:t>
            </a:r>
          </a:p>
        </p:txBody>
      </p:sp>
      <p:sp>
        <p:nvSpPr>
          <p:cNvPr name="TextBox 3" id="3"/>
          <p:cNvSpPr txBox="true"/>
          <p:nvPr/>
        </p:nvSpPr>
        <p:spPr>
          <a:xfrm rot="0">
            <a:off x="1028700" y="990600"/>
            <a:ext cx="84616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Mission</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28700" y="7696796"/>
            <a:ext cx="16230600" cy="772795"/>
          </a:xfrm>
          <a:prstGeom prst="rect">
            <a:avLst/>
          </a:prstGeom>
        </p:spPr>
        <p:txBody>
          <a:bodyPr anchor="t" rtlCol="false" tIns="0" lIns="0" bIns="0" rIns="0">
            <a:spAutoFit/>
          </a:bodyPr>
          <a:lstStyle/>
          <a:p>
            <a:pPr algn="l">
              <a:lnSpc>
                <a:spcPts val="3079"/>
              </a:lnSpc>
            </a:pPr>
            <a:r>
              <a:rPr lang="en-US" sz="2199" spc="-21">
                <a:solidFill>
                  <a:srgbClr val="FFFFFF"/>
                </a:solidFill>
                <a:latin typeface="Helvetica World"/>
                <a:ea typeface="Helvetica World"/>
                <a:cs typeface="Helvetica World"/>
                <a:sym typeface="Helvetica World"/>
              </a:rPr>
              <a:t>Amazon is leveraging AI to move beyond traditional search methods, focusing on personalization and user prediction. However, in practice, this approach is centered on retroactively validating products that already exist, rather than being genuinely productive.</a:t>
            </a:r>
          </a:p>
        </p:txBody>
      </p:sp>
      <p:grpSp>
        <p:nvGrpSpPr>
          <p:cNvPr name="Group 8" id="8"/>
          <p:cNvGrpSpPr/>
          <p:nvPr/>
        </p:nvGrpSpPr>
        <p:grpSpPr>
          <a:xfrm rot="0">
            <a:off x="1028700" y="4354791"/>
            <a:ext cx="16230600" cy="2180371"/>
            <a:chOff x="0" y="0"/>
            <a:chExt cx="21640800" cy="2907162"/>
          </a:xfrm>
        </p:grpSpPr>
        <p:sp>
          <p:nvSpPr>
            <p:cNvPr name="TextBox 9" id="9"/>
            <p:cNvSpPr txBox="true"/>
            <p:nvPr/>
          </p:nvSpPr>
          <p:spPr>
            <a:xfrm rot="0">
              <a:off x="15632410" y="460798"/>
              <a:ext cx="6008390" cy="1808269"/>
            </a:xfrm>
            <a:prstGeom prst="rect">
              <a:avLst/>
            </a:prstGeom>
          </p:spPr>
          <p:txBody>
            <a:bodyPr anchor="t" rtlCol="false" tIns="0" lIns="0" bIns="0" rIns="0">
              <a:spAutoFit/>
            </a:bodyPr>
            <a:lstStyle/>
            <a:p>
              <a:pPr algn="ctr">
                <a:lnSpc>
                  <a:spcPts val="11479"/>
                </a:lnSpc>
              </a:pPr>
              <a:r>
                <a:rPr lang="en-US" sz="8199" spc="-81">
                  <a:solidFill>
                    <a:srgbClr val="FFFFFF"/>
                  </a:solidFill>
                  <a:latin typeface="Helvetica World"/>
                  <a:ea typeface="Helvetica World"/>
                  <a:cs typeface="Helvetica World"/>
                  <a:sym typeface="Helvetica World"/>
                </a:rPr>
                <a:t>Prediction</a:t>
              </a:r>
            </a:p>
          </p:txBody>
        </p:sp>
        <p:sp>
          <p:nvSpPr>
            <p:cNvPr name="TextBox 10" id="10"/>
            <p:cNvSpPr txBox="true"/>
            <p:nvPr/>
          </p:nvSpPr>
          <p:spPr>
            <a:xfrm rot="0">
              <a:off x="0" y="460798"/>
              <a:ext cx="4284960" cy="1808269"/>
            </a:xfrm>
            <a:prstGeom prst="rect">
              <a:avLst/>
            </a:prstGeom>
          </p:spPr>
          <p:txBody>
            <a:bodyPr anchor="t" rtlCol="false" tIns="0" lIns="0" bIns="0" rIns="0">
              <a:spAutoFit/>
            </a:bodyPr>
            <a:lstStyle/>
            <a:p>
              <a:pPr algn="l">
                <a:lnSpc>
                  <a:spcPts val="11479"/>
                </a:lnSpc>
              </a:pPr>
              <a:r>
                <a:rPr lang="en-US" sz="8199" spc="-81">
                  <a:solidFill>
                    <a:srgbClr val="FFFFFF">
                      <a:alpha val="49804"/>
                    </a:srgbClr>
                  </a:solidFill>
                  <a:latin typeface="Helvetica World"/>
                  <a:ea typeface="Helvetica World"/>
                  <a:cs typeface="Helvetica World"/>
                  <a:sym typeface="Helvetica World"/>
                </a:rPr>
                <a:t>Search</a:t>
              </a:r>
            </a:p>
          </p:txBody>
        </p:sp>
        <p:sp>
          <p:nvSpPr>
            <p:cNvPr name="TextBox 11" id="11"/>
            <p:cNvSpPr txBox="true"/>
            <p:nvPr/>
          </p:nvSpPr>
          <p:spPr>
            <a:xfrm rot="0">
              <a:off x="0" y="2284438"/>
              <a:ext cx="5367933" cy="622723"/>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Shopping Search Platform</a:t>
              </a:r>
            </a:p>
          </p:txBody>
        </p:sp>
        <p:sp>
          <p:nvSpPr>
            <p:cNvPr name="TextBox 12" id="12"/>
            <p:cNvSpPr txBox="true"/>
            <p:nvPr/>
          </p:nvSpPr>
          <p:spPr>
            <a:xfrm rot="0">
              <a:off x="17146687" y="2284438"/>
              <a:ext cx="4494113" cy="622723"/>
            </a:xfrm>
            <a:prstGeom prst="rect">
              <a:avLst/>
            </a:prstGeom>
          </p:spPr>
          <p:txBody>
            <a:bodyPr anchor="t" rtlCol="false" tIns="0" lIns="0" bIns="0" rIns="0">
              <a:spAutoFit/>
            </a:bodyPr>
            <a:lstStyle/>
            <a:p>
              <a:pPr algn="ctr">
                <a:lnSpc>
                  <a:spcPts val="3919"/>
                </a:lnSpc>
              </a:pPr>
              <a:r>
                <a:rPr lang="en-US" sz="2799" spc="-27">
                  <a:solidFill>
                    <a:srgbClr val="FFFFFF"/>
                  </a:solidFill>
                  <a:latin typeface="Helvetica World"/>
                  <a:ea typeface="Helvetica World"/>
                  <a:cs typeface="Helvetica World"/>
                  <a:sym typeface="Helvetica World"/>
                </a:rPr>
                <a:t>AI-Powered Shopping</a:t>
              </a:r>
            </a:p>
          </p:txBody>
        </p:sp>
        <p:sp>
          <p:nvSpPr>
            <p:cNvPr name="AutoShape 13" id="13"/>
            <p:cNvSpPr/>
            <p:nvPr/>
          </p:nvSpPr>
          <p:spPr>
            <a:xfrm>
              <a:off x="9283974" y="2341588"/>
              <a:ext cx="3072851" cy="0"/>
            </a:xfrm>
            <a:prstGeom prst="line">
              <a:avLst/>
            </a:prstGeom>
            <a:ln cap="flat" w="25400">
              <a:solidFill>
                <a:srgbClr val="FFFFFF"/>
              </a:solidFill>
              <a:prstDash val="sysDash"/>
              <a:headEnd type="none" len="sm" w="sm"/>
              <a:tailEnd type="arrow" len="sm" w="med"/>
            </a:ln>
          </p:spPr>
        </p:sp>
        <p:sp>
          <p:nvSpPr>
            <p:cNvPr name="TextBox 14" id="14"/>
            <p:cNvSpPr txBox="true"/>
            <p:nvPr/>
          </p:nvSpPr>
          <p:spPr>
            <a:xfrm rot="0">
              <a:off x="0" y="-57150"/>
              <a:ext cx="1170285" cy="622723"/>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[Past]</a:t>
              </a:r>
            </a:p>
          </p:txBody>
        </p:sp>
        <p:sp>
          <p:nvSpPr>
            <p:cNvPr name="TextBox 15" id="15"/>
            <p:cNvSpPr txBox="true"/>
            <p:nvPr/>
          </p:nvSpPr>
          <p:spPr>
            <a:xfrm rot="0">
              <a:off x="19803765" y="-57150"/>
              <a:ext cx="1837035" cy="622723"/>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[Present]</a:t>
              </a:r>
            </a:p>
          </p:txBody>
        </p:sp>
      </p:grpSp>
      <p:sp>
        <p:nvSpPr>
          <p:cNvPr name="AutoShape 16" id="16"/>
          <p:cNvSpPr/>
          <p:nvPr/>
        </p:nvSpPr>
        <p:spPr>
          <a:xfrm>
            <a:off x="1028700" y="3858181"/>
            <a:ext cx="16230600" cy="0"/>
          </a:xfrm>
          <a:prstGeom prst="line">
            <a:avLst/>
          </a:prstGeom>
          <a:ln cap="rnd" w="19050">
            <a:solidFill>
              <a:srgbClr val="FFFFFF">
                <a:alpha val="49804"/>
              </a:srgbClr>
            </a:solidFill>
            <a:prstDash val="sysDash"/>
            <a:headEnd type="none" len="sm" w="sm"/>
            <a:tailEnd type="none" len="sm" w="sm"/>
          </a:ln>
        </p:spPr>
      </p:sp>
      <p:sp>
        <p:nvSpPr>
          <p:cNvPr name="TextBox 17" id="17"/>
          <p:cNvSpPr txBox="true"/>
          <p:nvPr/>
        </p:nvSpPr>
        <p:spPr>
          <a:xfrm rot="0">
            <a:off x="13978830" y="990600"/>
            <a:ext cx="3280470"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Departure - Amazon’s Mission</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35</a:t>
              </a:r>
            </a:p>
          </p:txBody>
        </p:sp>
      </p:grpSp>
    </p:spTree>
  </p:cSld>
  <p:clrMapOvr>
    <a:masterClrMapping/>
  </p:clrMapOvr>
</p:sld>
</file>

<file path=ppt/slides/slide36.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2305606"/>
            <a:ext cx="7746802" cy="537845"/>
          </a:xfrm>
          <a:prstGeom prst="rect">
            <a:avLst/>
          </a:prstGeom>
        </p:spPr>
        <p:txBody>
          <a:bodyPr anchor="t" rtlCol="false" tIns="0" lIns="0" bIns="0" rIns="0">
            <a:spAutoFit/>
          </a:bodyPr>
          <a:lstStyle/>
          <a:p>
            <a:pPr algn="l">
              <a:lnSpc>
                <a:spcPts val="4479"/>
              </a:lnSpc>
            </a:pPr>
            <a:r>
              <a:rPr lang="en-US" sz="3199" spc="-31">
                <a:solidFill>
                  <a:srgbClr val="FFFFFF"/>
                </a:solidFill>
                <a:latin typeface="Helvetica World"/>
                <a:ea typeface="Helvetica World"/>
                <a:cs typeface="Helvetica World"/>
                <a:sym typeface="Helvetica World"/>
              </a:rPr>
              <a:t>We propose the future of Amazon as follows:</a:t>
            </a:r>
          </a:p>
        </p:txBody>
      </p:sp>
      <p:sp>
        <p:nvSpPr>
          <p:cNvPr name="TextBox 3" id="3"/>
          <p:cNvSpPr txBox="true"/>
          <p:nvPr/>
        </p:nvSpPr>
        <p:spPr>
          <a:xfrm rot="0">
            <a:off x="1028700" y="990600"/>
            <a:ext cx="846162"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Mission</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7" id="7"/>
          <p:cNvGrpSpPr/>
          <p:nvPr/>
        </p:nvGrpSpPr>
        <p:grpSpPr>
          <a:xfrm rot="0">
            <a:off x="1028700" y="4354791"/>
            <a:ext cx="16230600" cy="2180371"/>
            <a:chOff x="0" y="0"/>
            <a:chExt cx="21640800" cy="2907162"/>
          </a:xfrm>
        </p:grpSpPr>
        <p:sp>
          <p:nvSpPr>
            <p:cNvPr name="TextBox 8" id="8"/>
            <p:cNvSpPr txBox="true"/>
            <p:nvPr/>
          </p:nvSpPr>
          <p:spPr>
            <a:xfrm rot="0">
              <a:off x="13606264" y="460798"/>
              <a:ext cx="8034536" cy="1808269"/>
            </a:xfrm>
            <a:prstGeom prst="rect">
              <a:avLst/>
            </a:prstGeom>
          </p:spPr>
          <p:txBody>
            <a:bodyPr anchor="t" rtlCol="false" tIns="0" lIns="0" bIns="0" rIns="0">
              <a:spAutoFit/>
            </a:bodyPr>
            <a:lstStyle/>
            <a:p>
              <a:pPr algn="r">
                <a:lnSpc>
                  <a:spcPts val="11479"/>
                </a:lnSpc>
              </a:pPr>
              <a:r>
                <a:rPr lang="en-US" sz="8199" spc="-81">
                  <a:solidFill>
                    <a:srgbClr val="FFFFFF"/>
                  </a:solidFill>
                  <a:latin typeface="Helvetica World"/>
                  <a:ea typeface="Helvetica World"/>
                  <a:cs typeface="Helvetica World"/>
                  <a:sym typeface="Helvetica World"/>
                </a:rPr>
                <a:t>Manifestation</a:t>
              </a:r>
            </a:p>
          </p:txBody>
        </p:sp>
        <p:sp>
          <p:nvSpPr>
            <p:cNvPr name="TextBox 9" id="9"/>
            <p:cNvSpPr txBox="true"/>
            <p:nvPr/>
          </p:nvSpPr>
          <p:spPr>
            <a:xfrm rot="0">
              <a:off x="0" y="460798"/>
              <a:ext cx="6008390" cy="1808269"/>
            </a:xfrm>
            <a:prstGeom prst="rect">
              <a:avLst/>
            </a:prstGeom>
          </p:spPr>
          <p:txBody>
            <a:bodyPr anchor="t" rtlCol="false" tIns="0" lIns="0" bIns="0" rIns="0">
              <a:spAutoFit/>
            </a:bodyPr>
            <a:lstStyle/>
            <a:p>
              <a:pPr algn="l">
                <a:lnSpc>
                  <a:spcPts val="11479"/>
                </a:lnSpc>
              </a:pPr>
              <a:r>
                <a:rPr lang="en-US" sz="8199" spc="-81">
                  <a:solidFill>
                    <a:srgbClr val="FFFFFF">
                      <a:alpha val="49804"/>
                    </a:srgbClr>
                  </a:solidFill>
                  <a:latin typeface="Helvetica World"/>
                  <a:ea typeface="Helvetica World"/>
                  <a:cs typeface="Helvetica World"/>
                  <a:sym typeface="Helvetica World"/>
                </a:rPr>
                <a:t>Prediction</a:t>
              </a:r>
            </a:p>
          </p:txBody>
        </p:sp>
        <p:sp>
          <p:nvSpPr>
            <p:cNvPr name="TextBox 10" id="10"/>
            <p:cNvSpPr txBox="true"/>
            <p:nvPr/>
          </p:nvSpPr>
          <p:spPr>
            <a:xfrm rot="0">
              <a:off x="0" y="2284438"/>
              <a:ext cx="4476353" cy="622723"/>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Ai-Powered Shopping</a:t>
              </a:r>
            </a:p>
          </p:txBody>
        </p:sp>
        <p:sp>
          <p:nvSpPr>
            <p:cNvPr name="TextBox 11" id="11"/>
            <p:cNvSpPr txBox="true"/>
            <p:nvPr/>
          </p:nvSpPr>
          <p:spPr>
            <a:xfrm rot="0">
              <a:off x="16831667" y="2284438"/>
              <a:ext cx="4809133" cy="622723"/>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Prospective Commerce</a:t>
              </a:r>
            </a:p>
          </p:txBody>
        </p:sp>
        <p:sp>
          <p:nvSpPr>
            <p:cNvPr name="AutoShape 12" id="12"/>
            <p:cNvSpPr/>
            <p:nvPr/>
          </p:nvSpPr>
          <p:spPr>
            <a:xfrm>
              <a:off x="9283974" y="2341588"/>
              <a:ext cx="3072851" cy="0"/>
            </a:xfrm>
            <a:prstGeom prst="line">
              <a:avLst/>
            </a:prstGeom>
            <a:ln cap="flat" w="25400">
              <a:solidFill>
                <a:srgbClr val="FFFFFF"/>
              </a:solidFill>
              <a:prstDash val="sysDash"/>
              <a:headEnd type="none" len="sm" w="sm"/>
              <a:tailEnd type="arrow" len="sm" w="med"/>
            </a:ln>
          </p:spPr>
        </p:sp>
        <p:sp>
          <p:nvSpPr>
            <p:cNvPr name="TextBox 13" id="13"/>
            <p:cNvSpPr txBox="true"/>
            <p:nvPr/>
          </p:nvSpPr>
          <p:spPr>
            <a:xfrm rot="0">
              <a:off x="0" y="-57150"/>
              <a:ext cx="1837035" cy="622723"/>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[Present]</a:t>
              </a:r>
            </a:p>
          </p:txBody>
        </p:sp>
        <p:sp>
          <p:nvSpPr>
            <p:cNvPr name="TextBox 14" id="14"/>
            <p:cNvSpPr txBox="true"/>
            <p:nvPr/>
          </p:nvSpPr>
          <p:spPr>
            <a:xfrm rot="0">
              <a:off x="18036381" y="-57150"/>
              <a:ext cx="3604419" cy="622723"/>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[Preferred Future]</a:t>
              </a:r>
            </a:p>
          </p:txBody>
        </p:sp>
      </p:grpSp>
      <p:sp>
        <p:nvSpPr>
          <p:cNvPr name="TextBox 15" id="15"/>
          <p:cNvSpPr txBox="true"/>
          <p:nvPr/>
        </p:nvSpPr>
        <p:spPr>
          <a:xfrm rot="0">
            <a:off x="1028700" y="7696796"/>
            <a:ext cx="16230600" cy="772795"/>
          </a:xfrm>
          <a:prstGeom prst="rect">
            <a:avLst/>
          </a:prstGeom>
        </p:spPr>
        <p:txBody>
          <a:bodyPr anchor="t" rtlCol="false" tIns="0" lIns="0" bIns="0" rIns="0">
            <a:spAutoFit/>
          </a:bodyPr>
          <a:lstStyle/>
          <a:p>
            <a:pPr algn="l">
              <a:lnSpc>
                <a:spcPts val="3079"/>
              </a:lnSpc>
            </a:pPr>
            <a:r>
              <a:rPr lang="en-US" sz="2199" spc="-21">
                <a:solidFill>
                  <a:srgbClr val="FFFFFF"/>
                </a:solidFill>
                <a:latin typeface="Helvetica World"/>
                <a:ea typeface="Helvetica World"/>
                <a:cs typeface="Helvetica World"/>
                <a:sym typeface="Helvetica World"/>
              </a:rPr>
              <a:t>Rather than focusing on products that already exist, the key lies in identifying demand for what users actually want. This data can be directly utilized by Amelia, and it is expected to serve as a growth driver that opens up entirely new, untapped markets.</a:t>
            </a:r>
          </a:p>
        </p:txBody>
      </p:sp>
      <p:sp>
        <p:nvSpPr>
          <p:cNvPr name="AutoShape 16" id="16"/>
          <p:cNvSpPr/>
          <p:nvPr/>
        </p:nvSpPr>
        <p:spPr>
          <a:xfrm>
            <a:off x="1028700" y="3858181"/>
            <a:ext cx="16230600" cy="0"/>
          </a:xfrm>
          <a:prstGeom prst="line">
            <a:avLst/>
          </a:prstGeom>
          <a:ln cap="rnd" w="19050">
            <a:solidFill>
              <a:srgbClr val="FFFFFF">
                <a:alpha val="49804"/>
              </a:srgbClr>
            </a:solidFill>
            <a:prstDash val="sysDash"/>
            <a:headEnd type="none" len="sm" w="sm"/>
            <a:tailEnd type="none" len="sm" w="sm"/>
          </a:ln>
        </p:spPr>
      </p:sp>
      <p:sp>
        <p:nvSpPr>
          <p:cNvPr name="TextBox 17" id="17"/>
          <p:cNvSpPr txBox="true"/>
          <p:nvPr/>
        </p:nvSpPr>
        <p:spPr>
          <a:xfrm rot="0">
            <a:off x="15225415" y="990600"/>
            <a:ext cx="203388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Mission Statement</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36</a:t>
              </a:r>
            </a:p>
          </p:txBody>
        </p:sp>
      </p:grpSp>
    </p:spTree>
  </p:cSld>
  <p:clrMapOvr>
    <a:masterClrMapping/>
  </p:clrMapOvr>
</p:sld>
</file>

<file path=ppt/slides/slide37.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3489325"/>
            <a:ext cx="8390327" cy="771525"/>
          </a:xfrm>
          <a:prstGeom prst="rect">
            <a:avLst/>
          </a:prstGeom>
        </p:spPr>
        <p:txBody>
          <a:bodyPr anchor="t" rtlCol="false" tIns="0" lIns="0" bIns="0" rIns="0">
            <a:spAutoFit/>
          </a:bodyPr>
          <a:lstStyle/>
          <a:p>
            <a:pPr algn="l">
              <a:lnSpc>
                <a:spcPts val="6000"/>
              </a:lnSpc>
            </a:pPr>
            <a:r>
              <a:rPr lang="en-US" sz="5000" spc="-50">
                <a:solidFill>
                  <a:srgbClr val="FFFFFF">
                    <a:alpha val="49804"/>
                  </a:srgbClr>
                </a:solidFill>
                <a:latin typeface="Helvetica World"/>
                <a:ea typeface="Helvetica World"/>
                <a:cs typeface="Helvetica World"/>
                <a:sym typeface="Helvetica World"/>
              </a:rPr>
              <a:t>From </a:t>
            </a:r>
            <a:r>
              <a:rPr lang="en-US" sz="5000" spc="-50">
                <a:solidFill>
                  <a:srgbClr val="FFFFFF">
                    <a:alpha val="49804"/>
                  </a:srgbClr>
                </a:solidFill>
                <a:latin typeface="Helvetica World"/>
                <a:ea typeface="Helvetica World"/>
                <a:cs typeface="Helvetica World"/>
                <a:sym typeface="Helvetica World"/>
              </a:rPr>
              <a:t>Reactive Search </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6" id="6"/>
          <p:cNvGrpSpPr/>
          <p:nvPr/>
        </p:nvGrpSpPr>
        <p:grpSpPr>
          <a:xfrm rot="0">
            <a:off x="1028700" y="6504370"/>
            <a:ext cx="16230600" cy="1965220"/>
            <a:chOff x="0" y="0"/>
            <a:chExt cx="21640800" cy="2620294"/>
          </a:xfrm>
        </p:grpSpPr>
        <p:sp>
          <p:nvSpPr>
            <p:cNvPr name="TextBox 7" id="7"/>
            <p:cNvSpPr txBox="true"/>
            <p:nvPr/>
          </p:nvSpPr>
          <p:spPr>
            <a:xfrm rot="0">
              <a:off x="0" y="1142613"/>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In</a:t>
              </a:r>
              <a:r>
                <a:rPr lang="en-US" sz="1599" spc="-15">
                  <a:solidFill>
                    <a:srgbClr val="FFFFFF">
                      <a:alpha val="69804"/>
                    </a:srgbClr>
                  </a:solidFill>
                  <a:latin typeface="Helvetica World"/>
                  <a:ea typeface="Helvetica World"/>
                  <a:cs typeface="Helvetica World"/>
                  <a:sym typeface="Helvetica World"/>
                </a:rPr>
                <a:t>stant generation</a:t>
              </a:r>
              <a:r>
                <a:rPr lang="en-US" sz="1599" spc="-15">
                  <a:solidFill>
                    <a:srgbClr val="FFFFFF">
                      <a:alpha val="69804"/>
                    </a:srgbClr>
                  </a:solidFill>
                  <a:latin typeface="Helvetica World"/>
                  <a:ea typeface="Helvetica World"/>
                  <a:cs typeface="Helvetica World"/>
                  <a:sym typeface="Helvetica World"/>
                </a:rPr>
                <a:t> of dynamic Comparison Charts directly within the chat interface, eliminating the need to read hundreds of reviews.</a:t>
              </a:r>
            </a:p>
          </p:txBody>
        </p:sp>
        <p:sp>
          <p:nvSpPr>
            <p:cNvPr name="TextBox 8" id="8"/>
            <p:cNvSpPr txBox="true"/>
            <p:nvPr/>
          </p:nvSpPr>
          <p:spPr>
            <a:xfrm rot="0">
              <a:off x="0" y="-38100"/>
              <a:ext cx="5721115"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Visual Decision Support</a:t>
              </a:r>
            </a:p>
          </p:txBody>
        </p:sp>
        <p:sp>
          <p:nvSpPr>
            <p:cNvPr name="TextBox 9" id="9"/>
            <p:cNvSpPr txBox="true"/>
            <p:nvPr/>
          </p:nvSpPr>
          <p:spPr>
            <a:xfrm rot="0">
              <a:off x="7764581" y="1142613"/>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Inte</a:t>
              </a:r>
              <a:r>
                <a:rPr lang="en-US" sz="1599" spc="-15">
                  <a:solidFill>
                    <a:srgbClr val="FFFFFF">
                      <a:alpha val="69804"/>
                    </a:srgbClr>
                  </a:solidFill>
                  <a:latin typeface="Helvetica World"/>
                  <a:ea typeface="Helvetica World"/>
                  <a:cs typeface="Helvetica World"/>
                  <a:sym typeface="Helvetica World"/>
                </a:rPr>
                <a:t>grating d</a:t>
              </a:r>
              <a:r>
                <a:rPr lang="en-US" sz="1599" spc="-15">
                  <a:solidFill>
                    <a:srgbClr val="FFFFFF">
                      <a:alpha val="69804"/>
                    </a:srgbClr>
                  </a:solidFill>
                  <a:latin typeface="Helvetica World"/>
                  <a:ea typeface="Helvetica World"/>
                  <a:cs typeface="Helvetica World"/>
                  <a:sym typeface="Helvetica World"/>
                </a:rPr>
                <a:t>ata from Prime Video, Kindle, and purchase history to build a deep 'Intent Profile'.</a:t>
              </a:r>
            </a:p>
            <a:p>
              <a:pPr algn="l">
                <a:lnSpc>
                  <a:spcPts val="2239"/>
                </a:lnSpc>
              </a:pPr>
            </a:p>
          </p:txBody>
        </p:sp>
        <p:sp>
          <p:nvSpPr>
            <p:cNvPr name="TextBox 10" id="10"/>
            <p:cNvSpPr txBox="true"/>
            <p:nvPr/>
          </p:nvSpPr>
          <p:spPr>
            <a:xfrm rot="0">
              <a:off x="7764581" y="-38100"/>
              <a:ext cx="6111637"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Hyper-Personalized Learning</a:t>
              </a:r>
            </a:p>
          </p:txBody>
        </p:sp>
        <p:sp>
          <p:nvSpPr>
            <p:cNvPr name="TextBox 11" id="11"/>
            <p:cNvSpPr txBox="true"/>
            <p:nvPr/>
          </p:nvSpPr>
          <p:spPr>
            <a:xfrm rot="0">
              <a:off x="15529163" y="1142613"/>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Anti</a:t>
              </a:r>
              <a:r>
                <a:rPr lang="en-US" sz="1599" spc="-15">
                  <a:solidFill>
                    <a:srgbClr val="FFFFFF">
                      <a:alpha val="69804"/>
                    </a:srgbClr>
                  </a:solidFill>
                  <a:latin typeface="Helvetica World"/>
                  <a:ea typeface="Helvetica World"/>
                  <a:cs typeface="Helvetica World"/>
                  <a:sym typeface="Helvetica World"/>
                </a:rPr>
                <a:t>cipating complementary products o</a:t>
              </a:r>
              <a:r>
                <a:rPr lang="en-US" sz="1599" spc="-15">
                  <a:solidFill>
                    <a:srgbClr val="FFFFFF">
                      <a:alpha val="69804"/>
                    </a:srgbClr>
                  </a:solidFill>
                  <a:latin typeface="Helvetica World"/>
                  <a:ea typeface="Helvetica World"/>
                  <a:cs typeface="Helvetica World"/>
                  <a:sym typeface="Helvetica World"/>
                </a:rPr>
                <a:t>r re-orders (e.g., "It's almost time for new coffee beans") before the user performs a search.</a:t>
              </a:r>
            </a:p>
          </p:txBody>
        </p:sp>
        <p:sp>
          <p:nvSpPr>
            <p:cNvPr name="TextBox 12" id="12"/>
            <p:cNvSpPr txBox="true"/>
            <p:nvPr/>
          </p:nvSpPr>
          <p:spPr>
            <a:xfrm rot="0">
              <a:off x="15529163" y="-38100"/>
              <a:ext cx="4193629"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Proactive Suggestions</a:t>
              </a:r>
            </a:p>
          </p:txBody>
        </p:sp>
        <p:sp>
          <p:nvSpPr>
            <p:cNvPr name="AutoShape 13" id="13"/>
            <p:cNvSpPr/>
            <p:nvPr/>
          </p:nvSpPr>
          <p:spPr>
            <a:xfrm>
              <a:off x="14702691" y="73008"/>
              <a:ext cx="0" cy="2547286"/>
            </a:xfrm>
            <a:prstGeom prst="line">
              <a:avLst/>
            </a:prstGeom>
            <a:ln cap="rnd" w="25400">
              <a:solidFill>
                <a:srgbClr val="FFFFFF">
                  <a:alpha val="49804"/>
                </a:srgbClr>
              </a:solidFill>
              <a:prstDash val="sysDash"/>
              <a:headEnd type="none" len="sm" w="sm"/>
              <a:tailEnd type="none" len="sm" w="sm"/>
            </a:ln>
          </p:spPr>
        </p:sp>
        <p:sp>
          <p:nvSpPr>
            <p:cNvPr name="AutoShape 14" id="14"/>
            <p:cNvSpPr/>
            <p:nvPr/>
          </p:nvSpPr>
          <p:spPr>
            <a:xfrm>
              <a:off x="6939081" y="73008"/>
              <a:ext cx="0" cy="2547286"/>
            </a:xfrm>
            <a:prstGeom prst="line">
              <a:avLst/>
            </a:prstGeom>
            <a:ln cap="rnd" w="25400">
              <a:solidFill>
                <a:srgbClr val="FFFFFF">
                  <a:alpha val="49804"/>
                </a:srgbClr>
              </a:solidFill>
              <a:prstDash val="sysDash"/>
              <a:headEnd type="none" len="sm" w="sm"/>
              <a:tailEnd type="none" len="sm" w="sm"/>
            </a:ln>
          </p:spPr>
        </p:sp>
      </p:grpSp>
      <p:sp>
        <p:nvSpPr>
          <p:cNvPr name="TextBox 15" id="15"/>
          <p:cNvSpPr txBox="true"/>
          <p:nvPr/>
        </p:nvSpPr>
        <p:spPr>
          <a:xfrm rot="0">
            <a:off x="1028700" y="4251325"/>
            <a:ext cx="7917061" cy="771525"/>
          </a:xfrm>
          <a:prstGeom prst="rect">
            <a:avLst/>
          </a:prstGeom>
        </p:spPr>
        <p:txBody>
          <a:bodyPr anchor="t" rtlCol="false" tIns="0" lIns="0" bIns="0" rIns="0">
            <a:spAutoFit/>
          </a:bodyPr>
          <a:lstStyle/>
          <a:p>
            <a:pPr algn="l">
              <a:lnSpc>
                <a:spcPts val="6000"/>
              </a:lnSpc>
            </a:pPr>
            <a:r>
              <a:rPr lang="en-US" sz="5000" spc="-50">
                <a:solidFill>
                  <a:srgbClr val="FFFFFF"/>
                </a:solidFill>
                <a:latin typeface="Helvetica World"/>
                <a:ea typeface="Helvetica World"/>
                <a:cs typeface="Helvetica World"/>
                <a:sym typeface="Helvetica World"/>
              </a:rPr>
              <a:t>to Proactive Decision Making</a:t>
            </a:r>
          </a:p>
        </p:txBody>
      </p:sp>
      <p:sp>
        <p:nvSpPr>
          <p:cNvPr name="TextBox 16" id="16"/>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sp>
        <p:nvSpPr>
          <p:cNvPr name="TextBox 17" id="17"/>
          <p:cNvSpPr txBox="true"/>
          <p:nvPr/>
        </p:nvSpPr>
        <p:spPr>
          <a:xfrm rot="0">
            <a:off x="15253990" y="990600"/>
            <a:ext cx="2005310"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Key Performences</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37</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4580630" y="990600"/>
            <a:ext cx="263827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Enhanced Data Pipeline</a:t>
            </a:r>
          </a:p>
        </p:txBody>
      </p:sp>
      <p:sp>
        <p:nvSpPr>
          <p:cNvPr name="TextBox 6" id="6"/>
          <p:cNvSpPr txBox="true"/>
          <p:nvPr/>
        </p:nvSpPr>
        <p:spPr>
          <a:xfrm rot="0">
            <a:off x="1028700" y="8918575"/>
            <a:ext cx="4659025"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Discovery  - Optimization</a:t>
            </a:r>
          </a:p>
        </p:txBody>
      </p:sp>
      <p:sp>
        <p:nvSpPr>
          <p:cNvPr name="TextBox 7" id="7"/>
          <p:cNvSpPr txBox="true"/>
          <p:nvPr/>
        </p:nvSpPr>
        <p:spPr>
          <a:xfrm rot="0">
            <a:off x="7558716" y="8918575"/>
            <a:ext cx="3189619" cy="339725"/>
          </a:xfrm>
          <a:prstGeom prst="rect">
            <a:avLst/>
          </a:prstGeom>
        </p:spPr>
        <p:txBody>
          <a:bodyPr anchor="t" rtlCol="false" tIns="0" lIns="0" bIns="0" rIns="0">
            <a:spAutoFit/>
          </a:bodyPr>
          <a:lstStyle/>
          <a:p>
            <a:pPr algn="ctr">
              <a:lnSpc>
                <a:spcPts val="2800"/>
              </a:lnSpc>
            </a:pPr>
            <a:r>
              <a:rPr lang="en-US" sz="2000" spc="-20">
                <a:solidFill>
                  <a:srgbClr val="FFFFFF"/>
                </a:solidFill>
                <a:latin typeface="Helvetica World"/>
                <a:ea typeface="Helvetica World"/>
                <a:cs typeface="Helvetica World"/>
                <a:sym typeface="Helvetica World"/>
              </a:rPr>
              <a:t>Decision - Operations</a:t>
            </a:r>
          </a:p>
        </p:txBody>
      </p:sp>
      <p:sp>
        <p:nvSpPr>
          <p:cNvPr name="TextBox 8" id="8"/>
          <p:cNvSpPr txBox="true"/>
          <p:nvPr/>
        </p:nvSpPr>
        <p:spPr>
          <a:xfrm rot="0">
            <a:off x="12151981" y="8918575"/>
            <a:ext cx="5107319"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Post-purchase - Analytics</a:t>
            </a:r>
          </a:p>
        </p:txBody>
      </p:sp>
      <p:sp>
        <p:nvSpPr>
          <p:cNvPr name="Freeform 9" id="9"/>
          <p:cNvSpPr/>
          <p:nvPr/>
        </p:nvSpPr>
        <p:spPr>
          <a:xfrm flipH="false" flipV="false" rot="0">
            <a:off x="1487927" y="1586693"/>
            <a:ext cx="15331197" cy="7280447"/>
          </a:xfrm>
          <a:custGeom>
            <a:avLst/>
            <a:gdLst/>
            <a:ahLst/>
            <a:cxnLst/>
            <a:rect r="r" b="b" t="t" l="l"/>
            <a:pathLst>
              <a:path h="7280447" w="15331197">
                <a:moveTo>
                  <a:pt x="0" y="0"/>
                </a:moveTo>
                <a:lnTo>
                  <a:pt x="15331196" y="0"/>
                </a:lnTo>
                <a:lnTo>
                  <a:pt x="15331196" y="7280446"/>
                </a:lnTo>
                <a:lnTo>
                  <a:pt x="0" y="7280446"/>
                </a:lnTo>
                <a:lnTo>
                  <a:pt x="0" y="0"/>
                </a:lnTo>
                <a:close/>
              </a:path>
            </a:pathLst>
          </a:custGeom>
          <a:blipFill>
            <a:blip r:embed="rId2"/>
            <a:stretch>
              <a:fillRect l="-2762" t="-5187" r="0" b="-3011"/>
            </a:stretch>
          </a:blipFill>
        </p:spPr>
      </p:sp>
      <p:sp>
        <p:nvSpPr>
          <p:cNvPr name="AutoShape 10" id="10"/>
          <p:cNvSpPr/>
          <p:nvPr/>
        </p:nvSpPr>
        <p:spPr>
          <a:xfrm>
            <a:off x="1038225" y="5226916"/>
            <a:ext cx="16221075" cy="0"/>
          </a:xfrm>
          <a:prstGeom prst="line">
            <a:avLst/>
          </a:prstGeom>
          <a:ln cap="rnd" w="9525">
            <a:solidFill>
              <a:srgbClr val="FFFFFF"/>
            </a:solidFill>
            <a:prstDash val="solid"/>
            <a:headEnd type="none" len="sm" w="sm"/>
            <a:tailEnd type="none" len="sm" w="sm"/>
          </a:ln>
        </p:spPr>
      </p:sp>
      <p:sp>
        <p:nvSpPr>
          <p:cNvPr name="AutoShape 11" id="11"/>
          <p:cNvSpPr/>
          <p:nvPr/>
        </p:nvSpPr>
        <p:spPr>
          <a:xfrm>
            <a:off x="1028700" y="1596218"/>
            <a:ext cx="16230600" cy="0"/>
          </a:xfrm>
          <a:prstGeom prst="line">
            <a:avLst/>
          </a:prstGeom>
          <a:ln cap="rnd" w="19050">
            <a:solidFill>
              <a:srgbClr val="FFFFFF">
                <a:alpha val="49804"/>
              </a:srgbClr>
            </a:solidFill>
            <a:prstDash val="sysDash"/>
            <a:headEnd type="none" len="sm" w="sm"/>
            <a:tailEnd type="none" len="sm" w="sm"/>
          </a:ln>
        </p:spPr>
      </p:sp>
      <p:sp>
        <p:nvSpPr>
          <p:cNvPr name="TextBox 12" id="12"/>
          <p:cNvSpPr txBox="true"/>
          <p:nvPr/>
        </p:nvSpPr>
        <p:spPr>
          <a:xfrm rot="5400000">
            <a:off x="545234" y="2904950"/>
            <a:ext cx="1568522" cy="240665"/>
          </a:xfrm>
          <a:prstGeom prst="rect">
            <a:avLst/>
          </a:prstGeom>
        </p:spPr>
        <p:txBody>
          <a:bodyPr anchor="t" rtlCol="false" tIns="0" lIns="0" bIns="0" rIns="0">
            <a:spAutoFit/>
          </a:bodyPr>
          <a:lstStyle/>
          <a:p>
            <a:pPr algn="ctr">
              <a:lnSpc>
                <a:spcPts val="1960"/>
              </a:lnSpc>
            </a:pPr>
            <a:r>
              <a:rPr lang="en-US" sz="1400" spc="-14">
                <a:solidFill>
                  <a:srgbClr val="FFFFFF">
                    <a:alpha val="49804"/>
                  </a:srgbClr>
                </a:solidFill>
                <a:latin typeface="Helvetica World"/>
                <a:ea typeface="Helvetica World"/>
                <a:cs typeface="Helvetica World"/>
                <a:sym typeface="Helvetica World"/>
              </a:rPr>
              <a:t>[Rufus 2.0]</a:t>
            </a:r>
          </a:p>
        </p:txBody>
      </p:sp>
      <p:sp>
        <p:nvSpPr>
          <p:cNvPr name="TextBox 13" id="13"/>
          <p:cNvSpPr txBox="true"/>
          <p:nvPr/>
        </p:nvSpPr>
        <p:spPr>
          <a:xfrm rot="5400000">
            <a:off x="545234" y="7024204"/>
            <a:ext cx="1568522" cy="240665"/>
          </a:xfrm>
          <a:prstGeom prst="rect">
            <a:avLst/>
          </a:prstGeom>
        </p:spPr>
        <p:txBody>
          <a:bodyPr anchor="t" rtlCol="false" tIns="0" lIns="0" bIns="0" rIns="0">
            <a:spAutoFit/>
          </a:bodyPr>
          <a:lstStyle/>
          <a:p>
            <a:pPr algn="ctr">
              <a:lnSpc>
                <a:spcPts val="1960"/>
              </a:lnSpc>
            </a:pPr>
            <a:r>
              <a:rPr lang="en-US" sz="1400" spc="-14">
                <a:solidFill>
                  <a:srgbClr val="FFFFFF">
                    <a:alpha val="49804"/>
                  </a:srgbClr>
                </a:solidFill>
                <a:latin typeface="Helvetica World"/>
                <a:ea typeface="Helvetica World"/>
                <a:cs typeface="Helvetica World"/>
                <a:sym typeface="Helvetica World"/>
              </a:rPr>
              <a:t>[Amelia 2.0]</a:t>
            </a:r>
          </a:p>
        </p:txBody>
      </p:sp>
      <p:sp>
        <p:nvSpPr>
          <p:cNvPr name="TextBox 14" id="14"/>
          <p:cNvSpPr txBox="true"/>
          <p:nvPr/>
        </p:nvSpPr>
        <p:spPr>
          <a:xfrm rot="5400000">
            <a:off x="16309244" y="2904950"/>
            <a:ext cx="1568522" cy="240665"/>
          </a:xfrm>
          <a:prstGeom prst="rect">
            <a:avLst/>
          </a:prstGeom>
        </p:spPr>
        <p:txBody>
          <a:bodyPr anchor="t" rtlCol="false" tIns="0" lIns="0" bIns="0" rIns="0">
            <a:spAutoFit/>
          </a:bodyPr>
          <a:lstStyle/>
          <a:p>
            <a:pPr algn="ctr">
              <a:lnSpc>
                <a:spcPts val="1960"/>
              </a:lnSpc>
            </a:pPr>
            <a:r>
              <a:rPr lang="en-US" sz="1400" spc="-14">
                <a:solidFill>
                  <a:srgbClr val="FFFFFF">
                    <a:alpha val="49804"/>
                  </a:srgbClr>
                </a:solidFill>
                <a:latin typeface="Helvetica World"/>
                <a:ea typeface="Helvetica World"/>
                <a:cs typeface="Helvetica World"/>
                <a:sym typeface="Helvetica World"/>
              </a:rPr>
              <a:t>[Rufus 2.0]</a:t>
            </a:r>
          </a:p>
        </p:txBody>
      </p:sp>
      <p:sp>
        <p:nvSpPr>
          <p:cNvPr name="TextBox 15" id="15"/>
          <p:cNvSpPr txBox="true"/>
          <p:nvPr/>
        </p:nvSpPr>
        <p:spPr>
          <a:xfrm rot="5400000">
            <a:off x="16309244" y="7024204"/>
            <a:ext cx="1568522" cy="240665"/>
          </a:xfrm>
          <a:prstGeom prst="rect">
            <a:avLst/>
          </a:prstGeom>
        </p:spPr>
        <p:txBody>
          <a:bodyPr anchor="t" rtlCol="false" tIns="0" lIns="0" bIns="0" rIns="0">
            <a:spAutoFit/>
          </a:bodyPr>
          <a:lstStyle/>
          <a:p>
            <a:pPr algn="ctr">
              <a:lnSpc>
                <a:spcPts val="1960"/>
              </a:lnSpc>
            </a:pPr>
            <a:r>
              <a:rPr lang="en-US" sz="1400" spc="-14">
                <a:solidFill>
                  <a:srgbClr val="FFFFFF">
                    <a:alpha val="49804"/>
                  </a:srgbClr>
                </a:solidFill>
                <a:latin typeface="Helvetica World"/>
                <a:ea typeface="Helvetica World"/>
                <a:cs typeface="Helvetica World"/>
                <a:sym typeface="Helvetica World"/>
              </a:rPr>
              <a:t>[Amelia 2.0]</a:t>
            </a:r>
          </a:p>
        </p:txBody>
      </p:sp>
      <p:sp>
        <p:nvSpPr>
          <p:cNvPr name="AutoShape 16" id="16"/>
          <p:cNvSpPr/>
          <p:nvPr/>
        </p:nvSpPr>
        <p:spPr>
          <a:xfrm>
            <a:off x="1028700" y="8857614"/>
            <a:ext cx="16230600" cy="0"/>
          </a:xfrm>
          <a:prstGeom prst="line">
            <a:avLst/>
          </a:prstGeom>
          <a:ln cap="rnd" w="19050">
            <a:solidFill>
              <a:srgbClr val="FFFFFF">
                <a:alpha val="49804"/>
              </a:srgbClr>
            </a:solidFill>
            <a:prstDash val="sysDash"/>
            <a:headEnd type="none" len="sm" w="sm"/>
            <a:tailEnd type="none" len="sm" w="sm"/>
          </a:ln>
        </p:spPr>
      </p:sp>
      <p:sp>
        <p:nvSpPr>
          <p:cNvPr name="TextBox 17" id="17"/>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38</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7033506" y="7828707"/>
            <a:ext cx="4220989" cy="339725"/>
          </a:xfrm>
          <a:prstGeom prst="rect">
            <a:avLst/>
          </a:prstGeom>
        </p:spPr>
        <p:txBody>
          <a:bodyPr anchor="t" rtlCol="false" tIns="0" lIns="0" bIns="0" rIns="0">
            <a:spAutoFit/>
          </a:bodyPr>
          <a:lstStyle/>
          <a:p>
            <a:pPr algn="ctr">
              <a:lnSpc>
                <a:spcPts val="2800"/>
              </a:lnSpc>
            </a:pPr>
            <a:r>
              <a:rPr lang="en-US" sz="2000" spc="-20">
                <a:solidFill>
                  <a:srgbClr val="FFFFFF">
                    <a:alpha val="49804"/>
                  </a:srgbClr>
                </a:solidFill>
                <a:latin typeface="Helvetica World"/>
                <a:ea typeface="Helvetica World"/>
                <a:cs typeface="Helvetica World"/>
                <a:sym typeface="Helvetica World"/>
              </a:rPr>
              <a:t>Rufus | Amelia 2.0 - Mission Statement</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6" id="6"/>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7" id="7"/>
          <p:cNvSpPr txBox="true"/>
          <p:nvPr/>
        </p:nvSpPr>
        <p:spPr>
          <a:xfrm rot="0">
            <a:off x="1028700" y="4431983"/>
            <a:ext cx="16230600" cy="1356360"/>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“How can we convert strong demand signals into commercial opportunities — before the product even exists?”</a:t>
            </a:r>
          </a:p>
        </p:txBody>
      </p:sp>
      <p:sp>
        <p:nvSpPr>
          <p:cNvPr name="TextBox 8" id="8"/>
          <p:cNvSpPr txBox="true"/>
          <p:nvPr/>
        </p:nvSpPr>
        <p:spPr>
          <a:xfrm rot="0">
            <a:off x="15225415" y="990600"/>
            <a:ext cx="203388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Mission Statement</a:t>
            </a:r>
          </a:p>
        </p:txBody>
      </p:sp>
      <p:sp>
        <p:nvSpPr>
          <p:cNvPr name="TextBox 9" id="9"/>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39</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4086701"/>
            <a:ext cx="16230600" cy="2046923"/>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“Foresee Futu</a:t>
            </a:r>
            <a:r>
              <a:rPr lang="en-US" sz="3600" i="true" spc="-36">
                <a:solidFill>
                  <a:srgbClr val="FFFFFF"/>
                </a:solidFill>
                <a:latin typeface="Helvetica World Italics"/>
                <a:ea typeface="Helvetica World Italics"/>
                <a:cs typeface="Helvetica World Italics"/>
                <a:sym typeface="Helvetica World Italics"/>
              </a:rPr>
              <a:t>re of Demand: Transforming Rufus from a reactive shopping assistant into a predictive demand engine that bridges the gap between latent user intent and proactive manufacturing.”</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7033506" y="7828707"/>
            <a:ext cx="4220989" cy="339725"/>
          </a:xfrm>
          <a:prstGeom prst="rect">
            <a:avLst/>
          </a:prstGeom>
        </p:spPr>
        <p:txBody>
          <a:bodyPr anchor="t" rtlCol="false" tIns="0" lIns="0" bIns="0" rIns="0">
            <a:spAutoFit/>
          </a:bodyPr>
          <a:lstStyle/>
          <a:p>
            <a:pPr algn="ctr">
              <a:lnSpc>
                <a:spcPts val="2800"/>
              </a:lnSpc>
            </a:pPr>
            <a:r>
              <a:rPr lang="en-US" sz="2000" spc="-20">
                <a:solidFill>
                  <a:srgbClr val="FFFFFF">
                    <a:alpha val="49804"/>
                  </a:srgbClr>
                </a:solidFill>
                <a:latin typeface="Helvetica World"/>
                <a:ea typeface="Helvetica World"/>
                <a:cs typeface="Helvetica World"/>
                <a:sym typeface="Helvetica World"/>
              </a:rPr>
              <a:t>Rufus | Amelia 2.0 - Mission Statement</a:t>
            </a:r>
          </a:p>
        </p:txBody>
      </p:sp>
      <p:sp>
        <p:nvSpPr>
          <p:cNvPr name="TextBox 7" id="7"/>
          <p:cNvSpPr txBox="true"/>
          <p:nvPr/>
        </p:nvSpPr>
        <p:spPr>
          <a:xfrm rot="0">
            <a:off x="15225415" y="990600"/>
            <a:ext cx="203388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Mission Statement</a:t>
            </a:r>
          </a:p>
        </p:txBody>
      </p:sp>
      <p:sp>
        <p:nvSpPr>
          <p:cNvPr name="Freeform 8" id="8"/>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9" id="9"/>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40</a:t>
              </a:r>
            </a:p>
          </p:txBody>
        </p:sp>
      </p:grpSp>
    </p:spTree>
  </p:cSld>
  <p:clrMapOvr>
    <a:masterClrMapping/>
  </p:clrMapOvr>
</p:sld>
</file>

<file path=ppt/slides/slide4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2412039"/>
            <a:ext cx="15861563"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Fu</a:t>
            </a:r>
            <a:r>
              <a:rPr lang="en-US" sz="4800" spc="-48">
                <a:solidFill>
                  <a:srgbClr val="FFFFFF"/>
                </a:solidFill>
                <a:latin typeface="Helvetica World"/>
                <a:ea typeface="Helvetica World"/>
                <a:cs typeface="Helvetica World"/>
                <a:sym typeface="Helvetica World"/>
              </a:rPr>
              <a:t>ture Fulfillment: </a:t>
            </a:r>
          </a:p>
          <a:p>
            <a:pPr algn="l">
              <a:lnSpc>
                <a:spcPts val="5760"/>
              </a:lnSpc>
            </a:pPr>
            <a:r>
              <a:rPr lang="en-US" sz="4800" spc="-48">
                <a:solidFill>
                  <a:srgbClr val="FFFFFF"/>
                </a:solidFill>
                <a:latin typeface="Helvetica World"/>
                <a:ea typeface="Helvetica World"/>
                <a:cs typeface="Helvetica World"/>
                <a:sym typeface="Helvetica World"/>
              </a:rPr>
              <a:t>Transitioning from Search to Future </a:t>
            </a:r>
          </a:p>
        </p:txBody>
      </p:sp>
      <p:sp>
        <p:nvSpPr>
          <p:cNvPr name="TextBox 3" id="3"/>
          <p:cNvSpPr txBox="true"/>
          <p:nvPr/>
        </p:nvSpPr>
        <p:spPr>
          <a:xfrm rot="0">
            <a:off x="1028700" y="3802689"/>
            <a:ext cx="13335074"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Pioneering a "Demand-First" economy through AI-generated virtual product prototyping.</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7" id="7"/>
          <p:cNvGrpSpPr/>
          <p:nvPr/>
        </p:nvGrpSpPr>
        <p:grpSpPr>
          <a:xfrm rot="0">
            <a:off x="1028700" y="5876661"/>
            <a:ext cx="16230600" cy="1965220"/>
            <a:chOff x="0" y="0"/>
            <a:chExt cx="21640800" cy="2620294"/>
          </a:xfrm>
        </p:grpSpPr>
        <p:sp>
          <p:nvSpPr>
            <p:cNvPr name="TextBox 8" id="8"/>
            <p:cNvSpPr txBox="true"/>
            <p:nvPr/>
          </p:nvSpPr>
          <p:spPr>
            <a:xfrm rot="0">
              <a:off x="0" y="1172705"/>
              <a:ext cx="6111637" cy="14475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Rufus generates vi</a:t>
              </a:r>
              <a:r>
                <a:rPr lang="en-US" sz="1599" spc="-15">
                  <a:solidFill>
                    <a:srgbClr val="FFFFFF">
                      <a:alpha val="69804"/>
                    </a:srgbClr>
                  </a:solidFill>
                  <a:latin typeface="Helvetica World"/>
                  <a:ea typeface="Helvetica World"/>
                  <a:cs typeface="Helvetica World"/>
                  <a:sym typeface="Helvetica World"/>
                </a:rPr>
                <a:t>rtual thumbnails of potential produc</a:t>
              </a:r>
              <a:r>
                <a:rPr lang="en-US" sz="1599" spc="-15">
                  <a:solidFill>
                    <a:srgbClr val="FFFFFF">
                      <a:alpha val="69804"/>
                    </a:srgbClr>
                  </a:solidFill>
                  <a:latin typeface="Helvetica World"/>
                  <a:ea typeface="Helvetica World"/>
                  <a:cs typeface="Helvetica World"/>
                  <a:sym typeface="Helvetica World"/>
                </a:rPr>
                <a:t>ts based on user "Intent Signals." Users can "Reserve" or "Queue" for these concepts, gaining a priority right to purchase.</a:t>
              </a:r>
            </a:p>
          </p:txBody>
        </p:sp>
        <p:sp>
          <p:nvSpPr>
            <p:cNvPr name="TextBox 9" id="9"/>
            <p:cNvSpPr txBox="true"/>
            <p:nvPr/>
          </p:nvSpPr>
          <p:spPr>
            <a:xfrm rot="0">
              <a:off x="15529163" y="1142613"/>
              <a:ext cx="6111637" cy="14475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Instead of in</a:t>
              </a:r>
              <a:r>
                <a:rPr lang="en-US" sz="1599" spc="-15">
                  <a:solidFill>
                    <a:srgbClr val="FFFFFF">
                      <a:alpha val="69804"/>
                    </a:srgbClr>
                  </a:solidFill>
                  <a:latin typeface="Helvetica World"/>
                  <a:ea typeface="Helvetica World"/>
                  <a:cs typeface="Helvetica World"/>
                  <a:sym typeface="Helvetica World"/>
                </a:rPr>
                <a:t>trusive ads, users receive "Similarity Alerts" when a physical product matching thei</a:t>
              </a:r>
              <a:r>
                <a:rPr lang="en-US" sz="1599" spc="-15">
                  <a:solidFill>
                    <a:srgbClr val="FFFFFF">
                      <a:alpha val="69804"/>
                    </a:srgbClr>
                  </a:solidFill>
                  <a:latin typeface="Helvetica World"/>
                  <a:ea typeface="Helvetica World"/>
                  <a:cs typeface="Helvetica World"/>
                  <a:sym typeface="Helvetica World"/>
                </a:rPr>
                <a:t>r reserved "Future Concept" is launched, ensuring near-perfect relevance.</a:t>
              </a:r>
            </a:p>
          </p:txBody>
        </p:sp>
        <p:sp>
          <p:nvSpPr>
            <p:cNvPr name="TextBox 10" id="10"/>
            <p:cNvSpPr txBox="true"/>
            <p:nvPr/>
          </p:nvSpPr>
          <p:spPr>
            <a:xfrm rot="0">
              <a:off x="0" y="-8007"/>
              <a:ext cx="7198837"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AI-Powered Securing Demand</a:t>
              </a:r>
            </a:p>
          </p:txBody>
        </p:sp>
        <p:sp>
          <p:nvSpPr>
            <p:cNvPr name="TextBox 11" id="11"/>
            <p:cNvSpPr txBox="true"/>
            <p:nvPr/>
          </p:nvSpPr>
          <p:spPr>
            <a:xfrm rot="0">
              <a:off x="15529163" y="-38100"/>
              <a:ext cx="4958013"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Interest-Based Conversion</a:t>
              </a:r>
            </a:p>
          </p:txBody>
        </p:sp>
        <p:sp>
          <p:nvSpPr>
            <p:cNvPr name="AutoShape 12" id="12"/>
            <p:cNvSpPr/>
            <p:nvPr/>
          </p:nvSpPr>
          <p:spPr>
            <a:xfrm>
              <a:off x="10833100" y="73008"/>
              <a:ext cx="0" cy="2547286"/>
            </a:xfrm>
            <a:prstGeom prst="line">
              <a:avLst/>
            </a:prstGeom>
            <a:ln cap="rnd" w="25400">
              <a:solidFill>
                <a:srgbClr val="FFFFFF">
                  <a:alpha val="49804"/>
                </a:srgbClr>
              </a:solidFill>
              <a:prstDash val="sysDash"/>
              <a:headEnd type="none" len="sm" w="sm"/>
              <a:tailEnd type="none" len="sm" w="sm"/>
            </a:ln>
          </p:spPr>
        </p:sp>
      </p:grpSp>
      <p:sp>
        <p:nvSpPr>
          <p:cNvPr name="TextBox 13" id="13"/>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sp>
        <p:nvSpPr>
          <p:cNvPr name="TextBox 14" id="14"/>
          <p:cNvSpPr txBox="true"/>
          <p:nvPr/>
        </p:nvSpPr>
        <p:spPr>
          <a:xfrm rot="0">
            <a:off x="15768265" y="990600"/>
            <a:ext cx="149103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Key algorithm</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7" id="1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41</a:t>
              </a:r>
            </a:p>
          </p:txBody>
        </p:sp>
      </p:grpSp>
    </p:spTree>
  </p:cSld>
  <p:clrMapOvr>
    <a:masterClrMapping/>
  </p:clrMapOvr>
</p:sld>
</file>

<file path=ppt/slides/slide42.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2412039"/>
            <a:ext cx="15861563"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The Fu</a:t>
            </a:r>
            <a:r>
              <a:rPr lang="en-US" sz="4800" spc="-48">
                <a:solidFill>
                  <a:srgbClr val="FFFFFF"/>
                </a:solidFill>
                <a:latin typeface="Helvetica World"/>
                <a:ea typeface="Helvetica World"/>
                <a:cs typeface="Helvetica World"/>
                <a:sym typeface="Helvetica World"/>
              </a:rPr>
              <a:t>ture Fulfillment Platform: </a:t>
            </a:r>
          </a:p>
          <a:p>
            <a:pPr algn="l">
              <a:lnSpc>
                <a:spcPts val="5760"/>
              </a:lnSpc>
            </a:pPr>
            <a:r>
              <a:rPr lang="en-US" sz="4800" spc="-48">
                <a:solidFill>
                  <a:srgbClr val="FFFFFF"/>
                </a:solidFill>
                <a:latin typeface="Helvetica World"/>
                <a:ea typeface="Helvetica World"/>
                <a:cs typeface="Helvetica World"/>
                <a:sym typeface="Helvetica World"/>
              </a:rPr>
              <a:t>V</a:t>
            </a:r>
            <a:r>
              <a:rPr lang="en-US" sz="4800" spc="-48">
                <a:solidFill>
                  <a:srgbClr val="FFFFFF"/>
                </a:solidFill>
                <a:latin typeface="Helvetica World"/>
                <a:ea typeface="Helvetica World"/>
                <a:cs typeface="Helvetica World"/>
                <a:sym typeface="Helvetica World"/>
              </a:rPr>
              <a:t>alidating Demand for Suppliers</a:t>
            </a:r>
          </a:p>
        </p:txBody>
      </p:sp>
      <p:sp>
        <p:nvSpPr>
          <p:cNvPr name="TextBox 6" id="6"/>
          <p:cNvSpPr txBox="true"/>
          <p:nvPr/>
        </p:nvSpPr>
        <p:spPr>
          <a:xfrm rot="0">
            <a:off x="1028700" y="3802689"/>
            <a:ext cx="10043740"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C</a:t>
            </a:r>
            <a:r>
              <a:rPr lang="en-US" sz="2799" spc="-27">
                <a:solidFill>
                  <a:srgbClr val="FFFFFF">
                    <a:alpha val="49804"/>
                  </a:srgbClr>
                </a:solidFill>
                <a:latin typeface="Helvetica World"/>
                <a:ea typeface="Helvetica World"/>
                <a:cs typeface="Helvetica World"/>
                <a:sym typeface="Helvetica World"/>
              </a:rPr>
              <a:t>onnecting Rufus's "Future Nodes" to Amelia's "Seller Execution."</a:t>
            </a:r>
          </a:p>
        </p:txBody>
      </p:sp>
      <p:grpSp>
        <p:nvGrpSpPr>
          <p:cNvPr name="Group 7" id="7"/>
          <p:cNvGrpSpPr/>
          <p:nvPr/>
        </p:nvGrpSpPr>
        <p:grpSpPr>
          <a:xfrm rot="0">
            <a:off x="1028700" y="5876661"/>
            <a:ext cx="16230600" cy="1965220"/>
            <a:chOff x="0" y="0"/>
            <a:chExt cx="21640800" cy="2620294"/>
          </a:xfrm>
        </p:grpSpPr>
        <p:sp>
          <p:nvSpPr>
            <p:cNvPr name="TextBox 8" id="8"/>
            <p:cNvSpPr txBox="true"/>
            <p:nvPr/>
          </p:nvSpPr>
          <p:spPr>
            <a:xfrm rot="0">
              <a:off x="0" y="1172705"/>
              <a:ext cx="6111637" cy="14475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Data from Rufus's virtual</a:t>
              </a:r>
              <a:r>
                <a:rPr lang="en-US" sz="1599" spc="-15">
                  <a:solidFill>
                    <a:srgbClr val="FFFFFF">
                      <a:alpha val="69804"/>
                    </a:srgbClr>
                  </a:solidFill>
                  <a:latin typeface="Helvetica World"/>
                  <a:ea typeface="Helvetica World"/>
                  <a:cs typeface="Helvetica World"/>
                  <a:sym typeface="Helvetica World"/>
                </a:rPr>
                <a:t> reservations</a:t>
              </a:r>
              <a:r>
                <a:rPr lang="en-US" sz="1599" spc="-15">
                  <a:solidFill>
                    <a:srgbClr val="FFFFFF">
                      <a:alpha val="69804"/>
                    </a:srgbClr>
                  </a:solidFill>
                  <a:latin typeface="Helvetica World"/>
                  <a:ea typeface="Helvetica World"/>
                  <a:cs typeface="Helvetica World"/>
                  <a:sym typeface="Helvetica World"/>
                </a:rPr>
                <a:t> is funneled into Amelia (for Sellers). Suppliers can verify exactly what users want before starting production, eliminating inventory risk.</a:t>
              </a:r>
            </a:p>
          </p:txBody>
        </p:sp>
        <p:sp>
          <p:nvSpPr>
            <p:cNvPr name="TextBox 9" id="9"/>
            <p:cNvSpPr txBox="true"/>
            <p:nvPr/>
          </p:nvSpPr>
          <p:spPr>
            <a:xfrm rot="0">
              <a:off x="7587684" y="117270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Amazon es</a:t>
              </a:r>
              <a:r>
                <a:rPr lang="en-US" sz="1599" spc="-15">
                  <a:solidFill>
                    <a:srgbClr val="FFFFFF">
                      <a:alpha val="69804"/>
                    </a:srgbClr>
                  </a:solidFill>
                  <a:latin typeface="Helvetica World"/>
                  <a:ea typeface="Helvetica World"/>
                  <a:cs typeface="Helvetica World"/>
                  <a:sym typeface="Helvetica World"/>
                </a:rPr>
                <a:t>tablishes a new revenue</a:t>
              </a:r>
              <a:r>
                <a:rPr lang="en-US" sz="1599" spc="-15">
                  <a:solidFill>
                    <a:srgbClr val="FFFFFF">
                      <a:alpha val="69804"/>
                    </a:srgbClr>
                  </a:solidFill>
                  <a:latin typeface="Helvetica World"/>
                  <a:ea typeface="Helvetica World"/>
                  <a:cs typeface="Helvetica World"/>
                  <a:sym typeface="Helvetica World"/>
                </a:rPr>
                <a:t> stream by selling "Actual Demand Data" as a benchmark for the manufacturing industry.</a:t>
              </a:r>
            </a:p>
          </p:txBody>
        </p:sp>
        <p:sp>
          <p:nvSpPr>
            <p:cNvPr name="TextBox 10" id="10"/>
            <p:cNvSpPr txBox="true"/>
            <p:nvPr/>
          </p:nvSpPr>
          <p:spPr>
            <a:xfrm rot="0">
              <a:off x="15529163" y="1142613"/>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S</a:t>
              </a:r>
              <a:r>
                <a:rPr lang="en-US" sz="1599" spc="-15">
                  <a:solidFill>
                    <a:srgbClr val="FFFFFF">
                      <a:alpha val="69804"/>
                    </a:srgbClr>
                  </a:solidFill>
                  <a:latin typeface="Helvetica World"/>
                  <a:ea typeface="Helvetica World"/>
                  <a:cs typeface="Helvetica World"/>
                  <a:sym typeface="Helvetica World"/>
                </a:rPr>
                <a:t>uppliers produce verified "Future Products," and Rufus directs pre-inte</a:t>
              </a:r>
              <a:r>
                <a:rPr lang="en-US" sz="1599" spc="-15">
                  <a:solidFill>
                    <a:srgbClr val="FFFFFF">
                      <a:alpha val="69804"/>
                    </a:srgbClr>
                  </a:solidFill>
                  <a:latin typeface="Helvetica World"/>
                  <a:ea typeface="Helvetica World"/>
                  <a:cs typeface="Helvetica World"/>
                  <a:sym typeface="Helvetica World"/>
                </a:rPr>
                <a:t>rested users to the final checkout, completing the ultimate fulfillment cycle.</a:t>
              </a:r>
            </a:p>
          </p:txBody>
        </p:sp>
        <p:sp>
          <p:nvSpPr>
            <p:cNvPr name="TextBox 11" id="11"/>
            <p:cNvSpPr txBox="true"/>
            <p:nvPr/>
          </p:nvSpPr>
          <p:spPr>
            <a:xfrm rot="0">
              <a:off x="0" y="-8007"/>
              <a:ext cx="5721115"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Risk-Free Demand Validation</a:t>
              </a:r>
            </a:p>
          </p:txBody>
        </p:sp>
        <p:sp>
          <p:nvSpPr>
            <p:cNvPr name="TextBox 12" id="12"/>
            <p:cNvSpPr txBox="true"/>
            <p:nvPr/>
          </p:nvSpPr>
          <p:spPr>
            <a:xfrm rot="0">
              <a:off x="7587684" y="-8007"/>
              <a:ext cx="5884410"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Monetizing Intent Nodes</a:t>
              </a:r>
            </a:p>
          </p:txBody>
        </p:sp>
        <p:sp>
          <p:nvSpPr>
            <p:cNvPr name="TextBox 13" id="13"/>
            <p:cNvSpPr txBox="true"/>
            <p:nvPr/>
          </p:nvSpPr>
          <p:spPr>
            <a:xfrm rot="0">
              <a:off x="15529163" y="-38100"/>
              <a:ext cx="5747055"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Optimized Manufacturing Loop</a:t>
              </a:r>
            </a:p>
          </p:txBody>
        </p:sp>
        <p:sp>
          <p:nvSpPr>
            <p:cNvPr name="AutoShape 14" id="14"/>
            <p:cNvSpPr/>
            <p:nvPr/>
          </p:nvSpPr>
          <p:spPr>
            <a:xfrm>
              <a:off x="6654399" y="73008"/>
              <a:ext cx="0" cy="2547286"/>
            </a:xfrm>
            <a:prstGeom prst="line">
              <a:avLst/>
            </a:prstGeom>
            <a:ln cap="rnd" w="25400">
              <a:solidFill>
                <a:srgbClr val="FFFFFF">
                  <a:alpha val="49804"/>
                </a:srgbClr>
              </a:solidFill>
              <a:prstDash val="sysDash"/>
              <a:headEnd type="none" len="sm" w="sm"/>
              <a:tailEnd type="none" len="sm" w="sm"/>
            </a:ln>
          </p:spPr>
        </p:sp>
        <p:sp>
          <p:nvSpPr>
            <p:cNvPr name="AutoShape 15" id="15"/>
            <p:cNvSpPr/>
            <p:nvPr/>
          </p:nvSpPr>
          <p:spPr>
            <a:xfrm>
              <a:off x="14500795" y="73008"/>
              <a:ext cx="0" cy="2547286"/>
            </a:xfrm>
            <a:prstGeom prst="line">
              <a:avLst/>
            </a:prstGeom>
            <a:ln cap="rnd" w="25400">
              <a:solidFill>
                <a:srgbClr val="FFFFFF">
                  <a:alpha val="49804"/>
                </a:srgbClr>
              </a:solidFill>
              <a:prstDash val="sysDash"/>
              <a:headEnd type="none" len="sm" w="sm"/>
              <a:tailEnd type="none" len="sm" w="sm"/>
            </a:ln>
          </p:spPr>
        </p:sp>
      </p:grpSp>
      <p:sp>
        <p:nvSpPr>
          <p:cNvPr name="TextBox 16" id="16"/>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sp>
        <p:nvSpPr>
          <p:cNvPr name="TextBox 17" id="17"/>
          <p:cNvSpPr txBox="true"/>
          <p:nvPr/>
        </p:nvSpPr>
        <p:spPr>
          <a:xfrm rot="0">
            <a:off x="14674007" y="990600"/>
            <a:ext cx="258529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Projected System Value</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42</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3" id="3"/>
          <p:cNvSpPr txBox="true"/>
          <p:nvPr/>
        </p:nvSpPr>
        <p:spPr>
          <a:xfrm rot="0">
            <a:off x="1028700" y="4086701"/>
            <a:ext cx="16230600" cy="2046923"/>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"Users </a:t>
            </a:r>
            <a:r>
              <a:rPr lang="en-US" sz="3600" i="true" spc="-36">
                <a:solidFill>
                  <a:srgbClr val="FFFFFF"/>
                </a:solidFill>
                <a:latin typeface="Helvetica World Italics"/>
                <a:ea typeface="Helvetica World Italics"/>
                <a:cs typeface="Helvetica World Italics"/>
                <a:sym typeface="Helvetica World Italics"/>
              </a:rPr>
              <a:t>respond to immediacy. Through this, Rufus-Amelia 2.0 presents users with potential product options, and this potential creates a virtuous cycle that can further contribute to conversion rates."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6859302" y="7828707"/>
            <a:ext cx="4569396" cy="339725"/>
          </a:xfrm>
          <a:prstGeom prst="rect">
            <a:avLst/>
          </a:prstGeom>
        </p:spPr>
        <p:txBody>
          <a:bodyPr anchor="t" rtlCol="false" tIns="0" lIns="0" bIns="0" rIns="0">
            <a:spAutoFit/>
          </a:bodyPr>
          <a:lstStyle/>
          <a:p>
            <a:pPr algn="ctr">
              <a:lnSpc>
                <a:spcPts val="2800"/>
              </a:lnSpc>
            </a:pPr>
            <a:r>
              <a:rPr lang="en-US" sz="2000" spc="-20">
                <a:solidFill>
                  <a:srgbClr val="FFFFFF">
                    <a:alpha val="49804"/>
                  </a:srgbClr>
                </a:solidFill>
                <a:latin typeface="Helvetica World"/>
                <a:ea typeface="Helvetica World"/>
                <a:cs typeface="Helvetica World"/>
                <a:sym typeface="Helvetica World"/>
              </a:rPr>
              <a:t>Rufus | Amelia 2.0 - Core Value Statement</a:t>
            </a:r>
          </a:p>
        </p:txBody>
      </p:sp>
      <p:sp>
        <p:nvSpPr>
          <p:cNvPr name="TextBox 8" id="8"/>
          <p:cNvSpPr txBox="true"/>
          <p:nvPr/>
        </p:nvSpPr>
        <p:spPr>
          <a:xfrm rot="0">
            <a:off x="14877008" y="990600"/>
            <a:ext cx="238229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Core Value Statement</a:t>
            </a:r>
          </a:p>
        </p:txBody>
      </p:sp>
      <p:sp>
        <p:nvSpPr>
          <p:cNvPr name="TextBox 9" id="9"/>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43</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561" y="1547120"/>
            <a:ext cx="16240403" cy="6810181"/>
            <a:chOff x="0" y="0"/>
            <a:chExt cx="21653871" cy="9080241"/>
          </a:xfrm>
        </p:grpSpPr>
        <p:sp>
          <p:nvSpPr>
            <p:cNvPr name="AutoShape 3" id="3"/>
            <p:cNvSpPr/>
            <p:nvPr/>
          </p:nvSpPr>
          <p:spPr>
            <a:xfrm flipH="true">
              <a:off x="12886" y="18"/>
              <a:ext cx="12700" cy="9080204"/>
            </a:xfrm>
            <a:prstGeom prst="line">
              <a:avLst/>
            </a:prstGeom>
            <a:ln cap="rnd" w="25771">
              <a:solidFill>
                <a:srgbClr val="FFFFFF">
                  <a:alpha val="49804"/>
                </a:srgbClr>
              </a:solidFill>
              <a:prstDash val="sysDash"/>
              <a:headEnd type="none" len="sm" w="sm"/>
              <a:tailEnd type="none" len="sm" w="sm"/>
            </a:ln>
          </p:spPr>
        </p:sp>
        <p:sp>
          <p:nvSpPr>
            <p:cNvPr name="AutoShape 4" id="4"/>
            <p:cNvSpPr/>
            <p:nvPr/>
          </p:nvSpPr>
          <p:spPr>
            <a:xfrm flipH="true">
              <a:off x="21628286" y="18"/>
              <a:ext cx="12700" cy="9080204"/>
            </a:xfrm>
            <a:prstGeom prst="line">
              <a:avLst/>
            </a:prstGeom>
            <a:ln cap="rnd" w="25771">
              <a:solidFill>
                <a:srgbClr val="FFFFFF">
                  <a:alpha val="49804"/>
                </a:srgbClr>
              </a:solidFill>
              <a:prstDash val="sysDash"/>
              <a:headEnd type="none" len="sm" w="sm"/>
              <a:tailEnd type="none" len="sm" w="sm"/>
            </a:ln>
          </p:spPr>
        </p:sp>
        <p:sp>
          <p:nvSpPr>
            <p:cNvPr name="AutoShape 5" id="5"/>
            <p:cNvSpPr/>
            <p:nvPr/>
          </p:nvSpPr>
          <p:spPr>
            <a:xfrm>
              <a:off x="178900" y="4553006"/>
              <a:ext cx="21283372" cy="0"/>
            </a:xfrm>
            <a:prstGeom prst="line">
              <a:avLst/>
            </a:prstGeom>
            <a:ln cap="flat" w="25771">
              <a:solidFill>
                <a:srgbClr val="FFFFFF"/>
              </a:solidFill>
              <a:prstDash val="sysDash"/>
              <a:headEnd type="none" len="sm" w="sm"/>
              <a:tailEnd type="arrow" len="sm" w="med"/>
            </a:ln>
          </p:spPr>
        </p:sp>
        <p:sp>
          <p:nvSpPr>
            <p:cNvPr name="Freeform 6" id="6"/>
            <p:cNvSpPr/>
            <p:nvPr/>
          </p:nvSpPr>
          <p:spPr>
            <a:xfrm flipH="false" flipV="false" rot="0">
              <a:off x="178900" y="713570"/>
              <a:ext cx="21283372" cy="7653100"/>
            </a:xfrm>
            <a:custGeom>
              <a:avLst/>
              <a:gdLst/>
              <a:ahLst/>
              <a:cxnLst/>
              <a:rect r="r" b="b" t="t" l="l"/>
              <a:pathLst>
                <a:path h="7653100" w="21283372">
                  <a:moveTo>
                    <a:pt x="0" y="0"/>
                  </a:moveTo>
                  <a:lnTo>
                    <a:pt x="21283372" y="0"/>
                  </a:lnTo>
                  <a:lnTo>
                    <a:pt x="21283372" y="7653100"/>
                  </a:lnTo>
                  <a:lnTo>
                    <a:pt x="0" y="7653100"/>
                  </a:lnTo>
                  <a:lnTo>
                    <a:pt x="0" y="0"/>
                  </a:lnTo>
                  <a:close/>
                </a:path>
              </a:pathLst>
            </a:custGeom>
            <a:blipFill>
              <a:blip r:embed="rId2"/>
              <a:stretch>
                <a:fillRect l="-7551" t="-45404" r="-6800" b="-45404"/>
              </a:stretch>
            </a:blipFill>
          </p:spPr>
        </p:sp>
        <p:sp>
          <p:nvSpPr>
            <p:cNvPr name="TextBox 7" id="7"/>
            <p:cNvSpPr txBox="true"/>
            <p:nvPr/>
          </p:nvSpPr>
          <p:spPr>
            <a:xfrm rot="0">
              <a:off x="3645144" y="8742486"/>
              <a:ext cx="997429"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[Branch]</a:t>
              </a:r>
            </a:p>
          </p:txBody>
        </p:sp>
        <p:sp>
          <p:nvSpPr>
            <p:cNvPr name="TextBox 8" id="8"/>
            <p:cNvSpPr txBox="true"/>
            <p:nvPr/>
          </p:nvSpPr>
          <p:spPr>
            <a:xfrm rot="0">
              <a:off x="178900" y="8742486"/>
              <a:ext cx="860419"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[Origin]</a:t>
              </a:r>
            </a:p>
          </p:txBody>
        </p:sp>
        <p:sp>
          <p:nvSpPr>
            <p:cNvPr name="TextBox 9" id="9"/>
            <p:cNvSpPr txBox="true"/>
            <p:nvPr/>
          </p:nvSpPr>
          <p:spPr>
            <a:xfrm rot="0">
              <a:off x="10177853" y="8742486"/>
              <a:ext cx="1139574"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[Strategy]</a:t>
              </a:r>
            </a:p>
          </p:txBody>
        </p:sp>
        <p:sp>
          <p:nvSpPr>
            <p:cNvPr name="TextBox 10" id="10"/>
            <p:cNvSpPr txBox="true"/>
            <p:nvPr/>
          </p:nvSpPr>
          <p:spPr>
            <a:xfrm rot="0">
              <a:off x="16758842" y="8742467"/>
              <a:ext cx="1168164"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[Excution]</a:t>
              </a:r>
            </a:p>
          </p:txBody>
        </p:sp>
        <p:sp>
          <p:nvSpPr>
            <p:cNvPr name="AutoShape 11" id="11"/>
            <p:cNvSpPr/>
            <p:nvPr/>
          </p:nvSpPr>
          <p:spPr>
            <a:xfrm>
              <a:off x="4143858" y="7767430"/>
              <a:ext cx="0" cy="599240"/>
            </a:xfrm>
            <a:prstGeom prst="line">
              <a:avLst/>
            </a:prstGeom>
            <a:ln cap="rnd" w="12886">
              <a:solidFill>
                <a:srgbClr val="FFFFFF">
                  <a:alpha val="49804"/>
                </a:srgbClr>
              </a:solidFill>
              <a:prstDash val="solid"/>
              <a:headEnd type="none" len="sm" w="sm"/>
              <a:tailEnd type="none" len="sm" w="sm"/>
            </a:ln>
          </p:spPr>
        </p:sp>
        <p:sp>
          <p:nvSpPr>
            <p:cNvPr name="AutoShape 12" id="12"/>
            <p:cNvSpPr/>
            <p:nvPr/>
          </p:nvSpPr>
          <p:spPr>
            <a:xfrm>
              <a:off x="10747640" y="7767430"/>
              <a:ext cx="0" cy="599240"/>
            </a:xfrm>
            <a:prstGeom prst="line">
              <a:avLst/>
            </a:prstGeom>
            <a:ln cap="rnd" w="12886">
              <a:solidFill>
                <a:srgbClr val="FFFFFF">
                  <a:alpha val="49804"/>
                </a:srgbClr>
              </a:solidFill>
              <a:prstDash val="solid"/>
              <a:headEnd type="none" len="sm" w="sm"/>
              <a:tailEnd type="none" len="sm" w="sm"/>
            </a:ln>
          </p:spPr>
        </p:sp>
        <p:sp>
          <p:nvSpPr>
            <p:cNvPr name="AutoShape 13" id="13"/>
            <p:cNvSpPr/>
            <p:nvPr/>
          </p:nvSpPr>
          <p:spPr>
            <a:xfrm>
              <a:off x="17342924" y="7767430"/>
              <a:ext cx="0" cy="599240"/>
            </a:xfrm>
            <a:prstGeom prst="line">
              <a:avLst/>
            </a:prstGeom>
            <a:ln cap="rnd" w="12886">
              <a:solidFill>
                <a:srgbClr val="FFFFFF">
                  <a:alpha val="49804"/>
                </a:srgbClr>
              </a:solidFill>
              <a:prstDash val="solid"/>
              <a:headEnd type="none" len="sm" w="sm"/>
              <a:tailEnd type="none" len="sm" w="sm"/>
            </a:ln>
          </p:spPr>
        </p:sp>
        <p:sp>
          <p:nvSpPr>
            <p:cNvPr name="AutoShape 14" id="14"/>
            <p:cNvSpPr/>
            <p:nvPr/>
          </p:nvSpPr>
          <p:spPr>
            <a:xfrm>
              <a:off x="185343" y="7767420"/>
              <a:ext cx="0" cy="599240"/>
            </a:xfrm>
            <a:prstGeom prst="line">
              <a:avLst/>
            </a:prstGeom>
            <a:ln cap="rnd" w="12886">
              <a:solidFill>
                <a:srgbClr val="FFFFFF">
                  <a:alpha val="49804"/>
                </a:srgbClr>
              </a:solidFill>
              <a:prstDash val="solid"/>
              <a:headEnd type="none" len="sm" w="sm"/>
              <a:tailEnd type="none" len="sm" w="sm"/>
            </a:ln>
          </p:spPr>
        </p:sp>
        <p:sp>
          <p:nvSpPr>
            <p:cNvPr name="TextBox 15" id="15"/>
            <p:cNvSpPr txBox="true"/>
            <p:nvPr/>
          </p:nvSpPr>
          <p:spPr>
            <a:xfrm rot="0">
              <a:off x="6427683" y="-19032"/>
              <a:ext cx="2036133"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[Probable Future]</a:t>
              </a:r>
            </a:p>
          </p:txBody>
        </p:sp>
        <p:sp>
          <p:nvSpPr>
            <p:cNvPr name="TextBox 16" id="16"/>
            <p:cNvSpPr txBox="true"/>
            <p:nvPr/>
          </p:nvSpPr>
          <p:spPr>
            <a:xfrm rot="0">
              <a:off x="13021930" y="-19032"/>
              <a:ext cx="2046703" cy="337755"/>
            </a:xfrm>
            <a:prstGeom prst="rect">
              <a:avLst/>
            </a:prstGeom>
          </p:spPr>
          <p:txBody>
            <a:bodyPr anchor="t" rtlCol="false" tIns="0" lIns="0" bIns="0" rIns="0">
              <a:spAutoFit/>
            </a:bodyPr>
            <a:lstStyle/>
            <a:p>
              <a:pPr algn="ctr">
                <a:lnSpc>
                  <a:spcPts val="2272"/>
                </a:lnSpc>
              </a:pPr>
              <a:r>
                <a:rPr lang="en-US" sz="1623" spc="-16">
                  <a:solidFill>
                    <a:srgbClr val="FFFFFF">
                      <a:alpha val="49804"/>
                    </a:srgbClr>
                  </a:solidFill>
                  <a:latin typeface="Helvetica World"/>
                  <a:ea typeface="Helvetica World"/>
                  <a:cs typeface="Helvetica World"/>
                  <a:sym typeface="Helvetica World"/>
                </a:rPr>
                <a:t>[Plausible Future]</a:t>
              </a:r>
            </a:p>
          </p:txBody>
        </p:sp>
        <p:sp>
          <p:nvSpPr>
            <p:cNvPr name="AutoShape 17" id="17"/>
            <p:cNvSpPr/>
            <p:nvPr/>
          </p:nvSpPr>
          <p:spPr>
            <a:xfrm flipH="true">
              <a:off x="7435057" y="713570"/>
              <a:ext cx="0" cy="4560508"/>
            </a:xfrm>
            <a:prstGeom prst="line">
              <a:avLst/>
            </a:prstGeom>
            <a:ln cap="rnd" w="12886">
              <a:solidFill>
                <a:srgbClr val="FFFFFF">
                  <a:alpha val="49804"/>
                </a:srgbClr>
              </a:solidFill>
              <a:prstDash val="solid"/>
              <a:headEnd type="none" len="sm" w="sm"/>
              <a:tailEnd type="none" len="sm" w="sm"/>
            </a:ln>
          </p:spPr>
        </p:sp>
        <p:sp>
          <p:nvSpPr>
            <p:cNvPr name="AutoShape 18" id="18"/>
            <p:cNvSpPr/>
            <p:nvPr/>
          </p:nvSpPr>
          <p:spPr>
            <a:xfrm>
              <a:off x="14038839" y="713570"/>
              <a:ext cx="0" cy="5636429"/>
            </a:xfrm>
            <a:prstGeom prst="line">
              <a:avLst/>
            </a:prstGeom>
            <a:ln cap="rnd" w="12886">
              <a:solidFill>
                <a:srgbClr val="FFFFFF">
                  <a:alpha val="49804"/>
                </a:srgbClr>
              </a:solidFill>
              <a:prstDash val="solid"/>
              <a:headEnd type="none" len="sm" w="sm"/>
              <a:tailEnd type="none" len="sm" w="sm"/>
            </a:ln>
          </p:spPr>
        </p:sp>
        <p:sp>
          <p:nvSpPr>
            <p:cNvPr name="TextBox 19" id="19"/>
            <p:cNvSpPr txBox="true"/>
            <p:nvPr/>
          </p:nvSpPr>
          <p:spPr>
            <a:xfrm rot="0">
              <a:off x="3306523" y="665945"/>
              <a:ext cx="1674670" cy="532125"/>
            </a:xfrm>
            <a:prstGeom prst="rect">
              <a:avLst/>
            </a:prstGeom>
          </p:spPr>
          <p:txBody>
            <a:bodyPr anchor="t" rtlCol="false" tIns="0" lIns="0" bIns="0" rIns="0">
              <a:spAutoFit/>
            </a:bodyPr>
            <a:lstStyle/>
            <a:p>
              <a:pPr algn="ctr">
                <a:lnSpc>
                  <a:spcPts val="3409"/>
                </a:lnSpc>
              </a:pPr>
              <a:r>
                <a:rPr lang="en-US" sz="2435" spc="-24">
                  <a:solidFill>
                    <a:srgbClr val="FFFFFF">
                      <a:alpha val="24706"/>
                    </a:srgbClr>
                  </a:solidFill>
                  <a:latin typeface="Helvetica World"/>
                  <a:ea typeface="Helvetica World"/>
                  <a:cs typeface="Helvetica World"/>
                  <a:sym typeface="Helvetica World"/>
                </a:rPr>
                <a:t>2026</a:t>
              </a:r>
            </a:p>
          </p:txBody>
        </p:sp>
        <p:sp>
          <p:nvSpPr>
            <p:cNvPr name="TextBox 20" id="20"/>
            <p:cNvSpPr txBox="true"/>
            <p:nvPr/>
          </p:nvSpPr>
          <p:spPr>
            <a:xfrm rot="0">
              <a:off x="9970365" y="665945"/>
              <a:ext cx="1674670" cy="532125"/>
            </a:xfrm>
            <a:prstGeom prst="rect">
              <a:avLst/>
            </a:prstGeom>
          </p:spPr>
          <p:txBody>
            <a:bodyPr anchor="t" rtlCol="false" tIns="0" lIns="0" bIns="0" rIns="0">
              <a:spAutoFit/>
            </a:bodyPr>
            <a:lstStyle/>
            <a:p>
              <a:pPr algn="ctr">
                <a:lnSpc>
                  <a:spcPts val="3409"/>
                </a:lnSpc>
              </a:pPr>
              <a:r>
                <a:rPr lang="en-US" sz="2435" spc="-24">
                  <a:solidFill>
                    <a:srgbClr val="FFFFFF">
                      <a:alpha val="24706"/>
                    </a:srgbClr>
                  </a:solidFill>
                  <a:latin typeface="Helvetica World"/>
                  <a:ea typeface="Helvetica World"/>
                  <a:cs typeface="Helvetica World"/>
                  <a:sym typeface="Helvetica World"/>
                </a:rPr>
                <a:t>2030</a:t>
              </a:r>
            </a:p>
          </p:txBody>
        </p:sp>
        <p:sp>
          <p:nvSpPr>
            <p:cNvPr name="TextBox 21" id="21"/>
            <p:cNvSpPr txBox="true"/>
            <p:nvPr/>
          </p:nvSpPr>
          <p:spPr>
            <a:xfrm rot="0">
              <a:off x="16493554" y="665945"/>
              <a:ext cx="1674670" cy="532125"/>
            </a:xfrm>
            <a:prstGeom prst="rect">
              <a:avLst/>
            </a:prstGeom>
          </p:spPr>
          <p:txBody>
            <a:bodyPr anchor="t" rtlCol="false" tIns="0" lIns="0" bIns="0" rIns="0">
              <a:spAutoFit/>
            </a:bodyPr>
            <a:lstStyle/>
            <a:p>
              <a:pPr algn="ctr">
                <a:lnSpc>
                  <a:spcPts val="3409"/>
                </a:lnSpc>
              </a:pPr>
              <a:r>
                <a:rPr lang="en-US" sz="2435" spc="-24">
                  <a:solidFill>
                    <a:srgbClr val="FFFFFF">
                      <a:alpha val="24706"/>
                    </a:srgbClr>
                  </a:solidFill>
                  <a:latin typeface="Helvetica World"/>
                  <a:ea typeface="Helvetica World"/>
                  <a:cs typeface="Helvetica World"/>
                  <a:sym typeface="Helvetica World"/>
                </a:rPr>
                <a:t>2035</a:t>
              </a:r>
            </a:p>
          </p:txBody>
        </p:sp>
      </p:grpSp>
      <p:grpSp>
        <p:nvGrpSpPr>
          <p:cNvPr name="Group 22" id="22"/>
          <p:cNvGrpSpPr/>
          <p:nvPr/>
        </p:nvGrpSpPr>
        <p:grpSpPr>
          <a:xfrm rot="0">
            <a:off x="1028700" y="727075"/>
            <a:ext cx="16230600" cy="301625"/>
            <a:chOff x="0" y="0"/>
            <a:chExt cx="21640800" cy="402167"/>
          </a:xfrm>
        </p:grpSpPr>
        <p:sp>
          <p:nvSpPr>
            <p:cNvPr name="TextBox 23" id="2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24" id="2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25" id="25"/>
          <p:cNvSpPr txBox="true"/>
          <p:nvPr/>
        </p:nvSpPr>
        <p:spPr>
          <a:xfrm rot="0">
            <a:off x="1028700" y="8720456"/>
            <a:ext cx="6246837" cy="537844"/>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Future Roadmap | Rufus-Amelia 2.0</a:t>
            </a:r>
          </a:p>
        </p:txBody>
      </p:sp>
      <p:sp>
        <p:nvSpPr>
          <p:cNvPr name="TextBox 26" id="26"/>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sp>
        <p:nvSpPr>
          <p:cNvPr name="TextBox 27" id="27"/>
          <p:cNvSpPr txBox="true"/>
          <p:nvPr/>
        </p:nvSpPr>
        <p:spPr>
          <a:xfrm rot="0">
            <a:off x="15447764" y="990600"/>
            <a:ext cx="181153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Vision Roadmap</a:t>
            </a:r>
          </a:p>
        </p:txBody>
      </p:sp>
      <p:grpSp>
        <p:nvGrpSpPr>
          <p:cNvPr name="Group 28" id="28"/>
          <p:cNvGrpSpPr/>
          <p:nvPr/>
        </p:nvGrpSpPr>
        <p:grpSpPr>
          <a:xfrm rot="0">
            <a:off x="1028700" y="9258300"/>
            <a:ext cx="16230600" cy="301625"/>
            <a:chOff x="0" y="0"/>
            <a:chExt cx="21640800" cy="402167"/>
          </a:xfrm>
        </p:grpSpPr>
        <p:sp>
          <p:nvSpPr>
            <p:cNvPr name="TextBox 29" id="2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30" id="3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44</a:t>
              </a:r>
            </a:p>
          </p:txBody>
        </p:sp>
      </p:grpSp>
    </p:spTree>
  </p:cSld>
  <p:clrMapOvr>
    <a:masterClrMapping/>
  </p:clrMapOvr>
</p:sld>
</file>

<file path=ppt/slides/slide45.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2366011"/>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Platform Design Principles: </a:t>
            </a:r>
          </a:p>
          <a:p>
            <a:pPr algn="l">
              <a:lnSpc>
                <a:spcPts val="5760"/>
              </a:lnSpc>
            </a:pPr>
            <a:r>
              <a:rPr lang="en-US" sz="4800" spc="-48">
                <a:solidFill>
                  <a:srgbClr val="FFFFFF"/>
                </a:solidFill>
                <a:latin typeface="Helvetica World"/>
                <a:ea typeface="Helvetica World"/>
                <a:cs typeface="Helvetica World"/>
                <a:sym typeface="Helvetica World"/>
              </a:rPr>
              <a:t>Architecting the Future Economy</a:t>
            </a:r>
          </a:p>
        </p:txBody>
      </p:sp>
      <p:sp>
        <p:nvSpPr>
          <p:cNvPr name="TextBox 6" id="6"/>
          <p:cNvSpPr txBox="true"/>
          <p:nvPr/>
        </p:nvSpPr>
        <p:spPr>
          <a:xfrm rot="0">
            <a:off x="1028700" y="3756661"/>
            <a:ext cx="12407652"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Three c</a:t>
            </a:r>
            <a:r>
              <a:rPr lang="en-US" sz="2799" spc="-27">
                <a:solidFill>
                  <a:srgbClr val="FFFFFF">
                    <a:alpha val="49804"/>
                  </a:srgbClr>
                </a:solidFill>
                <a:latin typeface="Helvetica World"/>
                <a:ea typeface="Helvetica World"/>
                <a:cs typeface="Helvetica World"/>
                <a:sym typeface="Helvetica World"/>
              </a:rPr>
              <a:t>ore pillars to transition from a marketplace to a Predictive Demand Engine.</a:t>
            </a:r>
          </a:p>
        </p:txBody>
      </p:sp>
      <p:grpSp>
        <p:nvGrpSpPr>
          <p:cNvPr name="Group 7" id="7"/>
          <p:cNvGrpSpPr/>
          <p:nvPr/>
        </p:nvGrpSpPr>
        <p:grpSpPr>
          <a:xfrm rot="0">
            <a:off x="1028700" y="5876661"/>
            <a:ext cx="16230600" cy="1965220"/>
            <a:chOff x="0" y="0"/>
            <a:chExt cx="21640800" cy="2620294"/>
          </a:xfrm>
        </p:grpSpPr>
        <p:sp>
          <p:nvSpPr>
            <p:cNvPr name="TextBox 8" id="8"/>
            <p:cNvSpPr txBox="true"/>
            <p:nvPr/>
          </p:nvSpPr>
          <p:spPr>
            <a:xfrm rot="0">
              <a:off x="0" y="1172705"/>
              <a:ext cx="6378158"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Synthesizing fragmented individual</a:t>
              </a:r>
              <a:r>
                <a:rPr lang="en-US" sz="1599" spc="-15">
                  <a:solidFill>
                    <a:srgbClr val="FFFFFF">
                      <a:alpha val="69804"/>
                    </a:srgbClr>
                  </a:solidFill>
                  <a:latin typeface="Helvetica World"/>
                  <a:ea typeface="Helvetica World"/>
                  <a:cs typeface="Helvetica World"/>
                  <a:sym typeface="Helvetica World"/>
                </a:rPr>
                <a:t> 'Future Concepts'</a:t>
              </a:r>
              <a:r>
                <a:rPr lang="en-US" sz="1599" spc="-15">
                  <a:solidFill>
                    <a:srgbClr val="FFFFFF">
                      <a:alpha val="69804"/>
                    </a:srgbClr>
                  </a:solidFill>
                  <a:latin typeface="Helvetica World"/>
                  <a:ea typeface="Helvetica World"/>
                  <a:cs typeface="Helvetica World"/>
                  <a:sym typeface="Helvetica World"/>
                </a:rPr>
                <a:t> into unified 'Demand Nodes' to provide scalable data for manufacturers.</a:t>
              </a:r>
            </a:p>
          </p:txBody>
        </p:sp>
        <p:sp>
          <p:nvSpPr>
            <p:cNvPr name="TextBox 9" id="9"/>
            <p:cNvSpPr txBox="true"/>
            <p:nvPr/>
          </p:nvSpPr>
          <p:spPr>
            <a:xfrm rot="0">
              <a:off x="0" y="-8007"/>
              <a:ext cx="5970606"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Pillar 01. Intent Aggregation</a:t>
              </a:r>
            </a:p>
          </p:txBody>
        </p:sp>
        <p:sp>
          <p:nvSpPr>
            <p:cNvPr name="TextBox 10" id="10"/>
            <p:cNvSpPr txBox="true"/>
            <p:nvPr/>
          </p:nvSpPr>
          <p:spPr>
            <a:xfrm rot="0">
              <a:off x="7631321" y="1172705"/>
              <a:ext cx="5414901"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Protec</a:t>
              </a:r>
              <a:r>
                <a:rPr lang="en-US" sz="1599" spc="-15">
                  <a:solidFill>
                    <a:srgbClr val="FFFFFF">
                      <a:alpha val="69804"/>
                    </a:srgbClr>
                  </a:solidFill>
                  <a:latin typeface="Helvetica World"/>
                  <a:ea typeface="Helvetica World"/>
                  <a:cs typeface="Helvetica World"/>
                  <a:sym typeface="Helvetica World"/>
                </a:rPr>
                <a:t>ting user identity while providing high-fideli</a:t>
              </a:r>
              <a:r>
                <a:rPr lang="en-US" sz="1599" spc="-15">
                  <a:solidFill>
                    <a:srgbClr val="FFFFFF">
                      <a:alpha val="69804"/>
                    </a:srgbClr>
                  </a:solidFill>
                  <a:latin typeface="Helvetica World"/>
                  <a:ea typeface="Helvetica World"/>
                  <a:cs typeface="Helvetica World"/>
                  <a:sym typeface="Helvetica World"/>
                </a:rPr>
                <a:t>ty intent signals to suppliers via Amelia B2B interface.</a:t>
              </a:r>
            </a:p>
          </p:txBody>
        </p:sp>
        <p:sp>
          <p:nvSpPr>
            <p:cNvPr name="TextBox 11" id="11"/>
            <p:cNvSpPr txBox="true"/>
            <p:nvPr/>
          </p:nvSpPr>
          <p:spPr>
            <a:xfrm rot="0">
              <a:off x="7631321" y="-8007"/>
              <a:ext cx="6378158"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Pillar 02. Privacy-First Data Silo</a:t>
              </a:r>
            </a:p>
          </p:txBody>
        </p:sp>
        <p:sp>
          <p:nvSpPr>
            <p:cNvPr name="TextBox 12" id="12"/>
            <p:cNvSpPr txBox="true"/>
            <p:nvPr/>
          </p:nvSpPr>
          <p:spPr>
            <a:xfrm rot="0">
              <a:off x="15262642" y="1142613"/>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Estab</a:t>
              </a:r>
              <a:r>
                <a:rPr lang="en-US" sz="1599" spc="-15">
                  <a:solidFill>
                    <a:srgbClr val="FFFFFF">
                      <a:alpha val="69804"/>
                    </a:srgbClr>
                  </a:solidFill>
                  <a:latin typeface="Helvetica World"/>
                  <a:ea typeface="Helvetica World"/>
                  <a:cs typeface="Helvetica World"/>
                  <a:sym typeface="Helvetica World"/>
                </a:rPr>
                <a:t>lishing a direct feedback line whe</a:t>
              </a:r>
              <a:r>
                <a:rPr lang="en-US" sz="1599" spc="-15">
                  <a:solidFill>
                    <a:srgbClr val="FFFFFF">
                      <a:alpha val="69804"/>
                    </a:srgbClr>
                  </a:solidFill>
                  <a:latin typeface="Helvetica World"/>
                  <a:ea typeface="Helvetica World"/>
                  <a:cs typeface="Helvetica World"/>
                  <a:sym typeface="Helvetica World"/>
                </a:rPr>
                <a:t>re user 'Reservations' immediately update production dashboards, eliminating information lag.</a:t>
              </a:r>
            </a:p>
          </p:txBody>
        </p:sp>
        <p:sp>
          <p:nvSpPr>
            <p:cNvPr name="TextBox 13" id="13"/>
            <p:cNvSpPr txBox="true"/>
            <p:nvPr/>
          </p:nvSpPr>
          <p:spPr>
            <a:xfrm rot="0">
              <a:off x="15262642" y="-38100"/>
              <a:ext cx="6378158"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Pillar 03. Real-time Predictive Loop</a:t>
              </a:r>
            </a:p>
          </p:txBody>
        </p:sp>
        <p:sp>
          <p:nvSpPr>
            <p:cNvPr name="AutoShape 14" id="14"/>
            <p:cNvSpPr/>
            <p:nvPr/>
          </p:nvSpPr>
          <p:spPr>
            <a:xfrm>
              <a:off x="7004740" y="0"/>
              <a:ext cx="0" cy="2620294"/>
            </a:xfrm>
            <a:prstGeom prst="line">
              <a:avLst/>
            </a:prstGeom>
            <a:ln cap="rnd" w="25400">
              <a:solidFill>
                <a:srgbClr val="FFFFFF">
                  <a:alpha val="49804"/>
                </a:srgbClr>
              </a:solidFill>
              <a:prstDash val="sysDash"/>
              <a:headEnd type="none" len="sm" w="sm"/>
              <a:tailEnd type="none" len="sm" w="sm"/>
            </a:ln>
          </p:spPr>
        </p:sp>
        <p:sp>
          <p:nvSpPr>
            <p:cNvPr name="AutoShape 15" id="15"/>
            <p:cNvSpPr/>
            <p:nvPr/>
          </p:nvSpPr>
          <p:spPr>
            <a:xfrm>
              <a:off x="14631779" y="0"/>
              <a:ext cx="0" cy="2620294"/>
            </a:xfrm>
            <a:prstGeom prst="line">
              <a:avLst/>
            </a:prstGeom>
            <a:ln cap="rnd" w="25400">
              <a:solidFill>
                <a:srgbClr val="FFFFFF">
                  <a:alpha val="49804"/>
                </a:srgbClr>
              </a:solidFill>
              <a:prstDash val="sysDash"/>
              <a:headEnd type="none" len="sm" w="sm"/>
              <a:tailEnd type="none" len="sm" w="sm"/>
            </a:ln>
          </p:spPr>
        </p:sp>
      </p:grpSp>
      <p:sp>
        <p:nvSpPr>
          <p:cNvPr name="TextBox 16" id="16"/>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sp>
        <p:nvSpPr>
          <p:cNvPr name="TextBox 17" id="17"/>
          <p:cNvSpPr txBox="true"/>
          <p:nvPr/>
        </p:nvSpPr>
        <p:spPr>
          <a:xfrm rot="0">
            <a:off x="15515853" y="990600"/>
            <a:ext cx="174344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Platform Design</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45</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19175" y="8578850"/>
            <a:ext cx="6062514" cy="679450"/>
          </a:xfrm>
          <a:prstGeom prst="rect">
            <a:avLst/>
          </a:prstGeom>
        </p:spPr>
        <p:txBody>
          <a:bodyPr anchor="t" rtlCol="false" tIns="0" lIns="0" bIns="0" rIns="0">
            <a:spAutoFit/>
          </a:bodyPr>
          <a:lstStyle/>
          <a:p>
            <a:pPr algn="l">
              <a:lnSpc>
                <a:spcPts val="5599"/>
              </a:lnSpc>
            </a:pPr>
            <a:r>
              <a:rPr lang="en-US" sz="3999" spc="-39">
                <a:solidFill>
                  <a:srgbClr val="FFFFFF"/>
                </a:solidFill>
                <a:latin typeface="Helvetica World"/>
                <a:ea typeface="Helvetica World"/>
                <a:cs typeface="Helvetica World"/>
                <a:sym typeface="Helvetica World"/>
              </a:rPr>
              <a:t>Architecture/Platform Matrix</a:t>
            </a:r>
          </a:p>
        </p:txBody>
      </p:sp>
      <p:sp>
        <p:nvSpPr>
          <p:cNvPr name="Freeform 6" id="6"/>
          <p:cNvSpPr/>
          <p:nvPr/>
        </p:nvSpPr>
        <p:spPr>
          <a:xfrm flipH="false" flipV="false" rot="0">
            <a:off x="2609545" y="1646241"/>
            <a:ext cx="13068910" cy="6994517"/>
          </a:xfrm>
          <a:custGeom>
            <a:avLst/>
            <a:gdLst/>
            <a:ahLst/>
            <a:cxnLst/>
            <a:rect r="r" b="b" t="t" l="l"/>
            <a:pathLst>
              <a:path h="6994517" w="13068910">
                <a:moveTo>
                  <a:pt x="0" y="0"/>
                </a:moveTo>
                <a:lnTo>
                  <a:pt x="13068910" y="0"/>
                </a:lnTo>
                <a:lnTo>
                  <a:pt x="13068910" y="6994518"/>
                </a:lnTo>
                <a:lnTo>
                  <a:pt x="0" y="6994518"/>
                </a:lnTo>
                <a:lnTo>
                  <a:pt x="0" y="0"/>
                </a:lnTo>
                <a:close/>
              </a:path>
            </a:pathLst>
          </a:custGeom>
          <a:blipFill>
            <a:blip r:embed="rId2"/>
            <a:stretch>
              <a:fillRect l="0" t="-2550" r="0" b="-2550"/>
            </a:stretch>
          </a:blipFill>
        </p:spPr>
      </p:sp>
      <p:sp>
        <p:nvSpPr>
          <p:cNvPr name="TextBox 7" id="7"/>
          <p:cNvSpPr txBox="true"/>
          <p:nvPr/>
        </p:nvSpPr>
        <p:spPr>
          <a:xfrm rot="0">
            <a:off x="1028700" y="1617666"/>
            <a:ext cx="1766441" cy="264160"/>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[Q1: Reactive / Risk]</a:t>
            </a:r>
          </a:p>
        </p:txBody>
      </p:sp>
      <p:sp>
        <p:nvSpPr>
          <p:cNvPr name="TextBox 8" id="8"/>
          <p:cNvSpPr txBox="true"/>
          <p:nvPr/>
        </p:nvSpPr>
        <p:spPr>
          <a:xfrm rot="0">
            <a:off x="1028700" y="8376598"/>
            <a:ext cx="1739726" cy="264160"/>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[Q3: Efficiency Gap]</a:t>
            </a:r>
          </a:p>
        </p:txBody>
      </p:sp>
      <p:sp>
        <p:nvSpPr>
          <p:cNvPr name="TextBox 9" id="9"/>
          <p:cNvSpPr txBox="true"/>
          <p:nvPr/>
        </p:nvSpPr>
        <p:spPr>
          <a:xfrm rot="0">
            <a:off x="14885491" y="8376598"/>
            <a:ext cx="2373809" cy="264160"/>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[Q4: Predictive / Optimized]</a:t>
            </a:r>
          </a:p>
        </p:txBody>
      </p:sp>
      <p:sp>
        <p:nvSpPr>
          <p:cNvPr name="TextBox 10" id="10"/>
          <p:cNvSpPr txBox="true"/>
          <p:nvPr/>
        </p:nvSpPr>
        <p:spPr>
          <a:xfrm rot="0">
            <a:off x="15418147" y="1617666"/>
            <a:ext cx="1841153" cy="264160"/>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[Q2: Validation Node]</a:t>
            </a:r>
          </a:p>
        </p:txBody>
      </p:sp>
      <p:sp>
        <p:nvSpPr>
          <p:cNvPr name="AutoShape 11" id="11"/>
          <p:cNvSpPr/>
          <p:nvPr/>
        </p:nvSpPr>
        <p:spPr>
          <a:xfrm flipH="true">
            <a:off x="1038225" y="1646241"/>
            <a:ext cx="0" cy="6994517"/>
          </a:xfrm>
          <a:prstGeom prst="line">
            <a:avLst/>
          </a:prstGeom>
          <a:ln cap="rnd" w="19050">
            <a:solidFill>
              <a:srgbClr val="FFFFFF">
                <a:alpha val="49804"/>
              </a:srgbClr>
            </a:solidFill>
            <a:prstDash val="sysDash"/>
            <a:headEnd type="none" len="sm" w="sm"/>
            <a:tailEnd type="none" len="sm" w="sm"/>
          </a:ln>
        </p:spPr>
      </p:sp>
      <p:sp>
        <p:nvSpPr>
          <p:cNvPr name="AutoShape 12" id="12"/>
          <p:cNvSpPr/>
          <p:nvPr/>
        </p:nvSpPr>
        <p:spPr>
          <a:xfrm>
            <a:off x="17249775" y="1646241"/>
            <a:ext cx="0" cy="6994517"/>
          </a:xfrm>
          <a:prstGeom prst="line">
            <a:avLst/>
          </a:prstGeom>
          <a:ln cap="rnd" w="19050">
            <a:solidFill>
              <a:srgbClr val="FFFFFF">
                <a:alpha val="49804"/>
              </a:srgbClr>
            </a:solidFill>
            <a:prstDash val="sysDash"/>
            <a:headEnd type="none" len="sm" w="sm"/>
            <a:tailEnd type="none" len="sm" w="sm"/>
          </a:ln>
        </p:spPr>
      </p:sp>
      <p:sp>
        <p:nvSpPr>
          <p:cNvPr name="TextBox 13" id="13"/>
          <p:cNvSpPr txBox="true"/>
          <p:nvPr/>
        </p:nvSpPr>
        <p:spPr>
          <a:xfrm rot="0">
            <a:off x="7705933" y="8645525"/>
            <a:ext cx="9539079" cy="607695"/>
          </a:xfrm>
          <a:prstGeom prst="rect">
            <a:avLst/>
          </a:prstGeom>
        </p:spPr>
        <p:txBody>
          <a:bodyPr anchor="t" rtlCol="false" tIns="0" lIns="0" bIns="0" rIns="0">
            <a:spAutoFit/>
          </a:bodyPr>
          <a:lstStyle/>
          <a:p>
            <a:pPr algn="r">
              <a:lnSpc>
                <a:spcPts val="1679"/>
              </a:lnSpc>
              <a:spcBef>
                <a:spcPct val="0"/>
              </a:spcBef>
            </a:pPr>
            <a:r>
              <a:rPr lang="en-US" sz="1200" spc="-18">
                <a:solidFill>
                  <a:srgbClr val="FFFFFF"/>
                </a:solidFill>
                <a:latin typeface="Helvetica World"/>
                <a:ea typeface="Helvetica World"/>
                <a:cs typeface="Helvetica World"/>
                <a:sym typeface="Helvetica World"/>
              </a:rPr>
              <a:t>From a platform perspective, the core obj</a:t>
            </a:r>
            <a:r>
              <a:rPr lang="en-US" sz="1200" spc="-18">
                <a:solidFill>
                  <a:srgbClr val="FFFFFF"/>
                </a:solidFill>
                <a:latin typeface="Helvetica World"/>
                <a:ea typeface="Helvetica World"/>
                <a:cs typeface="Helvetica World"/>
                <a:sym typeface="Helvetica World"/>
              </a:rPr>
              <a:t>ective is to architect a system that defines the data categories processed by the Rufus-Amelia 2.0 model, strategically positions the Data Silo Hub within the ecosystem, and ensures the overall system is designed for robust validation, predictive capability, and continuous optimization.</a:t>
            </a:r>
          </a:p>
        </p:txBody>
      </p:sp>
      <p:sp>
        <p:nvSpPr>
          <p:cNvPr name="TextBox 14" id="14"/>
          <p:cNvSpPr txBox="true"/>
          <p:nvPr/>
        </p:nvSpPr>
        <p:spPr>
          <a:xfrm rot="0">
            <a:off x="14703698" y="990600"/>
            <a:ext cx="2541315"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Processing Matrix</a:t>
            </a:r>
          </a:p>
        </p:txBody>
      </p:sp>
      <p:sp>
        <p:nvSpPr>
          <p:cNvPr name="TextBox 15" id="15"/>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46</a:t>
              </a:r>
            </a:p>
          </p:txBody>
        </p:sp>
      </p:grpSp>
    </p:spTree>
  </p:cSld>
  <p:clrMapOvr>
    <a:masterClrMapping/>
  </p:clrMapOvr>
</p:sld>
</file>

<file path=ppt/slides/slide47.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9268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Solution Proposal</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454277"/>
            <a:ext cx="11219780" cy="821055"/>
          </a:xfrm>
          <a:prstGeom prst="rect">
            <a:avLst/>
          </a:prstGeom>
        </p:spPr>
        <p:txBody>
          <a:bodyPr anchor="t" rtlCol="false" tIns="0" lIns="0" bIns="0" rIns="0">
            <a:spAutoFit/>
          </a:bodyPr>
          <a:lstStyle/>
          <a:p>
            <a:pPr algn="l">
              <a:lnSpc>
                <a:spcPts val="6720"/>
              </a:lnSpc>
            </a:pPr>
            <a:r>
              <a:rPr lang="en-US" sz="4800" spc="-48">
                <a:solidFill>
                  <a:srgbClr val="FFFFFF"/>
                </a:solidFill>
                <a:latin typeface="Helvetica World"/>
                <a:ea typeface="Helvetica World"/>
                <a:cs typeface="Helvetica World"/>
                <a:sym typeface="Helvetica World"/>
              </a:rPr>
              <a:t>C</a:t>
            </a:r>
            <a:r>
              <a:rPr lang="en-US" sz="4800" spc="-48">
                <a:solidFill>
                  <a:srgbClr val="FFFFFF"/>
                </a:solidFill>
                <a:latin typeface="Helvetica World"/>
                <a:ea typeface="Helvetica World"/>
                <a:cs typeface="Helvetica World"/>
                <a:sym typeface="Helvetica World"/>
              </a:rPr>
              <a:t>omparative Value Analysis</a:t>
            </a:r>
          </a:p>
        </p:txBody>
      </p:sp>
      <p:sp>
        <p:nvSpPr>
          <p:cNvPr name="TextBox 7" id="7"/>
          <p:cNvSpPr txBox="true"/>
          <p:nvPr/>
        </p:nvSpPr>
        <p:spPr>
          <a:xfrm rot="0">
            <a:off x="1028700" y="4721902"/>
            <a:ext cx="4268093" cy="821055"/>
          </a:xfrm>
          <a:prstGeom prst="rect">
            <a:avLst/>
          </a:prstGeom>
        </p:spPr>
        <p:txBody>
          <a:bodyPr anchor="t" rtlCol="false" tIns="0" lIns="0" bIns="0" rIns="0">
            <a:spAutoFit/>
          </a:bodyPr>
          <a:lstStyle/>
          <a:p>
            <a:pPr algn="l">
              <a:lnSpc>
                <a:spcPts val="6719"/>
              </a:lnSpc>
            </a:pPr>
            <a:r>
              <a:rPr lang="en-US" sz="4800" spc="-48">
                <a:solidFill>
                  <a:srgbClr val="FFFFFF">
                    <a:alpha val="49804"/>
                  </a:srgbClr>
                </a:solidFill>
                <a:latin typeface="Helvetica World"/>
                <a:ea typeface="Helvetica World"/>
                <a:cs typeface="Helvetica World"/>
                <a:sym typeface="Helvetica World"/>
              </a:rPr>
              <a:t>Comission / Ads</a:t>
            </a:r>
          </a:p>
        </p:txBody>
      </p:sp>
      <p:sp>
        <p:nvSpPr>
          <p:cNvPr name="TextBox 8" id="8"/>
          <p:cNvSpPr txBox="true"/>
          <p:nvPr/>
        </p:nvSpPr>
        <p:spPr>
          <a:xfrm rot="0">
            <a:off x="1028700" y="5708849"/>
            <a:ext cx="5359450" cy="821055"/>
          </a:xfrm>
          <a:prstGeom prst="rect">
            <a:avLst/>
          </a:prstGeom>
        </p:spPr>
        <p:txBody>
          <a:bodyPr anchor="t" rtlCol="false" tIns="0" lIns="0" bIns="0" rIns="0">
            <a:spAutoFit/>
          </a:bodyPr>
          <a:lstStyle/>
          <a:p>
            <a:pPr algn="l">
              <a:lnSpc>
                <a:spcPts val="6719"/>
              </a:lnSpc>
            </a:pPr>
            <a:r>
              <a:rPr lang="en-US" sz="4800" spc="-48">
                <a:solidFill>
                  <a:srgbClr val="FFFFFF">
                    <a:alpha val="49804"/>
                  </a:srgbClr>
                </a:solidFill>
                <a:latin typeface="Helvetica World"/>
                <a:ea typeface="Helvetica World"/>
                <a:cs typeface="Helvetica World"/>
                <a:sym typeface="Helvetica World"/>
              </a:rPr>
              <a:t>Reactive (High Risk)</a:t>
            </a:r>
          </a:p>
        </p:txBody>
      </p:sp>
      <p:sp>
        <p:nvSpPr>
          <p:cNvPr name="TextBox 9" id="9"/>
          <p:cNvSpPr txBox="true"/>
          <p:nvPr/>
        </p:nvSpPr>
        <p:spPr>
          <a:xfrm rot="0">
            <a:off x="1028700" y="6695797"/>
            <a:ext cx="3587428" cy="821055"/>
          </a:xfrm>
          <a:prstGeom prst="rect">
            <a:avLst/>
          </a:prstGeom>
        </p:spPr>
        <p:txBody>
          <a:bodyPr anchor="t" rtlCol="false" tIns="0" lIns="0" bIns="0" rIns="0">
            <a:spAutoFit/>
          </a:bodyPr>
          <a:lstStyle/>
          <a:p>
            <a:pPr algn="l">
              <a:lnSpc>
                <a:spcPts val="6719"/>
              </a:lnSpc>
            </a:pPr>
            <a:r>
              <a:rPr lang="en-US" sz="4800" spc="-48">
                <a:solidFill>
                  <a:srgbClr val="FFFFFF">
                    <a:alpha val="49804"/>
                  </a:srgbClr>
                </a:solidFill>
                <a:latin typeface="Helvetica World"/>
                <a:ea typeface="Helvetica World"/>
                <a:cs typeface="Helvetica World"/>
                <a:sym typeface="Helvetica World"/>
              </a:rPr>
              <a:t>Search &amp; Buy</a:t>
            </a:r>
          </a:p>
        </p:txBody>
      </p:sp>
      <p:sp>
        <p:nvSpPr>
          <p:cNvPr name="TextBox 10" id="10"/>
          <p:cNvSpPr txBox="true"/>
          <p:nvPr/>
        </p:nvSpPr>
        <p:spPr>
          <a:xfrm rot="0">
            <a:off x="1028700" y="7682745"/>
            <a:ext cx="2023542" cy="821055"/>
          </a:xfrm>
          <a:prstGeom prst="rect">
            <a:avLst/>
          </a:prstGeom>
        </p:spPr>
        <p:txBody>
          <a:bodyPr anchor="t" rtlCol="false" tIns="0" lIns="0" bIns="0" rIns="0">
            <a:spAutoFit/>
          </a:bodyPr>
          <a:lstStyle/>
          <a:p>
            <a:pPr algn="l">
              <a:lnSpc>
                <a:spcPts val="6719"/>
              </a:lnSpc>
            </a:pPr>
            <a:r>
              <a:rPr lang="en-US" sz="4800" spc="-48">
                <a:solidFill>
                  <a:srgbClr val="FFFFFF">
                    <a:alpha val="49804"/>
                  </a:srgbClr>
                </a:solidFill>
                <a:latin typeface="Helvetica World"/>
                <a:ea typeface="Helvetica World"/>
                <a:cs typeface="Helvetica World"/>
                <a:sym typeface="Helvetica World"/>
              </a:rPr>
              <a:t>Retailer</a:t>
            </a:r>
          </a:p>
        </p:txBody>
      </p:sp>
      <p:sp>
        <p:nvSpPr>
          <p:cNvPr name="TextBox 11" id="11"/>
          <p:cNvSpPr txBox="true"/>
          <p:nvPr/>
        </p:nvSpPr>
        <p:spPr>
          <a:xfrm rot="0">
            <a:off x="10840045" y="4721902"/>
            <a:ext cx="6419255" cy="82105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Data PaaS / Reservation</a:t>
            </a:r>
          </a:p>
        </p:txBody>
      </p:sp>
      <p:sp>
        <p:nvSpPr>
          <p:cNvPr name="TextBox 12" id="12"/>
          <p:cNvSpPr txBox="true"/>
          <p:nvPr/>
        </p:nvSpPr>
        <p:spPr>
          <a:xfrm rot="0">
            <a:off x="8641779" y="5708849"/>
            <a:ext cx="8617521" cy="82105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Predictive / Validation (Zero Risk)</a:t>
            </a:r>
          </a:p>
        </p:txBody>
      </p:sp>
      <p:sp>
        <p:nvSpPr>
          <p:cNvPr name="TextBox 13" id="13"/>
          <p:cNvSpPr txBox="true"/>
          <p:nvPr/>
        </p:nvSpPr>
        <p:spPr>
          <a:xfrm rot="0">
            <a:off x="11761589" y="6695797"/>
            <a:ext cx="5497711" cy="82105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Reserve &amp; Co-create</a:t>
            </a:r>
          </a:p>
        </p:txBody>
      </p:sp>
      <p:sp>
        <p:nvSpPr>
          <p:cNvPr name="TextBox 14" id="14"/>
          <p:cNvSpPr txBox="true"/>
          <p:nvPr/>
        </p:nvSpPr>
        <p:spPr>
          <a:xfrm rot="0">
            <a:off x="12674203" y="7682745"/>
            <a:ext cx="4585097" cy="82105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Intelligence Node</a:t>
            </a:r>
          </a:p>
        </p:txBody>
      </p:sp>
      <p:sp>
        <p:nvSpPr>
          <p:cNvPr name="AutoShape 15" id="15"/>
          <p:cNvSpPr/>
          <p:nvPr/>
        </p:nvSpPr>
        <p:spPr>
          <a:xfrm>
            <a:off x="5523896" y="5180054"/>
            <a:ext cx="5052731" cy="0"/>
          </a:xfrm>
          <a:prstGeom prst="line">
            <a:avLst/>
          </a:prstGeom>
          <a:ln cap="flat" w="19050">
            <a:solidFill>
              <a:srgbClr val="FFFFFF">
                <a:alpha val="49804"/>
              </a:srgbClr>
            </a:solidFill>
            <a:prstDash val="sysDash"/>
            <a:headEnd type="none" len="sm" w="sm"/>
            <a:tailEnd type="arrow" len="sm" w="med"/>
          </a:ln>
        </p:spPr>
      </p:sp>
      <p:sp>
        <p:nvSpPr>
          <p:cNvPr name="AutoShape 16" id="16"/>
          <p:cNvSpPr/>
          <p:nvPr/>
        </p:nvSpPr>
        <p:spPr>
          <a:xfrm flipV="true">
            <a:off x="6518679" y="6167002"/>
            <a:ext cx="2054207" cy="0"/>
          </a:xfrm>
          <a:prstGeom prst="line">
            <a:avLst/>
          </a:prstGeom>
          <a:ln cap="flat" w="19050">
            <a:solidFill>
              <a:srgbClr val="FFFFFF">
                <a:alpha val="49804"/>
              </a:srgbClr>
            </a:solidFill>
            <a:prstDash val="sysDash"/>
            <a:headEnd type="none" len="sm" w="sm"/>
            <a:tailEnd type="arrow" len="sm" w="med"/>
          </a:ln>
        </p:spPr>
      </p:sp>
      <p:sp>
        <p:nvSpPr>
          <p:cNvPr name="AutoShape 17" id="17"/>
          <p:cNvSpPr/>
          <p:nvPr/>
        </p:nvSpPr>
        <p:spPr>
          <a:xfrm>
            <a:off x="4903462" y="7153950"/>
            <a:ext cx="6513161" cy="0"/>
          </a:xfrm>
          <a:prstGeom prst="line">
            <a:avLst/>
          </a:prstGeom>
          <a:ln cap="flat" w="19050">
            <a:solidFill>
              <a:srgbClr val="FFFFFF">
                <a:alpha val="49804"/>
              </a:srgbClr>
            </a:solidFill>
            <a:prstDash val="sysDash"/>
            <a:headEnd type="none" len="sm" w="sm"/>
            <a:tailEnd type="arrow" len="sm" w="med"/>
          </a:ln>
        </p:spPr>
      </p:sp>
      <p:sp>
        <p:nvSpPr>
          <p:cNvPr name="AutoShape 18" id="18"/>
          <p:cNvSpPr/>
          <p:nvPr/>
        </p:nvSpPr>
        <p:spPr>
          <a:xfrm flipV="true">
            <a:off x="3477964" y="8140897"/>
            <a:ext cx="8770516" cy="0"/>
          </a:xfrm>
          <a:prstGeom prst="line">
            <a:avLst/>
          </a:prstGeom>
          <a:ln cap="flat" w="19050">
            <a:solidFill>
              <a:srgbClr val="FFFFFF">
                <a:alpha val="49804"/>
              </a:srgbClr>
            </a:solidFill>
            <a:prstDash val="sysDash"/>
            <a:headEnd type="none" len="sm" w="sm"/>
            <a:tailEnd type="arrow" len="sm" w="med"/>
          </a:ln>
        </p:spPr>
      </p:sp>
      <p:sp>
        <p:nvSpPr>
          <p:cNvPr name="TextBox 19" id="19"/>
          <p:cNvSpPr txBox="true"/>
          <p:nvPr/>
        </p:nvSpPr>
        <p:spPr>
          <a:xfrm rot="0">
            <a:off x="1028700" y="4420912"/>
            <a:ext cx="1701403" cy="33972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[Current Model]</a:t>
            </a:r>
          </a:p>
        </p:txBody>
      </p:sp>
      <p:sp>
        <p:nvSpPr>
          <p:cNvPr name="TextBox 20" id="20"/>
          <p:cNvSpPr txBox="true"/>
          <p:nvPr/>
        </p:nvSpPr>
        <p:spPr>
          <a:xfrm rot="0">
            <a:off x="15203984" y="4420912"/>
            <a:ext cx="205531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[Future Fullfillment]</a:t>
            </a:r>
          </a:p>
        </p:txBody>
      </p:sp>
      <p:sp>
        <p:nvSpPr>
          <p:cNvPr name="AutoShape 21" id="21"/>
          <p:cNvSpPr/>
          <p:nvPr/>
        </p:nvSpPr>
        <p:spPr>
          <a:xfrm>
            <a:off x="1028700" y="4078012"/>
            <a:ext cx="16230600" cy="0"/>
          </a:xfrm>
          <a:prstGeom prst="line">
            <a:avLst/>
          </a:prstGeom>
          <a:ln cap="rnd" w="19050">
            <a:solidFill>
              <a:srgbClr val="FFFFFF">
                <a:alpha val="49804"/>
              </a:srgbClr>
            </a:solidFill>
            <a:prstDash val="sysDash"/>
            <a:headEnd type="none" len="sm" w="sm"/>
            <a:tailEnd type="none" len="sm" w="sm"/>
          </a:ln>
        </p:spPr>
      </p:sp>
      <p:sp>
        <p:nvSpPr>
          <p:cNvPr name="TextBox 22" id="22"/>
          <p:cNvSpPr txBox="true"/>
          <p:nvPr/>
        </p:nvSpPr>
        <p:spPr>
          <a:xfrm rot="0">
            <a:off x="1028700" y="3218182"/>
            <a:ext cx="12482364"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T</a:t>
            </a:r>
            <a:r>
              <a:rPr lang="en-US" sz="2799" spc="-27">
                <a:solidFill>
                  <a:srgbClr val="FFFFFF">
                    <a:alpha val="49804"/>
                  </a:srgbClr>
                </a:solidFill>
                <a:latin typeface="Helvetica World"/>
                <a:ea typeface="Helvetica World"/>
                <a:cs typeface="Helvetica World"/>
                <a:sym typeface="Helvetica World"/>
              </a:rPr>
              <a:t>ransitioning from a Transactional Marketplace to a Predictive Intelligence Platform</a:t>
            </a:r>
          </a:p>
        </p:txBody>
      </p:sp>
      <p:sp>
        <p:nvSpPr>
          <p:cNvPr name="TextBox 23" id="23"/>
          <p:cNvSpPr txBox="true"/>
          <p:nvPr/>
        </p:nvSpPr>
        <p:spPr>
          <a:xfrm rot="0">
            <a:off x="14989001" y="990600"/>
            <a:ext cx="2256011"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Projected Value Shift</a:t>
            </a:r>
          </a:p>
        </p:txBody>
      </p:sp>
      <p:grpSp>
        <p:nvGrpSpPr>
          <p:cNvPr name="Group 24" id="24"/>
          <p:cNvGrpSpPr/>
          <p:nvPr/>
        </p:nvGrpSpPr>
        <p:grpSpPr>
          <a:xfrm rot="0">
            <a:off x="1028700" y="9258300"/>
            <a:ext cx="16230600" cy="301625"/>
            <a:chOff x="0" y="0"/>
            <a:chExt cx="21640800" cy="402167"/>
          </a:xfrm>
        </p:grpSpPr>
        <p:sp>
          <p:nvSpPr>
            <p:cNvPr name="TextBox 25" id="2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6" id="2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47</a:t>
              </a:r>
            </a:p>
          </p:txBody>
        </p:sp>
      </p:grpSp>
    </p:spTree>
  </p:cSld>
  <p:clrMapOvr>
    <a:masterClrMapping/>
  </p:clrMapOvr>
</p:sld>
</file>

<file path=ppt/slides/slide48.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470141"/>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Me</a:t>
            </a:r>
            <a:r>
              <a:rPr lang="en-US" sz="4800" spc="-48">
                <a:solidFill>
                  <a:srgbClr val="FFFFFF"/>
                </a:solidFill>
                <a:latin typeface="Helvetica World"/>
                <a:ea typeface="Helvetica World"/>
                <a:cs typeface="Helvetica World"/>
                <a:sym typeface="Helvetica World"/>
              </a:rPr>
              <a:t>asurement Framework </a:t>
            </a:r>
          </a:p>
          <a:p>
            <a:pPr algn="l">
              <a:lnSpc>
                <a:spcPts val="5760"/>
              </a:lnSpc>
            </a:pPr>
            <a:r>
              <a:rPr lang="en-US" sz="4800" spc="-48">
                <a:solidFill>
                  <a:srgbClr val="FFFFFF"/>
                </a:solidFill>
                <a:latin typeface="Helvetica World"/>
                <a:ea typeface="Helvetica World"/>
                <a:cs typeface="Helvetica World"/>
                <a:sym typeface="Helvetica World"/>
              </a:rPr>
              <a:t>fo</a:t>
            </a:r>
            <a:r>
              <a:rPr lang="en-US" sz="4800" spc="-48">
                <a:solidFill>
                  <a:srgbClr val="FFFFFF"/>
                </a:solidFill>
                <a:latin typeface="Helvetica World"/>
                <a:ea typeface="Helvetica World"/>
                <a:cs typeface="Helvetica World"/>
                <a:sym typeface="Helvetica World"/>
              </a:rPr>
              <a:t>r Future Fulfillment</a:t>
            </a:r>
          </a:p>
        </p:txBody>
      </p:sp>
      <p:sp>
        <p:nvSpPr>
          <p:cNvPr name="TextBox 7" id="7"/>
          <p:cNvSpPr txBox="true"/>
          <p:nvPr/>
        </p:nvSpPr>
        <p:spPr>
          <a:xfrm rot="0">
            <a:off x="1028700" y="3860791"/>
            <a:ext cx="9549259"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W</a:t>
            </a:r>
            <a:r>
              <a:rPr lang="en-US" sz="2799" spc="-27">
                <a:solidFill>
                  <a:srgbClr val="FFFFFF">
                    <a:alpha val="49804"/>
                  </a:srgbClr>
                </a:solidFill>
                <a:latin typeface="Helvetica World"/>
                <a:ea typeface="Helvetica World"/>
                <a:cs typeface="Helvetica World"/>
                <a:sym typeface="Helvetica World"/>
              </a:rPr>
              <a:t>hich data supposed to be measured and what is the signals?</a:t>
            </a:r>
          </a:p>
        </p:txBody>
      </p:sp>
      <p:grpSp>
        <p:nvGrpSpPr>
          <p:cNvPr name="Group 8" id="8"/>
          <p:cNvGrpSpPr/>
          <p:nvPr/>
        </p:nvGrpSpPr>
        <p:grpSpPr>
          <a:xfrm rot="0">
            <a:off x="1028700" y="5638536"/>
            <a:ext cx="16807227" cy="2334406"/>
            <a:chOff x="0" y="0"/>
            <a:chExt cx="22409636" cy="3112541"/>
          </a:xfrm>
        </p:grpSpPr>
        <p:sp>
          <p:nvSpPr>
            <p:cNvPr name="TextBox 9" id="9"/>
            <p:cNvSpPr txBox="true"/>
            <p:nvPr/>
          </p:nvSpPr>
          <p:spPr>
            <a:xfrm rot="0">
              <a:off x="0" y="1744265"/>
              <a:ext cx="6111637" cy="7109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Capture user inte</a:t>
              </a:r>
              <a:r>
                <a:rPr lang="en-US" sz="1599" spc="-15">
                  <a:solidFill>
                    <a:srgbClr val="FFFFFF">
                      <a:alpha val="69804"/>
                    </a:srgbClr>
                  </a:solidFill>
                  <a:latin typeface="Helvetica World"/>
                  <a:ea typeface="Helvetica World"/>
                  <a:cs typeface="Helvetica World"/>
                  <a:sym typeface="Helvetica World"/>
                </a:rPr>
                <a:t>ractions</a:t>
              </a:r>
              <a:r>
                <a:rPr lang="en-US" sz="1599" spc="-15">
                  <a:solidFill>
                    <a:srgbClr val="FFFFFF">
                      <a:alpha val="69804"/>
                    </a:srgbClr>
                  </a:solidFill>
                  <a:latin typeface="Helvetica World"/>
                  <a:ea typeface="Helvetica World"/>
                  <a:cs typeface="Helvetica World"/>
                  <a:sym typeface="Helvetica World"/>
                </a:rPr>
                <a:t> with virtual prototypes to measure the Reservation Conversion Rate (RCR)</a:t>
              </a:r>
            </a:p>
          </p:txBody>
        </p:sp>
        <p:sp>
          <p:nvSpPr>
            <p:cNvPr name="TextBox 10" id="10"/>
            <p:cNvSpPr txBox="true"/>
            <p:nvPr/>
          </p:nvSpPr>
          <p:spPr>
            <a:xfrm rot="0">
              <a:off x="7587684" y="1744265"/>
              <a:ext cx="6111637" cy="7109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Mon</a:t>
              </a:r>
              <a:r>
                <a:rPr lang="en-US" sz="1599" spc="-15">
                  <a:solidFill>
                    <a:srgbClr val="FFFFFF">
                      <a:alpha val="69804"/>
                    </a:srgbClr>
                  </a:solidFill>
                  <a:latin typeface="Helvetica World"/>
                  <a:ea typeface="Helvetica World"/>
                  <a:cs typeface="Helvetica World"/>
                  <a:sym typeface="Helvetica World"/>
                </a:rPr>
                <a:t>itor demand-pull</a:t>
              </a:r>
              <a:r>
                <a:rPr lang="en-US" sz="1599" spc="-15">
                  <a:solidFill>
                    <a:srgbClr val="FFFFFF">
                      <a:alpha val="69804"/>
                    </a:srgbClr>
                  </a:solidFill>
                  <a:latin typeface="Helvetica World"/>
                  <a:ea typeface="Helvetica World"/>
                  <a:cs typeface="Helvetica World"/>
                  <a:sym typeface="Helvetica World"/>
                </a:rPr>
                <a:t> production flows to measure the Inventory Waste Reduction Rate</a:t>
              </a:r>
            </a:p>
          </p:txBody>
        </p:sp>
        <p:sp>
          <p:nvSpPr>
            <p:cNvPr name="TextBox 11" id="11"/>
            <p:cNvSpPr txBox="true"/>
            <p:nvPr/>
          </p:nvSpPr>
          <p:spPr>
            <a:xfrm rot="0">
              <a:off x="15529163" y="1744265"/>
              <a:ext cx="6111637" cy="7109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Track the mone</a:t>
              </a:r>
              <a:r>
                <a:rPr lang="en-US" sz="1599" spc="-15">
                  <a:solidFill>
                    <a:srgbClr val="FFFFFF">
                      <a:alpha val="69804"/>
                    </a:srgbClr>
                  </a:solidFill>
                  <a:latin typeface="Helvetica World"/>
                  <a:ea typeface="Helvetica World"/>
                  <a:cs typeface="Helvetica World"/>
                  <a:sym typeface="Helvetica World"/>
                </a:rPr>
                <a:t>tization of verified intent nodes to measure</a:t>
              </a:r>
              <a:r>
                <a:rPr lang="en-US" sz="1599" spc="-15">
                  <a:solidFill>
                    <a:srgbClr val="FFFFFF">
                      <a:alpha val="69804"/>
                    </a:srgbClr>
                  </a:solidFill>
                  <a:latin typeface="Helvetica World"/>
                  <a:ea typeface="Helvetica World"/>
                  <a:cs typeface="Helvetica World"/>
                  <a:sym typeface="Helvetica World"/>
                </a:rPr>
                <a:t> the Data-as-a-Service (PaaS) Yield</a:t>
              </a:r>
            </a:p>
          </p:txBody>
        </p:sp>
        <p:sp>
          <p:nvSpPr>
            <p:cNvPr name="TextBox 12" id="12"/>
            <p:cNvSpPr txBox="true"/>
            <p:nvPr/>
          </p:nvSpPr>
          <p:spPr>
            <a:xfrm rot="0">
              <a:off x="0" y="47625"/>
              <a:ext cx="6366656"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Part 01. </a:t>
              </a:r>
            </a:p>
            <a:p>
              <a:pPr algn="l">
                <a:lnSpc>
                  <a:spcPts val="2400"/>
                </a:lnSpc>
              </a:pPr>
              <a:r>
                <a:rPr lang="en-US" sz="2400" spc="-24">
                  <a:solidFill>
                    <a:srgbClr val="FFFFFF"/>
                  </a:solidFill>
                  <a:latin typeface="Helvetica World"/>
                  <a:ea typeface="Helvetica World"/>
                  <a:cs typeface="Helvetica World"/>
                  <a:sym typeface="Helvetica World"/>
                </a:rPr>
                <a:t>Intent Signal</a:t>
              </a:r>
            </a:p>
          </p:txBody>
        </p:sp>
        <p:sp>
          <p:nvSpPr>
            <p:cNvPr name="TextBox 13" id="13"/>
            <p:cNvSpPr txBox="true"/>
            <p:nvPr/>
          </p:nvSpPr>
          <p:spPr>
            <a:xfrm rot="0">
              <a:off x="7587684" y="47625"/>
              <a:ext cx="7198837"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Part 02. </a:t>
              </a:r>
            </a:p>
            <a:p>
              <a:pPr algn="l">
                <a:lnSpc>
                  <a:spcPts val="2400"/>
                </a:lnSpc>
              </a:pPr>
              <a:r>
                <a:rPr lang="en-US" sz="2400" spc="-24">
                  <a:solidFill>
                    <a:srgbClr val="FFFFFF"/>
                  </a:solidFill>
                  <a:latin typeface="Helvetica World"/>
                  <a:ea typeface="Helvetica World"/>
                  <a:cs typeface="Helvetica World"/>
                  <a:sym typeface="Helvetica World"/>
                </a:rPr>
                <a:t>Efficiency Signal</a:t>
              </a:r>
            </a:p>
          </p:txBody>
        </p:sp>
        <p:sp>
          <p:nvSpPr>
            <p:cNvPr name="TextBox 14" id="14"/>
            <p:cNvSpPr txBox="true"/>
            <p:nvPr/>
          </p:nvSpPr>
          <p:spPr>
            <a:xfrm rot="0">
              <a:off x="15529163" y="47625"/>
              <a:ext cx="6880474"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Part 03. </a:t>
              </a:r>
            </a:p>
            <a:p>
              <a:pPr algn="l">
                <a:lnSpc>
                  <a:spcPts val="2400"/>
                </a:lnSpc>
              </a:pPr>
              <a:r>
                <a:rPr lang="en-US" sz="2400" spc="-24">
                  <a:solidFill>
                    <a:srgbClr val="FFFFFF"/>
                  </a:solidFill>
                  <a:latin typeface="Helvetica World"/>
                  <a:ea typeface="Helvetica World"/>
                  <a:cs typeface="Helvetica World"/>
                  <a:sym typeface="Helvetica World"/>
                </a:rPr>
                <a:t>Value Signal</a:t>
              </a:r>
            </a:p>
          </p:txBody>
        </p:sp>
        <p:sp>
          <p:nvSpPr>
            <p:cNvPr name="AutoShape 15" id="15"/>
            <p:cNvSpPr/>
            <p:nvPr/>
          </p:nvSpPr>
          <p:spPr>
            <a:xfrm>
              <a:off x="6849661" y="0"/>
              <a:ext cx="0" cy="3112541"/>
            </a:xfrm>
            <a:prstGeom prst="line">
              <a:avLst/>
            </a:prstGeom>
            <a:ln cap="rnd" w="25400">
              <a:solidFill>
                <a:srgbClr val="FFFFFF">
                  <a:alpha val="49804"/>
                </a:srgbClr>
              </a:solidFill>
              <a:prstDash val="sysDash"/>
              <a:headEnd type="none" len="sm" w="sm"/>
              <a:tailEnd type="none" len="sm" w="sm"/>
            </a:ln>
          </p:spPr>
        </p:sp>
        <p:sp>
          <p:nvSpPr>
            <p:cNvPr name="AutoShape 16" id="16"/>
            <p:cNvSpPr/>
            <p:nvPr/>
          </p:nvSpPr>
          <p:spPr>
            <a:xfrm>
              <a:off x="14614242" y="0"/>
              <a:ext cx="0" cy="3112541"/>
            </a:xfrm>
            <a:prstGeom prst="line">
              <a:avLst/>
            </a:prstGeom>
            <a:ln cap="rnd" w="25400">
              <a:solidFill>
                <a:srgbClr val="FFFFFF">
                  <a:alpha val="49804"/>
                </a:srgbClr>
              </a:solidFill>
              <a:prstDash val="sysDash"/>
              <a:headEnd type="none" len="sm" w="sm"/>
              <a:tailEnd type="none" len="sm" w="sm"/>
            </a:ln>
          </p:spPr>
        </p:sp>
      </p:grpSp>
      <p:sp>
        <p:nvSpPr>
          <p:cNvPr name="TextBox 17" id="17"/>
          <p:cNvSpPr txBox="true"/>
          <p:nvPr/>
        </p:nvSpPr>
        <p:spPr>
          <a:xfrm rot="0">
            <a:off x="14721036" y="990600"/>
            <a:ext cx="252397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Data Collection Targets</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48</a:t>
              </a:r>
            </a:p>
          </p:txBody>
        </p:sp>
      </p:grpSp>
    </p:spTree>
  </p:cSld>
  <p:clrMapOvr>
    <a:masterClrMapping/>
  </p:clrMapOvr>
</p:sld>
</file>

<file path=ppt/slides/slide49.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470141"/>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Me</a:t>
            </a:r>
            <a:r>
              <a:rPr lang="en-US" sz="4800" spc="-48">
                <a:solidFill>
                  <a:srgbClr val="FFFFFF"/>
                </a:solidFill>
                <a:latin typeface="Helvetica World"/>
                <a:ea typeface="Helvetica World"/>
                <a:cs typeface="Helvetica World"/>
                <a:sym typeface="Helvetica World"/>
              </a:rPr>
              <a:t>asuring User </a:t>
            </a:r>
          </a:p>
          <a:p>
            <a:pPr algn="l">
              <a:lnSpc>
                <a:spcPts val="5760"/>
              </a:lnSpc>
            </a:pPr>
            <a:r>
              <a:rPr lang="en-US" sz="4800" spc="-48">
                <a:solidFill>
                  <a:srgbClr val="FFFFFF"/>
                </a:solidFill>
                <a:latin typeface="Helvetica World"/>
                <a:ea typeface="Helvetica World"/>
                <a:cs typeface="Helvetica World"/>
                <a:sym typeface="Helvetica World"/>
              </a:rPr>
              <a:t>Centricity &amp; Intent Fulfillment</a:t>
            </a:r>
          </a:p>
        </p:txBody>
      </p:sp>
      <p:sp>
        <p:nvSpPr>
          <p:cNvPr name="TextBox 7" id="7"/>
          <p:cNvSpPr txBox="true"/>
          <p:nvPr/>
        </p:nvSpPr>
        <p:spPr>
          <a:xfrm rot="0">
            <a:off x="1028700" y="3860791"/>
            <a:ext cx="12919621"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T</a:t>
            </a:r>
            <a:r>
              <a:rPr lang="en-US" sz="2799" spc="-27">
                <a:solidFill>
                  <a:srgbClr val="FFFFFF">
                    <a:alpha val="49804"/>
                  </a:srgbClr>
                </a:solidFill>
                <a:latin typeface="Helvetica World"/>
                <a:ea typeface="Helvetica World"/>
                <a:cs typeface="Helvetica World"/>
                <a:sym typeface="Helvetica World"/>
              </a:rPr>
              <a:t>racking the efficiency of Rufus 2.0 in accelerating and personalizing the user journey</a:t>
            </a:r>
          </a:p>
        </p:txBody>
      </p:sp>
      <p:grpSp>
        <p:nvGrpSpPr>
          <p:cNvPr name="Group 8" id="8"/>
          <p:cNvGrpSpPr/>
          <p:nvPr/>
        </p:nvGrpSpPr>
        <p:grpSpPr>
          <a:xfrm rot="0">
            <a:off x="1028700" y="5638536"/>
            <a:ext cx="16230600" cy="2393890"/>
            <a:chOff x="0" y="0"/>
            <a:chExt cx="21640800" cy="3191854"/>
          </a:xfrm>
        </p:grpSpPr>
        <p:sp>
          <p:nvSpPr>
            <p:cNvPr name="TextBox 9" id="9"/>
            <p:cNvSpPr txBox="true"/>
            <p:nvPr/>
          </p:nvSpPr>
          <p:spPr>
            <a:xfrm rot="0">
              <a:off x="0" y="1744265"/>
              <a:ext cx="6111637" cy="14475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Measures the time</a:t>
              </a:r>
              <a:r>
                <a:rPr lang="en-US" sz="1599" spc="-15">
                  <a:solidFill>
                    <a:srgbClr val="FFFFFF">
                      <a:alpha val="69804"/>
                    </a:srgbClr>
                  </a:solidFill>
                  <a:latin typeface="Helvetica World"/>
                  <a:ea typeface="Helvetica World"/>
                  <a:cs typeface="Helvetica World"/>
                  <a:sym typeface="Helvetica World"/>
                </a:rPr>
                <a:t> reduction</a:t>
              </a:r>
              <a:r>
                <a:rPr lang="en-US" sz="1599" spc="-15">
                  <a:solidFill>
                    <a:srgbClr val="FFFFFF">
                      <a:alpha val="69804"/>
                    </a:srgbClr>
                  </a:solidFill>
                  <a:latin typeface="Helvetica World"/>
                  <a:ea typeface="Helvetica World"/>
                  <a:cs typeface="Helvetica World"/>
                  <a:sym typeface="Helvetica World"/>
                </a:rPr>
                <a:t> from the initial "Intent Signal" (e.g., asking Rufus a question) to the final purchase decision compared to traditional search-based shopping.</a:t>
              </a:r>
            </a:p>
          </p:txBody>
        </p:sp>
        <p:sp>
          <p:nvSpPr>
            <p:cNvPr name="TextBox 10" id="10"/>
            <p:cNvSpPr txBox="true"/>
            <p:nvPr/>
          </p:nvSpPr>
          <p:spPr>
            <a:xfrm rot="0">
              <a:off x="0" y="47625"/>
              <a:ext cx="4305895"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Metric 01. </a:t>
              </a:r>
            </a:p>
            <a:p>
              <a:pPr algn="l">
                <a:lnSpc>
                  <a:spcPts val="2400"/>
                </a:lnSpc>
              </a:pPr>
              <a:r>
                <a:rPr lang="en-US" sz="2400" spc="-24">
                  <a:solidFill>
                    <a:srgbClr val="FFFFFF"/>
                  </a:solidFill>
                  <a:latin typeface="Helvetica World"/>
                  <a:ea typeface="Helvetica World"/>
                  <a:cs typeface="Helvetica World"/>
                  <a:sym typeface="Helvetica World"/>
                </a:rPr>
                <a:t>Conversion Velocity(CV)</a:t>
              </a:r>
            </a:p>
          </p:txBody>
        </p:sp>
        <p:sp>
          <p:nvSpPr>
            <p:cNvPr name="TextBox 11" id="11"/>
            <p:cNvSpPr txBox="true"/>
            <p:nvPr/>
          </p:nvSpPr>
          <p:spPr>
            <a:xfrm rot="0">
              <a:off x="7587684" y="174426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The c</a:t>
              </a:r>
              <a:r>
                <a:rPr lang="en-US" sz="1599" spc="-15">
                  <a:solidFill>
                    <a:srgbClr val="FFFFFF">
                      <a:alpha val="69804"/>
                    </a:srgbClr>
                  </a:solidFill>
                  <a:latin typeface="Helvetica World"/>
                  <a:ea typeface="Helvetica World"/>
                  <a:cs typeface="Helvetica World"/>
                  <a:sym typeface="Helvetica World"/>
                </a:rPr>
                <a:t>lick-through and acceptance</a:t>
              </a:r>
              <a:r>
                <a:rPr lang="en-US" sz="1599" spc="-15">
                  <a:solidFill>
                    <a:srgbClr val="FFFFFF">
                      <a:alpha val="69804"/>
                    </a:srgbClr>
                  </a:solidFill>
                  <a:latin typeface="Helvetica World"/>
                  <a:ea typeface="Helvetica World"/>
                  <a:cs typeface="Helvetica World"/>
                  <a:sym typeface="Helvetica World"/>
                </a:rPr>
                <a:t> rate of Rufus’s "Anticipated Suggestions" </a:t>
              </a:r>
            </a:p>
            <a:p>
              <a:pPr algn="l">
                <a:lnSpc>
                  <a:spcPts val="2239"/>
                </a:lnSpc>
              </a:pPr>
              <a:r>
                <a:rPr lang="en-US" sz="1599" spc="-15">
                  <a:solidFill>
                    <a:srgbClr val="FFFFFF">
                      <a:alpha val="69804"/>
                    </a:srgbClr>
                  </a:solidFill>
                  <a:latin typeface="Helvetica World"/>
                  <a:ea typeface="Helvetica World"/>
                  <a:cs typeface="Helvetica World"/>
                  <a:sym typeface="Helvetica World"/>
                </a:rPr>
                <a:t>(e.g., "It's almost time to buy coffee").</a:t>
              </a:r>
            </a:p>
          </p:txBody>
        </p:sp>
        <p:sp>
          <p:nvSpPr>
            <p:cNvPr name="TextBox 12" id="12"/>
            <p:cNvSpPr txBox="true"/>
            <p:nvPr/>
          </p:nvSpPr>
          <p:spPr>
            <a:xfrm rot="0">
              <a:off x="7587684" y="47625"/>
              <a:ext cx="5826919"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Metric 02.</a:t>
              </a:r>
            </a:p>
            <a:p>
              <a:pPr algn="l">
                <a:lnSpc>
                  <a:spcPts val="2400"/>
                </a:lnSpc>
              </a:pPr>
              <a:r>
                <a:rPr lang="en-US" sz="2400" spc="-24">
                  <a:solidFill>
                    <a:srgbClr val="FFFFFF"/>
                  </a:solidFill>
                  <a:latin typeface="Helvetica World"/>
                  <a:ea typeface="Helvetica World"/>
                  <a:cs typeface="Helvetica World"/>
                  <a:sym typeface="Helvetica World"/>
                </a:rPr>
                <a:t>Proactive Relevance Score(PRS)</a:t>
              </a:r>
            </a:p>
          </p:txBody>
        </p:sp>
        <p:sp>
          <p:nvSpPr>
            <p:cNvPr name="TextBox 13" id="13"/>
            <p:cNvSpPr txBox="true"/>
            <p:nvPr/>
          </p:nvSpPr>
          <p:spPr>
            <a:xfrm rot="0">
              <a:off x="15529163" y="174426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How accurately Rufus </a:t>
              </a:r>
              <a:r>
                <a:rPr lang="en-US" sz="1599" spc="-15">
                  <a:solidFill>
                    <a:srgbClr val="FFFFFF">
                      <a:alpha val="69804"/>
                    </a:srgbClr>
                  </a:solidFill>
                  <a:latin typeface="Helvetica World"/>
                  <a:ea typeface="Helvetica World"/>
                  <a:cs typeface="Helvetica World"/>
                  <a:sym typeface="Helvetica World"/>
                </a:rPr>
                <a:t>utilizes cross-category data (Prime Video, Kindle) to suggest item</a:t>
              </a:r>
              <a:r>
                <a:rPr lang="en-US" sz="1599" spc="-15">
                  <a:solidFill>
                    <a:srgbClr val="FFFFFF">
                      <a:alpha val="69804"/>
                    </a:srgbClr>
                  </a:solidFill>
                  <a:latin typeface="Helvetica World"/>
                  <a:ea typeface="Helvetica World"/>
                  <a:cs typeface="Helvetica World"/>
                  <a:sym typeface="Helvetica World"/>
                </a:rPr>
                <a:t>s that users actually reserve in their "Future Concept" queue.</a:t>
              </a:r>
            </a:p>
          </p:txBody>
        </p:sp>
        <p:sp>
          <p:nvSpPr>
            <p:cNvPr name="TextBox 14" id="14"/>
            <p:cNvSpPr txBox="true"/>
            <p:nvPr/>
          </p:nvSpPr>
          <p:spPr>
            <a:xfrm rot="0">
              <a:off x="15529163" y="47625"/>
              <a:ext cx="5048548" cy="846455"/>
            </a:xfrm>
            <a:prstGeom prst="rect">
              <a:avLst/>
            </a:prstGeom>
          </p:spPr>
          <p:txBody>
            <a:bodyPr anchor="t" rtlCol="false" tIns="0" lIns="0" bIns="0" rIns="0">
              <a:spAutoFit/>
            </a:bodyPr>
            <a:lstStyle/>
            <a:p>
              <a:pPr algn="l">
                <a:lnSpc>
                  <a:spcPts val="2400"/>
                </a:lnSpc>
              </a:pPr>
              <a:r>
                <a:rPr lang="en-US" sz="2400" spc="-24">
                  <a:solidFill>
                    <a:srgbClr val="FFFFFF"/>
                  </a:solidFill>
                  <a:latin typeface="Helvetica World"/>
                  <a:ea typeface="Helvetica World"/>
                  <a:cs typeface="Helvetica World"/>
                  <a:sym typeface="Helvetica World"/>
                </a:rPr>
                <a:t>Metric 03. </a:t>
              </a:r>
            </a:p>
            <a:p>
              <a:pPr algn="l">
                <a:lnSpc>
                  <a:spcPts val="2400"/>
                </a:lnSpc>
              </a:pPr>
              <a:r>
                <a:rPr lang="en-US" sz="2400" spc="-24">
                  <a:solidFill>
                    <a:srgbClr val="FFFFFF"/>
                  </a:solidFill>
                  <a:latin typeface="Helvetica World"/>
                  <a:ea typeface="Helvetica World"/>
                  <a:cs typeface="Helvetica World"/>
                  <a:sym typeface="Helvetica World"/>
                </a:rPr>
                <a:t>Hyper-Personalization Depth</a:t>
              </a:r>
            </a:p>
          </p:txBody>
        </p:sp>
        <p:sp>
          <p:nvSpPr>
            <p:cNvPr name="AutoShape 15" id="15"/>
            <p:cNvSpPr/>
            <p:nvPr/>
          </p:nvSpPr>
          <p:spPr>
            <a:xfrm>
              <a:off x="6849661" y="0"/>
              <a:ext cx="0" cy="3112541"/>
            </a:xfrm>
            <a:prstGeom prst="line">
              <a:avLst/>
            </a:prstGeom>
            <a:ln cap="rnd" w="25400">
              <a:solidFill>
                <a:srgbClr val="FFFFFF">
                  <a:alpha val="49804"/>
                </a:srgbClr>
              </a:solidFill>
              <a:prstDash val="sysDash"/>
              <a:headEnd type="none" len="sm" w="sm"/>
              <a:tailEnd type="none" len="sm" w="sm"/>
            </a:ln>
          </p:spPr>
        </p:sp>
        <p:sp>
          <p:nvSpPr>
            <p:cNvPr name="AutoShape 16" id="16"/>
            <p:cNvSpPr/>
            <p:nvPr/>
          </p:nvSpPr>
          <p:spPr>
            <a:xfrm>
              <a:off x="14614242" y="0"/>
              <a:ext cx="0" cy="3112541"/>
            </a:xfrm>
            <a:prstGeom prst="line">
              <a:avLst/>
            </a:prstGeom>
            <a:ln cap="rnd" w="25400">
              <a:solidFill>
                <a:srgbClr val="FFFFFF">
                  <a:alpha val="49804"/>
                </a:srgbClr>
              </a:solidFill>
              <a:prstDash val="sysDash"/>
              <a:headEnd type="none" len="sm" w="sm"/>
              <a:tailEnd type="none" len="sm" w="sm"/>
            </a:ln>
          </p:spPr>
        </p:sp>
      </p:grpSp>
      <p:sp>
        <p:nvSpPr>
          <p:cNvPr name="TextBox 17" id="17"/>
          <p:cNvSpPr txBox="true"/>
          <p:nvPr/>
        </p:nvSpPr>
        <p:spPr>
          <a:xfrm rot="0">
            <a:off x="15257264" y="990600"/>
            <a:ext cx="1987748"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Evaluation Criteria</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49</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Freeform 6" id="6"/>
          <p:cNvSpPr/>
          <p:nvPr/>
        </p:nvSpPr>
        <p:spPr>
          <a:xfrm flipH="false" flipV="false" rot="0">
            <a:off x="1028700" y="2658191"/>
            <a:ext cx="16229409" cy="5026139"/>
          </a:xfrm>
          <a:custGeom>
            <a:avLst/>
            <a:gdLst/>
            <a:ahLst/>
            <a:cxnLst/>
            <a:rect r="r" b="b" t="t" l="l"/>
            <a:pathLst>
              <a:path h="5026139" w="16229409">
                <a:moveTo>
                  <a:pt x="0" y="0"/>
                </a:moveTo>
                <a:lnTo>
                  <a:pt x="16229409" y="0"/>
                </a:lnTo>
                <a:lnTo>
                  <a:pt x="16229409" y="5026139"/>
                </a:lnTo>
                <a:lnTo>
                  <a:pt x="0" y="5026139"/>
                </a:lnTo>
                <a:lnTo>
                  <a:pt x="0" y="0"/>
                </a:lnTo>
                <a:close/>
              </a:path>
            </a:pathLst>
          </a:custGeom>
          <a:blipFill>
            <a:blip r:embed="rId2"/>
            <a:stretch>
              <a:fillRect l="-6634" t="-52120" r="-4587" b="-74584"/>
            </a:stretch>
          </a:blipFill>
        </p:spPr>
      </p:sp>
      <p:sp>
        <p:nvSpPr>
          <p:cNvPr name="TextBox 7" id="7"/>
          <p:cNvSpPr txBox="true"/>
          <p:nvPr/>
        </p:nvSpPr>
        <p:spPr>
          <a:xfrm rot="0">
            <a:off x="1139651" y="1591847"/>
            <a:ext cx="1186607" cy="5143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1,250K</a:t>
            </a:r>
          </a:p>
        </p:txBody>
      </p:sp>
      <p:sp>
        <p:nvSpPr>
          <p:cNvPr name="TextBox 8" id="8"/>
          <p:cNvSpPr txBox="true"/>
          <p:nvPr/>
        </p:nvSpPr>
        <p:spPr>
          <a:xfrm rot="0">
            <a:off x="1139651" y="2077622"/>
            <a:ext cx="2682255" cy="264160"/>
          </a:xfrm>
          <a:prstGeom prst="rect">
            <a:avLst/>
          </a:prstGeom>
        </p:spPr>
        <p:txBody>
          <a:bodyPr anchor="t" rtlCol="false" tIns="0" lIns="0" bIns="0" rIns="0">
            <a:spAutoFit/>
          </a:bodyPr>
          <a:lstStyle/>
          <a:p>
            <a:pPr algn="l">
              <a:lnSpc>
                <a:spcPts val="2239"/>
              </a:lnSpc>
            </a:pPr>
            <a:r>
              <a:rPr lang="en-US" sz="1599" spc="-15">
                <a:solidFill>
                  <a:srgbClr val="FFFFFF"/>
                </a:solidFill>
                <a:latin typeface="Helvetica World"/>
                <a:ea typeface="Helvetica World"/>
                <a:cs typeface="Helvetica World"/>
                <a:sym typeface="Helvetica World"/>
              </a:rPr>
              <a:t>Raw Intent Signals (Discovery)</a:t>
            </a:r>
          </a:p>
        </p:txBody>
      </p:sp>
      <p:sp>
        <p:nvSpPr>
          <p:cNvPr name="TextBox 9" id="9"/>
          <p:cNvSpPr txBox="true"/>
          <p:nvPr/>
        </p:nvSpPr>
        <p:spPr>
          <a:xfrm rot="0">
            <a:off x="8612163" y="1591847"/>
            <a:ext cx="1061293" cy="514350"/>
          </a:xfrm>
          <a:prstGeom prst="rect">
            <a:avLst/>
          </a:prstGeom>
        </p:spPr>
        <p:txBody>
          <a:bodyPr anchor="t" rtlCol="false" tIns="0" lIns="0" bIns="0" rIns="0">
            <a:spAutoFit/>
          </a:bodyPr>
          <a:lstStyle/>
          <a:p>
            <a:pPr algn="ctr">
              <a:lnSpc>
                <a:spcPts val="4200"/>
              </a:lnSpc>
            </a:pPr>
            <a:r>
              <a:rPr lang="en-US" sz="3000" spc="-30">
                <a:solidFill>
                  <a:srgbClr val="FFFFFF"/>
                </a:solidFill>
                <a:latin typeface="Helvetica World"/>
                <a:ea typeface="Helvetica World"/>
                <a:cs typeface="Helvetica World"/>
                <a:sym typeface="Helvetica World"/>
              </a:rPr>
              <a:t>74.2%</a:t>
            </a:r>
          </a:p>
        </p:txBody>
      </p:sp>
      <p:sp>
        <p:nvSpPr>
          <p:cNvPr name="TextBox 10" id="10"/>
          <p:cNvSpPr txBox="true"/>
          <p:nvPr/>
        </p:nvSpPr>
        <p:spPr>
          <a:xfrm rot="0">
            <a:off x="7660481" y="2077622"/>
            <a:ext cx="2964656" cy="264160"/>
          </a:xfrm>
          <a:prstGeom prst="rect">
            <a:avLst/>
          </a:prstGeom>
        </p:spPr>
        <p:txBody>
          <a:bodyPr anchor="t" rtlCol="false" tIns="0" lIns="0" bIns="0" rIns="0">
            <a:spAutoFit/>
          </a:bodyPr>
          <a:lstStyle/>
          <a:p>
            <a:pPr algn="ctr">
              <a:lnSpc>
                <a:spcPts val="2239"/>
              </a:lnSpc>
            </a:pPr>
            <a:r>
              <a:rPr lang="en-US" sz="1599" spc="-15">
                <a:solidFill>
                  <a:srgbClr val="FFFFFF"/>
                </a:solidFill>
                <a:latin typeface="Helvetica World"/>
                <a:ea typeface="Helvetica World"/>
                <a:cs typeface="Helvetica World"/>
                <a:sym typeface="Helvetica World"/>
              </a:rPr>
              <a:t>Engagement Velocity (Interaction)</a:t>
            </a:r>
          </a:p>
        </p:txBody>
      </p:sp>
      <p:sp>
        <p:nvSpPr>
          <p:cNvPr name="TextBox 11" id="11"/>
          <p:cNvSpPr txBox="true"/>
          <p:nvPr/>
        </p:nvSpPr>
        <p:spPr>
          <a:xfrm rot="0">
            <a:off x="16196816" y="1591847"/>
            <a:ext cx="1061293" cy="5143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19.5%</a:t>
            </a:r>
          </a:p>
        </p:txBody>
      </p:sp>
      <p:sp>
        <p:nvSpPr>
          <p:cNvPr name="TextBox 12" id="12"/>
          <p:cNvSpPr txBox="true"/>
          <p:nvPr/>
        </p:nvSpPr>
        <p:spPr>
          <a:xfrm rot="0">
            <a:off x="14464010" y="2077622"/>
            <a:ext cx="2795290" cy="264160"/>
          </a:xfrm>
          <a:prstGeom prst="rect">
            <a:avLst/>
          </a:prstGeom>
        </p:spPr>
        <p:txBody>
          <a:bodyPr anchor="t" rtlCol="false" tIns="0" lIns="0" bIns="0" rIns="0">
            <a:spAutoFit/>
          </a:bodyPr>
          <a:lstStyle/>
          <a:p>
            <a:pPr algn="r">
              <a:lnSpc>
                <a:spcPts val="2239"/>
              </a:lnSpc>
            </a:pPr>
            <a:r>
              <a:rPr lang="en-US" sz="1599" spc="-15">
                <a:solidFill>
                  <a:srgbClr val="FFFFFF"/>
                </a:solidFill>
                <a:latin typeface="Helvetica World"/>
                <a:ea typeface="Helvetica World"/>
                <a:cs typeface="Helvetica World"/>
                <a:sym typeface="Helvetica World"/>
              </a:rPr>
              <a:t>Verified Fulfillment (Conversion)</a:t>
            </a:r>
          </a:p>
        </p:txBody>
      </p:sp>
      <p:sp>
        <p:nvSpPr>
          <p:cNvPr name="TextBox 13" id="13"/>
          <p:cNvSpPr txBox="true"/>
          <p:nvPr/>
        </p:nvSpPr>
        <p:spPr>
          <a:xfrm rot="0">
            <a:off x="1027509"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01</a:t>
            </a:r>
          </a:p>
          <a:p>
            <a:pPr algn="l">
              <a:lnSpc>
                <a:spcPts val="2600"/>
              </a:lnSpc>
            </a:pPr>
          </a:p>
        </p:txBody>
      </p:sp>
      <p:sp>
        <p:nvSpPr>
          <p:cNvPr name="TextBox 14" id="14"/>
          <p:cNvSpPr txBox="true"/>
          <p:nvPr/>
        </p:nvSpPr>
        <p:spPr>
          <a:xfrm rot="0">
            <a:off x="1027509" y="8365490"/>
            <a:ext cx="1417960"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Discovery</a:t>
            </a:r>
          </a:p>
        </p:txBody>
      </p:sp>
      <p:sp>
        <p:nvSpPr>
          <p:cNvPr name="TextBox 15" id="15"/>
          <p:cNvSpPr txBox="true"/>
          <p:nvPr/>
        </p:nvSpPr>
        <p:spPr>
          <a:xfrm rot="0">
            <a:off x="1027509"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Capturing unstructured behavioral signals across Amazon's entire ecosystem (Video, Kindle, Search).</a:t>
            </a:r>
          </a:p>
        </p:txBody>
      </p:sp>
      <p:sp>
        <p:nvSpPr>
          <p:cNvPr name="TextBox 16" id="16"/>
          <p:cNvSpPr txBox="true"/>
          <p:nvPr/>
        </p:nvSpPr>
        <p:spPr>
          <a:xfrm rot="0">
            <a:off x="5086882"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02</a:t>
            </a:r>
          </a:p>
          <a:p>
            <a:pPr algn="l">
              <a:lnSpc>
                <a:spcPts val="2600"/>
              </a:lnSpc>
            </a:pPr>
          </a:p>
        </p:txBody>
      </p:sp>
      <p:sp>
        <p:nvSpPr>
          <p:cNvPr name="TextBox 17" id="17"/>
          <p:cNvSpPr txBox="true"/>
          <p:nvPr/>
        </p:nvSpPr>
        <p:spPr>
          <a:xfrm rot="0">
            <a:off x="5086882" y="8365490"/>
            <a:ext cx="1494532"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Interaction</a:t>
            </a:r>
          </a:p>
        </p:txBody>
      </p:sp>
      <p:sp>
        <p:nvSpPr>
          <p:cNvPr name="TextBox 18" id="18"/>
          <p:cNvSpPr txBox="true"/>
          <p:nvPr/>
        </p:nvSpPr>
        <p:spPr>
          <a:xfrm rot="0">
            <a:off x="5086882"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Rufus 2.0 validates intent via virtual prototyping, moving users from "want" to "verify".</a:t>
            </a:r>
          </a:p>
        </p:txBody>
      </p:sp>
      <p:sp>
        <p:nvSpPr>
          <p:cNvPr name="TextBox 19" id="19"/>
          <p:cNvSpPr txBox="true"/>
          <p:nvPr/>
        </p:nvSpPr>
        <p:spPr>
          <a:xfrm rot="0">
            <a:off x="9146254"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03</a:t>
            </a:r>
          </a:p>
          <a:p>
            <a:pPr algn="l">
              <a:lnSpc>
                <a:spcPts val="2600"/>
              </a:lnSpc>
            </a:pPr>
          </a:p>
        </p:txBody>
      </p:sp>
      <p:sp>
        <p:nvSpPr>
          <p:cNvPr name="TextBox 20" id="20"/>
          <p:cNvSpPr txBox="true"/>
          <p:nvPr/>
        </p:nvSpPr>
        <p:spPr>
          <a:xfrm rot="0">
            <a:off x="9146254" y="8365490"/>
            <a:ext cx="1714128"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Reservation</a:t>
            </a:r>
          </a:p>
        </p:txBody>
      </p:sp>
      <p:sp>
        <p:nvSpPr>
          <p:cNvPr name="TextBox 21" id="21"/>
          <p:cNvSpPr txBox="true"/>
          <p:nvPr/>
        </p:nvSpPr>
        <p:spPr>
          <a:xfrm rot="0">
            <a:off x="9171945"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Locking in market demand through future queue commitments and reservation fees.</a:t>
            </a:r>
          </a:p>
        </p:txBody>
      </p:sp>
      <p:sp>
        <p:nvSpPr>
          <p:cNvPr name="TextBox 22" id="22"/>
          <p:cNvSpPr txBox="true"/>
          <p:nvPr/>
        </p:nvSpPr>
        <p:spPr>
          <a:xfrm rot="0">
            <a:off x="13231317"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04</a:t>
            </a:r>
          </a:p>
          <a:p>
            <a:pPr algn="l">
              <a:lnSpc>
                <a:spcPts val="2600"/>
              </a:lnSpc>
            </a:pPr>
          </a:p>
        </p:txBody>
      </p:sp>
      <p:sp>
        <p:nvSpPr>
          <p:cNvPr name="TextBox 23" id="23"/>
          <p:cNvSpPr txBox="true"/>
          <p:nvPr/>
        </p:nvSpPr>
        <p:spPr>
          <a:xfrm rot="0">
            <a:off x="13231317" y="8365490"/>
            <a:ext cx="1524298"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Fullfillment</a:t>
            </a:r>
          </a:p>
        </p:txBody>
      </p:sp>
      <p:sp>
        <p:nvSpPr>
          <p:cNvPr name="TextBox 24" id="24"/>
          <p:cNvSpPr txBox="true"/>
          <p:nvPr/>
        </p:nvSpPr>
        <p:spPr>
          <a:xfrm rot="0">
            <a:off x="13231317"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Executing zero-waste production based on verified intelligence nodes.</a:t>
            </a:r>
          </a:p>
        </p:txBody>
      </p:sp>
      <p:sp>
        <p:nvSpPr>
          <p:cNvPr name="AutoShape 25" id="25"/>
          <p:cNvSpPr/>
          <p:nvPr/>
        </p:nvSpPr>
        <p:spPr>
          <a:xfrm flipH="true">
            <a:off x="1027509" y="2420066"/>
            <a:ext cx="16231791" cy="0"/>
          </a:xfrm>
          <a:prstGeom prst="line">
            <a:avLst/>
          </a:prstGeom>
          <a:ln cap="rnd" w="19050">
            <a:solidFill>
              <a:srgbClr val="FFFFFF">
                <a:alpha val="49804"/>
              </a:srgbClr>
            </a:solidFill>
            <a:prstDash val="sysDash"/>
            <a:headEnd type="none" len="sm" w="sm"/>
            <a:tailEnd type="none" len="sm" w="sm"/>
          </a:ln>
        </p:spPr>
      </p:sp>
      <p:sp>
        <p:nvSpPr>
          <p:cNvPr name="AutoShape 26" id="26"/>
          <p:cNvSpPr/>
          <p:nvPr/>
        </p:nvSpPr>
        <p:spPr>
          <a:xfrm flipH="true">
            <a:off x="998969" y="7917815"/>
            <a:ext cx="16231791" cy="0"/>
          </a:xfrm>
          <a:prstGeom prst="line">
            <a:avLst/>
          </a:prstGeom>
          <a:ln cap="rnd" w="19050">
            <a:solidFill>
              <a:srgbClr val="FFFFFF">
                <a:alpha val="49804"/>
              </a:srgbClr>
            </a:solidFill>
            <a:prstDash val="sysDash"/>
            <a:headEnd type="none" len="sm" w="sm"/>
            <a:tailEnd type="none" len="sm" w="sm"/>
          </a:ln>
        </p:spPr>
      </p:sp>
      <p:sp>
        <p:nvSpPr>
          <p:cNvPr name="TextBox 27" id="27"/>
          <p:cNvSpPr txBox="true"/>
          <p:nvPr/>
        </p:nvSpPr>
        <p:spPr>
          <a:xfrm rot="0">
            <a:off x="14232062" y="990600"/>
            <a:ext cx="3012951"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Validation Process Diagram</a:t>
            </a:r>
          </a:p>
        </p:txBody>
      </p:sp>
      <p:grpSp>
        <p:nvGrpSpPr>
          <p:cNvPr name="Group 28" id="28"/>
          <p:cNvGrpSpPr/>
          <p:nvPr/>
        </p:nvGrpSpPr>
        <p:grpSpPr>
          <a:xfrm rot="0">
            <a:off x="1028700" y="9258300"/>
            <a:ext cx="16230600" cy="301625"/>
            <a:chOff x="0" y="0"/>
            <a:chExt cx="21640800" cy="402167"/>
          </a:xfrm>
        </p:grpSpPr>
        <p:sp>
          <p:nvSpPr>
            <p:cNvPr name="TextBox 29" id="2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30" id="3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50</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295825" y="2485121"/>
            <a:ext cx="15696350" cy="5316758"/>
          </a:xfrm>
          <a:custGeom>
            <a:avLst/>
            <a:gdLst/>
            <a:ahLst/>
            <a:cxnLst/>
            <a:rect r="r" b="b" t="t" l="l"/>
            <a:pathLst>
              <a:path h="5316758" w="15696350">
                <a:moveTo>
                  <a:pt x="0" y="0"/>
                </a:moveTo>
                <a:lnTo>
                  <a:pt x="15696350" y="0"/>
                </a:lnTo>
                <a:lnTo>
                  <a:pt x="15696350" y="5316758"/>
                </a:lnTo>
                <a:lnTo>
                  <a:pt x="0" y="5316758"/>
                </a:lnTo>
                <a:lnTo>
                  <a:pt x="0" y="0"/>
                </a:lnTo>
                <a:close/>
              </a:path>
            </a:pathLst>
          </a:custGeom>
          <a:blipFill>
            <a:blip r:embed="rId2"/>
            <a:stretch>
              <a:fillRect l="0" t="-4567" r="-3403" b="-4567"/>
            </a:stretch>
          </a:blipFill>
        </p:spPr>
      </p:sp>
      <p:sp>
        <p:nvSpPr>
          <p:cNvPr name="TextBox 3" id="3"/>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139651" y="1591847"/>
            <a:ext cx="1186607" cy="514350"/>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85.4%</a:t>
            </a:r>
          </a:p>
        </p:txBody>
      </p:sp>
      <p:sp>
        <p:nvSpPr>
          <p:cNvPr name="TextBox 8" id="8"/>
          <p:cNvSpPr txBox="true"/>
          <p:nvPr/>
        </p:nvSpPr>
        <p:spPr>
          <a:xfrm rot="0">
            <a:off x="1139651" y="2077622"/>
            <a:ext cx="2682255" cy="264160"/>
          </a:xfrm>
          <a:prstGeom prst="rect">
            <a:avLst/>
          </a:prstGeom>
        </p:spPr>
        <p:txBody>
          <a:bodyPr anchor="t" rtlCol="false" tIns="0" lIns="0" bIns="0" rIns="0">
            <a:spAutoFit/>
          </a:bodyPr>
          <a:lstStyle/>
          <a:p>
            <a:pPr algn="l">
              <a:lnSpc>
                <a:spcPts val="2239"/>
              </a:lnSpc>
            </a:pPr>
            <a:r>
              <a:rPr lang="en-US" sz="1599" spc="-15">
                <a:solidFill>
                  <a:srgbClr val="FFFFFF"/>
                </a:solidFill>
                <a:latin typeface="Helvetica World"/>
                <a:ea typeface="Helvetica World"/>
                <a:cs typeface="Helvetica World"/>
                <a:sym typeface="Helvetica World"/>
              </a:rPr>
              <a:t>Data Utilization Rate</a:t>
            </a:r>
          </a:p>
        </p:txBody>
      </p:sp>
      <p:sp>
        <p:nvSpPr>
          <p:cNvPr name="TextBox 9" id="9"/>
          <p:cNvSpPr txBox="true"/>
          <p:nvPr/>
        </p:nvSpPr>
        <p:spPr>
          <a:xfrm rot="0">
            <a:off x="8105654" y="1591847"/>
            <a:ext cx="2074310" cy="514350"/>
          </a:xfrm>
          <a:prstGeom prst="rect">
            <a:avLst/>
          </a:prstGeom>
        </p:spPr>
        <p:txBody>
          <a:bodyPr anchor="t" rtlCol="false" tIns="0" lIns="0" bIns="0" rIns="0">
            <a:spAutoFit/>
          </a:bodyPr>
          <a:lstStyle/>
          <a:p>
            <a:pPr algn="ctr">
              <a:lnSpc>
                <a:spcPts val="4200"/>
              </a:lnSpc>
            </a:pPr>
            <a:r>
              <a:rPr lang="en-US" sz="3000" spc="-30">
                <a:solidFill>
                  <a:srgbClr val="FFFFFF"/>
                </a:solidFill>
                <a:latin typeface="Helvetica World"/>
                <a:ea typeface="Helvetica World"/>
                <a:cs typeface="Helvetica World"/>
                <a:sym typeface="Helvetica World"/>
              </a:rPr>
              <a:t>Zero-Waste</a:t>
            </a:r>
          </a:p>
        </p:txBody>
      </p:sp>
      <p:sp>
        <p:nvSpPr>
          <p:cNvPr name="TextBox 10" id="10"/>
          <p:cNvSpPr txBox="true"/>
          <p:nvPr/>
        </p:nvSpPr>
        <p:spPr>
          <a:xfrm rot="0">
            <a:off x="7660481" y="2077622"/>
            <a:ext cx="2964656" cy="264160"/>
          </a:xfrm>
          <a:prstGeom prst="rect">
            <a:avLst/>
          </a:prstGeom>
        </p:spPr>
        <p:txBody>
          <a:bodyPr anchor="t" rtlCol="false" tIns="0" lIns="0" bIns="0" rIns="0">
            <a:spAutoFit/>
          </a:bodyPr>
          <a:lstStyle/>
          <a:p>
            <a:pPr algn="ctr">
              <a:lnSpc>
                <a:spcPts val="2239"/>
              </a:lnSpc>
            </a:pPr>
            <a:r>
              <a:rPr lang="en-US" sz="1599" spc="-15">
                <a:solidFill>
                  <a:srgbClr val="FFFFFF"/>
                </a:solidFill>
                <a:latin typeface="Helvetica World"/>
                <a:ea typeface="Helvetica World"/>
                <a:cs typeface="Helvetica World"/>
                <a:sym typeface="Helvetica World"/>
              </a:rPr>
              <a:t>Supply-Chain Target</a:t>
            </a:r>
          </a:p>
        </p:txBody>
      </p:sp>
      <p:sp>
        <p:nvSpPr>
          <p:cNvPr name="TextBox 11" id="11"/>
          <p:cNvSpPr txBox="true"/>
          <p:nvPr/>
        </p:nvSpPr>
        <p:spPr>
          <a:xfrm rot="0">
            <a:off x="15236949" y="1591847"/>
            <a:ext cx="2021160" cy="514350"/>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PaaS Model</a:t>
            </a:r>
          </a:p>
        </p:txBody>
      </p:sp>
      <p:sp>
        <p:nvSpPr>
          <p:cNvPr name="TextBox 12" id="12"/>
          <p:cNvSpPr txBox="true"/>
          <p:nvPr/>
        </p:nvSpPr>
        <p:spPr>
          <a:xfrm rot="0">
            <a:off x="14464010" y="2077622"/>
            <a:ext cx="2795290" cy="264160"/>
          </a:xfrm>
          <a:prstGeom prst="rect">
            <a:avLst/>
          </a:prstGeom>
        </p:spPr>
        <p:txBody>
          <a:bodyPr anchor="t" rtlCol="false" tIns="0" lIns="0" bIns="0" rIns="0">
            <a:spAutoFit/>
          </a:bodyPr>
          <a:lstStyle/>
          <a:p>
            <a:pPr algn="r">
              <a:lnSpc>
                <a:spcPts val="2239"/>
              </a:lnSpc>
            </a:pPr>
            <a:r>
              <a:rPr lang="en-US" sz="1599" spc="-15">
                <a:solidFill>
                  <a:srgbClr val="FFFFFF"/>
                </a:solidFill>
                <a:latin typeface="Helvetica World"/>
                <a:ea typeface="Helvetica World"/>
                <a:cs typeface="Helvetica World"/>
                <a:sym typeface="Helvetica World"/>
              </a:rPr>
              <a:t>External Revenue Stream</a:t>
            </a:r>
          </a:p>
        </p:txBody>
      </p:sp>
      <p:sp>
        <p:nvSpPr>
          <p:cNvPr name="AutoShape 13" id="13"/>
          <p:cNvSpPr/>
          <p:nvPr/>
        </p:nvSpPr>
        <p:spPr>
          <a:xfrm flipH="true">
            <a:off x="1027509" y="2420066"/>
            <a:ext cx="16231791" cy="0"/>
          </a:xfrm>
          <a:prstGeom prst="line">
            <a:avLst/>
          </a:prstGeom>
          <a:ln cap="rnd" w="19050">
            <a:solidFill>
              <a:srgbClr val="FFFFFF">
                <a:alpha val="49804"/>
              </a:srgbClr>
            </a:solidFill>
            <a:prstDash val="sysDash"/>
            <a:headEnd type="none" len="sm" w="sm"/>
            <a:tailEnd type="none" len="sm" w="sm"/>
          </a:ln>
        </p:spPr>
      </p:sp>
      <p:sp>
        <p:nvSpPr>
          <p:cNvPr name="TextBox 14" id="14"/>
          <p:cNvSpPr txBox="true"/>
          <p:nvPr/>
        </p:nvSpPr>
        <p:spPr>
          <a:xfrm rot="0">
            <a:off x="1027509"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01</a:t>
            </a:r>
          </a:p>
          <a:p>
            <a:pPr algn="l">
              <a:lnSpc>
                <a:spcPts val="2600"/>
              </a:lnSpc>
            </a:pPr>
          </a:p>
        </p:txBody>
      </p:sp>
      <p:sp>
        <p:nvSpPr>
          <p:cNvPr name="TextBox 15" id="15"/>
          <p:cNvSpPr txBox="true"/>
          <p:nvPr/>
        </p:nvSpPr>
        <p:spPr>
          <a:xfrm rot="0">
            <a:off x="1027509" y="8365490"/>
            <a:ext cx="2561221"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Input Signals</a:t>
            </a:r>
          </a:p>
        </p:txBody>
      </p:sp>
      <p:sp>
        <p:nvSpPr>
          <p:cNvPr name="TextBox 16" id="16"/>
          <p:cNvSpPr txBox="true"/>
          <p:nvPr/>
        </p:nvSpPr>
        <p:spPr>
          <a:xfrm rot="0">
            <a:off x="1027509"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Consolidating 100% of unstructured user signals into the Predictive Engine.</a:t>
            </a:r>
          </a:p>
        </p:txBody>
      </p:sp>
      <p:sp>
        <p:nvSpPr>
          <p:cNvPr name="TextBox 17" id="17"/>
          <p:cNvSpPr txBox="true"/>
          <p:nvPr/>
        </p:nvSpPr>
        <p:spPr>
          <a:xfrm rot="0">
            <a:off x="5086882"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02</a:t>
            </a:r>
          </a:p>
          <a:p>
            <a:pPr algn="l">
              <a:lnSpc>
                <a:spcPts val="2600"/>
              </a:lnSpc>
            </a:pPr>
          </a:p>
        </p:txBody>
      </p:sp>
      <p:sp>
        <p:nvSpPr>
          <p:cNvPr name="TextBox 18" id="18"/>
          <p:cNvSpPr txBox="true"/>
          <p:nvPr/>
        </p:nvSpPr>
        <p:spPr>
          <a:xfrm rot="0">
            <a:off x="5086882" y="8365490"/>
            <a:ext cx="1494532"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Filtering</a:t>
            </a:r>
          </a:p>
        </p:txBody>
      </p:sp>
      <p:sp>
        <p:nvSpPr>
          <p:cNvPr name="TextBox 19" id="19"/>
          <p:cNvSpPr txBox="true"/>
          <p:nvPr/>
        </p:nvSpPr>
        <p:spPr>
          <a:xfrm rot="0">
            <a:off x="5086882"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Extracting "Verified Intent" from casual browsing through Rufus 2.0 interaction.</a:t>
            </a:r>
          </a:p>
        </p:txBody>
      </p:sp>
      <p:sp>
        <p:nvSpPr>
          <p:cNvPr name="TextBox 20" id="20"/>
          <p:cNvSpPr txBox="true"/>
          <p:nvPr/>
        </p:nvSpPr>
        <p:spPr>
          <a:xfrm rot="0">
            <a:off x="9146254"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03</a:t>
            </a:r>
          </a:p>
          <a:p>
            <a:pPr algn="l">
              <a:lnSpc>
                <a:spcPts val="2600"/>
              </a:lnSpc>
            </a:pPr>
          </a:p>
        </p:txBody>
      </p:sp>
      <p:sp>
        <p:nvSpPr>
          <p:cNvPr name="TextBox 21" id="21"/>
          <p:cNvSpPr txBox="true"/>
          <p:nvPr/>
        </p:nvSpPr>
        <p:spPr>
          <a:xfrm rot="0">
            <a:off x="9146254" y="8365490"/>
            <a:ext cx="1714128"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Internal Use</a:t>
            </a:r>
          </a:p>
        </p:txBody>
      </p:sp>
      <p:sp>
        <p:nvSpPr>
          <p:cNvPr name="TextBox 22" id="22"/>
          <p:cNvSpPr txBox="true"/>
          <p:nvPr/>
        </p:nvSpPr>
        <p:spPr>
          <a:xfrm rot="0">
            <a:off x="9171945"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Optimizing Amazon's own logistics and JIT fulfillment protocols.</a:t>
            </a:r>
          </a:p>
        </p:txBody>
      </p:sp>
      <p:sp>
        <p:nvSpPr>
          <p:cNvPr name="TextBox 23" id="23"/>
          <p:cNvSpPr txBox="true"/>
          <p:nvPr/>
        </p:nvSpPr>
        <p:spPr>
          <a:xfrm rot="0">
            <a:off x="13231317" y="7974965"/>
            <a:ext cx="360685" cy="666115"/>
          </a:xfrm>
          <a:prstGeom prst="rect">
            <a:avLst/>
          </a:prstGeom>
        </p:spPr>
        <p:txBody>
          <a:bodyPr anchor="t" rtlCol="false" tIns="0" lIns="0" bIns="0" rIns="0">
            <a:spAutoFit/>
          </a:bodyPr>
          <a:lstStyle/>
          <a:p>
            <a:pPr algn="l">
              <a:lnSpc>
                <a:spcPts val="2600"/>
              </a:lnSpc>
            </a:pPr>
            <a:r>
              <a:rPr lang="en-US" sz="2600" spc="-26">
                <a:solidFill>
                  <a:srgbClr val="FFFFFF">
                    <a:alpha val="49804"/>
                  </a:srgbClr>
                </a:solidFill>
                <a:latin typeface="Helvetica World"/>
                <a:ea typeface="Helvetica World"/>
                <a:cs typeface="Helvetica World"/>
                <a:sym typeface="Helvetica World"/>
              </a:rPr>
              <a:t>04</a:t>
            </a:r>
          </a:p>
          <a:p>
            <a:pPr algn="l">
              <a:lnSpc>
                <a:spcPts val="2600"/>
              </a:lnSpc>
            </a:pPr>
          </a:p>
        </p:txBody>
      </p:sp>
      <p:sp>
        <p:nvSpPr>
          <p:cNvPr name="TextBox 24" id="24"/>
          <p:cNvSpPr txBox="true"/>
          <p:nvPr/>
        </p:nvSpPr>
        <p:spPr>
          <a:xfrm rot="0">
            <a:off x="13231317" y="8365490"/>
            <a:ext cx="1788914" cy="342265"/>
          </a:xfrm>
          <a:prstGeom prst="rect">
            <a:avLst/>
          </a:prstGeom>
        </p:spPr>
        <p:txBody>
          <a:bodyPr anchor="t" rtlCol="false" tIns="0" lIns="0" bIns="0" rIns="0">
            <a:spAutoFit/>
          </a:bodyPr>
          <a:lstStyle/>
          <a:p>
            <a:pPr algn="l">
              <a:lnSpc>
                <a:spcPts val="2600"/>
              </a:lnSpc>
            </a:pPr>
            <a:r>
              <a:rPr lang="en-US" sz="2600" spc="-26">
                <a:solidFill>
                  <a:srgbClr val="FFFFFF"/>
                </a:solidFill>
                <a:latin typeface="Helvetica World"/>
                <a:ea typeface="Helvetica World"/>
                <a:cs typeface="Helvetica World"/>
                <a:sym typeface="Helvetica World"/>
              </a:rPr>
              <a:t>PaaS Export</a:t>
            </a:r>
          </a:p>
        </p:txBody>
      </p:sp>
      <p:sp>
        <p:nvSpPr>
          <p:cNvPr name="TextBox 25" id="25"/>
          <p:cNvSpPr txBox="true"/>
          <p:nvPr/>
        </p:nvSpPr>
        <p:spPr>
          <a:xfrm rot="0">
            <a:off x="13231317" y="8860155"/>
            <a:ext cx="4027983" cy="398145"/>
          </a:xfrm>
          <a:prstGeom prst="rect">
            <a:avLst/>
          </a:prstGeom>
        </p:spPr>
        <p:txBody>
          <a:bodyPr anchor="t" rtlCol="false" tIns="0" lIns="0" bIns="0" rIns="0">
            <a:spAutoFit/>
          </a:bodyPr>
          <a:lstStyle/>
          <a:p>
            <a:pPr algn="l">
              <a:lnSpc>
                <a:spcPts val="1679"/>
              </a:lnSpc>
            </a:pPr>
            <a:r>
              <a:rPr lang="en-US" sz="1200" spc="-12">
                <a:solidFill>
                  <a:srgbClr val="FFFFFF">
                    <a:alpha val="49804"/>
                  </a:srgbClr>
                </a:solidFill>
                <a:latin typeface="Helvetica World"/>
                <a:ea typeface="Helvetica World"/>
                <a:cs typeface="Helvetica World"/>
                <a:sym typeface="Helvetica World"/>
              </a:rPr>
              <a:t>Monetizing data nodes for external manufacturers to eliminate inventory waste.</a:t>
            </a:r>
          </a:p>
        </p:txBody>
      </p:sp>
      <p:sp>
        <p:nvSpPr>
          <p:cNvPr name="AutoShape 26" id="26"/>
          <p:cNvSpPr/>
          <p:nvPr/>
        </p:nvSpPr>
        <p:spPr>
          <a:xfrm flipH="true">
            <a:off x="998969" y="7917815"/>
            <a:ext cx="16231791" cy="0"/>
          </a:xfrm>
          <a:prstGeom prst="line">
            <a:avLst/>
          </a:prstGeom>
          <a:ln cap="rnd" w="19050">
            <a:solidFill>
              <a:srgbClr val="FFFFFF">
                <a:alpha val="49804"/>
              </a:srgbClr>
            </a:solidFill>
            <a:prstDash val="sysDash"/>
            <a:headEnd type="none" len="sm" w="sm"/>
            <a:tailEnd type="none" len="sm" w="sm"/>
          </a:ln>
        </p:spPr>
      </p:sp>
      <p:sp>
        <p:nvSpPr>
          <p:cNvPr name="TextBox 27" id="27"/>
          <p:cNvSpPr txBox="true"/>
          <p:nvPr/>
        </p:nvSpPr>
        <p:spPr>
          <a:xfrm rot="0">
            <a:off x="16001405" y="990600"/>
            <a:ext cx="1243608"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KPI Targets</a:t>
            </a:r>
          </a:p>
        </p:txBody>
      </p:sp>
      <p:grpSp>
        <p:nvGrpSpPr>
          <p:cNvPr name="Group 28" id="28"/>
          <p:cNvGrpSpPr/>
          <p:nvPr/>
        </p:nvGrpSpPr>
        <p:grpSpPr>
          <a:xfrm rot="0">
            <a:off x="1028700" y="9258300"/>
            <a:ext cx="16230600" cy="301625"/>
            <a:chOff x="0" y="0"/>
            <a:chExt cx="21640800" cy="402167"/>
          </a:xfrm>
        </p:grpSpPr>
        <p:sp>
          <p:nvSpPr>
            <p:cNvPr name="TextBox 29" id="2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30" id="3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51</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517327"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470141"/>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System Flow</a:t>
            </a:r>
          </a:p>
          <a:p>
            <a:pPr algn="l">
              <a:lnSpc>
                <a:spcPts val="5760"/>
              </a:lnSpc>
            </a:pPr>
            <a:r>
              <a:rPr lang="en-US" sz="4800" spc="-48">
                <a:solidFill>
                  <a:srgbClr val="FFFFFF"/>
                </a:solidFill>
                <a:latin typeface="Helvetica World"/>
                <a:ea typeface="Helvetica World"/>
                <a:cs typeface="Helvetica World"/>
                <a:sym typeface="Helvetica World"/>
              </a:rPr>
              <a:t>Outline</a:t>
            </a:r>
          </a:p>
        </p:txBody>
      </p:sp>
      <p:grpSp>
        <p:nvGrpSpPr>
          <p:cNvPr name="Group 7" id="7"/>
          <p:cNvGrpSpPr/>
          <p:nvPr/>
        </p:nvGrpSpPr>
        <p:grpSpPr>
          <a:xfrm rot="0">
            <a:off x="1046465" y="5383645"/>
            <a:ext cx="16184295" cy="3152701"/>
            <a:chOff x="0" y="0"/>
            <a:chExt cx="21579060" cy="4203602"/>
          </a:xfrm>
        </p:grpSpPr>
        <p:sp>
          <p:nvSpPr>
            <p:cNvPr name="Freeform 8" id="8"/>
            <p:cNvSpPr/>
            <p:nvPr/>
          </p:nvSpPr>
          <p:spPr>
            <a:xfrm flipH="false" flipV="false" rot="0">
              <a:off x="0" y="86354"/>
              <a:ext cx="21579060" cy="4053714"/>
            </a:xfrm>
            <a:custGeom>
              <a:avLst/>
              <a:gdLst/>
              <a:ahLst/>
              <a:cxnLst/>
              <a:rect r="r" b="b" t="t" l="l"/>
              <a:pathLst>
                <a:path h="4053714" w="21579060">
                  <a:moveTo>
                    <a:pt x="0" y="0"/>
                  </a:moveTo>
                  <a:lnTo>
                    <a:pt x="21579060" y="0"/>
                  </a:lnTo>
                  <a:lnTo>
                    <a:pt x="21579060" y="4053714"/>
                  </a:lnTo>
                  <a:lnTo>
                    <a:pt x="0" y="4053714"/>
                  </a:lnTo>
                  <a:lnTo>
                    <a:pt x="0" y="0"/>
                  </a:lnTo>
                  <a:close/>
                </a:path>
              </a:pathLst>
            </a:custGeom>
            <a:blipFill>
              <a:blip r:embed="rId2"/>
              <a:stretch>
                <a:fillRect l="-2154" t="-13632" r="-2143" b="-45296"/>
              </a:stretch>
            </a:blipFill>
          </p:spPr>
        </p:sp>
        <p:sp>
          <p:nvSpPr>
            <p:cNvPr name="TextBox 9" id="9"/>
            <p:cNvSpPr txBox="true"/>
            <p:nvPr/>
          </p:nvSpPr>
          <p:spPr>
            <a:xfrm rot="0">
              <a:off x="3139848" y="57150"/>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01</a:t>
              </a:r>
            </a:p>
          </p:txBody>
        </p:sp>
        <p:sp>
          <p:nvSpPr>
            <p:cNvPr name="TextBox 10" id="10"/>
            <p:cNvSpPr txBox="true"/>
            <p:nvPr/>
          </p:nvSpPr>
          <p:spPr>
            <a:xfrm rot="0">
              <a:off x="6721231" y="3741814"/>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02</a:t>
              </a:r>
            </a:p>
          </p:txBody>
        </p:sp>
        <p:sp>
          <p:nvSpPr>
            <p:cNvPr name="TextBox 11" id="11"/>
            <p:cNvSpPr txBox="true"/>
            <p:nvPr/>
          </p:nvSpPr>
          <p:spPr>
            <a:xfrm rot="0">
              <a:off x="10297640" y="57150"/>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03</a:t>
              </a:r>
            </a:p>
          </p:txBody>
        </p:sp>
        <p:sp>
          <p:nvSpPr>
            <p:cNvPr name="TextBox 12" id="12"/>
            <p:cNvSpPr txBox="true"/>
            <p:nvPr/>
          </p:nvSpPr>
          <p:spPr>
            <a:xfrm rot="0">
              <a:off x="13902380" y="3741814"/>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04</a:t>
              </a:r>
            </a:p>
          </p:txBody>
        </p:sp>
        <p:sp>
          <p:nvSpPr>
            <p:cNvPr name="TextBox 13" id="13"/>
            <p:cNvSpPr txBox="true"/>
            <p:nvPr/>
          </p:nvSpPr>
          <p:spPr>
            <a:xfrm rot="0">
              <a:off x="17493883" y="57150"/>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05</a:t>
              </a:r>
            </a:p>
          </p:txBody>
        </p:sp>
        <p:sp>
          <p:nvSpPr>
            <p:cNvPr name="TextBox 14" id="14"/>
            <p:cNvSpPr txBox="true"/>
            <p:nvPr/>
          </p:nvSpPr>
          <p:spPr>
            <a:xfrm rot="0">
              <a:off x="21088921" y="3741814"/>
              <a:ext cx="480067" cy="461788"/>
            </a:xfrm>
            <a:prstGeom prst="rect">
              <a:avLst/>
            </a:prstGeom>
          </p:spPr>
          <p:txBody>
            <a:bodyPr anchor="t" rtlCol="false" tIns="0" lIns="0" bIns="0" rIns="0">
              <a:spAutoFit/>
            </a:bodyPr>
            <a:lstStyle/>
            <a:p>
              <a:pPr algn="r">
                <a:lnSpc>
                  <a:spcPts val="2595"/>
                </a:lnSpc>
              </a:pPr>
              <a:r>
                <a:rPr lang="en-US" sz="2595" spc="-25">
                  <a:solidFill>
                    <a:srgbClr val="FFFFFF">
                      <a:alpha val="49804"/>
                    </a:srgbClr>
                  </a:solidFill>
                  <a:latin typeface="Helvetica World"/>
                  <a:ea typeface="Helvetica World"/>
                  <a:cs typeface="Helvetica World"/>
                  <a:sym typeface="Helvetica World"/>
                </a:rPr>
                <a:t>06</a:t>
              </a:r>
            </a:p>
          </p:txBody>
        </p:sp>
      </p:grpSp>
      <p:sp>
        <p:nvSpPr>
          <p:cNvPr name="TextBox 15" id="15"/>
          <p:cNvSpPr txBox="true"/>
          <p:nvPr/>
        </p:nvSpPr>
        <p:spPr>
          <a:xfrm rot="0">
            <a:off x="1028700" y="4451350"/>
            <a:ext cx="16230600" cy="6921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Rufus-Amelia 2.0 breaks the foundational assumption of tradition</a:t>
            </a:r>
            <a:r>
              <a:rPr lang="en-US" sz="2000" spc="-20">
                <a:solidFill>
                  <a:srgbClr val="FFFFFF"/>
                </a:solidFill>
                <a:latin typeface="Helvetica World"/>
                <a:ea typeface="Helvetica World"/>
                <a:cs typeface="Helvetica World"/>
                <a:sym typeface="Helvetica World"/>
              </a:rPr>
              <a:t>al e-commerce: that a product already exists.</a:t>
            </a:r>
            <a:r>
              <a:rPr lang="en-US" sz="2000" spc="-20">
                <a:solidFill>
                  <a:srgbClr val="FFFFFF"/>
                </a:solidFill>
                <a:latin typeface="Helvetica World"/>
                <a:ea typeface="Helvetica World"/>
                <a:cs typeface="Helvetica World"/>
                <a:sym typeface="Helvetica World"/>
              </a:rPr>
              <a:t> In this model, AI generates demand first, then transmits that signal upstream to the supply chain. This means existing platform liability structures cannot be applied as-is.</a:t>
            </a:r>
          </a:p>
        </p:txBody>
      </p:sp>
      <p:sp>
        <p:nvSpPr>
          <p:cNvPr name="TextBox 16" id="16"/>
          <p:cNvSpPr txBox="true"/>
          <p:nvPr/>
        </p:nvSpPr>
        <p:spPr>
          <a:xfrm rot="0">
            <a:off x="1072884" y="8782050"/>
            <a:ext cx="1997980"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Amelia AI Generates</a:t>
            </a:r>
          </a:p>
          <a:p>
            <a:pPr algn="l">
              <a:lnSpc>
                <a:spcPts val="1919"/>
              </a:lnSpc>
            </a:pPr>
            <a:r>
              <a:rPr lang="en-US" sz="1599" spc="-15">
                <a:solidFill>
                  <a:srgbClr val="FFFFFF"/>
                </a:solidFill>
                <a:latin typeface="Helvetica World"/>
                <a:ea typeface="Helvetica World"/>
                <a:cs typeface="Helvetica World"/>
                <a:sym typeface="Helvetica World"/>
              </a:rPr>
              <a:t>Virtual Product</a:t>
            </a:r>
          </a:p>
        </p:txBody>
      </p:sp>
      <p:sp>
        <p:nvSpPr>
          <p:cNvPr name="TextBox 17" id="17"/>
          <p:cNvSpPr txBox="true"/>
          <p:nvPr/>
        </p:nvSpPr>
        <p:spPr>
          <a:xfrm rot="0">
            <a:off x="3766189" y="8782050"/>
            <a:ext cx="1997980"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User Places Reservation</a:t>
            </a:r>
          </a:p>
        </p:txBody>
      </p:sp>
      <p:sp>
        <p:nvSpPr>
          <p:cNvPr name="TextBox 18" id="18"/>
          <p:cNvSpPr txBox="true"/>
          <p:nvPr/>
        </p:nvSpPr>
        <p:spPr>
          <a:xfrm rot="0">
            <a:off x="6456963" y="8782050"/>
            <a:ext cx="1997980"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Amazon Aggregates Demand Data</a:t>
            </a:r>
          </a:p>
        </p:txBody>
      </p:sp>
      <p:sp>
        <p:nvSpPr>
          <p:cNvPr name="TextBox 19" id="19"/>
          <p:cNvSpPr txBox="true"/>
          <p:nvPr/>
        </p:nvSpPr>
        <p:spPr>
          <a:xfrm rot="0">
            <a:off x="9152883" y="8782050"/>
            <a:ext cx="1976929"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Seller / MFR Receives Data &amp; Decides</a:t>
            </a:r>
          </a:p>
        </p:txBody>
      </p:sp>
      <p:sp>
        <p:nvSpPr>
          <p:cNvPr name="TextBox 20" id="20"/>
          <p:cNvSpPr txBox="true"/>
          <p:nvPr/>
        </p:nvSpPr>
        <p:spPr>
          <a:xfrm rot="0">
            <a:off x="11852322" y="8782050"/>
            <a:ext cx="2120948"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Production Manufactures Product</a:t>
            </a:r>
          </a:p>
        </p:txBody>
      </p:sp>
      <p:sp>
        <p:nvSpPr>
          <p:cNvPr name="TextBox 21" id="21"/>
          <p:cNvSpPr txBox="true"/>
          <p:nvPr/>
        </p:nvSpPr>
        <p:spPr>
          <a:xfrm rot="0">
            <a:off x="14550700" y="8782050"/>
            <a:ext cx="1686343" cy="47625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Fulfillment Delivers &amp; Settles</a:t>
            </a:r>
          </a:p>
        </p:txBody>
      </p:sp>
      <p:sp>
        <p:nvSpPr>
          <p:cNvPr name="TextBox 22" id="22"/>
          <p:cNvSpPr txBox="true"/>
          <p:nvPr/>
        </p:nvSpPr>
        <p:spPr>
          <a:xfrm rot="0">
            <a:off x="11801549" y="990600"/>
            <a:ext cx="5457751"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 Rufus-Amelia 2.0 | System Flow Mapping</a:t>
            </a:r>
          </a:p>
        </p:txBody>
      </p:sp>
      <p:sp>
        <p:nvSpPr>
          <p:cNvPr name="AutoShape 23" id="23"/>
          <p:cNvSpPr/>
          <p:nvPr/>
        </p:nvSpPr>
        <p:spPr>
          <a:xfrm flipH="true">
            <a:off x="998969" y="8661978"/>
            <a:ext cx="16231791" cy="0"/>
          </a:xfrm>
          <a:prstGeom prst="line">
            <a:avLst/>
          </a:prstGeom>
          <a:ln cap="rnd" w="19050">
            <a:solidFill>
              <a:srgbClr val="FFFFFF">
                <a:alpha val="49804"/>
              </a:srgbClr>
            </a:solidFill>
            <a:prstDash val="sysDash"/>
            <a:headEnd type="none" len="sm" w="sm"/>
            <a:tailEnd type="none" len="sm" w="sm"/>
          </a:ln>
        </p:spPr>
      </p:sp>
      <p:grpSp>
        <p:nvGrpSpPr>
          <p:cNvPr name="Group 24" id="24"/>
          <p:cNvGrpSpPr/>
          <p:nvPr/>
        </p:nvGrpSpPr>
        <p:grpSpPr>
          <a:xfrm rot="0">
            <a:off x="1028700" y="9258300"/>
            <a:ext cx="16230600" cy="301625"/>
            <a:chOff x="0" y="0"/>
            <a:chExt cx="21640800" cy="402167"/>
          </a:xfrm>
        </p:grpSpPr>
        <p:sp>
          <p:nvSpPr>
            <p:cNvPr name="TextBox 25" id="2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6" id="2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52</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5648448"/>
          <a:ext cx="9429750" cy="3143250"/>
        </p:xfrm>
        <a:graphic>
          <a:graphicData uri="http://schemas.openxmlformats.org/presentationml/2006/ole">
            <p:oleObj imgW="11315700" imgH="5029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28700" y="2336791"/>
            <a:ext cx="11219780" cy="158115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AI Recommendation </a:t>
            </a:r>
          </a:p>
          <a:p>
            <a:pPr algn="l">
              <a:lnSpc>
                <a:spcPts val="5760"/>
              </a:lnSpc>
            </a:pPr>
            <a:r>
              <a:rPr lang="en-US" sz="4800" spc="-48">
                <a:solidFill>
                  <a:srgbClr val="FFFFFF"/>
                </a:solidFill>
                <a:latin typeface="Helvetica World"/>
                <a:ea typeface="Helvetica World"/>
                <a:cs typeface="Helvetica World"/>
                <a:sym typeface="Helvetica World"/>
              </a:rPr>
              <a:t>Quality KPI</a:t>
            </a:r>
          </a:p>
        </p:txBody>
      </p:sp>
      <p:sp>
        <p:nvSpPr>
          <p:cNvPr name="TextBox 8" id="8"/>
          <p:cNvSpPr txBox="true"/>
          <p:nvPr/>
        </p:nvSpPr>
        <p:spPr>
          <a:xfrm rot="0">
            <a:off x="1028700" y="4451350"/>
            <a:ext cx="16230600" cy="6921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Measures the feasibility and</a:t>
            </a:r>
            <a:r>
              <a:rPr lang="en-US" sz="2000" spc="-20">
                <a:solidFill>
                  <a:srgbClr val="FFFFFF"/>
                </a:solidFill>
                <a:latin typeface="Helvetica World"/>
                <a:ea typeface="Helvetica World"/>
                <a:cs typeface="Helvetica World"/>
                <a:sym typeface="Helvetica World"/>
              </a:rPr>
              <a:t> accuracy of virtual products</a:t>
            </a:r>
            <a:r>
              <a:rPr lang="en-US" sz="2000" spc="-20">
                <a:solidFill>
                  <a:srgbClr val="FFFFFF"/>
                </a:solidFill>
                <a:latin typeface="Helvetica World"/>
                <a:ea typeface="Helvetica World"/>
                <a:cs typeface="Helvetica World"/>
                <a:sym typeface="Helvetica World"/>
              </a:rPr>
              <a:t> suggested by Amelia. This is the upstream layer that determines the validity of all downstream KPIs.</a:t>
            </a:r>
          </a:p>
        </p:txBody>
      </p:sp>
      <p:sp>
        <p:nvSpPr>
          <p:cNvPr name="TextBox 9" id="9"/>
          <p:cNvSpPr txBox="true"/>
          <p:nvPr/>
        </p:nvSpPr>
        <p:spPr>
          <a:xfrm rot="0">
            <a:off x="13495958" y="990600"/>
            <a:ext cx="376334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 Rufus-Amelia 2.0 | Layer I</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53</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5648448"/>
          <a:ext cx="9429750" cy="3143250"/>
        </p:xfrm>
        <a:graphic>
          <a:graphicData uri="http://schemas.openxmlformats.org/presentationml/2006/ole">
            <p:oleObj imgW="11315700" imgH="5029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28700" y="2336791"/>
            <a:ext cx="11219780" cy="158115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Reservation to </a:t>
            </a:r>
          </a:p>
          <a:p>
            <a:pPr algn="l">
              <a:lnSpc>
                <a:spcPts val="5760"/>
              </a:lnSpc>
            </a:pPr>
            <a:r>
              <a:rPr lang="en-US" sz="4800" spc="-48">
                <a:solidFill>
                  <a:srgbClr val="FFFFFF"/>
                </a:solidFill>
                <a:latin typeface="Helvetica World"/>
                <a:ea typeface="Helvetica World"/>
                <a:cs typeface="Helvetica World"/>
                <a:sym typeface="Helvetica World"/>
              </a:rPr>
              <a:t>Fulfillment Failure KPI</a:t>
            </a:r>
          </a:p>
        </p:txBody>
      </p:sp>
      <p:sp>
        <p:nvSpPr>
          <p:cNvPr name="TextBox 8" id="8"/>
          <p:cNvSpPr txBox="true"/>
          <p:nvPr/>
        </p:nvSpPr>
        <p:spPr>
          <a:xfrm rot="0">
            <a:off x="1028700" y="4451350"/>
            <a:ext cx="16230600" cy="6921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Tracks fulfillment performance from the moment a seller</a:t>
            </a:r>
            <a:r>
              <a:rPr lang="en-US" sz="2000" spc="-20">
                <a:solidFill>
                  <a:srgbClr val="FFFFFF"/>
                </a:solidFill>
                <a:latin typeface="Helvetica World"/>
                <a:ea typeface="Helvetica World"/>
                <a:cs typeface="Helvetica World"/>
                <a:sym typeface="Helvetica World"/>
              </a:rPr>
              <a:t> accepts a reservation through actual production an</a:t>
            </a:r>
            <a:r>
              <a:rPr lang="en-US" sz="2000" spc="-20">
                <a:solidFill>
                  <a:srgbClr val="FFFFFF"/>
                </a:solidFill>
                <a:latin typeface="Helvetica World"/>
                <a:ea typeface="Helvetica World"/>
                <a:cs typeface="Helvetica World"/>
                <a:sym typeface="Helvetica World"/>
              </a:rPr>
              <a:t>d delivery. This layer has the most direct impact on user experience.</a:t>
            </a:r>
          </a:p>
        </p:txBody>
      </p:sp>
      <p:sp>
        <p:nvSpPr>
          <p:cNvPr name="TextBox 9" id="9"/>
          <p:cNvSpPr txBox="true"/>
          <p:nvPr/>
        </p:nvSpPr>
        <p:spPr>
          <a:xfrm rot="0">
            <a:off x="13433078" y="990600"/>
            <a:ext cx="382622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 Rufus-Amelia 2.0 | Layer II</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54</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5648448"/>
          <a:ext cx="9429750" cy="3143250"/>
        </p:xfrm>
        <a:graphic>
          <a:graphicData uri="http://schemas.openxmlformats.org/presentationml/2006/ole">
            <p:oleObj imgW="11315700" imgH="5029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28700" y="2336791"/>
            <a:ext cx="11219780" cy="158115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Demand </a:t>
            </a:r>
          </a:p>
          <a:p>
            <a:pPr algn="l">
              <a:lnSpc>
                <a:spcPts val="5760"/>
              </a:lnSpc>
            </a:pPr>
            <a:r>
              <a:rPr lang="en-US" sz="4800" spc="-48">
                <a:solidFill>
                  <a:srgbClr val="FFFFFF"/>
                </a:solidFill>
                <a:latin typeface="Helvetica World"/>
                <a:ea typeface="Helvetica World"/>
                <a:cs typeface="Helvetica World"/>
                <a:sym typeface="Helvetica World"/>
              </a:rPr>
              <a:t>Data Accuracy KPI</a:t>
            </a:r>
          </a:p>
        </p:txBody>
      </p:sp>
      <p:sp>
        <p:nvSpPr>
          <p:cNvPr name="TextBox 8" id="8"/>
          <p:cNvSpPr txBox="true"/>
          <p:nvPr/>
        </p:nvSpPr>
        <p:spPr>
          <a:xfrm rot="0">
            <a:off x="1028700" y="4451350"/>
            <a:ext cx="16230600" cy="6921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Governs the quality of demand data Amazon supplies to sellers</a:t>
            </a:r>
            <a:r>
              <a:rPr lang="en-US" sz="2000" spc="-20">
                <a:solidFill>
                  <a:srgbClr val="FFFFFF"/>
                </a:solidFill>
                <a:latin typeface="Helvetica World"/>
                <a:ea typeface="Helvetica World"/>
                <a:cs typeface="Helvetica World"/>
                <a:sym typeface="Helvetica World"/>
              </a:rPr>
              <a:t> and manufacturers. Because this data is provi</a:t>
            </a:r>
            <a:r>
              <a:rPr lang="en-US" sz="2000" spc="-20">
                <a:solidFill>
                  <a:srgbClr val="FFFFFF"/>
                </a:solidFill>
                <a:latin typeface="Helvetica World"/>
                <a:ea typeface="Helvetica World"/>
                <a:cs typeface="Helvetica World"/>
                <a:sym typeface="Helvetica World"/>
              </a:rPr>
              <a:t>ded as a paid B2B product, SLA-based accountability applies.</a:t>
            </a:r>
          </a:p>
        </p:txBody>
      </p:sp>
      <p:sp>
        <p:nvSpPr>
          <p:cNvPr name="TextBox 9" id="9"/>
          <p:cNvSpPr txBox="true"/>
          <p:nvPr/>
        </p:nvSpPr>
        <p:spPr>
          <a:xfrm rot="0">
            <a:off x="13370123" y="990600"/>
            <a:ext cx="388917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Amazon Rufus-Amelia 2.0 | Layer III</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55</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5898511"/>
          <a:ext cx="5657850" cy="4400550"/>
        </p:xfrm>
        <a:graphic>
          <a:graphicData uri="http://schemas.openxmlformats.org/presentationml/2006/ole">
            <p:oleObj imgW="67818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1028700" y="4878824"/>
          <a:ext cx="16230600" cy="486287"/>
        </p:xfrm>
        <a:graphic>
          <a:graphicData uri="http://schemas.openxmlformats.org/presentationml/2006/ole">
            <p:oleObj imgW="19469100" imgH="373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1028700" y="990600"/>
            <a:ext cx="51717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KPIs</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8" id="8"/>
          <p:cNvSpPr txBox="true"/>
          <p:nvPr/>
        </p:nvSpPr>
        <p:spPr>
          <a:xfrm rot="0">
            <a:off x="1028700" y="2336791"/>
            <a:ext cx="11219780" cy="158115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KPI Ownership </a:t>
            </a:r>
          </a:p>
          <a:p>
            <a:pPr algn="l">
              <a:lnSpc>
                <a:spcPts val="5760"/>
              </a:lnSpc>
            </a:pPr>
            <a:r>
              <a:rPr lang="en-US" sz="4800" spc="-48">
                <a:solidFill>
                  <a:srgbClr val="FFFFFF"/>
                </a:solidFill>
                <a:latin typeface="Helvetica World"/>
                <a:ea typeface="Helvetica World"/>
                <a:cs typeface="Helvetica World"/>
                <a:sym typeface="Helvetica World"/>
              </a:rPr>
              <a:t>Summary</a:t>
            </a:r>
          </a:p>
        </p:txBody>
      </p:sp>
      <p:sp>
        <p:nvSpPr>
          <p:cNvPr name="TextBox 9" id="9"/>
          <p:cNvSpPr txBox="true"/>
          <p:nvPr/>
        </p:nvSpPr>
        <p:spPr>
          <a:xfrm rot="0">
            <a:off x="1028700" y="3860791"/>
            <a:ext cx="3993579"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Amazon Rufus-Amelia 2.0</a:t>
            </a:r>
          </a:p>
        </p:txBody>
      </p:sp>
      <p:sp>
        <p:nvSpPr>
          <p:cNvPr name="TextBox 10" id="10"/>
          <p:cNvSpPr txBox="true"/>
          <p:nvPr/>
        </p:nvSpPr>
        <p:spPr>
          <a:xfrm rot="0">
            <a:off x="15543758" y="990600"/>
            <a:ext cx="171554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Decision Rights</a:t>
            </a:r>
          </a:p>
        </p:txBody>
      </p:sp>
      <p:grpSp>
        <p:nvGrpSpPr>
          <p:cNvPr name="Group 11" id="11"/>
          <p:cNvGrpSpPr/>
          <p:nvPr/>
        </p:nvGrpSpPr>
        <p:grpSpPr>
          <a:xfrm rot="0">
            <a:off x="1028700" y="9258300"/>
            <a:ext cx="16230600" cy="301625"/>
            <a:chOff x="0" y="0"/>
            <a:chExt cx="21640800" cy="402167"/>
          </a:xfrm>
        </p:grpSpPr>
        <p:sp>
          <p:nvSpPr>
            <p:cNvPr name="TextBox 12" id="12"/>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3" id="13"/>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56</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813331"/>
            <a:ext cx="16230600" cy="1450975"/>
            <a:chOff x="0" y="0"/>
            <a:chExt cx="21640800" cy="1934633"/>
          </a:xfrm>
        </p:grpSpPr>
        <p:sp>
          <p:nvSpPr>
            <p:cNvPr name="TextBox 3" id="3"/>
            <p:cNvSpPr txBox="true"/>
            <p:nvPr/>
          </p:nvSpPr>
          <p:spPr>
            <a:xfrm rot="0">
              <a:off x="0" y="85534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In</a:t>
              </a:r>
              <a:r>
                <a:rPr lang="en-US" sz="1599" spc="-15">
                  <a:solidFill>
                    <a:srgbClr val="FFFFFF">
                      <a:alpha val="69804"/>
                    </a:srgbClr>
                  </a:solidFill>
                  <a:latin typeface="Helvetica World"/>
                  <a:ea typeface="Helvetica World"/>
                  <a:cs typeface="Helvetica World"/>
                  <a:sym typeface="Helvetica World"/>
                </a:rPr>
                <a:t>stant generation</a:t>
              </a:r>
              <a:r>
                <a:rPr lang="en-US" sz="1599" spc="-15">
                  <a:solidFill>
                    <a:srgbClr val="FFFFFF">
                      <a:alpha val="69804"/>
                    </a:srgbClr>
                  </a:solidFill>
                  <a:latin typeface="Helvetica World"/>
                  <a:ea typeface="Helvetica World"/>
                  <a:cs typeface="Helvetica World"/>
                  <a:sym typeface="Helvetica World"/>
                </a:rPr>
                <a:t> of dynamic comparison charts through Rufus 2.0 removes the burden of reading hundreds of reviews.</a:t>
              </a:r>
            </a:p>
          </p:txBody>
        </p:sp>
        <p:sp>
          <p:nvSpPr>
            <p:cNvPr name="TextBox 4" id="4"/>
            <p:cNvSpPr txBox="true"/>
            <p:nvPr/>
          </p:nvSpPr>
          <p:spPr>
            <a:xfrm rot="0">
              <a:off x="0" y="-38100"/>
              <a:ext cx="5721115"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Elimination of Search Fatigue</a:t>
              </a:r>
            </a:p>
          </p:txBody>
        </p:sp>
        <p:sp>
          <p:nvSpPr>
            <p:cNvPr name="TextBox 5" id="5"/>
            <p:cNvSpPr txBox="true"/>
            <p:nvPr/>
          </p:nvSpPr>
          <p:spPr>
            <a:xfrm rot="0">
              <a:off x="7764581" y="85534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Users t</a:t>
              </a:r>
              <a:r>
                <a:rPr lang="en-US" sz="1599" spc="-15">
                  <a:solidFill>
                    <a:srgbClr val="FFFFFF">
                      <a:alpha val="69804"/>
                    </a:srgbClr>
                  </a:solidFill>
                  <a:latin typeface="Helvetica World"/>
                  <a:ea typeface="Helvetica World"/>
                  <a:cs typeface="Helvetica World"/>
                  <a:sym typeface="Helvetica World"/>
                </a:rPr>
                <a:t>ransition</a:t>
              </a:r>
              <a:r>
                <a:rPr lang="en-US" sz="1599" spc="-15">
                  <a:solidFill>
                    <a:srgbClr val="FFFFFF">
                      <a:alpha val="69804"/>
                    </a:srgbClr>
                  </a:solidFill>
                  <a:latin typeface="Helvetica World"/>
                  <a:ea typeface="Helvetica World"/>
                  <a:cs typeface="Helvetica World"/>
                  <a:sym typeface="Helvetica World"/>
                </a:rPr>
                <a:t> from passive buyers to active "Future Concept" reservists, gaining priority purchase rights for products that don't yet exist.</a:t>
              </a:r>
            </a:p>
          </p:txBody>
        </p:sp>
        <p:sp>
          <p:nvSpPr>
            <p:cNvPr name="TextBox 6" id="6"/>
            <p:cNvSpPr txBox="true"/>
            <p:nvPr/>
          </p:nvSpPr>
          <p:spPr>
            <a:xfrm rot="0">
              <a:off x="7764581" y="-38100"/>
              <a:ext cx="6111637"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Direct Future Co-creation</a:t>
              </a:r>
            </a:p>
          </p:txBody>
        </p:sp>
        <p:sp>
          <p:nvSpPr>
            <p:cNvPr name="TextBox 7" id="7"/>
            <p:cNvSpPr txBox="true"/>
            <p:nvPr/>
          </p:nvSpPr>
          <p:spPr>
            <a:xfrm rot="0">
              <a:off x="15529163" y="855345"/>
              <a:ext cx="6111637" cy="1079288"/>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Hyper-personalized </a:t>
              </a:r>
              <a:r>
                <a:rPr lang="en-US" sz="1599" spc="-15">
                  <a:solidFill>
                    <a:srgbClr val="FFFFFF">
                      <a:alpha val="69804"/>
                    </a:srgbClr>
                  </a:solidFill>
                  <a:latin typeface="Helvetica World"/>
                  <a:ea typeface="Helvetica World"/>
                  <a:cs typeface="Helvetica World"/>
                  <a:sym typeface="Helvetica World"/>
                </a:rPr>
                <a:t>intent profiles (P</a:t>
              </a:r>
              <a:r>
                <a:rPr lang="en-US" sz="1599" spc="-15">
                  <a:solidFill>
                    <a:srgbClr val="FFFFFF">
                      <a:alpha val="69804"/>
                    </a:srgbClr>
                  </a:solidFill>
                  <a:latin typeface="Helvetica World"/>
                  <a:ea typeface="Helvetica World"/>
                  <a:cs typeface="Helvetica World"/>
                  <a:sym typeface="Helvetica World"/>
                </a:rPr>
                <a:t>rime Video, Kindle) allow Rufus to predict and suggest re-orders before a user even performs a search.</a:t>
              </a:r>
            </a:p>
          </p:txBody>
        </p:sp>
        <p:sp>
          <p:nvSpPr>
            <p:cNvPr name="TextBox 8" id="8"/>
            <p:cNvSpPr txBox="true"/>
            <p:nvPr/>
          </p:nvSpPr>
          <p:spPr>
            <a:xfrm rot="0">
              <a:off x="15529163" y="-38100"/>
              <a:ext cx="4193629"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Anticipatory Fulfillment</a:t>
              </a:r>
            </a:p>
          </p:txBody>
        </p:sp>
        <p:sp>
          <p:nvSpPr>
            <p:cNvPr name="AutoShape 9" id="9"/>
            <p:cNvSpPr/>
            <p:nvPr/>
          </p:nvSpPr>
          <p:spPr>
            <a:xfrm>
              <a:off x="14702691" y="0"/>
              <a:ext cx="0" cy="1926626"/>
            </a:xfrm>
            <a:prstGeom prst="line">
              <a:avLst/>
            </a:prstGeom>
            <a:ln cap="rnd" w="25400">
              <a:solidFill>
                <a:srgbClr val="FFFFFF">
                  <a:alpha val="49804"/>
                </a:srgbClr>
              </a:solidFill>
              <a:prstDash val="sysDash"/>
              <a:headEnd type="none" len="sm" w="sm"/>
              <a:tailEnd type="none" len="sm" w="sm"/>
            </a:ln>
          </p:spPr>
        </p:sp>
        <p:sp>
          <p:nvSpPr>
            <p:cNvPr name="AutoShape 10" id="10"/>
            <p:cNvSpPr/>
            <p:nvPr/>
          </p:nvSpPr>
          <p:spPr>
            <a:xfrm>
              <a:off x="6939081" y="0"/>
              <a:ext cx="0" cy="1926626"/>
            </a:xfrm>
            <a:prstGeom prst="line">
              <a:avLst/>
            </a:prstGeom>
            <a:ln cap="rnd" w="25400">
              <a:solidFill>
                <a:srgbClr val="FFFFFF">
                  <a:alpha val="49804"/>
                </a:srgbClr>
              </a:solidFill>
              <a:prstDash val="sysDash"/>
              <a:headEnd type="none" len="sm" w="sm"/>
              <a:tailEnd type="none" len="sm" w="sm"/>
            </a:ln>
          </p:spPr>
        </p:sp>
      </p:grpSp>
      <p:sp>
        <p:nvSpPr>
          <p:cNvPr name="Freeform 11" id="11"/>
          <p:cNvSpPr/>
          <p:nvPr/>
        </p:nvSpPr>
        <p:spPr>
          <a:xfrm flipH="false" flipV="false" rot="0">
            <a:off x="2106556" y="612775"/>
            <a:ext cx="14074887" cy="7086255"/>
          </a:xfrm>
          <a:custGeom>
            <a:avLst/>
            <a:gdLst/>
            <a:ahLst/>
            <a:cxnLst/>
            <a:rect r="r" b="b" t="t" l="l"/>
            <a:pathLst>
              <a:path h="7086255" w="14074887">
                <a:moveTo>
                  <a:pt x="0" y="0"/>
                </a:moveTo>
                <a:lnTo>
                  <a:pt x="14074888" y="0"/>
                </a:lnTo>
                <a:lnTo>
                  <a:pt x="14074888" y="7086256"/>
                </a:lnTo>
                <a:lnTo>
                  <a:pt x="0" y="7086256"/>
                </a:lnTo>
                <a:lnTo>
                  <a:pt x="0" y="0"/>
                </a:lnTo>
                <a:close/>
              </a:path>
            </a:pathLst>
          </a:custGeom>
          <a:blipFill>
            <a:blip r:embed="rId2"/>
            <a:stretch>
              <a:fillRect l="0" t="-6820" r="0" b="-6146"/>
            </a:stretch>
          </a:blipFill>
        </p:spPr>
      </p:sp>
      <p:sp>
        <p:nvSpPr>
          <p:cNvPr name="TextBox 12" id="12"/>
          <p:cNvSpPr txBox="true"/>
          <p:nvPr/>
        </p:nvSpPr>
        <p:spPr>
          <a:xfrm rot="0">
            <a:off x="1028700" y="990600"/>
            <a:ext cx="1903661"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of Service</a:t>
            </a:r>
          </a:p>
        </p:txBody>
      </p:sp>
      <p:grpSp>
        <p:nvGrpSpPr>
          <p:cNvPr name="Group 13" id="13"/>
          <p:cNvGrpSpPr/>
          <p:nvPr/>
        </p:nvGrpSpPr>
        <p:grpSpPr>
          <a:xfrm rot="0">
            <a:off x="1028700" y="727075"/>
            <a:ext cx="16230600" cy="301625"/>
            <a:chOff x="0" y="0"/>
            <a:chExt cx="21640800" cy="402167"/>
          </a:xfrm>
        </p:grpSpPr>
        <p:sp>
          <p:nvSpPr>
            <p:cNvPr name="TextBox 14" id="1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5" id="1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16" id="16"/>
          <p:cNvSpPr txBox="true"/>
          <p:nvPr/>
        </p:nvSpPr>
        <p:spPr>
          <a:xfrm rot="0">
            <a:off x="14460289" y="990600"/>
            <a:ext cx="2799011"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Group I - B2C (Customer)</a:t>
            </a:r>
          </a:p>
        </p:txBody>
      </p:sp>
      <p:grpSp>
        <p:nvGrpSpPr>
          <p:cNvPr name="Group 17" id="17"/>
          <p:cNvGrpSpPr/>
          <p:nvPr/>
        </p:nvGrpSpPr>
        <p:grpSpPr>
          <a:xfrm rot="0">
            <a:off x="1028700" y="9258300"/>
            <a:ext cx="16230600" cy="301625"/>
            <a:chOff x="0" y="0"/>
            <a:chExt cx="21640800" cy="402167"/>
          </a:xfrm>
        </p:grpSpPr>
        <p:sp>
          <p:nvSpPr>
            <p:cNvPr name="TextBox 18" id="18"/>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9" id="19"/>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57</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12055718" y="7813331"/>
            <a:ext cx="0" cy="1444969"/>
          </a:xfrm>
          <a:prstGeom prst="line">
            <a:avLst/>
          </a:prstGeom>
          <a:ln cap="rnd" w="19050">
            <a:solidFill>
              <a:srgbClr val="FFFFFF">
                <a:alpha val="49804"/>
              </a:srgbClr>
            </a:solidFill>
            <a:prstDash val="sysDash"/>
            <a:headEnd type="none" len="sm" w="sm"/>
            <a:tailEnd type="none" len="sm" w="sm"/>
          </a:ln>
        </p:spPr>
      </p:sp>
      <p:sp>
        <p:nvSpPr>
          <p:cNvPr name="AutoShape 3" id="3"/>
          <p:cNvSpPr/>
          <p:nvPr/>
        </p:nvSpPr>
        <p:spPr>
          <a:xfrm>
            <a:off x="6233011" y="7813331"/>
            <a:ext cx="0" cy="1444969"/>
          </a:xfrm>
          <a:prstGeom prst="line">
            <a:avLst/>
          </a:prstGeom>
          <a:ln cap="rnd" w="19050">
            <a:solidFill>
              <a:srgbClr val="FFFFFF">
                <a:alpha val="49804"/>
              </a:srgbClr>
            </a:solidFill>
            <a:prstDash val="sysDash"/>
            <a:headEnd type="none" len="sm" w="sm"/>
            <a:tailEnd type="none" len="sm" w="sm"/>
          </a:ln>
        </p:spPr>
      </p:sp>
      <p:sp>
        <p:nvSpPr>
          <p:cNvPr name="Freeform 4" id="4"/>
          <p:cNvSpPr/>
          <p:nvPr/>
        </p:nvSpPr>
        <p:spPr>
          <a:xfrm flipH="false" flipV="false" rot="0">
            <a:off x="2106556" y="612775"/>
            <a:ext cx="14074887" cy="7086255"/>
          </a:xfrm>
          <a:custGeom>
            <a:avLst/>
            <a:gdLst/>
            <a:ahLst/>
            <a:cxnLst/>
            <a:rect r="r" b="b" t="t" l="l"/>
            <a:pathLst>
              <a:path h="7086255" w="14074887">
                <a:moveTo>
                  <a:pt x="0" y="0"/>
                </a:moveTo>
                <a:lnTo>
                  <a:pt x="14074888" y="0"/>
                </a:lnTo>
                <a:lnTo>
                  <a:pt x="14074888" y="7086256"/>
                </a:lnTo>
                <a:lnTo>
                  <a:pt x="0" y="7086256"/>
                </a:lnTo>
                <a:lnTo>
                  <a:pt x="0" y="0"/>
                </a:lnTo>
                <a:close/>
              </a:path>
            </a:pathLst>
          </a:custGeom>
          <a:blipFill>
            <a:blip r:embed="rId2"/>
            <a:stretch>
              <a:fillRect l="0" t="-6820" r="0" b="-6146"/>
            </a:stretch>
          </a:blipFill>
        </p:spPr>
      </p:sp>
      <p:sp>
        <p:nvSpPr>
          <p:cNvPr name="TextBox 5" id="5"/>
          <p:cNvSpPr txBox="true"/>
          <p:nvPr/>
        </p:nvSpPr>
        <p:spPr>
          <a:xfrm rot="0">
            <a:off x="1028700" y="990600"/>
            <a:ext cx="1903661"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of Service</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8441690"/>
            <a:ext cx="4583728" cy="81661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"D</a:t>
            </a:r>
            <a:r>
              <a:rPr lang="en-US" sz="1599" spc="-15">
                <a:solidFill>
                  <a:srgbClr val="FFFFFF">
                    <a:alpha val="69804"/>
                  </a:srgbClr>
                </a:solidFill>
                <a:latin typeface="Helvetica World"/>
                <a:ea typeface="Helvetica World"/>
                <a:cs typeface="Helvetica World"/>
                <a:sym typeface="Helvetica World"/>
              </a:rPr>
              <a:t>eman</a:t>
            </a:r>
            <a:r>
              <a:rPr lang="en-US" sz="1599" spc="-15">
                <a:solidFill>
                  <a:srgbClr val="FFFFFF">
                    <a:alpha val="69804"/>
                  </a:srgbClr>
                </a:solidFill>
                <a:latin typeface="Helvetica World"/>
                <a:ea typeface="Helvetica World"/>
                <a:cs typeface="Helvetica World"/>
                <a:sym typeface="Helvetica World"/>
              </a:rPr>
              <a:t>d-Pull" model based on Rufus’s reservation nodes eliminates speculative manufacturing and inventory waste.</a:t>
            </a:r>
          </a:p>
        </p:txBody>
      </p:sp>
      <p:sp>
        <p:nvSpPr>
          <p:cNvPr name="TextBox 10" id="10"/>
          <p:cNvSpPr txBox="true"/>
          <p:nvPr/>
        </p:nvSpPr>
        <p:spPr>
          <a:xfrm rot="0">
            <a:off x="1028700" y="7775231"/>
            <a:ext cx="4290836"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Inventory Risk Neutralization</a:t>
            </a:r>
          </a:p>
        </p:txBody>
      </p:sp>
      <p:sp>
        <p:nvSpPr>
          <p:cNvPr name="TextBox 11" id="11"/>
          <p:cNvSpPr txBox="true"/>
          <p:nvPr/>
        </p:nvSpPr>
        <p:spPr>
          <a:xfrm rot="0">
            <a:off x="6852136" y="8441690"/>
            <a:ext cx="4583728" cy="81661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Am</a:t>
            </a:r>
            <a:r>
              <a:rPr lang="en-US" sz="1599" spc="-15">
                <a:solidFill>
                  <a:srgbClr val="FFFFFF">
                    <a:alpha val="69804"/>
                  </a:srgbClr>
                </a:solidFill>
                <a:latin typeface="Helvetica World"/>
                <a:ea typeface="Helvetica World"/>
                <a:cs typeface="Helvetica World"/>
                <a:sym typeface="Helvetica World"/>
              </a:rPr>
              <a:t>azon</a:t>
            </a:r>
            <a:r>
              <a:rPr lang="en-US" sz="1599" spc="-15">
                <a:solidFill>
                  <a:srgbClr val="FFFFFF">
                    <a:alpha val="69804"/>
                  </a:srgbClr>
                </a:solidFill>
                <a:latin typeface="Helvetica World"/>
                <a:ea typeface="Helvetica World"/>
                <a:cs typeface="Helvetica World"/>
                <a:sym typeface="Helvetica World"/>
              </a:rPr>
              <a:t> monetizes "Verified Intent Data" as an industry benchmark for manufacturers, creating high-margin revenue beyond commissions.</a:t>
            </a:r>
          </a:p>
        </p:txBody>
      </p:sp>
      <p:sp>
        <p:nvSpPr>
          <p:cNvPr name="TextBox 12" id="12"/>
          <p:cNvSpPr txBox="true"/>
          <p:nvPr/>
        </p:nvSpPr>
        <p:spPr>
          <a:xfrm rot="0">
            <a:off x="6852136" y="7775231"/>
            <a:ext cx="4583728"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New Revenue: Data-as-a-Service</a:t>
            </a:r>
          </a:p>
        </p:txBody>
      </p:sp>
      <p:sp>
        <p:nvSpPr>
          <p:cNvPr name="TextBox 13" id="13"/>
          <p:cNvSpPr txBox="true"/>
          <p:nvPr/>
        </p:nvSpPr>
        <p:spPr>
          <a:xfrm rot="0">
            <a:off x="12675572" y="8441690"/>
            <a:ext cx="4583728" cy="81661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Real-</a:t>
            </a:r>
            <a:r>
              <a:rPr lang="en-US" sz="1599" spc="-15">
                <a:solidFill>
                  <a:srgbClr val="FFFFFF">
                    <a:alpha val="69804"/>
                  </a:srgbClr>
                </a:solidFill>
                <a:latin typeface="Helvetica World"/>
                <a:ea typeface="Helvetica World"/>
                <a:cs typeface="Helvetica World"/>
                <a:sym typeface="Helvetica World"/>
              </a:rPr>
              <a:t>t</a:t>
            </a:r>
            <a:r>
              <a:rPr lang="en-US" sz="1599" spc="-15">
                <a:solidFill>
                  <a:srgbClr val="FFFFFF">
                    <a:alpha val="69804"/>
                  </a:srgbClr>
                </a:solidFill>
                <a:latin typeface="Helvetica World"/>
                <a:ea typeface="Helvetica World"/>
                <a:cs typeface="Helvetica World"/>
                <a:sym typeface="Helvetica World"/>
              </a:rPr>
              <a:t>ime feedback loops between Rufus (B2C) and Amelia (B2B) maximize fulfillment efficiency and eliminate information lag.</a:t>
            </a:r>
          </a:p>
        </p:txBody>
      </p:sp>
      <p:sp>
        <p:nvSpPr>
          <p:cNvPr name="TextBox 14" id="14"/>
          <p:cNvSpPr txBox="true"/>
          <p:nvPr/>
        </p:nvSpPr>
        <p:spPr>
          <a:xfrm rot="0">
            <a:off x="12675572" y="7775231"/>
            <a:ext cx="3835663"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Global Supply Chain Sync</a:t>
            </a:r>
          </a:p>
        </p:txBody>
      </p:sp>
      <p:sp>
        <p:nvSpPr>
          <p:cNvPr name="TextBox 15" id="15"/>
          <p:cNvSpPr txBox="true"/>
          <p:nvPr/>
        </p:nvSpPr>
        <p:spPr>
          <a:xfrm rot="0">
            <a:off x="12999318" y="990600"/>
            <a:ext cx="425998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Group II - B2B (Corporation &amp; Platform)</a:t>
            </a:r>
          </a:p>
        </p:txBody>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58</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12055718" y="7813331"/>
            <a:ext cx="0" cy="1444969"/>
          </a:xfrm>
          <a:prstGeom prst="line">
            <a:avLst/>
          </a:prstGeom>
          <a:ln cap="rnd" w="19050">
            <a:solidFill>
              <a:srgbClr val="FFFFFF">
                <a:alpha val="49804"/>
              </a:srgbClr>
            </a:solidFill>
            <a:prstDash val="sysDash"/>
            <a:headEnd type="none" len="sm" w="sm"/>
            <a:tailEnd type="none" len="sm" w="sm"/>
          </a:ln>
        </p:spPr>
      </p:sp>
      <p:sp>
        <p:nvSpPr>
          <p:cNvPr name="AutoShape 3" id="3"/>
          <p:cNvSpPr/>
          <p:nvPr/>
        </p:nvSpPr>
        <p:spPr>
          <a:xfrm>
            <a:off x="6233011" y="7813331"/>
            <a:ext cx="0" cy="1444969"/>
          </a:xfrm>
          <a:prstGeom prst="line">
            <a:avLst/>
          </a:prstGeom>
          <a:ln cap="rnd" w="19050">
            <a:solidFill>
              <a:srgbClr val="FFFFFF">
                <a:alpha val="49804"/>
              </a:srgbClr>
            </a:solidFill>
            <a:prstDash val="sysDash"/>
            <a:headEnd type="none" len="sm" w="sm"/>
            <a:tailEnd type="none" len="sm" w="sm"/>
          </a:ln>
        </p:spPr>
      </p:sp>
      <p:sp>
        <p:nvSpPr>
          <p:cNvPr name="Freeform 4" id="4"/>
          <p:cNvSpPr/>
          <p:nvPr/>
        </p:nvSpPr>
        <p:spPr>
          <a:xfrm flipH="false" flipV="false" rot="0">
            <a:off x="2133710" y="622300"/>
            <a:ext cx="14039631" cy="7067205"/>
          </a:xfrm>
          <a:custGeom>
            <a:avLst/>
            <a:gdLst/>
            <a:ahLst/>
            <a:cxnLst/>
            <a:rect r="r" b="b" t="t" l="l"/>
            <a:pathLst>
              <a:path h="7067205" w="14039631">
                <a:moveTo>
                  <a:pt x="0" y="0"/>
                </a:moveTo>
                <a:lnTo>
                  <a:pt x="14039630" y="0"/>
                </a:lnTo>
                <a:lnTo>
                  <a:pt x="14039630" y="7067206"/>
                </a:lnTo>
                <a:lnTo>
                  <a:pt x="0" y="7067206"/>
                </a:lnTo>
                <a:lnTo>
                  <a:pt x="0" y="0"/>
                </a:lnTo>
                <a:close/>
              </a:path>
            </a:pathLst>
          </a:custGeom>
          <a:blipFill>
            <a:blip r:embed="rId2"/>
            <a:stretch>
              <a:fillRect l="0" t="-6839" r="0" b="-6147"/>
            </a:stretch>
          </a:blipFill>
        </p:spPr>
      </p:sp>
      <p:sp>
        <p:nvSpPr>
          <p:cNvPr name="TextBox 5" id="5"/>
          <p:cNvSpPr txBox="true"/>
          <p:nvPr/>
        </p:nvSpPr>
        <p:spPr>
          <a:xfrm rot="0">
            <a:off x="1028700" y="990600"/>
            <a:ext cx="1903661"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of Service</a:t>
            </a:r>
          </a:p>
        </p:txBody>
      </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9" id="9"/>
          <p:cNvSpPr txBox="true"/>
          <p:nvPr/>
        </p:nvSpPr>
        <p:spPr>
          <a:xfrm rot="0">
            <a:off x="1028700" y="8441690"/>
            <a:ext cx="4583728" cy="81661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Pr</a:t>
            </a:r>
            <a:r>
              <a:rPr lang="en-US" sz="1599" spc="-15">
                <a:solidFill>
                  <a:srgbClr val="FFFFFF">
                    <a:alpha val="69804"/>
                  </a:srgbClr>
                </a:solidFill>
                <a:latin typeface="Helvetica World"/>
                <a:ea typeface="Helvetica World"/>
                <a:cs typeface="Helvetica World"/>
                <a:sym typeface="Helvetica World"/>
              </a:rPr>
              <a:t>e</a:t>
            </a:r>
            <a:r>
              <a:rPr lang="en-US" sz="1599" spc="-15">
                <a:solidFill>
                  <a:srgbClr val="FFFFFF">
                    <a:alpha val="69804"/>
                  </a:srgbClr>
                </a:solidFill>
                <a:latin typeface="Helvetica World"/>
                <a:ea typeface="Helvetica World"/>
                <a:cs typeface="Helvetica World"/>
                <a:sym typeface="Helvetica World"/>
              </a:rPr>
              <a:t>-emptive resource allocation becomes possible through 100% visibility of future demand signals, increasing delivery velocity and efficiency.</a:t>
            </a:r>
          </a:p>
        </p:txBody>
      </p:sp>
      <p:sp>
        <p:nvSpPr>
          <p:cNvPr name="TextBox 10" id="10"/>
          <p:cNvSpPr txBox="true"/>
          <p:nvPr/>
        </p:nvSpPr>
        <p:spPr>
          <a:xfrm rot="0">
            <a:off x="1028700" y="7775231"/>
            <a:ext cx="4290836"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Logistics Partners</a:t>
            </a:r>
          </a:p>
        </p:txBody>
      </p:sp>
      <p:sp>
        <p:nvSpPr>
          <p:cNvPr name="TextBox 11" id="11"/>
          <p:cNvSpPr txBox="true"/>
          <p:nvPr/>
        </p:nvSpPr>
        <p:spPr>
          <a:xfrm rot="0">
            <a:off x="6852136" y="8165465"/>
            <a:ext cx="4583728" cy="1092835"/>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Am</a:t>
            </a:r>
            <a:r>
              <a:rPr lang="en-US" sz="1599" spc="-15">
                <a:solidFill>
                  <a:srgbClr val="FFFFFF">
                    <a:alpha val="69804"/>
                  </a:srgbClr>
                </a:solidFill>
                <a:latin typeface="Helvetica World"/>
                <a:ea typeface="Helvetica World"/>
                <a:cs typeface="Helvetica World"/>
                <a:sym typeface="Helvetica World"/>
              </a:rPr>
              <a:t>azon’s</a:t>
            </a:r>
            <a:r>
              <a:rPr lang="en-US" sz="1599" spc="-15">
                <a:solidFill>
                  <a:srgbClr val="FFFFFF">
                    <a:alpha val="69804"/>
                  </a:srgbClr>
                </a:solidFill>
                <a:latin typeface="Helvetica World"/>
                <a:ea typeface="Helvetica World"/>
                <a:cs typeface="Helvetica World"/>
                <a:sym typeface="Helvetica World"/>
              </a:rPr>
              <a:t> enterprise valuation is redefined by the structural removal of inventory liabilities and the establishment of a high-margin "Predictive Intelligence" revenue model.</a:t>
            </a:r>
          </a:p>
        </p:txBody>
      </p:sp>
      <p:sp>
        <p:nvSpPr>
          <p:cNvPr name="TextBox 12" id="12"/>
          <p:cNvSpPr txBox="true"/>
          <p:nvPr/>
        </p:nvSpPr>
        <p:spPr>
          <a:xfrm rot="0">
            <a:off x="6852136" y="7775231"/>
            <a:ext cx="4583728"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Investors</a:t>
            </a:r>
          </a:p>
        </p:txBody>
      </p:sp>
      <p:sp>
        <p:nvSpPr>
          <p:cNvPr name="TextBox 13" id="13"/>
          <p:cNvSpPr txBox="true"/>
          <p:nvPr/>
        </p:nvSpPr>
        <p:spPr>
          <a:xfrm rot="0">
            <a:off x="12675572" y="8165465"/>
            <a:ext cx="4583728" cy="1092835"/>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R&amp;D sunk cos</a:t>
            </a:r>
            <a:r>
              <a:rPr lang="en-US" sz="1599" spc="-15">
                <a:solidFill>
                  <a:srgbClr val="FFFFFF">
                    <a:alpha val="69804"/>
                  </a:srgbClr>
                </a:solidFill>
                <a:latin typeface="Helvetica World"/>
                <a:ea typeface="Helvetica World"/>
                <a:cs typeface="Helvetica World"/>
                <a:sym typeface="Helvetica World"/>
              </a:rPr>
              <a:t>ts ar</a:t>
            </a:r>
            <a:r>
              <a:rPr lang="en-US" sz="1599" spc="-15">
                <a:solidFill>
                  <a:srgbClr val="FFFFFF">
                    <a:alpha val="69804"/>
                  </a:srgbClr>
                </a:solidFill>
                <a:latin typeface="Helvetica World"/>
                <a:ea typeface="Helvetica World"/>
                <a:cs typeface="Helvetica World"/>
                <a:sym typeface="Helvetica World"/>
              </a:rPr>
              <a:t>e significantly reduced by validating "Virtual Prototypes" on the platform before committing to physical production lines, ensuring market success.</a:t>
            </a:r>
          </a:p>
        </p:txBody>
      </p:sp>
      <p:sp>
        <p:nvSpPr>
          <p:cNvPr name="TextBox 14" id="14"/>
          <p:cNvSpPr txBox="true"/>
          <p:nvPr/>
        </p:nvSpPr>
        <p:spPr>
          <a:xfrm rot="0">
            <a:off x="12675572" y="7775231"/>
            <a:ext cx="3835663" cy="3962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Global Manufacturers</a:t>
            </a:r>
          </a:p>
        </p:txBody>
      </p:sp>
      <p:sp>
        <p:nvSpPr>
          <p:cNvPr name="TextBox 15" id="15"/>
          <p:cNvSpPr txBox="true"/>
          <p:nvPr/>
        </p:nvSpPr>
        <p:spPr>
          <a:xfrm rot="0">
            <a:off x="13673733" y="990600"/>
            <a:ext cx="358556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Group III - Potential Stakeholders</a:t>
            </a:r>
          </a:p>
        </p:txBody>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59</a:t>
              </a:r>
            </a:p>
          </p:txBody>
        </p:sp>
      </p:grpSp>
    </p:spTree>
  </p:cSld>
  <p:clrMapOvr>
    <a:masterClrMapping/>
  </p:clrMapOvr>
</p:sld>
</file>

<file path=ppt/slides/slide60.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6122923" y="990600"/>
            <a:ext cx="1136377"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Best Case</a:t>
            </a:r>
          </a:p>
        </p:txBody>
      </p:sp>
      <p:sp>
        <p:nvSpPr>
          <p:cNvPr name="TextBox 6" id="6"/>
          <p:cNvSpPr txBox="true"/>
          <p:nvPr/>
        </p:nvSpPr>
        <p:spPr>
          <a:xfrm rot="0">
            <a:off x="1028700" y="2586196"/>
            <a:ext cx="11227427" cy="1780540"/>
          </a:xfrm>
          <a:prstGeom prst="rect">
            <a:avLst/>
          </a:prstGeom>
        </p:spPr>
        <p:txBody>
          <a:bodyPr anchor="t" rtlCol="false" tIns="0" lIns="0" bIns="0" rIns="0">
            <a:spAutoFit/>
          </a:bodyPr>
          <a:lstStyle/>
          <a:p>
            <a:pPr algn="l">
              <a:lnSpc>
                <a:spcPts val="4759"/>
              </a:lnSpc>
              <a:spcBef>
                <a:spcPct val="0"/>
              </a:spcBef>
            </a:pPr>
            <a:r>
              <a:rPr lang="en-US" sz="3399" spc="-50">
                <a:solidFill>
                  <a:srgbClr val="FFFFFF"/>
                </a:solidFill>
                <a:latin typeface="Helvetica World"/>
                <a:ea typeface="Helvetica World"/>
                <a:cs typeface="Helvetica World"/>
                <a:sym typeface="Helvetica World"/>
              </a:rPr>
              <a:t>Sellers reduce inventory risk through real demand confirmation. Amazon evolves into a co-designed, demand-driven ecosystem.</a:t>
            </a:r>
          </a:p>
        </p:txBody>
      </p:sp>
      <p:sp>
        <p:nvSpPr>
          <p:cNvPr name="TextBox 7" id="7"/>
          <p:cNvSpPr txBox="true"/>
          <p:nvPr/>
        </p:nvSpPr>
        <p:spPr>
          <a:xfrm rot="0">
            <a:off x="4088482" y="6036469"/>
            <a:ext cx="13170818" cy="1597660"/>
          </a:xfrm>
          <a:prstGeom prst="rect">
            <a:avLst/>
          </a:prstGeom>
        </p:spPr>
        <p:txBody>
          <a:bodyPr anchor="t" rtlCol="false" tIns="0" lIns="0" bIns="0" rIns="0">
            <a:spAutoFit/>
          </a:bodyPr>
          <a:lstStyle/>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Co</a:t>
            </a:r>
            <a:r>
              <a:rPr lang="en-US" sz="4599" spc="-68">
                <a:solidFill>
                  <a:srgbClr val="FFFFFF">
                    <a:alpha val="49804"/>
                  </a:srgbClr>
                </a:solidFill>
                <a:latin typeface="Helvetica World"/>
                <a:ea typeface="Helvetica World"/>
                <a:cs typeface="Helvetica World"/>
                <a:sym typeface="Helvetica World"/>
              </a:rPr>
              <a:t>nsumers signal intent through reservation:</a:t>
            </a:r>
          </a:p>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 A - Optimistic Scenario</a:t>
            </a:r>
          </a:p>
        </p:txBody>
      </p:sp>
      <p:sp>
        <p:nvSpPr>
          <p:cNvPr name="TextBox 8" id="8"/>
          <p:cNvSpPr txBox="true"/>
          <p:nvPr/>
        </p:nvSpPr>
        <p:spPr>
          <a:xfrm rot="0">
            <a:off x="1028700" y="990600"/>
            <a:ext cx="190782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Scenarios</a:t>
            </a:r>
          </a:p>
        </p:txBody>
      </p:sp>
      <p:sp>
        <p:nvSpPr>
          <p:cNvPr name="AutoShape 9" id="9"/>
          <p:cNvSpPr/>
          <p:nvPr/>
        </p:nvSpPr>
        <p:spPr>
          <a:xfrm flipH="true">
            <a:off x="1027509" y="5153025"/>
            <a:ext cx="16231791" cy="0"/>
          </a:xfrm>
          <a:prstGeom prst="line">
            <a:avLst/>
          </a:prstGeom>
          <a:ln cap="rnd" w="19050">
            <a:solidFill>
              <a:srgbClr val="FFFFFF">
                <a:alpha val="49804"/>
              </a:srgbClr>
            </a:solidFill>
            <a:prstDash val="sysDash"/>
            <a:headEnd type="none" len="sm" w="sm"/>
            <a:tailEnd type="none" len="sm" w="sm"/>
          </a:ln>
        </p:spPr>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60</a:t>
              </a:r>
            </a:p>
          </p:txBody>
        </p:sp>
      </p:grpSp>
    </p:spTree>
  </p:cSld>
  <p:clrMapOvr>
    <a:masterClrMapping/>
  </p:clrMapOvr>
</p:sld>
</file>

<file path=ppt/slides/slide6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028700" y="2586196"/>
            <a:ext cx="11227427" cy="1780540"/>
          </a:xfrm>
          <a:prstGeom prst="rect">
            <a:avLst/>
          </a:prstGeom>
        </p:spPr>
        <p:txBody>
          <a:bodyPr anchor="t" rtlCol="false" tIns="0" lIns="0" bIns="0" rIns="0">
            <a:spAutoFit/>
          </a:bodyPr>
          <a:lstStyle/>
          <a:p>
            <a:pPr algn="l">
              <a:lnSpc>
                <a:spcPts val="4759"/>
              </a:lnSpc>
              <a:spcBef>
                <a:spcPct val="0"/>
              </a:spcBef>
            </a:pPr>
            <a:r>
              <a:rPr lang="en-US" sz="3399" spc="-50">
                <a:solidFill>
                  <a:srgbClr val="FFFFFF"/>
                </a:solidFill>
                <a:latin typeface="Helvetica World"/>
                <a:ea typeface="Helvetica World"/>
                <a:cs typeface="Helvetica World"/>
                <a:sym typeface="Helvetica World"/>
              </a:rPr>
              <a:t>R</a:t>
            </a:r>
            <a:r>
              <a:rPr lang="en-US" sz="3399" spc="-50">
                <a:solidFill>
                  <a:srgbClr val="FFFFFF"/>
                </a:solidFill>
                <a:latin typeface="Helvetica World"/>
                <a:ea typeface="Helvetica World"/>
                <a:cs typeface="Helvetica World"/>
                <a:sym typeface="Helvetica World"/>
              </a:rPr>
              <a:t>eservation operates within specific verticals.</a:t>
            </a:r>
          </a:p>
          <a:p>
            <a:pPr algn="l">
              <a:lnSpc>
                <a:spcPts val="4759"/>
              </a:lnSpc>
              <a:spcBef>
                <a:spcPct val="0"/>
              </a:spcBef>
            </a:pPr>
            <a:r>
              <a:rPr lang="en-US" sz="3399" spc="-50">
                <a:solidFill>
                  <a:srgbClr val="FFFFFF"/>
                </a:solidFill>
                <a:latin typeface="Helvetica World"/>
                <a:ea typeface="Helvetica World"/>
                <a:cs typeface="Helvetica World"/>
                <a:sym typeface="Helvetica World"/>
              </a:rPr>
              <a:t>SMEs adopt faster than large brands.</a:t>
            </a:r>
          </a:p>
          <a:p>
            <a:pPr algn="l">
              <a:lnSpc>
                <a:spcPts val="4759"/>
              </a:lnSpc>
              <a:spcBef>
                <a:spcPct val="0"/>
              </a:spcBef>
            </a:pPr>
            <a:r>
              <a:rPr lang="en-US" sz="3399" spc="-50">
                <a:solidFill>
                  <a:srgbClr val="FFFFFF"/>
                </a:solidFill>
                <a:latin typeface="Helvetica World"/>
                <a:ea typeface="Helvetica World"/>
                <a:cs typeface="Helvetica World"/>
                <a:sym typeface="Helvetica World"/>
              </a:rPr>
              <a:t>Gradual expansion of AI-based demand validation.</a:t>
            </a:r>
          </a:p>
        </p:txBody>
      </p:sp>
      <p:sp>
        <p:nvSpPr>
          <p:cNvPr name="TextBox 6" id="6"/>
          <p:cNvSpPr txBox="true"/>
          <p:nvPr/>
        </p:nvSpPr>
        <p:spPr>
          <a:xfrm rot="0">
            <a:off x="4088482" y="6036469"/>
            <a:ext cx="13170818" cy="1597660"/>
          </a:xfrm>
          <a:prstGeom prst="rect">
            <a:avLst/>
          </a:prstGeom>
        </p:spPr>
        <p:txBody>
          <a:bodyPr anchor="t" rtlCol="false" tIns="0" lIns="0" bIns="0" rIns="0">
            <a:spAutoFit/>
          </a:bodyPr>
          <a:lstStyle/>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S</a:t>
            </a:r>
            <a:r>
              <a:rPr lang="en-US" sz="4599" spc="-68">
                <a:solidFill>
                  <a:srgbClr val="FFFFFF">
                    <a:alpha val="49804"/>
                  </a:srgbClr>
                </a:solidFill>
                <a:latin typeface="Helvetica World"/>
                <a:ea typeface="Helvetica World"/>
                <a:cs typeface="Helvetica World"/>
                <a:sym typeface="Helvetica World"/>
              </a:rPr>
              <a:t>elective Category Adoption:</a:t>
            </a:r>
          </a:p>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B - Realistic Scenario</a:t>
            </a:r>
          </a:p>
        </p:txBody>
      </p:sp>
      <p:sp>
        <p:nvSpPr>
          <p:cNvPr name="TextBox 7" id="7"/>
          <p:cNvSpPr txBox="true"/>
          <p:nvPr/>
        </p:nvSpPr>
        <p:spPr>
          <a:xfrm rot="0">
            <a:off x="1028700" y="990600"/>
            <a:ext cx="190767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Scenarios</a:t>
            </a:r>
          </a:p>
        </p:txBody>
      </p:sp>
      <p:sp>
        <p:nvSpPr>
          <p:cNvPr name="AutoShape 8" id="8"/>
          <p:cNvSpPr/>
          <p:nvPr/>
        </p:nvSpPr>
        <p:spPr>
          <a:xfrm flipH="true">
            <a:off x="1027509" y="5153025"/>
            <a:ext cx="16231791" cy="0"/>
          </a:xfrm>
          <a:prstGeom prst="line">
            <a:avLst/>
          </a:prstGeom>
          <a:ln cap="rnd" w="19050">
            <a:solidFill>
              <a:srgbClr val="FFFFFF">
                <a:alpha val="49804"/>
              </a:srgbClr>
            </a:solidFill>
            <a:prstDash val="sysDash"/>
            <a:headEnd type="none" len="sm" w="sm"/>
            <a:tailEnd type="none" len="sm" w="sm"/>
          </a:ln>
        </p:spPr>
      </p:sp>
      <p:sp>
        <p:nvSpPr>
          <p:cNvPr name="TextBox 9" id="9"/>
          <p:cNvSpPr txBox="true"/>
          <p:nvPr/>
        </p:nvSpPr>
        <p:spPr>
          <a:xfrm rot="0">
            <a:off x="16053718" y="990600"/>
            <a:ext cx="120558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Base Case</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61</a:t>
              </a:r>
            </a:p>
          </p:txBody>
        </p:sp>
      </p:grpSp>
    </p:spTree>
  </p:cSld>
  <p:clrMapOvr>
    <a:masterClrMapping/>
  </p:clrMapOvr>
</p:sld>
</file>

<file path=ppt/slides/slide62.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5" id="5"/>
          <p:cNvSpPr txBox="true"/>
          <p:nvPr/>
        </p:nvSpPr>
        <p:spPr>
          <a:xfrm rot="0">
            <a:off x="15982504" y="990600"/>
            <a:ext cx="1276796"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Worst Case</a:t>
            </a:r>
          </a:p>
        </p:txBody>
      </p:sp>
      <p:sp>
        <p:nvSpPr>
          <p:cNvPr name="TextBox 6" id="6"/>
          <p:cNvSpPr txBox="true"/>
          <p:nvPr/>
        </p:nvSpPr>
        <p:spPr>
          <a:xfrm rot="0">
            <a:off x="1028700" y="2586196"/>
            <a:ext cx="11227427" cy="1780540"/>
          </a:xfrm>
          <a:prstGeom prst="rect">
            <a:avLst/>
          </a:prstGeom>
        </p:spPr>
        <p:txBody>
          <a:bodyPr anchor="t" rtlCol="false" tIns="0" lIns="0" bIns="0" rIns="0">
            <a:spAutoFit/>
          </a:bodyPr>
          <a:lstStyle/>
          <a:p>
            <a:pPr algn="l">
              <a:lnSpc>
                <a:spcPts val="4759"/>
              </a:lnSpc>
              <a:spcBef>
                <a:spcPct val="0"/>
              </a:spcBef>
            </a:pPr>
            <a:r>
              <a:rPr lang="en-US" sz="3399" spc="-50">
                <a:solidFill>
                  <a:srgbClr val="FFFFFF"/>
                </a:solidFill>
                <a:latin typeface="Helvetica World"/>
                <a:ea typeface="Helvetica World"/>
                <a:cs typeface="Helvetica World"/>
                <a:sym typeface="Helvetica World"/>
              </a:rPr>
              <a:t>Reservations may not convert to purchases.</a:t>
            </a:r>
          </a:p>
          <a:p>
            <a:pPr algn="l">
              <a:lnSpc>
                <a:spcPts val="4759"/>
              </a:lnSpc>
              <a:spcBef>
                <a:spcPct val="0"/>
              </a:spcBef>
            </a:pPr>
            <a:r>
              <a:rPr lang="en-US" sz="3399" spc="-50">
                <a:solidFill>
                  <a:srgbClr val="FFFFFF"/>
                </a:solidFill>
                <a:latin typeface="Helvetica World"/>
                <a:ea typeface="Helvetica World"/>
                <a:cs typeface="Helvetica World"/>
                <a:sym typeface="Helvetica World"/>
              </a:rPr>
              <a:t>Urgency-driven substitutions affect accuracy.</a:t>
            </a:r>
          </a:p>
          <a:p>
            <a:pPr algn="l">
              <a:lnSpc>
                <a:spcPts val="4759"/>
              </a:lnSpc>
              <a:spcBef>
                <a:spcPct val="0"/>
              </a:spcBef>
            </a:pPr>
            <a:r>
              <a:rPr lang="en-US" sz="3399" spc="-50">
                <a:solidFill>
                  <a:srgbClr val="FFFFFF"/>
                </a:solidFill>
                <a:latin typeface="Helvetica World"/>
                <a:ea typeface="Helvetica World"/>
                <a:cs typeface="Helvetica World"/>
                <a:sym typeface="Helvetica World"/>
              </a:rPr>
              <a:t>Speculative behaviours distort demand signals.</a:t>
            </a:r>
          </a:p>
        </p:txBody>
      </p:sp>
      <p:sp>
        <p:nvSpPr>
          <p:cNvPr name="TextBox 7" id="7"/>
          <p:cNvSpPr txBox="true"/>
          <p:nvPr/>
        </p:nvSpPr>
        <p:spPr>
          <a:xfrm rot="0">
            <a:off x="4088482" y="6036469"/>
            <a:ext cx="13170818" cy="1597660"/>
          </a:xfrm>
          <a:prstGeom prst="rect">
            <a:avLst/>
          </a:prstGeom>
        </p:spPr>
        <p:txBody>
          <a:bodyPr anchor="t" rtlCol="false" tIns="0" lIns="0" bIns="0" rIns="0">
            <a:spAutoFit/>
          </a:bodyPr>
          <a:lstStyle/>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S</a:t>
            </a:r>
            <a:r>
              <a:rPr lang="en-US" sz="4599" spc="-68">
                <a:solidFill>
                  <a:srgbClr val="FFFFFF">
                    <a:alpha val="49804"/>
                  </a:srgbClr>
                </a:solidFill>
                <a:latin typeface="Helvetica World"/>
                <a:ea typeface="Helvetica World"/>
                <a:cs typeface="Helvetica World"/>
                <a:sym typeface="Helvetica World"/>
              </a:rPr>
              <a:t>ignal Distortion &amp; Conversion Risk:</a:t>
            </a:r>
          </a:p>
          <a:p>
            <a:pPr algn="r">
              <a:lnSpc>
                <a:spcPts val="6439"/>
              </a:lnSpc>
              <a:spcBef>
                <a:spcPct val="0"/>
              </a:spcBef>
            </a:pPr>
            <a:r>
              <a:rPr lang="en-US" sz="4599" spc="-68">
                <a:solidFill>
                  <a:srgbClr val="FFFFFF">
                    <a:alpha val="49804"/>
                  </a:srgbClr>
                </a:solidFill>
                <a:latin typeface="Helvetica World"/>
                <a:ea typeface="Helvetica World"/>
                <a:cs typeface="Helvetica World"/>
                <a:sym typeface="Helvetica World"/>
              </a:rPr>
              <a:t>C - Critical Scenario</a:t>
            </a:r>
          </a:p>
        </p:txBody>
      </p:sp>
      <p:sp>
        <p:nvSpPr>
          <p:cNvPr name="TextBox 8" id="8"/>
          <p:cNvSpPr txBox="true"/>
          <p:nvPr/>
        </p:nvSpPr>
        <p:spPr>
          <a:xfrm rot="0">
            <a:off x="1028700" y="990600"/>
            <a:ext cx="1907828"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Scenarios</a:t>
            </a:r>
          </a:p>
        </p:txBody>
      </p:sp>
      <p:sp>
        <p:nvSpPr>
          <p:cNvPr name="AutoShape 9" id="9"/>
          <p:cNvSpPr/>
          <p:nvPr/>
        </p:nvSpPr>
        <p:spPr>
          <a:xfrm flipH="true">
            <a:off x="1027509" y="5153025"/>
            <a:ext cx="16231791" cy="0"/>
          </a:xfrm>
          <a:prstGeom prst="line">
            <a:avLst/>
          </a:prstGeom>
          <a:ln cap="rnd" w="19050">
            <a:solidFill>
              <a:srgbClr val="FFFFFF">
                <a:alpha val="49804"/>
              </a:srgbClr>
            </a:solidFill>
            <a:prstDash val="sysDash"/>
            <a:headEnd type="none" len="sm" w="sm"/>
            <a:tailEnd type="none" len="sm" w="sm"/>
          </a:ln>
        </p:spPr>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62</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3" id="3"/>
          <p:cNvSpPr txBox="true"/>
          <p:nvPr/>
        </p:nvSpPr>
        <p:spPr>
          <a:xfrm rot="0">
            <a:off x="791212" y="4588828"/>
            <a:ext cx="16468088" cy="1453197"/>
          </a:xfrm>
          <a:prstGeom prst="rect">
            <a:avLst/>
          </a:prstGeom>
        </p:spPr>
        <p:txBody>
          <a:bodyPr anchor="t" rtlCol="false" tIns="0" lIns="0" bIns="0" rIns="0">
            <a:spAutoFit/>
          </a:bodyPr>
          <a:lstStyle/>
          <a:p>
            <a:pPr algn="ctr">
              <a:lnSpc>
                <a:spcPts val="3640"/>
              </a:lnSpc>
            </a:pPr>
            <a:r>
              <a:rPr lang="en-US" sz="2600" i="true" spc="-26">
                <a:solidFill>
                  <a:srgbClr val="FFFFFF"/>
                </a:solidFill>
                <a:latin typeface="Helvetica World Italics"/>
                <a:ea typeface="Helvetica World Italics"/>
                <a:cs typeface="Helvetica World Italics"/>
                <a:sym typeface="Helvetica World Italics"/>
              </a:rPr>
              <a:t>“Am</a:t>
            </a:r>
            <a:r>
              <a:rPr lang="en-US" sz="2600" i="true" spc="-26">
                <a:solidFill>
                  <a:srgbClr val="FFFFFF"/>
                </a:solidFill>
                <a:latin typeface="Helvetica World Italics"/>
                <a:ea typeface="Helvetica World Italics"/>
                <a:cs typeface="Helvetica World Italics"/>
                <a:sym typeface="Helvetica World Italics"/>
              </a:rPr>
              <a:t>azon has long optimized fulfillment and scale.</a:t>
            </a:r>
          </a:p>
          <a:p>
            <a:pPr algn="ctr">
              <a:lnSpc>
                <a:spcPts val="3640"/>
              </a:lnSpc>
            </a:pPr>
            <a:r>
              <a:rPr lang="en-US" sz="2600" i="true" spc="-26">
                <a:solidFill>
                  <a:srgbClr val="FFFFFF"/>
                </a:solidFill>
                <a:latin typeface="Helvetica World Italics"/>
                <a:ea typeface="Helvetica World Italics"/>
                <a:cs typeface="Helvetica World Italics"/>
                <a:sym typeface="Helvetica World Italics"/>
              </a:rPr>
              <a:t> Rufus-Amelia 2.0 shifts that optimization upstream - transforming speculative production into verified demand.</a:t>
            </a:r>
          </a:p>
          <a:p>
            <a:pPr algn="ctr">
              <a:lnSpc>
                <a:spcPts val="3640"/>
              </a:lnSpc>
            </a:pPr>
            <a:r>
              <a:rPr lang="en-US" sz="2600" i="true" spc="-26">
                <a:solidFill>
                  <a:srgbClr val="FFFFFF"/>
                </a:solidFill>
                <a:latin typeface="Helvetica World Italics"/>
                <a:ea typeface="Helvetica World Italics"/>
                <a:cs typeface="Helvetica World Italics"/>
                <a:sym typeface="Helvetica World Italics"/>
              </a:rPr>
              <a:t> This evolution reframes Amazon not as a retailer, but as a structural risk-neutralizing intelligence system.”</a:t>
            </a:r>
          </a:p>
        </p:txBody>
      </p:sp>
      <p:sp>
        <p:nvSpPr>
          <p:cNvPr name="TextBox 4" id="4"/>
          <p:cNvSpPr txBox="true"/>
          <p:nvPr/>
        </p:nvSpPr>
        <p:spPr>
          <a:xfrm rot="0">
            <a:off x="1028700" y="990600"/>
            <a:ext cx="1903661"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of Service</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8" id="8"/>
          <p:cNvSpPr txBox="true"/>
          <p:nvPr/>
        </p:nvSpPr>
        <p:spPr>
          <a:xfrm rot="0">
            <a:off x="15207407" y="990600"/>
            <a:ext cx="2051893"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Impact at a Glance</a:t>
            </a:r>
          </a:p>
        </p:txBody>
      </p:sp>
      <p:grpSp>
        <p:nvGrpSpPr>
          <p:cNvPr name="Group 9" id="9"/>
          <p:cNvGrpSpPr/>
          <p:nvPr/>
        </p:nvGrpSpPr>
        <p:grpSpPr>
          <a:xfrm rot="0">
            <a:off x="1028700" y="9258300"/>
            <a:ext cx="16230600" cy="301625"/>
            <a:chOff x="0" y="0"/>
            <a:chExt cx="21640800" cy="402167"/>
          </a:xfrm>
        </p:grpSpPr>
        <p:sp>
          <p:nvSpPr>
            <p:cNvPr name="TextBox 10" id="10"/>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1" id="11"/>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63</a:t>
              </a:r>
            </a:p>
          </p:txBody>
        </p:sp>
      </p:grpSp>
    </p:spTree>
  </p:cSld>
  <p:clrMapOvr>
    <a:masterClrMapping/>
  </p:clrMapOvr>
</p:sld>
</file>

<file path=ppt/slides/slide64.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23080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Conclusion</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200831"/>
            <a:ext cx="7738765" cy="1377949"/>
          </a:xfrm>
          <a:prstGeom prst="rect">
            <a:avLst/>
          </a:prstGeom>
        </p:spPr>
        <p:txBody>
          <a:bodyPr anchor="t" rtlCol="false" tIns="0" lIns="0" bIns="0" rIns="0">
            <a:spAutoFit/>
          </a:bodyPr>
          <a:lstStyle/>
          <a:p>
            <a:pPr algn="l">
              <a:lnSpc>
                <a:spcPts val="11200"/>
              </a:lnSpc>
            </a:pPr>
            <a:r>
              <a:rPr lang="en-US" sz="8000" spc="-80">
                <a:solidFill>
                  <a:srgbClr val="FFFFFF"/>
                </a:solidFill>
                <a:latin typeface="Helvetica World"/>
                <a:ea typeface="Helvetica World"/>
                <a:cs typeface="Helvetica World"/>
                <a:sym typeface="Helvetica World"/>
              </a:rPr>
              <a:t>Future of Amazon</a:t>
            </a:r>
          </a:p>
        </p:txBody>
      </p:sp>
      <p:grpSp>
        <p:nvGrpSpPr>
          <p:cNvPr name="Group 7" id="7"/>
          <p:cNvGrpSpPr/>
          <p:nvPr/>
        </p:nvGrpSpPr>
        <p:grpSpPr>
          <a:xfrm rot="0">
            <a:off x="1028700" y="4354791"/>
            <a:ext cx="16230600" cy="2533431"/>
            <a:chOff x="0" y="0"/>
            <a:chExt cx="21640800" cy="3377908"/>
          </a:xfrm>
        </p:grpSpPr>
        <p:sp>
          <p:nvSpPr>
            <p:cNvPr name="TextBox 8" id="8"/>
            <p:cNvSpPr txBox="true"/>
            <p:nvPr/>
          </p:nvSpPr>
          <p:spPr>
            <a:xfrm rot="0">
              <a:off x="9283974" y="489373"/>
              <a:ext cx="12356826" cy="133350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Data-Proactive Commerce</a:t>
              </a:r>
            </a:p>
          </p:txBody>
        </p:sp>
        <p:sp>
          <p:nvSpPr>
            <p:cNvPr name="TextBox 9" id="9"/>
            <p:cNvSpPr txBox="true"/>
            <p:nvPr/>
          </p:nvSpPr>
          <p:spPr>
            <a:xfrm rot="0">
              <a:off x="0" y="498898"/>
              <a:ext cx="7737299" cy="1116542"/>
            </a:xfrm>
            <a:prstGeom prst="rect">
              <a:avLst/>
            </a:prstGeom>
          </p:spPr>
          <p:txBody>
            <a:bodyPr anchor="t" rtlCol="false" tIns="0" lIns="0" bIns="0" rIns="0">
              <a:spAutoFit/>
            </a:bodyPr>
            <a:lstStyle/>
            <a:p>
              <a:pPr algn="l">
                <a:lnSpc>
                  <a:spcPts val="7000"/>
                </a:lnSpc>
              </a:pPr>
              <a:r>
                <a:rPr lang="en-US" sz="5000" spc="-50">
                  <a:solidFill>
                    <a:srgbClr val="FFFFFF">
                      <a:alpha val="49804"/>
                    </a:srgbClr>
                  </a:solidFill>
                  <a:latin typeface="Helvetica World"/>
                  <a:ea typeface="Helvetica World"/>
                  <a:cs typeface="Helvetica World"/>
                  <a:sym typeface="Helvetica World"/>
                </a:rPr>
                <a:t>Traditional Retailer</a:t>
              </a:r>
            </a:p>
          </p:txBody>
        </p:sp>
        <p:sp>
          <p:nvSpPr>
            <p:cNvPr name="TextBox 10" id="10"/>
            <p:cNvSpPr txBox="true"/>
            <p:nvPr/>
          </p:nvSpPr>
          <p:spPr>
            <a:xfrm rot="0">
              <a:off x="0" y="2303488"/>
              <a:ext cx="6676783" cy="1074420"/>
            </a:xfrm>
            <a:prstGeom prst="rect">
              <a:avLst/>
            </a:prstGeom>
          </p:spPr>
          <p:txBody>
            <a:bodyPr anchor="t" rtlCol="false" tIns="0" lIns="0" bIns="0" rIns="0">
              <a:spAutoFit/>
            </a:bodyPr>
            <a:lstStyle/>
            <a:p>
              <a:pPr algn="l">
                <a:lnSpc>
                  <a:spcPts val="3359"/>
                </a:lnSpc>
              </a:pPr>
              <a:r>
                <a:rPr lang="en-US" sz="2400" spc="-24">
                  <a:solidFill>
                    <a:srgbClr val="FFFFFF">
                      <a:alpha val="49804"/>
                    </a:srgbClr>
                  </a:solidFill>
                  <a:latin typeface="Helvetica World"/>
                  <a:ea typeface="Helvetica World"/>
                  <a:cs typeface="Helvetica World"/>
                  <a:sym typeface="Helvetica World"/>
                </a:rPr>
                <a:t>Inventory Liability &amp;</a:t>
              </a:r>
            </a:p>
            <a:p>
              <a:pPr algn="l">
                <a:lnSpc>
                  <a:spcPts val="3359"/>
                </a:lnSpc>
              </a:pPr>
              <a:r>
                <a:rPr lang="en-US" sz="2400" spc="-24">
                  <a:solidFill>
                    <a:srgbClr val="FFFFFF">
                      <a:alpha val="49804"/>
                    </a:srgbClr>
                  </a:solidFill>
                  <a:latin typeface="Helvetica World"/>
                  <a:ea typeface="Helvetica World"/>
                  <a:cs typeface="Helvetica World"/>
                  <a:sym typeface="Helvetica World"/>
                </a:rPr>
                <a:t>Recieve Feedback</a:t>
              </a:r>
            </a:p>
          </p:txBody>
        </p:sp>
        <p:sp>
          <p:nvSpPr>
            <p:cNvPr name="TextBox 11" id="11"/>
            <p:cNvSpPr txBox="true"/>
            <p:nvPr/>
          </p:nvSpPr>
          <p:spPr>
            <a:xfrm rot="0">
              <a:off x="14496518" y="2303488"/>
              <a:ext cx="7144282" cy="1074420"/>
            </a:xfrm>
            <a:prstGeom prst="rect">
              <a:avLst/>
            </a:prstGeom>
          </p:spPr>
          <p:txBody>
            <a:bodyPr anchor="t" rtlCol="false" tIns="0" lIns="0" bIns="0" rIns="0">
              <a:spAutoFit/>
            </a:bodyPr>
            <a:lstStyle/>
            <a:p>
              <a:pPr algn="r">
                <a:lnSpc>
                  <a:spcPts val="3359"/>
                </a:lnSpc>
              </a:pPr>
              <a:r>
                <a:rPr lang="en-US" sz="2400" spc="-24">
                  <a:solidFill>
                    <a:srgbClr val="FFFFFF"/>
                  </a:solidFill>
                  <a:latin typeface="Helvetica World"/>
                  <a:ea typeface="Helvetica World"/>
                  <a:cs typeface="Helvetica World"/>
                  <a:sym typeface="Helvetica World"/>
                </a:rPr>
                <a:t>Strategic Transformation &amp;</a:t>
              </a:r>
            </a:p>
            <a:p>
              <a:pPr algn="r">
                <a:lnSpc>
                  <a:spcPts val="3359"/>
                </a:lnSpc>
              </a:pPr>
              <a:r>
                <a:rPr lang="en-US" sz="2400" spc="-24">
                  <a:solidFill>
                    <a:srgbClr val="FFFFFF"/>
                  </a:solidFill>
                  <a:latin typeface="Helvetica World"/>
                  <a:ea typeface="Helvetica World"/>
                  <a:cs typeface="Helvetica World"/>
                  <a:sym typeface="Helvetica World"/>
                </a:rPr>
                <a:t>Risk Neutralization</a:t>
              </a:r>
            </a:p>
          </p:txBody>
        </p:sp>
        <p:sp>
          <p:nvSpPr>
            <p:cNvPr name="AutoShape 12" id="12"/>
            <p:cNvSpPr/>
            <p:nvPr/>
          </p:nvSpPr>
          <p:spPr>
            <a:xfrm>
              <a:off x="9283974" y="2341588"/>
              <a:ext cx="3072851" cy="0"/>
            </a:xfrm>
            <a:prstGeom prst="line">
              <a:avLst/>
            </a:prstGeom>
            <a:ln cap="flat" w="25400">
              <a:solidFill>
                <a:srgbClr val="FFFFFF"/>
              </a:solidFill>
              <a:prstDash val="sysDash"/>
              <a:headEnd type="none" len="sm" w="sm"/>
              <a:tailEnd type="arrow" len="sm" w="med"/>
            </a:ln>
          </p:spPr>
        </p:sp>
        <p:sp>
          <p:nvSpPr>
            <p:cNvPr name="TextBox 13" id="13"/>
            <p:cNvSpPr txBox="true"/>
            <p:nvPr/>
          </p:nvSpPr>
          <p:spPr>
            <a:xfrm rot="0">
              <a:off x="0" y="-57150"/>
              <a:ext cx="1837035" cy="622723"/>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[Present]</a:t>
              </a:r>
            </a:p>
          </p:txBody>
        </p:sp>
        <p:sp>
          <p:nvSpPr>
            <p:cNvPr name="TextBox 14" id="14"/>
            <p:cNvSpPr txBox="true"/>
            <p:nvPr/>
          </p:nvSpPr>
          <p:spPr>
            <a:xfrm rot="0">
              <a:off x="18036381" y="-57150"/>
              <a:ext cx="3604419" cy="622723"/>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[Preferred Future]</a:t>
              </a:r>
            </a:p>
          </p:txBody>
        </p:sp>
      </p:grpSp>
      <p:sp>
        <p:nvSpPr>
          <p:cNvPr name="TextBox 15" id="15"/>
          <p:cNvSpPr txBox="true"/>
          <p:nvPr/>
        </p:nvSpPr>
        <p:spPr>
          <a:xfrm rot="0">
            <a:off x="1028700" y="7872019"/>
            <a:ext cx="16230600" cy="935355"/>
          </a:xfrm>
          <a:prstGeom prst="rect">
            <a:avLst/>
          </a:prstGeom>
        </p:spPr>
        <p:txBody>
          <a:bodyPr anchor="t" rtlCol="false" tIns="0" lIns="0" bIns="0" rIns="0">
            <a:spAutoFit/>
          </a:bodyPr>
          <a:lstStyle/>
          <a:p>
            <a:pPr algn="r">
              <a:lnSpc>
                <a:spcPts val="2520"/>
              </a:lnSpc>
            </a:pPr>
            <a:r>
              <a:rPr lang="en-US" sz="1800" spc="-18">
                <a:solidFill>
                  <a:srgbClr val="FFFFFF"/>
                </a:solidFill>
                <a:latin typeface="Helvetica World"/>
                <a:ea typeface="Helvetica World"/>
                <a:cs typeface="Helvetica World"/>
                <a:sym typeface="Helvetica World"/>
              </a:rPr>
              <a:t>Physical production has inherent overproduction risks due to complex stakeholder variables. By evolving from a traditional retailer into a Verified Demand Intelligence Provider, Amazon neutralizes these liabilities through Rufus 2.0. We capture "Consumer Intent" as a primary asset, transforming speculative manufacturing into a Demand-Pull Intelligence Hub that synchronizes production with pre-validated demand.</a:t>
            </a:r>
          </a:p>
        </p:txBody>
      </p:sp>
      <p:sp>
        <p:nvSpPr>
          <p:cNvPr name="AutoShape 16" id="16"/>
          <p:cNvSpPr/>
          <p:nvPr/>
        </p:nvSpPr>
        <p:spPr>
          <a:xfrm>
            <a:off x="1028700" y="7399171"/>
            <a:ext cx="16230600" cy="0"/>
          </a:xfrm>
          <a:prstGeom prst="line">
            <a:avLst/>
          </a:prstGeom>
          <a:ln cap="rnd" w="19050">
            <a:solidFill>
              <a:srgbClr val="FFFFFF">
                <a:alpha val="49804"/>
              </a:srgbClr>
            </a:solidFill>
            <a:prstDash val="sysDash"/>
            <a:headEnd type="none" len="sm" w="sm"/>
            <a:tailEnd type="none" len="sm" w="sm"/>
          </a:ln>
        </p:spPr>
      </p:sp>
      <p:sp>
        <p:nvSpPr>
          <p:cNvPr name="TextBox 17" id="17"/>
          <p:cNvSpPr txBox="true"/>
          <p:nvPr/>
        </p:nvSpPr>
        <p:spPr>
          <a:xfrm rot="0">
            <a:off x="15885840" y="990600"/>
            <a:ext cx="1373460"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Project Pitch</a:t>
            </a:r>
          </a:p>
        </p:txBody>
      </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0" id="2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64</a:t>
              </a:r>
            </a:p>
          </p:txBody>
        </p:sp>
      </p:grpSp>
    </p:spTree>
  </p:cSld>
  <p:clrMapOvr>
    <a:masterClrMapping/>
  </p:clrMapOvr>
</p:sld>
</file>

<file path=ppt/slides/slide65.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23080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Conclusion</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4750902"/>
            <a:ext cx="13871221" cy="33972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Converting speculative physical production into pre-sold assets by eliminating the "Stakeholder Gamble" in the supply chain.</a:t>
            </a:r>
          </a:p>
        </p:txBody>
      </p:sp>
      <p:sp>
        <p:nvSpPr>
          <p:cNvPr name="TextBox 7" id="7"/>
          <p:cNvSpPr txBox="true"/>
          <p:nvPr/>
        </p:nvSpPr>
        <p:spPr>
          <a:xfrm rot="0">
            <a:off x="1028700" y="4107647"/>
            <a:ext cx="7220769" cy="481329"/>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19.5% V</a:t>
            </a:r>
            <a:r>
              <a:rPr lang="en-US" sz="2800" spc="-42">
                <a:solidFill>
                  <a:srgbClr val="FFFFFF"/>
                </a:solidFill>
                <a:latin typeface="Helvetica World"/>
                <a:ea typeface="Helvetica World"/>
                <a:cs typeface="Helvetica World"/>
                <a:sym typeface="Helvetica World"/>
              </a:rPr>
              <a:t>erified Fulfillment</a:t>
            </a:r>
          </a:p>
        </p:txBody>
      </p:sp>
      <p:sp>
        <p:nvSpPr>
          <p:cNvPr name="TextBox 8" id="8"/>
          <p:cNvSpPr txBox="true"/>
          <p:nvPr/>
        </p:nvSpPr>
        <p:spPr>
          <a:xfrm rot="0">
            <a:off x="1028700" y="6609276"/>
            <a:ext cx="13871221" cy="33972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Est</a:t>
            </a:r>
            <a:r>
              <a:rPr lang="en-US" sz="2000" spc="-30">
                <a:solidFill>
                  <a:srgbClr val="FFFFFF">
                    <a:alpha val="49804"/>
                  </a:srgbClr>
                </a:solidFill>
                <a:latin typeface="Helvetica World"/>
                <a:ea typeface="Helvetica World"/>
                <a:cs typeface="Helvetica World"/>
                <a:sym typeface="Helvetica World"/>
              </a:rPr>
              <a:t>ablishing Amazon as a primary Intelligence Hub that monetizes behavioral signals into high-margin B2B PaaS assets.</a:t>
            </a:r>
          </a:p>
        </p:txBody>
      </p:sp>
      <p:sp>
        <p:nvSpPr>
          <p:cNvPr name="TextBox 9" id="9"/>
          <p:cNvSpPr txBox="true"/>
          <p:nvPr/>
        </p:nvSpPr>
        <p:spPr>
          <a:xfrm rot="0">
            <a:off x="1028700" y="5966021"/>
            <a:ext cx="8460209" cy="481329"/>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85.4% Int</a:t>
            </a:r>
            <a:r>
              <a:rPr lang="en-US" sz="2800" spc="-42">
                <a:solidFill>
                  <a:srgbClr val="FFFFFF"/>
                </a:solidFill>
                <a:latin typeface="Helvetica World"/>
                <a:ea typeface="Helvetica World"/>
                <a:cs typeface="Helvetica World"/>
                <a:sym typeface="Helvetica World"/>
              </a:rPr>
              <a:t>elligence Yield</a:t>
            </a:r>
          </a:p>
        </p:txBody>
      </p:sp>
      <p:sp>
        <p:nvSpPr>
          <p:cNvPr name="TextBox 10" id="10"/>
          <p:cNvSpPr txBox="true"/>
          <p:nvPr/>
        </p:nvSpPr>
        <p:spPr>
          <a:xfrm rot="0">
            <a:off x="1028700" y="8467649"/>
            <a:ext cx="15770731" cy="33972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S</a:t>
            </a:r>
            <a:r>
              <a:rPr lang="en-US" sz="2000" spc="-30">
                <a:solidFill>
                  <a:srgbClr val="FFFFFF">
                    <a:alpha val="49804"/>
                  </a:srgbClr>
                </a:solidFill>
                <a:latin typeface="Helvetica World"/>
                <a:ea typeface="Helvetica World"/>
                <a:cs typeface="Helvetica World"/>
                <a:sym typeface="Helvetica World"/>
              </a:rPr>
              <a:t>ynchronizing manufacturing start points with confirmed demand to fundamentally resolve the inherent overproduction risks of physical products.</a:t>
            </a:r>
          </a:p>
        </p:txBody>
      </p:sp>
      <p:sp>
        <p:nvSpPr>
          <p:cNvPr name="TextBox 11" id="11"/>
          <p:cNvSpPr txBox="true"/>
          <p:nvPr/>
        </p:nvSpPr>
        <p:spPr>
          <a:xfrm rot="0">
            <a:off x="1028700" y="7824395"/>
            <a:ext cx="12675817" cy="481329"/>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Z</a:t>
            </a:r>
            <a:r>
              <a:rPr lang="en-US" sz="2800" spc="-42">
                <a:solidFill>
                  <a:srgbClr val="FFFFFF"/>
                </a:solidFill>
                <a:latin typeface="Helvetica World"/>
                <a:ea typeface="Helvetica World"/>
                <a:cs typeface="Helvetica World"/>
                <a:sym typeface="Helvetica World"/>
              </a:rPr>
              <a:t>ero-Waste Target</a:t>
            </a:r>
          </a:p>
        </p:txBody>
      </p:sp>
      <p:sp>
        <p:nvSpPr>
          <p:cNvPr name="AutoShape 12" id="12"/>
          <p:cNvSpPr/>
          <p:nvPr/>
        </p:nvSpPr>
        <p:spPr>
          <a:xfrm flipH="true" flipV="true">
            <a:off x="1028700" y="5556899"/>
            <a:ext cx="16230600" cy="0"/>
          </a:xfrm>
          <a:prstGeom prst="line">
            <a:avLst/>
          </a:prstGeom>
          <a:ln cap="rnd" w="19050">
            <a:solidFill>
              <a:srgbClr val="FFFFFF">
                <a:alpha val="29804"/>
              </a:srgbClr>
            </a:solidFill>
            <a:prstDash val="sysDash"/>
            <a:headEnd type="none" len="sm" w="sm"/>
            <a:tailEnd type="none" len="sm" w="sm"/>
          </a:ln>
        </p:spPr>
      </p:sp>
      <p:sp>
        <p:nvSpPr>
          <p:cNvPr name="AutoShape 13" id="13"/>
          <p:cNvSpPr/>
          <p:nvPr/>
        </p:nvSpPr>
        <p:spPr>
          <a:xfrm flipH="true" flipV="true">
            <a:off x="1028700" y="7415273"/>
            <a:ext cx="16230600" cy="0"/>
          </a:xfrm>
          <a:prstGeom prst="line">
            <a:avLst/>
          </a:prstGeom>
          <a:ln cap="rnd" w="19050">
            <a:solidFill>
              <a:srgbClr val="FFFFFF">
                <a:alpha val="29804"/>
              </a:srgbClr>
            </a:solidFill>
            <a:prstDash val="sysDash"/>
            <a:headEnd type="none" len="sm" w="sm"/>
            <a:tailEnd type="none" len="sm" w="sm"/>
          </a:ln>
        </p:spPr>
      </p:sp>
      <p:sp>
        <p:nvSpPr>
          <p:cNvPr name="TextBox 14" id="14"/>
          <p:cNvSpPr txBox="true"/>
          <p:nvPr/>
        </p:nvSpPr>
        <p:spPr>
          <a:xfrm rot="0">
            <a:off x="1028700" y="2262973"/>
            <a:ext cx="13567470" cy="863600"/>
          </a:xfrm>
          <a:prstGeom prst="rect">
            <a:avLst/>
          </a:prstGeom>
        </p:spPr>
        <p:txBody>
          <a:bodyPr anchor="t" rtlCol="false" tIns="0" lIns="0" bIns="0" rIns="0">
            <a:spAutoFit/>
          </a:bodyPr>
          <a:lstStyle/>
          <a:p>
            <a:pPr algn="l">
              <a:lnSpc>
                <a:spcPts val="7000"/>
              </a:lnSpc>
              <a:spcBef>
                <a:spcPct val="0"/>
              </a:spcBef>
            </a:pPr>
            <a:r>
              <a:rPr lang="en-US" sz="5000" spc="-50">
                <a:solidFill>
                  <a:srgbClr val="FFFFFF"/>
                </a:solidFill>
                <a:latin typeface="Helvetica World"/>
                <a:ea typeface="Helvetica World"/>
                <a:cs typeface="Helvetica World"/>
                <a:sym typeface="Helvetica World"/>
              </a:rPr>
              <a:t>Neut</a:t>
            </a:r>
            <a:r>
              <a:rPr lang="en-US" sz="5000" spc="-50">
                <a:solidFill>
                  <a:srgbClr val="FFFFFF"/>
                </a:solidFill>
                <a:latin typeface="Helvetica World"/>
                <a:ea typeface="Helvetica World"/>
                <a:cs typeface="Helvetica World"/>
                <a:sym typeface="Helvetica World"/>
              </a:rPr>
              <a:t>ralizing Structural Risks through Verified Data</a:t>
            </a:r>
          </a:p>
        </p:txBody>
      </p:sp>
      <p:sp>
        <p:nvSpPr>
          <p:cNvPr name="TextBox 15" id="15"/>
          <p:cNvSpPr txBox="true"/>
          <p:nvPr/>
        </p:nvSpPr>
        <p:spPr>
          <a:xfrm rot="0">
            <a:off x="15449996" y="990600"/>
            <a:ext cx="1809304"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Success Metrics</a:t>
            </a:r>
          </a:p>
        </p:txBody>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8" id="1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65</a:t>
              </a:r>
            </a:p>
          </p:txBody>
        </p:sp>
      </p:grpSp>
    </p:spTree>
  </p:cSld>
  <p:clrMapOvr>
    <a:masterClrMapping/>
  </p:clrMapOvr>
</p:sld>
</file>

<file path=ppt/slides/slide66.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23080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Conclusion</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2761296"/>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Proposition for the Decision-making: Strategic Ownership</a:t>
            </a:r>
          </a:p>
        </p:txBody>
      </p:sp>
      <p:sp>
        <p:nvSpPr>
          <p:cNvPr name="TextBox 7" id="7"/>
          <p:cNvSpPr txBox="true"/>
          <p:nvPr/>
        </p:nvSpPr>
        <p:spPr>
          <a:xfrm rot="0">
            <a:off x="1028700" y="4151946"/>
            <a:ext cx="5380583" cy="481330"/>
          </a:xfrm>
          <a:prstGeom prst="rect">
            <a:avLst/>
          </a:prstGeom>
        </p:spPr>
        <p:txBody>
          <a:bodyPr anchor="t" rtlCol="false" tIns="0" lIns="0" bIns="0" rIns="0">
            <a:spAutoFit/>
          </a:bodyPr>
          <a:lstStyle/>
          <a:p>
            <a:pPr algn="l">
              <a:lnSpc>
                <a:spcPts val="3919"/>
              </a:lnSpc>
            </a:pPr>
            <a:r>
              <a:rPr lang="en-US" sz="2799" spc="-27">
                <a:solidFill>
                  <a:srgbClr val="FFFFFF">
                    <a:alpha val="49804"/>
                  </a:srgbClr>
                </a:solidFill>
                <a:latin typeface="Helvetica World"/>
                <a:ea typeface="Helvetica World"/>
                <a:cs typeface="Helvetica World"/>
                <a:sym typeface="Helvetica World"/>
              </a:rPr>
              <a:t>Sy</a:t>
            </a:r>
            <a:r>
              <a:rPr lang="en-US" sz="2799" spc="-27">
                <a:solidFill>
                  <a:srgbClr val="FFFFFF">
                    <a:alpha val="49804"/>
                  </a:srgbClr>
                </a:solidFill>
                <a:latin typeface="Helvetica World"/>
                <a:ea typeface="Helvetica World"/>
                <a:cs typeface="Helvetica World"/>
                <a:sym typeface="Helvetica World"/>
              </a:rPr>
              <a:t>stematizing Demand Intelligence</a:t>
            </a:r>
          </a:p>
        </p:txBody>
      </p:sp>
      <p:sp>
        <p:nvSpPr>
          <p:cNvPr name="TextBox 8" id="8"/>
          <p:cNvSpPr txBox="true"/>
          <p:nvPr/>
        </p:nvSpPr>
        <p:spPr>
          <a:xfrm rot="0">
            <a:off x="1028700" y="7249738"/>
            <a:ext cx="4783619" cy="1092835"/>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Feasibility Score &amp; Data Freshness: Ensuring the technical viability of virtual</a:t>
            </a:r>
            <a:r>
              <a:rPr lang="en-US" sz="1599" spc="-15">
                <a:solidFill>
                  <a:srgbClr val="FFFFFF">
                    <a:alpha val="69804"/>
                  </a:srgbClr>
                </a:solidFill>
                <a:latin typeface="Helvetica World"/>
                <a:ea typeface="Helvetica World"/>
                <a:cs typeface="Helvetica World"/>
                <a:sym typeface="Helvetica World"/>
              </a:rPr>
              <a:t> prototypes and deliver</a:t>
            </a:r>
            <a:r>
              <a:rPr lang="en-US" sz="1599" spc="-15">
                <a:solidFill>
                  <a:srgbClr val="FFFFFF">
                    <a:alpha val="69804"/>
                  </a:srgbClr>
                </a:solidFill>
                <a:latin typeface="Helvetica World"/>
                <a:ea typeface="Helvetica World"/>
                <a:cs typeface="Helvetica World"/>
                <a:sym typeface="Helvetica World"/>
              </a:rPr>
              <a:t>ing real-time demand signals to manufacturers within a 24-hour SLA.</a:t>
            </a:r>
          </a:p>
        </p:txBody>
      </p:sp>
      <p:sp>
        <p:nvSpPr>
          <p:cNvPr name="TextBox 9" id="9"/>
          <p:cNvSpPr txBox="true"/>
          <p:nvPr/>
        </p:nvSpPr>
        <p:spPr>
          <a:xfrm rot="0">
            <a:off x="1028700" y="6048716"/>
            <a:ext cx="4786830"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Amelia AI/ML &amp; </a:t>
            </a:r>
          </a:p>
          <a:p>
            <a:pPr algn="l">
              <a:lnSpc>
                <a:spcPts val="3359"/>
              </a:lnSpc>
            </a:pPr>
            <a:r>
              <a:rPr lang="en-US" sz="2400" spc="-24">
                <a:solidFill>
                  <a:srgbClr val="FFFFFF"/>
                </a:solidFill>
                <a:latin typeface="Helvetica World"/>
                <a:ea typeface="Helvetica World"/>
                <a:cs typeface="Helvetica World"/>
                <a:sym typeface="Helvetica World"/>
              </a:rPr>
              <a:t>Data Platform Team</a:t>
            </a:r>
          </a:p>
        </p:txBody>
      </p:sp>
      <p:sp>
        <p:nvSpPr>
          <p:cNvPr name="TextBox 10" id="10"/>
          <p:cNvSpPr txBox="true"/>
          <p:nvPr/>
        </p:nvSpPr>
        <p:spPr>
          <a:xfrm rot="0">
            <a:off x="6752191" y="7249738"/>
            <a:ext cx="4061176" cy="1092835"/>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Fulfillment Commitmen</a:t>
            </a:r>
            <a:r>
              <a:rPr lang="en-US" sz="1599" spc="-15">
                <a:solidFill>
                  <a:srgbClr val="FFFFFF">
                    <a:alpha val="69804"/>
                  </a:srgbClr>
                </a:solidFill>
                <a:latin typeface="Helvetica World"/>
                <a:ea typeface="Helvetica World"/>
                <a:cs typeface="Helvetica World"/>
                <a:sym typeface="Helvetica World"/>
              </a:rPr>
              <a:t>t: Managing the Order Fulfillment Rate (OFR) to ensure that pre-validated reservations successfull</a:t>
            </a:r>
            <a:r>
              <a:rPr lang="en-US" sz="1599" spc="-15">
                <a:solidFill>
                  <a:srgbClr val="FFFFFF">
                    <a:alpha val="69804"/>
                  </a:srgbClr>
                </a:solidFill>
                <a:latin typeface="Helvetica World"/>
                <a:ea typeface="Helvetica World"/>
                <a:cs typeface="Helvetica World"/>
                <a:sym typeface="Helvetica World"/>
              </a:rPr>
              <a:t>y transition into physical products.</a:t>
            </a:r>
          </a:p>
        </p:txBody>
      </p:sp>
      <p:sp>
        <p:nvSpPr>
          <p:cNvPr name="TextBox 11" id="11"/>
          <p:cNvSpPr txBox="true"/>
          <p:nvPr/>
        </p:nvSpPr>
        <p:spPr>
          <a:xfrm rot="0">
            <a:off x="6752191" y="6048716"/>
            <a:ext cx="4783619"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Seller Operations &amp; </a:t>
            </a:r>
          </a:p>
          <a:p>
            <a:pPr algn="l">
              <a:lnSpc>
                <a:spcPts val="3359"/>
              </a:lnSpc>
            </a:pPr>
            <a:r>
              <a:rPr lang="en-US" sz="2400" spc="-24">
                <a:solidFill>
                  <a:srgbClr val="FFFFFF"/>
                </a:solidFill>
                <a:latin typeface="Helvetica World"/>
                <a:ea typeface="Helvetica World"/>
                <a:cs typeface="Helvetica World"/>
                <a:sym typeface="Helvetica World"/>
              </a:rPr>
              <a:t>Manufacturing Partners</a:t>
            </a:r>
          </a:p>
        </p:txBody>
      </p:sp>
      <p:sp>
        <p:nvSpPr>
          <p:cNvPr name="TextBox 12" id="12"/>
          <p:cNvSpPr txBox="true"/>
          <p:nvPr/>
        </p:nvSpPr>
        <p:spPr>
          <a:xfrm rot="0">
            <a:off x="12475681" y="7227168"/>
            <a:ext cx="4583728" cy="81661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Structural Risk Mitigation: Estab</a:t>
            </a:r>
            <a:r>
              <a:rPr lang="en-US" sz="1599" spc="-15">
                <a:solidFill>
                  <a:srgbClr val="FFFFFF">
                    <a:alpha val="69804"/>
                  </a:srgbClr>
                </a:solidFill>
                <a:latin typeface="Helvetica World"/>
                <a:ea typeface="Helvetica World"/>
                <a:cs typeface="Helvetica World"/>
                <a:sym typeface="Helvetica World"/>
              </a:rPr>
              <a:t>lishing new legal f</a:t>
            </a:r>
            <a:r>
              <a:rPr lang="en-US" sz="1599" spc="-15">
                <a:solidFill>
                  <a:srgbClr val="FFFFFF">
                    <a:alpha val="69804"/>
                  </a:srgbClr>
                </a:solidFill>
                <a:latin typeface="Helvetica World"/>
                <a:ea typeface="Helvetica World"/>
                <a:cs typeface="Helvetica World"/>
                <a:sym typeface="Helvetica World"/>
              </a:rPr>
              <a:t>rameworks for AI-generated product indemnification and IP ownership in a demand-first economy.</a:t>
            </a:r>
          </a:p>
        </p:txBody>
      </p:sp>
      <p:sp>
        <p:nvSpPr>
          <p:cNvPr name="TextBox 13" id="13"/>
          <p:cNvSpPr txBox="true"/>
          <p:nvPr/>
        </p:nvSpPr>
        <p:spPr>
          <a:xfrm rot="0">
            <a:off x="12475681" y="6026146"/>
            <a:ext cx="4783619"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Trust &amp; Safety / </a:t>
            </a:r>
          </a:p>
          <a:p>
            <a:pPr algn="l">
              <a:lnSpc>
                <a:spcPts val="3359"/>
              </a:lnSpc>
            </a:pPr>
            <a:r>
              <a:rPr lang="en-US" sz="2400" spc="-24">
                <a:solidFill>
                  <a:srgbClr val="FFFFFF"/>
                </a:solidFill>
                <a:latin typeface="Helvetica World"/>
                <a:ea typeface="Helvetica World"/>
                <a:cs typeface="Helvetica World"/>
                <a:sym typeface="Helvetica World"/>
              </a:rPr>
              <a:t>Legal Team</a:t>
            </a:r>
          </a:p>
        </p:txBody>
      </p:sp>
      <p:sp>
        <p:nvSpPr>
          <p:cNvPr name="AutoShape 14" id="14"/>
          <p:cNvSpPr/>
          <p:nvPr/>
        </p:nvSpPr>
        <p:spPr>
          <a:xfrm>
            <a:off x="6282255" y="6064246"/>
            <a:ext cx="0" cy="2278326"/>
          </a:xfrm>
          <a:prstGeom prst="line">
            <a:avLst/>
          </a:prstGeom>
          <a:ln cap="rnd" w="19050">
            <a:solidFill>
              <a:srgbClr val="FFFFFF">
                <a:alpha val="49804"/>
              </a:srgbClr>
            </a:solidFill>
            <a:prstDash val="sysDash"/>
            <a:headEnd type="none" len="sm" w="sm"/>
            <a:tailEnd type="none" len="sm" w="sm"/>
          </a:ln>
        </p:spPr>
      </p:sp>
      <p:sp>
        <p:nvSpPr>
          <p:cNvPr name="AutoShape 15" id="15"/>
          <p:cNvSpPr/>
          <p:nvPr/>
        </p:nvSpPr>
        <p:spPr>
          <a:xfrm>
            <a:off x="12002534" y="6064246"/>
            <a:ext cx="0" cy="2278326"/>
          </a:xfrm>
          <a:prstGeom prst="line">
            <a:avLst/>
          </a:prstGeom>
          <a:ln cap="rnd" w="19050">
            <a:solidFill>
              <a:srgbClr val="FFFFFF">
                <a:alpha val="49804"/>
              </a:srgbClr>
            </a:solidFill>
            <a:prstDash val="sysDash"/>
            <a:headEnd type="none" len="sm" w="sm"/>
            <a:tailEnd type="none" len="sm" w="sm"/>
          </a:ln>
        </p:spPr>
      </p:sp>
      <p:sp>
        <p:nvSpPr>
          <p:cNvPr name="TextBox 16" id="16"/>
          <p:cNvSpPr txBox="true"/>
          <p:nvPr/>
        </p:nvSpPr>
        <p:spPr>
          <a:xfrm rot="0">
            <a:off x="14779228" y="990600"/>
            <a:ext cx="2480072"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Stakeholder Alignment</a:t>
            </a:r>
          </a:p>
        </p:txBody>
      </p:sp>
      <p:grpSp>
        <p:nvGrpSpPr>
          <p:cNvPr name="Group 17" id="17"/>
          <p:cNvGrpSpPr/>
          <p:nvPr/>
        </p:nvGrpSpPr>
        <p:grpSpPr>
          <a:xfrm rot="0">
            <a:off x="1028700" y="9258300"/>
            <a:ext cx="16230600" cy="301625"/>
            <a:chOff x="0" y="0"/>
            <a:chExt cx="21640800" cy="402167"/>
          </a:xfrm>
        </p:grpSpPr>
        <p:sp>
          <p:nvSpPr>
            <p:cNvPr name="TextBox 18" id="18"/>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9" id="19"/>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66</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877888"/>
            <a:ext cx="16230600" cy="6089651"/>
            <a:chOff x="0" y="0"/>
            <a:chExt cx="21640800" cy="8119534"/>
          </a:xfrm>
        </p:grpSpPr>
        <p:sp>
          <p:nvSpPr>
            <p:cNvPr name="TextBox 3" id="3"/>
            <p:cNvSpPr txBox="true"/>
            <p:nvPr/>
          </p:nvSpPr>
          <p:spPr>
            <a:xfrm rot="0">
              <a:off x="13240941" y="-762000"/>
              <a:ext cx="8399859" cy="8881534"/>
            </a:xfrm>
            <a:prstGeom prst="rect">
              <a:avLst/>
            </a:prstGeom>
          </p:spPr>
          <p:txBody>
            <a:bodyPr anchor="t" rtlCol="false" tIns="0" lIns="0" bIns="0" rIns="0">
              <a:spAutoFit/>
            </a:bodyPr>
            <a:lstStyle/>
            <a:p>
              <a:pPr algn="ctr">
                <a:lnSpc>
                  <a:spcPts val="55999"/>
                </a:lnSpc>
              </a:pPr>
              <a:r>
                <a:rPr lang="en-US" sz="39999" spc="-1999">
                  <a:solidFill>
                    <a:srgbClr val="FFFFFF"/>
                  </a:solidFill>
                  <a:latin typeface="Helvetica World"/>
                  <a:ea typeface="Helvetica World"/>
                  <a:cs typeface="Helvetica World"/>
                  <a:sym typeface="Helvetica World"/>
                </a:rPr>
                <a:t>2.0</a:t>
              </a:r>
            </a:p>
          </p:txBody>
        </p:sp>
        <p:sp>
          <p:nvSpPr>
            <p:cNvPr name="Freeform 4" id="4"/>
            <p:cNvSpPr/>
            <p:nvPr/>
          </p:nvSpPr>
          <p:spPr>
            <a:xfrm flipH="false" flipV="false" rot="0">
              <a:off x="0" y="2418351"/>
              <a:ext cx="2167455" cy="1988279"/>
            </a:xfrm>
            <a:custGeom>
              <a:avLst/>
              <a:gdLst/>
              <a:ahLst/>
              <a:cxnLst/>
              <a:rect r="r" b="b" t="t" l="l"/>
              <a:pathLst>
                <a:path h="1988279" w="2167455">
                  <a:moveTo>
                    <a:pt x="0" y="0"/>
                  </a:moveTo>
                  <a:lnTo>
                    <a:pt x="2167455" y="0"/>
                  </a:lnTo>
                  <a:lnTo>
                    <a:pt x="2167455" y="1988279"/>
                  </a:lnTo>
                  <a:lnTo>
                    <a:pt x="0" y="1988279"/>
                  </a:lnTo>
                  <a:lnTo>
                    <a:pt x="0" y="0"/>
                  </a:lnTo>
                  <a:close/>
                </a:path>
              </a:pathLst>
            </a:custGeom>
            <a:blipFill>
              <a:blip r:embed="rId2"/>
              <a:stretch>
                <a:fillRect l="0" t="0" r="0" b="0"/>
              </a:stretch>
            </a:blipFill>
          </p:spPr>
        </p:sp>
        <p:sp>
          <p:nvSpPr>
            <p:cNvPr name="Freeform 5" id="5"/>
            <p:cNvSpPr/>
            <p:nvPr/>
          </p:nvSpPr>
          <p:spPr>
            <a:xfrm flipH="false" flipV="false" rot="0">
              <a:off x="5830722" y="2445227"/>
              <a:ext cx="4989678" cy="1961403"/>
            </a:xfrm>
            <a:custGeom>
              <a:avLst/>
              <a:gdLst/>
              <a:ahLst/>
              <a:cxnLst/>
              <a:rect r="r" b="b" t="t" l="l"/>
              <a:pathLst>
                <a:path h="1961403" w="4989678">
                  <a:moveTo>
                    <a:pt x="0" y="0"/>
                  </a:moveTo>
                  <a:lnTo>
                    <a:pt x="4989678" y="0"/>
                  </a:lnTo>
                  <a:lnTo>
                    <a:pt x="4989678" y="1961403"/>
                  </a:lnTo>
                  <a:lnTo>
                    <a:pt x="0" y="1961403"/>
                  </a:lnTo>
                  <a:lnTo>
                    <a:pt x="0" y="0"/>
                  </a:lnTo>
                  <a:close/>
                </a:path>
              </a:pathLst>
            </a:custGeom>
            <a:blipFill>
              <a:blip r:embed="rId3"/>
              <a:stretch>
                <a:fillRect l="0" t="0" r="0" b="0"/>
              </a:stretch>
            </a:blipFill>
          </p:spPr>
        </p:sp>
        <p:sp>
          <p:nvSpPr>
            <p:cNvPr name="TextBox 6" id="6"/>
            <p:cNvSpPr txBox="true"/>
            <p:nvPr/>
          </p:nvSpPr>
          <p:spPr>
            <a:xfrm rot="0">
              <a:off x="3863754" y="2641389"/>
              <a:ext cx="270669" cy="1418378"/>
            </a:xfrm>
            <a:prstGeom prst="rect">
              <a:avLst/>
            </a:prstGeom>
          </p:spPr>
          <p:txBody>
            <a:bodyPr anchor="t" rtlCol="false" tIns="0" lIns="0" bIns="0" rIns="0">
              <a:spAutoFit/>
            </a:bodyPr>
            <a:lstStyle/>
            <a:p>
              <a:pPr algn="l">
                <a:lnSpc>
                  <a:spcPts val="8959"/>
                </a:lnSpc>
              </a:pPr>
              <a:r>
                <a:rPr lang="en-US" sz="6399" spc="-63">
                  <a:solidFill>
                    <a:srgbClr val="FFFFFF"/>
                  </a:solidFill>
                  <a:latin typeface="Helvetica World"/>
                  <a:ea typeface="Helvetica World"/>
                  <a:cs typeface="Helvetica World"/>
                  <a:sym typeface="Helvetica World"/>
                </a:rPr>
                <a:t>|</a:t>
              </a:r>
            </a:p>
          </p:txBody>
        </p:sp>
      </p:grpSp>
      <p:sp>
        <p:nvSpPr>
          <p:cNvPr name="TextBox 7" id="7"/>
          <p:cNvSpPr txBox="true"/>
          <p:nvPr/>
        </p:nvSpPr>
        <p:spPr>
          <a:xfrm rot="0">
            <a:off x="1028700" y="990600"/>
            <a:ext cx="123080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Conclusion</a:t>
            </a:r>
          </a:p>
        </p:txBody>
      </p:sp>
      <p:grpSp>
        <p:nvGrpSpPr>
          <p:cNvPr name="Group 8" id="8"/>
          <p:cNvGrpSpPr/>
          <p:nvPr/>
        </p:nvGrpSpPr>
        <p:grpSpPr>
          <a:xfrm rot="0">
            <a:off x="1028700" y="727075"/>
            <a:ext cx="16230600" cy="301625"/>
            <a:chOff x="0" y="0"/>
            <a:chExt cx="21640800" cy="402167"/>
          </a:xfrm>
        </p:grpSpPr>
        <p:sp>
          <p:nvSpPr>
            <p:cNvPr name="TextBox 9" id="9"/>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11" id="11"/>
          <p:cNvGrpSpPr/>
          <p:nvPr/>
        </p:nvGrpSpPr>
        <p:grpSpPr>
          <a:xfrm rot="0">
            <a:off x="11077566" y="7118487"/>
            <a:ext cx="6181734" cy="1355725"/>
            <a:chOff x="0" y="0"/>
            <a:chExt cx="8242311" cy="1807633"/>
          </a:xfrm>
        </p:grpSpPr>
        <p:sp>
          <p:nvSpPr>
            <p:cNvPr name="TextBox 12" id="12"/>
            <p:cNvSpPr txBox="true"/>
            <p:nvPr/>
          </p:nvSpPr>
          <p:spPr>
            <a:xfrm rot="0">
              <a:off x="0" y="728345"/>
              <a:ext cx="7491542" cy="1079288"/>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By</a:t>
              </a:r>
              <a:r>
                <a:rPr lang="en-US" sz="1599" spc="-15">
                  <a:solidFill>
                    <a:srgbClr val="FFFFFF">
                      <a:alpha val="49804"/>
                    </a:srgbClr>
                  </a:solidFill>
                  <a:latin typeface="Helvetica World"/>
                  <a:ea typeface="Helvetica World"/>
                  <a:cs typeface="Helvetica World"/>
                  <a:sym typeface="Helvetica World"/>
                </a:rPr>
                <a:t> validating absolute demand through Rufus 2.0 before a single unit is manufactured, Amazon will lead the global market into a new era of proactive commerce</a:t>
              </a:r>
            </a:p>
          </p:txBody>
        </p:sp>
        <p:sp>
          <p:nvSpPr>
            <p:cNvPr name="TextBox 13" id="13"/>
            <p:cNvSpPr txBox="true"/>
            <p:nvPr/>
          </p:nvSpPr>
          <p:spPr>
            <a:xfrm rot="0">
              <a:off x="0" y="-38100"/>
              <a:ext cx="8242311"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AI Demand-validation Economy</a:t>
              </a:r>
            </a:p>
          </p:txBody>
        </p:sp>
      </p:grpSp>
      <p:grpSp>
        <p:nvGrpSpPr>
          <p:cNvPr name="Group 14" id="14"/>
          <p:cNvGrpSpPr/>
          <p:nvPr/>
        </p:nvGrpSpPr>
        <p:grpSpPr>
          <a:xfrm rot="0">
            <a:off x="1028700" y="7118487"/>
            <a:ext cx="6181734" cy="1358546"/>
            <a:chOff x="0" y="0"/>
            <a:chExt cx="8242311" cy="1811395"/>
          </a:xfrm>
        </p:grpSpPr>
        <p:sp>
          <p:nvSpPr>
            <p:cNvPr name="TextBox 15" id="15"/>
            <p:cNvSpPr txBox="true"/>
            <p:nvPr/>
          </p:nvSpPr>
          <p:spPr>
            <a:xfrm rot="0">
              <a:off x="0" y="732107"/>
              <a:ext cx="7590674" cy="1079288"/>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We no l</a:t>
              </a:r>
              <a:r>
                <a:rPr lang="en-US" sz="1599" spc="-15">
                  <a:solidFill>
                    <a:srgbClr val="FFFFFF">
                      <a:alpha val="49804"/>
                    </a:srgbClr>
                  </a:solidFill>
                  <a:latin typeface="Helvetica World"/>
                  <a:ea typeface="Helvetica World"/>
                  <a:cs typeface="Helvetica World"/>
                  <a:sym typeface="Helvetica World"/>
                </a:rPr>
                <a:t>onger</a:t>
              </a:r>
              <a:r>
                <a:rPr lang="en-US" sz="1599" spc="-15">
                  <a:solidFill>
                    <a:srgbClr val="FFFFFF">
                      <a:alpha val="49804"/>
                    </a:srgbClr>
                  </a:solidFill>
                  <a:latin typeface="Helvetica World"/>
                  <a:ea typeface="Helvetica World"/>
                  <a:cs typeface="Helvetica World"/>
                  <a:sym typeface="Helvetica World"/>
                </a:rPr>
                <a:t> merely move inventory; we synchronize human intent with manufacturing to eliminate the structural risk of physical products and high volume required production.</a:t>
              </a:r>
            </a:p>
          </p:txBody>
        </p:sp>
        <p:sp>
          <p:nvSpPr>
            <p:cNvPr name="TextBox 16" id="16"/>
            <p:cNvSpPr txBox="true"/>
            <p:nvPr/>
          </p:nvSpPr>
          <p:spPr>
            <a:xfrm rot="0">
              <a:off x="0" y="-38100"/>
              <a:ext cx="8242311" cy="51562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Synchronizing Intent with Global Production</a:t>
              </a:r>
            </a:p>
          </p:txBody>
        </p:sp>
      </p:grpSp>
      <p:sp>
        <p:nvSpPr>
          <p:cNvPr name="AutoShape 17" id="17"/>
          <p:cNvSpPr/>
          <p:nvPr/>
        </p:nvSpPr>
        <p:spPr>
          <a:xfrm>
            <a:off x="9144000" y="6967538"/>
            <a:ext cx="0" cy="1519020"/>
          </a:xfrm>
          <a:prstGeom prst="line">
            <a:avLst/>
          </a:prstGeom>
          <a:ln cap="rnd" w="19050">
            <a:solidFill>
              <a:srgbClr val="FFFFFF">
                <a:alpha val="49804"/>
              </a:srgbClr>
            </a:solidFill>
            <a:prstDash val="sysDash"/>
            <a:headEnd type="none" len="sm" w="sm"/>
            <a:tailEnd type="none" len="sm" w="sm"/>
          </a:ln>
        </p:spPr>
      </p:sp>
      <p:sp>
        <p:nvSpPr>
          <p:cNvPr name="TextBox 18" id="18"/>
          <p:cNvSpPr txBox="true"/>
          <p:nvPr/>
        </p:nvSpPr>
        <p:spPr>
          <a:xfrm rot="0">
            <a:off x="1028700" y="5143500"/>
            <a:ext cx="8657983" cy="723900"/>
          </a:xfrm>
          <a:prstGeom prst="rect">
            <a:avLst/>
          </a:prstGeom>
        </p:spPr>
        <p:txBody>
          <a:bodyPr anchor="t" rtlCol="false" tIns="0" lIns="0" bIns="0" rIns="0">
            <a:spAutoFit/>
          </a:bodyPr>
          <a:lstStyle/>
          <a:p>
            <a:pPr algn="l">
              <a:lnSpc>
                <a:spcPts val="5759"/>
              </a:lnSpc>
            </a:pPr>
            <a:r>
              <a:rPr lang="en-US" sz="4800" spc="-72">
                <a:solidFill>
                  <a:srgbClr val="FFFFFF">
                    <a:alpha val="49804"/>
                  </a:srgbClr>
                </a:solidFill>
                <a:latin typeface="Helvetica World"/>
                <a:ea typeface="Helvetica World"/>
                <a:cs typeface="Helvetica World"/>
                <a:sym typeface="Helvetica World"/>
              </a:rPr>
              <a:t>Beyond Prediction</a:t>
            </a:r>
          </a:p>
        </p:txBody>
      </p:sp>
      <p:sp>
        <p:nvSpPr>
          <p:cNvPr name="TextBox 19" id="19"/>
          <p:cNvSpPr txBox="true"/>
          <p:nvPr/>
        </p:nvSpPr>
        <p:spPr>
          <a:xfrm rot="0">
            <a:off x="1028700" y="4419600"/>
            <a:ext cx="8657983" cy="723900"/>
          </a:xfrm>
          <a:prstGeom prst="rect">
            <a:avLst/>
          </a:prstGeom>
        </p:spPr>
        <p:txBody>
          <a:bodyPr anchor="t" rtlCol="false" tIns="0" lIns="0" bIns="0" rIns="0">
            <a:spAutoFit/>
          </a:bodyPr>
          <a:lstStyle/>
          <a:p>
            <a:pPr algn="l">
              <a:lnSpc>
                <a:spcPts val="5759"/>
              </a:lnSpc>
            </a:pPr>
            <a:r>
              <a:rPr lang="en-US" sz="4800" spc="-72">
                <a:solidFill>
                  <a:srgbClr val="FFFFFF"/>
                </a:solidFill>
                <a:latin typeface="Helvetica World"/>
                <a:ea typeface="Helvetica World"/>
                <a:cs typeface="Helvetica World"/>
                <a:sym typeface="Helvetica World"/>
              </a:rPr>
              <a:t>Prospect</a:t>
            </a:r>
            <a:r>
              <a:rPr lang="en-US" sz="4800" spc="-72">
                <a:solidFill>
                  <a:srgbClr val="FFFFFF"/>
                </a:solidFill>
                <a:latin typeface="Helvetica World"/>
                <a:ea typeface="Helvetica World"/>
                <a:cs typeface="Helvetica World"/>
                <a:sym typeface="Helvetica World"/>
              </a:rPr>
              <a:t>ive</a:t>
            </a:r>
          </a:p>
        </p:txBody>
      </p:sp>
      <p:grpSp>
        <p:nvGrpSpPr>
          <p:cNvPr name="Group 20" id="20"/>
          <p:cNvGrpSpPr/>
          <p:nvPr/>
        </p:nvGrpSpPr>
        <p:grpSpPr>
          <a:xfrm rot="0">
            <a:off x="1028700" y="9258300"/>
            <a:ext cx="16230600" cy="301625"/>
            <a:chOff x="0" y="0"/>
            <a:chExt cx="21640800" cy="402167"/>
          </a:xfrm>
        </p:grpSpPr>
        <p:sp>
          <p:nvSpPr>
            <p:cNvPr name="TextBox 21" id="2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22" id="2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67</a:t>
              </a:r>
            </a:p>
          </p:txBody>
        </p:sp>
      </p:grpSp>
    </p:spTree>
  </p:cSld>
  <p:clrMapOvr>
    <a:masterClrMapping/>
  </p:clrMapOvr>
</p:sld>
</file>

<file path=ppt/slides/slide68.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4775210" y="990600"/>
            <a:ext cx="2484090" cy="3397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Limiation of the Project</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6" id="6"/>
          <p:cNvSpPr txBox="true"/>
          <p:nvPr/>
        </p:nvSpPr>
        <p:spPr>
          <a:xfrm rot="0">
            <a:off x="1028700" y="7121780"/>
            <a:ext cx="4783619" cy="136906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Estimation-Based Modeling: The current project is architected on high-level strategic estimation. At this stage, full-scale</a:t>
            </a:r>
            <a:r>
              <a:rPr lang="en-US" sz="1599" spc="-15">
                <a:solidFill>
                  <a:srgbClr val="FFFFFF">
                    <a:alpha val="69804"/>
                  </a:srgbClr>
                </a:solidFill>
                <a:latin typeface="Helvetica World"/>
                <a:ea typeface="Helvetica World"/>
                <a:cs typeface="Helvetica World"/>
                <a:sym typeface="Helvetica World"/>
              </a:rPr>
              <a:t> implementation is limited by the absence of diverse,</a:t>
            </a:r>
            <a:r>
              <a:rPr lang="en-US" sz="1599" spc="-15">
                <a:solidFill>
                  <a:srgbClr val="FFFFFF">
                    <a:alpha val="69804"/>
                  </a:srgbClr>
                </a:solidFill>
                <a:latin typeface="Helvetica World"/>
                <a:ea typeface="Helvetica World"/>
                <a:cs typeface="Helvetica World"/>
                <a:sym typeface="Helvetica World"/>
              </a:rPr>
              <a:t> real-world use case validations to stress-test the system's adaptability.</a:t>
            </a:r>
          </a:p>
        </p:txBody>
      </p:sp>
      <p:sp>
        <p:nvSpPr>
          <p:cNvPr name="TextBox 7" id="7"/>
          <p:cNvSpPr txBox="true"/>
          <p:nvPr/>
        </p:nvSpPr>
        <p:spPr>
          <a:xfrm rot="0">
            <a:off x="1028700" y="5920758"/>
            <a:ext cx="4786830"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Absence of Empirical </a:t>
            </a:r>
          </a:p>
          <a:p>
            <a:pPr algn="l">
              <a:lnSpc>
                <a:spcPts val="3359"/>
              </a:lnSpc>
            </a:pPr>
            <a:r>
              <a:rPr lang="en-US" sz="2400" spc="-24">
                <a:solidFill>
                  <a:srgbClr val="FFFFFF"/>
                </a:solidFill>
                <a:latin typeface="Helvetica World"/>
                <a:ea typeface="Helvetica World"/>
                <a:cs typeface="Helvetica World"/>
                <a:sym typeface="Helvetica World"/>
              </a:rPr>
              <a:t>Use Case Validation</a:t>
            </a:r>
          </a:p>
        </p:txBody>
      </p:sp>
      <p:sp>
        <p:nvSpPr>
          <p:cNvPr name="TextBox 8" id="8"/>
          <p:cNvSpPr txBox="true"/>
          <p:nvPr/>
        </p:nvSpPr>
        <p:spPr>
          <a:xfrm rot="0">
            <a:off x="6752191" y="7121780"/>
            <a:ext cx="4783619" cy="136906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Autonomy Standards: Establishing clear ethical and operational boundaries for AI autonomy remains a challenge. Further calibration is required to bridge the gap between "Predicted Intent" and "Actual Purchase Commitment" to ensure financial viability.</a:t>
            </a:r>
          </a:p>
        </p:txBody>
      </p:sp>
      <p:sp>
        <p:nvSpPr>
          <p:cNvPr name="TextBox 9" id="9"/>
          <p:cNvSpPr txBox="true"/>
          <p:nvPr/>
        </p:nvSpPr>
        <p:spPr>
          <a:xfrm rot="0">
            <a:off x="6752191" y="5920758"/>
            <a:ext cx="4783619"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Governance of AI Autonomy &amp; Purchase Intent</a:t>
            </a:r>
          </a:p>
        </p:txBody>
      </p:sp>
      <p:sp>
        <p:nvSpPr>
          <p:cNvPr name="TextBox 10" id="10"/>
          <p:cNvSpPr txBox="true"/>
          <p:nvPr/>
        </p:nvSpPr>
        <p:spPr>
          <a:xfrm rot="0">
            <a:off x="12475681" y="7099211"/>
            <a:ext cx="4783619" cy="1369060"/>
          </a:xfrm>
          <a:prstGeom prst="rect">
            <a:avLst/>
          </a:prstGeom>
        </p:spPr>
        <p:txBody>
          <a:bodyPr anchor="t" rtlCol="false" tIns="0" lIns="0" bIns="0" rIns="0">
            <a:spAutoFit/>
          </a:bodyPr>
          <a:lstStyle/>
          <a:p>
            <a:pPr algn="l">
              <a:lnSpc>
                <a:spcPts val="2239"/>
              </a:lnSpc>
            </a:pPr>
            <a:r>
              <a:rPr lang="en-US" sz="1599" spc="-15">
                <a:solidFill>
                  <a:srgbClr val="FFFFFF">
                    <a:alpha val="69804"/>
                  </a:srgbClr>
                </a:solidFill>
                <a:latin typeface="Helvetica World"/>
                <a:ea typeface="Helvetica World"/>
                <a:cs typeface="Helvetica World"/>
                <a:sym typeface="Helvetica World"/>
              </a:rPr>
              <a:t>Lifecycle Management: For highly customized or niche products man</a:t>
            </a:r>
            <a:r>
              <a:rPr lang="en-US" sz="1599" spc="-15">
                <a:solidFill>
                  <a:srgbClr val="FFFFFF">
                    <a:alpha val="69804"/>
                  </a:srgbClr>
                </a:solidFill>
                <a:latin typeface="Helvetica World"/>
                <a:ea typeface="Helvetica World"/>
                <a:cs typeface="Helvetica World"/>
                <a:sym typeface="Helvetica World"/>
              </a:rPr>
              <a:t>ifested through Rufus 2.0, designing a standa</a:t>
            </a:r>
            <a:r>
              <a:rPr lang="en-US" sz="1599" spc="-15">
                <a:solidFill>
                  <a:srgbClr val="FFFFFF">
                    <a:alpha val="69804"/>
                  </a:srgbClr>
                </a:solidFill>
                <a:latin typeface="Helvetica World"/>
                <a:ea typeface="Helvetica World"/>
                <a:cs typeface="Helvetica World"/>
                <a:sym typeface="Helvetica World"/>
              </a:rPr>
              <a:t>rdized post-purchase maintenance (A/S) guideline is complex. This requires empirical validation to ensure long-term service transparency and quality.</a:t>
            </a:r>
          </a:p>
        </p:txBody>
      </p:sp>
      <p:sp>
        <p:nvSpPr>
          <p:cNvPr name="TextBox 11" id="11"/>
          <p:cNvSpPr txBox="true"/>
          <p:nvPr/>
        </p:nvSpPr>
        <p:spPr>
          <a:xfrm rot="0">
            <a:off x="12475681" y="5898189"/>
            <a:ext cx="4783619" cy="815340"/>
          </a:xfrm>
          <a:prstGeom prst="rect">
            <a:avLst/>
          </a:prstGeom>
        </p:spPr>
        <p:txBody>
          <a:bodyPr anchor="t" rtlCol="false" tIns="0" lIns="0" bIns="0" rIns="0">
            <a:spAutoFit/>
          </a:bodyPr>
          <a:lstStyle/>
          <a:p>
            <a:pPr algn="l">
              <a:lnSpc>
                <a:spcPts val="3359"/>
              </a:lnSpc>
            </a:pPr>
            <a:r>
              <a:rPr lang="en-US" sz="2400" spc="-24">
                <a:solidFill>
                  <a:srgbClr val="FFFFFF"/>
                </a:solidFill>
                <a:latin typeface="Helvetica World"/>
                <a:ea typeface="Helvetica World"/>
                <a:cs typeface="Helvetica World"/>
                <a:sym typeface="Helvetica World"/>
              </a:rPr>
              <a:t>Post-Fulfillment </a:t>
            </a:r>
          </a:p>
          <a:p>
            <a:pPr algn="l">
              <a:lnSpc>
                <a:spcPts val="3359"/>
              </a:lnSpc>
            </a:pPr>
            <a:r>
              <a:rPr lang="en-US" sz="2400" spc="-24">
                <a:solidFill>
                  <a:srgbClr val="FFFFFF"/>
                </a:solidFill>
                <a:latin typeface="Helvetica World"/>
                <a:ea typeface="Helvetica World"/>
                <a:cs typeface="Helvetica World"/>
                <a:sym typeface="Helvetica World"/>
              </a:rPr>
              <a:t>Transparency &amp; Maintenance</a:t>
            </a:r>
          </a:p>
        </p:txBody>
      </p:sp>
      <p:sp>
        <p:nvSpPr>
          <p:cNvPr name="AutoShape 12" id="12"/>
          <p:cNvSpPr/>
          <p:nvPr/>
        </p:nvSpPr>
        <p:spPr>
          <a:xfrm flipH="true">
            <a:off x="6282255" y="5936289"/>
            <a:ext cx="0" cy="2531982"/>
          </a:xfrm>
          <a:prstGeom prst="line">
            <a:avLst/>
          </a:prstGeom>
          <a:ln cap="rnd" w="19050">
            <a:solidFill>
              <a:srgbClr val="FFFFFF">
                <a:alpha val="49804"/>
              </a:srgbClr>
            </a:solidFill>
            <a:prstDash val="sysDash"/>
            <a:headEnd type="none" len="sm" w="sm"/>
            <a:tailEnd type="none" len="sm" w="sm"/>
          </a:ln>
        </p:spPr>
      </p:sp>
      <p:sp>
        <p:nvSpPr>
          <p:cNvPr name="AutoShape 13" id="13"/>
          <p:cNvSpPr/>
          <p:nvPr/>
        </p:nvSpPr>
        <p:spPr>
          <a:xfrm>
            <a:off x="12002534" y="5936289"/>
            <a:ext cx="0" cy="2531982"/>
          </a:xfrm>
          <a:prstGeom prst="line">
            <a:avLst/>
          </a:prstGeom>
          <a:ln cap="rnd" w="19050">
            <a:solidFill>
              <a:srgbClr val="FFFFFF">
                <a:alpha val="49804"/>
              </a:srgbClr>
            </a:solidFill>
            <a:prstDash val="sysDash"/>
            <a:headEnd type="none" len="sm" w="sm"/>
            <a:tailEnd type="none" len="sm" w="sm"/>
          </a:ln>
        </p:spPr>
      </p:sp>
      <p:sp>
        <p:nvSpPr>
          <p:cNvPr name="TextBox 14" id="14"/>
          <p:cNvSpPr txBox="true"/>
          <p:nvPr/>
        </p:nvSpPr>
        <p:spPr>
          <a:xfrm rot="0">
            <a:off x="1028700" y="990600"/>
            <a:ext cx="1230809"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Conclusion</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7" id="17"/>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68</a:t>
              </a:r>
            </a:p>
          </p:txBody>
        </p:sp>
      </p:grpSp>
      <p:sp>
        <p:nvSpPr>
          <p:cNvPr name="TextBox 18" id="18"/>
          <p:cNvSpPr txBox="true"/>
          <p:nvPr/>
        </p:nvSpPr>
        <p:spPr>
          <a:xfrm rot="0">
            <a:off x="1028700" y="2761296"/>
            <a:ext cx="11219780" cy="1447800"/>
          </a:xfrm>
          <a:prstGeom prst="rect">
            <a:avLst/>
          </a:prstGeom>
        </p:spPr>
        <p:txBody>
          <a:bodyPr anchor="t" rtlCol="false" tIns="0" lIns="0" bIns="0" rIns="0">
            <a:spAutoFit/>
          </a:bodyPr>
          <a:lstStyle/>
          <a:p>
            <a:pPr algn="l">
              <a:lnSpc>
                <a:spcPts val="5760"/>
              </a:lnSpc>
            </a:pPr>
            <a:r>
              <a:rPr lang="en-US" sz="4800" spc="-48">
                <a:solidFill>
                  <a:srgbClr val="FFFFFF"/>
                </a:solidFill>
                <a:latin typeface="Helvetica World"/>
                <a:ea typeface="Helvetica World"/>
                <a:cs typeface="Helvetica World"/>
                <a:sym typeface="Helvetica World"/>
              </a:rPr>
              <a:t>C</a:t>
            </a:r>
            <a:r>
              <a:rPr lang="en-US" sz="4800" spc="-48">
                <a:solidFill>
                  <a:srgbClr val="FFFFFF"/>
                </a:solidFill>
                <a:latin typeface="Helvetica World"/>
                <a:ea typeface="Helvetica World"/>
                <a:cs typeface="Helvetica World"/>
                <a:sym typeface="Helvetica World"/>
              </a:rPr>
              <a:t>ritical Limitations </a:t>
            </a:r>
          </a:p>
          <a:p>
            <a:pPr algn="l">
              <a:lnSpc>
                <a:spcPts val="5760"/>
              </a:lnSpc>
            </a:pPr>
            <a:r>
              <a:rPr lang="en-US" sz="4800" spc="-48">
                <a:solidFill>
                  <a:srgbClr val="FFFFFF"/>
                </a:solidFill>
                <a:latin typeface="Helvetica World"/>
                <a:ea typeface="Helvetica World"/>
                <a:cs typeface="Helvetica World"/>
                <a:sym typeface="Helvetica World"/>
              </a:rPr>
              <a:t>&amp; Future Validation</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13296"/>
            <a:ext cx="16230600" cy="3651885"/>
          </a:xfrm>
          <a:custGeom>
            <a:avLst/>
            <a:gdLst/>
            <a:ahLst/>
            <a:cxnLst/>
            <a:rect r="r" b="b" t="t" l="l"/>
            <a:pathLst>
              <a:path h="3651885" w="16230600">
                <a:moveTo>
                  <a:pt x="0" y="0"/>
                </a:moveTo>
                <a:lnTo>
                  <a:pt x="16230600" y="0"/>
                </a:lnTo>
                <a:lnTo>
                  <a:pt x="16230600" y="3651885"/>
                </a:lnTo>
                <a:lnTo>
                  <a:pt x="0" y="3651885"/>
                </a:lnTo>
                <a:lnTo>
                  <a:pt x="0" y="0"/>
                </a:lnTo>
                <a:close/>
              </a:path>
            </a:pathLst>
          </a:custGeom>
          <a:blipFill>
            <a:blip r:embed="rId2">
              <a:alphaModFix amt="9999"/>
            </a:blip>
            <a:stretch>
              <a:fillRect l="0" t="0" r="0" b="0"/>
            </a:stretch>
          </a:blipFill>
        </p:spPr>
      </p:sp>
      <p:sp>
        <p:nvSpPr>
          <p:cNvPr name="TextBox 3" id="3"/>
          <p:cNvSpPr txBox="true"/>
          <p:nvPr/>
        </p:nvSpPr>
        <p:spPr>
          <a:xfrm rot="0">
            <a:off x="1028700" y="8134985"/>
            <a:ext cx="3869122" cy="1123315"/>
          </a:xfrm>
          <a:prstGeom prst="rect">
            <a:avLst/>
          </a:prstGeom>
        </p:spPr>
        <p:txBody>
          <a:bodyPr anchor="t" rtlCol="false" tIns="0" lIns="0" bIns="0" rIns="0">
            <a:spAutoFit/>
          </a:bodyPr>
          <a:lstStyle/>
          <a:p>
            <a:pPr algn="l">
              <a:lnSpc>
                <a:spcPts val="9223"/>
              </a:lnSpc>
            </a:pPr>
            <a:r>
              <a:rPr lang="en-US" sz="6588" spc="-98">
                <a:solidFill>
                  <a:srgbClr val="FFFFFF"/>
                </a:solidFill>
                <a:latin typeface="Helvetica World"/>
                <a:ea typeface="Helvetica World"/>
                <a:cs typeface="Helvetica World"/>
                <a:sym typeface="Helvetica World"/>
              </a:rPr>
              <a:t>Thank You</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sp>
        <p:nvSpPr>
          <p:cNvPr name="TextBox 7" id="7"/>
          <p:cNvSpPr txBox="true"/>
          <p:nvPr/>
        </p:nvSpPr>
        <p:spPr>
          <a:xfrm rot="0">
            <a:off x="10990508" y="8258810"/>
            <a:ext cx="2305299" cy="95250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Jaehong Hwang</a:t>
            </a:r>
          </a:p>
          <a:p>
            <a:pPr algn="l">
              <a:lnSpc>
                <a:spcPts val="1919"/>
              </a:lnSpc>
            </a:pPr>
            <a:r>
              <a:rPr lang="en-US" sz="1599" spc="-15">
                <a:solidFill>
                  <a:srgbClr val="FFFFFF"/>
                </a:solidFill>
                <a:latin typeface="Helvetica World"/>
                <a:ea typeface="Helvetica World"/>
                <a:cs typeface="Helvetica World"/>
                <a:sym typeface="Helvetica World"/>
              </a:rPr>
              <a:t>[Data Analyst/Research]</a:t>
            </a:r>
          </a:p>
          <a:p>
            <a:pPr algn="l">
              <a:lnSpc>
                <a:spcPts val="1919"/>
              </a:lnSpc>
            </a:pPr>
          </a:p>
          <a:p>
            <a:pPr algn="l">
              <a:lnSpc>
                <a:spcPts val="1919"/>
              </a:lnSpc>
            </a:pPr>
            <a:r>
              <a:rPr lang="en-US" sz="1599" spc="-15" u="sng">
                <a:solidFill>
                  <a:srgbClr val="FFFFFF"/>
                </a:solidFill>
                <a:latin typeface="Helvetica World"/>
                <a:ea typeface="Helvetica World"/>
                <a:cs typeface="Helvetica World"/>
                <a:sym typeface="Helvetica World"/>
              </a:rPr>
              <a:t>jaehonghwang@ocadu.ca</a:t>
            </a:r>
          </a:p>
        </p:txBody>
      </p:sp>
      <p:sp>
        <p:nvSpPr>
          <p:cNvPr name="TextBox 8" id="8"/>
          <p:cNvSpPr txBox="true"/>
          <p:nvPr/>
        </p:nvSpPr>
        <p:spPr>
          <a:xfrm rot="0">
            <a:off x="6530551" y="8258810"/>
            <a:ext cx="2277417" cy="95250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Michael Joongmin Park</a:t>
            </a:r>
          </a:p>
          <a:p>
            <a:pPr algn="l">
              <a:lnSpc>
                <a:spcPts val="1919"/>
              </a:lnSpc>
            </a:pPr>
            <a:r>
              <a:rPr lang="en-US" sz="1599" spc="-15">
                <a:solidFill>
                  <a:srgbClr val="FFFFFF"/>
                </a:solidFill>
                <a:latin typeface="Helvetica World"/>
                <a:ea typeface="Helvetica World"/>
                <a:cs typeface="Helvetica World"/>
                <a:sym typeface="Helvetica World"/>
              </a:rPr>
              <a:t>[Team Lead/Data Analyst]</a:t>
            </a:r>
          </a:p>
          <a:p>
            <a:pPr algn="l">
              <a:lnSpc>
                <a:spcPts val="1919"/>
              </a:lnSpc>
            </a:pPr>
          </a:p>
          <a:p>
            <a:pPr algn="l">
              <a:lnSpc>
                <a:spcPts val="1919"/>
              </a:lnSpc>
            </a:pPr>
            <a:r>
              <a:rPr lang="en-US" sz="1599" spc="-15" u="sng">
                <a:solidFill>
                  <a:srgbClr val="FFFFFF"/>
                </a:solidFill>
                <a:latin typeface="Helvetica World"/>
                <a:ea typeface="Helvetica World"/>
                <a:cs typeface="Helvetica World"/>
                <a:sym typeface="Helvetica World"/>
              </a:rPr>
              <a:t>michael.park@ocadu.ca</a:t>
            </a:r>
          </a:p>
        </p:txBody>
      </p:sp>
      <p:sp>
        <p:nvSpPr>
          <p:cNvPr name="TextBox 9" id="9"/>
          <p:cNvSpPr txBox="true"/>
          <p:nvPr/>
        </p:nvSpPr>
        <p:spPr>
          <a:xfrm rot="0">
            <a:off x="15478346" y="8258810"/>
            <a:ext cx="1780954" cy="952500"/>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Elsie Jang</a:t>
            </a:r>
          </a:p>
          <a:p>
            <a:pPr algn="l">
              <a:lnSpc>
                <a:spcPts val="1919"/>
              </a:lnSpc>
            </a:pPr>
            <a:r>
              <a:rPr lang="en-US" sz="1599" spc="-15">
                <a:solidFill>
                  <a:srgbClr val="FFFFFF"/>
                </a:solidFill>
                <a:latin typeface="Helvetica World"/>
                <a:ea typeface="Helvetica World"/>
                <a:cs typeface="Helvetica World"/>
                <a:sym typeface="Helvetica World"/>
              </a:rPr>
              <a:t>[Research]</a:t>
            </a:r>
          </a:p>
          <a:p>
            <a:pPr algn="l">
              <a:lnSpc>
                <a:spcPts val="1919"/>
              </a:lnSpc>
            </a:pPr>
          </a:p>
          <a:p>
            <a:pPr algn="l">
              <a:lnSpc>
                <a:spcPts val="1919"/>
              </a:lnSpc>
            </a:pPr>
            <a:r>
              <a:rPr lang="en-US" sz="1599" spc="-15" u="sng">
                <a:solidFill>
                  <a:srgbClr val="FFFFFF"/>
                </a:solidFill>
                <a:latin typeface="Helvetica World"/>
                <a:ea typeface="Helvetica World"/>
                <a:cs typeface="Helvetica World"/>
                <a:sym typeface="Helvetica World"/>
              </a:rPr>
              <a:t>elsiejang@ocadu.ca</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12" id="12"/>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69</a:t>
              </a:r>
            </a:p>
          </p:txBody>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335435" cy="3397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Works Cited</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49804"/>
                    </a:srgbClr>
                  </a:solidFill>
                  <a:latin typeface="Helvetica World"/>
                  <a:ea typeface="Helvetica World"/>
                  <a:cs typeface="Helvetica World"/>
                  <a:sym typeface="Helvetica World"/>
                </a:rPr>
                <a:t>March 2nd, 2026 </a:t>
              </a:r>
            </a:p>
          </p:txBody>
        </p:sp>
      </p:grpSp>
      <p:grpSp>
        <p:nvGrpSpPr>
          <p:cNvPr name="Group 6" id="6"/>
          <p:cNvGrpSpPr/>
          <p:nvPr/>
        </p:nvGrpSpPr>
        <p:grpSpPr>
          <a:xfrm rot="0">
            <a:off x="1028700" y="9258300"/>
            <a:ext cx="16230600" cy="301625"/>
            <a:chOff x="0" y="0"/>
            <a:chExt cx="21640800" cy="402167"/>
          </a:xfrm>
        </p:grpSpPr>
        <p:sp>
          <p:nvSpPr>
            <p:cNvPr name="TextBox 7" id="7"/>
            <p:cNvSpPr txBox="true"/>
            <p:nvPr/>
          </p:nvSpPr>
          <p:spPr>
            <a:xfrm rot="0">
              <a:off x="0" y="-38100"/>
              <a:ext cx="10047829" cy="440267"/>
            </a:xfrm>
            <a:prstGeom prst="rect">
              <a:avLst/>
            </a:prstGeom>
          </p:spPr>
          <p:txBody>
            <a:bodyPr anchor="t" rtlCol="false" tIns="0" lIns="0" bIns="0" rIns="0">
              <a:spAutoFit/>
            </a:bodyPr>
            <a:lstStyle/>
            <a:p>
              <a:pPr algn="l">
                <a:lnSpc>
                  <a:spcPts val="2800"/>
                </a:lnSpc>
              </a:pPr>
              <a:r>
                <a:rPr lang="en-US" sz="2000" spc="-30">
                  <a:solidFill>
                    <a:srgbClr val="FFFFFF">
                      <a:alpha val="24706"/>
                    </a:srgbClr>
                  </a:solidFill>
                  <a:latin typeface="Helvetica World"/>
                  <a:ea typeface="Helvetica World"/>
                  <a:cs typeface="Helvetica World"/>
                  <a:sym typeface="Helvetica World"/>
                </a:rPr>
                <a:t>Amazon | Design Audit Report 2</a:t>
              </a:r>
            </a:p>
          </p:txBody>
        </p:sp>
        <p:sp>
          <p:nvSpPr>
            <p:cNvPr name="TextBox 8" id="8"/>
            <p:cNvSpPr txBox="true"/>
            <p:nvPr/>
          </p:nvSpPr>
          <p:spPr>
            <a:xfrm rot="0">
              <a:off x="11592971" y="-38100"/>
              <a:ext cx="10047829" cy="440267"/>
            </a:xfrm>
            <a:prstGeom prst="rect">
              <a:avLst/>
            </a:prstGeom>
          </p:spPr>
          <p:txBody>
            <a:bodyPr anchor="t" rtlCol="false" tIns="0" lIns="0" bIns="0" rIns="0">
              <a:spAutoFit/>
            </a:bodyPr>
            <a:lstStyle/>
            <a:p>
              <a:pPr algn="r">
                <a:lnSpc>
                  <a:spcPts val="2800"/>
                </a:lnSpc>
              </a:pPr>
              <a:r>
                <a:rPr lang="en-US" sz="2000" spc="-30">
                  <a:solidFill>
                    <a:srgbClr val="FFFFFF">
                      <a:alpha val="24706"/>
                    </a:srgbClr>
                  </a:solidFill>
                  <a:latin typeface="Helvetica World"/>
                  <a:ea typeface="Helvetica World"/>
                  <a:cs typeface="Helvetica World"/>
                  <a:sym typeface="Helvetica World"/>
                </a:rPr>
                <a:t>70</a:t>
              </a:r>
            </a:p>
          </p:txBody>
        </p:sp>
      </p:grpSp>
      <p:sp>
        <p:nvSpPr>
          <p:cNvPr name="TextBox 9" id="9"/>
          <p:cNvSpPr txBox="true"/>
          <p:nvPr/>
        </p:nvSpPr>
        <p:spPr>
          <a:xfrm rot="0">
            <a:off x="1028700" y="5086350"/>
            <a:ext cx="16230600" cy="3538220"/>
          </a:xfrm>
          <a:prstGeom prst="rect">
            <a:avLst/>
          </a:prstGeom>
        </p:spPr>
        <p:txBody>
          <a:bodyPr anchor="t" rtlCol="false" tIns="0" lIns="0" bIns="0" rIns="0">
            <a:spAutoFit/>
          </a:bodyPr>
          <a:lstStyle/>
          <a:p>
            <a:pPr algn="l">
              <a:lnSpc>
                <a:spcPts val="2559"/>
              </a:lnSpc>
            </a:pPr>
            <a:r>
              <a:rPr lang="en-US" sz="1599" spc="-23">
                <a:solidFill>
                  <a:srgbClr val="FFFFFF"/>
                </a:solidFill>
                <a:latin typeface="Helvetica World"/>
                <a:ea typeface="Helvetica World"/>
                <a:cs typeface="Helvetica World"/>
                <a:sym typeface="Helvetica World"/>
              </a:rPr>
              <a:t>Amazon. "Rufus." Amazon, n.d., </a:t>
            </a:r>
            <a:r>
              <a:rPr lang="en-US" sz="1599" spc="-23" u="sng">
                <a:solidFill>
                  <a:srgbClr val="FFFFFF"/>
                </a:solidFill>
                <a:latin typeface="Helvetica World"/>
                <a:ea typeface="Helvetica World"/>
                <a:cs typeface="Helvetica World"/>
                <a:sym typeface="Helvetica World"/>
                <a:hlinkClick r:id="rId2" tooltip="https://www.amazon.com/Rufus/b?ie=UTF8&amp;node=121214013011"/>
              </a:rPr>
              <a:t>https://www.amazon.com/Rufus/b?ie=UTF8&amp;node=121214013011</a:t>
            </a:r>
            <a:r>
              <a:rPr lang="en-US" sz="1599" spc="-23">
                <a:solidFill>
                  <a:srgbClr val="FFFFFF"/>
                </a:solidFill>
                <a:latin typeface="Helvetica World"/>
                <a:ea typeface="Helvetica World"/>
                <a:cs typeface="Helvetica World"/>
                <a:sym typeface="Helvetica World"/>
              </a:rPr>
              <a:t>. Accessed 1 Mar. 2026.</a:t>
            </a:r>
          </a:p>
          <a:p>
            <a:pPr algn="l">
              <a:lnSpc>
                <a:spcPts val="2559"/>
              </a:lnSpc>
            </a:pPr>
          </a:p>
          <a:p>
            <a:pPr algn="l">
              <a:lnSpc>
                <a:spcPts val="2559"/>
              </a:lnSpc>
            </a:pPr>
            <a:r>
              <a:rPr lang="en-US" sz="1599" spc="-23">
                <a:solidFill>
                  <a:srgbClr val="FFFFFF"/>
                </a:solidFill>
                <a:latin typeface="Helvetica World"/>
                <a:ea typeface="Helvetica World"/>
                <a:cs typeface="Helvetica World"/>
                <a:sym typeface="Helvetica World"/>
              </a:rPr>
              <a:t>Amazon Staff. "Amazon's AI Shopping Assistant Rufus Gets Personalized Features." About Amazon, n.d., </a:t>
            </a:r>
            <a:r>
              <a:rPr lang="en-US" sz="1599" spc="-23" u="sng">
                <a:solidFill>
                  <a:srgbClr val="FFFFFF"/>
                </a:solidFill>
                <a:latin typeface="Helvetica World"/>
                <a:ea typeface="Helvetica World"/>
                <a:cs typeface="Helvetica World"/>
                <a:sym typeface="Helvetica World"/>
                <a:hlinkClick r:id="rId3" tooltip="https://www.aboutamazon.com/news/retail/amazon-rufus-ai-assistant-personalized-shopping-features"/>
              </a:rPr>
              <a:t>https://www.aboutamazon.com/news/retail/amazon-rufus-ai-assistant-personalized-shopping-features</a:t>
            </a:r>
            <a:r>
              <a:rPr lang="en-US" sz="1599" spc="-23">
                <a:solidFill>
                  <a:srgbClr val="FFFFFF"/>
                </a:solidFill>
                <a:latin typeface="Helvetica World"/>
                <a:ea typeface="Helvetica World"/>
                <a:cs typeface="Helvetica World"/>
                <a:sym typeface="Helvetica World"/>
              </a:rPr>
              <a:t>. Accessed 1 Mar. 2026.</a:t>
            </a:r>
          </a:p>
          <a:p>
            <a:pPr algn="l">
              <a:lnSpc>
                <a:spcPts val="2559"/>
              </a:lnSpc>
            </a:pPr>
          </a:p>
          <a:p>
            <a:pPr algn="l">
              <a:lnSpc>
                <a:spcPts val="2559"/>
              </a:lnSpc>
            </a:pPr>
            <a:r>
              <a:rPr lang="en-US" sz="1599" spc="-23">
                <a:solidFill>
                  <a:srgbClr val="FFFFFF"/>
                </a:solidFill>
                <a:latin typeface="Helvetica World"/>
                <a:ea typeface="Helvetica World"/>
                <a:cs typeface="Helvetica World"/>
                <a:sym typeface="Helvetica World"/>
              </a:rPr>
              <a:t>Amazon Staff. "Amazon Project Amelia." About Amazon, n.d., </a:t>
            </a:r>
            <a:r>
              <a:rPr lang="en-US" sz="1599" spc="-23" u="sng">
                <a:solidFill>
                  <a:srgbClr val="FFFFFF"/>
                </a:solidFill>
                <a:latin typeface="Helvetica World"/>
                <a:ea typeface="Helvetica World"/>
                <a:cs typeface="Helvetica World"/>
                <a:sym typeface="Helvetica World"/>
                <a:hlinkClick r:id="rId4" tooltip="https://www.aboutamazon.com/news/innovation-at-amazon/amazon-project-amelia"/>
              </a:rPr>
              <a:t>https://www.aboutamazon.com/news/innovation-at-amazon/amazon-project-amelia</a:t>
            </a:r>
            <a:r>
              <a:rPr lang="en-US" sz="1599" spc="-23">
                <a:solidFill>
                  <a:srgbClr val="FFFFFF"/>
                </a:solidFill>
                <a:latin typeface="Helvetica World"/>
                <a:ea typeface="Helvetica World"/>
                <a:cs typeface="Helvetica World"/>
                <a:sym typeface="Helvetica World"/>
              </a:rPr>
              <a:t>. Accessed 1 Mar. 2026.</a:t>
            </a:r>
          </a:p>
          <a:p>
            <a:pPr algn="l">
              <a:lnSpc>
                <a:spcPts val="2559"/>
              </a:lnSpc>
            </a:pPr>
          </a:p>
          <a:p>
            <a:pPr algn="l">
              <a:lnSpc>
                <a:spcPts val="2559"/>
              </a:lnSpc>
            </a:pPr>
            <a:r>
              <a:rPr lang="en-US" sz="1599" spc="-23">
                <a:solidFill>
                  <a:srgbClr val="FFFFFF"/>
                </a:solidFill>
                <a:latin typeface="Helvetica World"/>
                <a:ea typeface="Helvetica World"/>
                <a:cs typeface="Helvetica World"/>
                <a:sym typeface="Helvetica World"/>
              </a:rPr>
              <a:t>Capital One Shopping Research Team. "Impulse Buying Statistics." Capital One Shopping, n.d., </a:t>
            </a:r>
            <a:r>
              <a:rPr lang="en-US" sz="1599" spc="-23" u="sng">
                <a:solidFill>
                  <a:srgbClr val="FFFFFF"/>
                </a:solidFill>
                <a:latin typeface="Helvetica World"/>
                <a:ea typeface="Helvetica World"/>
                <a:cs typeface="Helvetica World"/>
                <a:sym typeface="Helvetica World"/>
                <a:hlinkClick r:id="rId5" tooltip="https://capitaloneshopping.com/research/impulse-buying-statistics/"/>
              </a:rPr>
              <a:t>https://capitaloneshopping.com/research/impulse-buying-statistics/</a:t>
            </a:r>
            <a:r>
              <a:rPr lang="en-US" sz="1599" spc="-23">
                <a:solidFill>
                  <a:srgbClr val="FFFFFF"/>
                </a:solidFill>
                <a:latin typeface="Helvetica World"/>
                <a:ea typeface="Helvetica World"/>
                <a:cs typeface="Helvetica World"/>
                <a:sym typeface="Helvetica World"/>
              </a:rPr>
              <a:t>. Accessed 1 Mar. 2026.</a:t>
            </a:r>
          </a:p>
          <a:p>
            <a:pPr algn="l">
              <a:lnSpc>
                <a:spcPts val="2559"/>
              </a:lnSpc>
            </a:pPr>
          </a:p>
          <a:p>
            <a:pPr algn="l">
              <a:lnSpc>
                <a:spcPts val="2559"/>
              </a:lnSpc>
            </a:pPr>
            <a:r>
              <a:rPr lang="en-US" sz="1599" spc="-23">
                <a:solidFill>
                  <a:srgbClr val="FFFFFF"/>
                </a:solidFill>
                <a:latin typeface="Helvetica World"/>
                <a:ea typeface="Helvetica World"/>
                <a:cs typeface="Helvetica World"/>
                <a:sym typeface="Helvetica World"/>
              </a:rPr>
              <a:t>Palmer, Annie. "Amazon's AI Shopping Tool Sparks Backlash from Some Online Retailers." CNBC, 6 Jan. 2026, </a:t>
            </a:r>
            <a:r>
              <a:rPr lang="en-US" sz="1599" spc="-23" u="sng">
                <a:solidFill>
                  <a:srgbClr val="FFFFFF"/>
                </a:solidFill>
                <a:latin typeface="Helvetica World"/>
                <a:ea typeface="Helvetica World"/>
                <a:cs typeface="Helvetica World"/>
                <a:sym typeface="Helvetica World"/>
                <a:hlinkClick r:id="rId6" tooltip="https://www.cnbc.com/2026/01/06/amazons-ai-shopping-tool-sparks-backlash-from-some-online-retailers.html"/>
              </a:rPr>
              <a:t>https://www.cnbc.com/2026/01/06/amazons-ai-shopping-tool-sparks-backlash-from-some-online-retailers.html</a:t>
            </a:r>
            <a:r>
              <a:rPr lang="en-US" sz="1599" spc="-23">
                <a:solidFill>
                  <a:srgbClr val="FFFFFF"/>
                </a:solidFill>
                <a:latin typeface="Helvetica World"/>
                <a:ea typeface="Helvetica World"/>
                <a:cs typeface="Helvetica World"/>
                <a:sym typeface="Helvetica World"/>
              </a:rPr>
              <a:t>. Accessed 1 Mar.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DAHCybx52RY</dc:identifier>
  <dcterms:modified xsi:type="dcterms:W3CDTF">2011-08-01T06:04:30Z</dcterms:modified>
  <cp:revision>1</cp:revision>
  <dc:title>Copy of Graoup14- Audit II</dc:title>
</cp:coreProperties>
</file>
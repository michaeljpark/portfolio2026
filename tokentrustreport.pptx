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8288000" cy="10287000"/>
  <p:notesSz cx="6858000" cy="9144000"/>
  <p:embeddedFontLst>
    <p:embeddedFont>
      <p:font typeface="Helvetica World" charset="1" panose="020B0500040000020004"/>
      <p:regular r:id="rId47"/>
    </p:embeddedFont>
    <p:embeddedFont>
      <p:font typeface="Times New Roman" charset="1" panose="02020603050405020304"/>
      <p:regular r:id="rId48"/>
    </p:embeddedFont>
    <p:embeddedFont>
      <p:font typeface="Times New Roman Bold" charset="1" panose="02020803070505020304"/>
      <p:regular r:id="rId49"/>
    </p:embeddedFont>
    <p:embeddedFont>
      <p:font typeface="Canva Sans" charset="1" panose="020B0503030501040103"/>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prnewswire.com/news-releases/sovereign-cloud-market-to-register-a-cagr-of-24-16-through-2032-driven-by-rising-data-sovereignty-regulations--markntel-advisors-302713680.html" TargetMode="External" Type="http://schemas.openxmlformats.org/officeDocument/2006/relationships/hyperlink"/><Relationship Id="rId3" Target="https://www.prnewswire.com/news-releases/kyndryl-confirms-converging-quantum-data-sovereignty-and-network-demands-expose-enterprise-readiness-gap-302709212.html" TargetMode="External" Type="http://schemas.openxmlformats.org/officeDocument/2006/relationships/hyperlink"/><Relationship Id="rId4" Target="https://investor.cisco.com/news/news-details/2024/New-Cisco-Survey-Shows-Strong-Relationship-Between-Privacy-Awareness-and-Trust-in-AI/default.aspx"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2833760" y="8775065"/>
            <a:ext cx="1427336" cy="723900"/>
          </a:xfrm>
          <a:prstGeom prst="rect">
            <a:avLst/>
          </a:prstGeom>
        </p:spPr>
        <p:txBody>
          <a:bodyPr anchor="t" rtlCol="false" tIns="0" lIns="0" bIns="0" rIns="0">
            <a:spAutoFit/>
          </a:bodyPr>
          <a:lstStyle/>
          <a:p>
            <a:pPr algn="l">
              <a:lnSpc>
                <a:spcPts val="1919"/>
              </a:lnSpc>
            </a:pPr>
            <a:r>
              <a:rPr lang="en-US" sz="1599" spc="-15">
                <a:solidFill>
                  <a:srgbClr val="000000">
                    <a:alpha val="49804"/>
                  </a:srgbClr>
                </a:solidFill>
                <a:latin typeface="Helvetica World"/>
                <a:ea typeface="Helvetica World"/>
                <a:cs typeface="Helvetica World"/>
                <a:sym typeface="Helvetica World"/>
              </a:rPr>
              <a:t>Jaehong Hwang</a:t>
            </a:r>
          </a:p>
          <a:p>
            <a:pPr algn="l">
              <a:lnSpc>
                <a:spcPts val="1919"/>
              </a:lnSpc>
            </a:pPr>
            <a:r>
              <a:rPr lang="en-US" sz="1599" spc="-15">
                <a:solidFill>
                  <a:srgbClr val="000000">
                    <a:alpha val="49804"/>
                  </a:srgbClr>
                </a:solidFill>
                <a:latin typeface="Helvetica World"/>
                <a:ea typeface="Helvetica World"/>
                <a:cs typeface="Helvetica World"/>
                <a:sym typeface="Helvetica World"/>
              </a:rPr>
              <a:t>Graphic Design</a:t>
            </a:r>
          </a:p>
          <a:p>
            <a:pPr algn="l">
              <a:lnSpc>
                <a:spcPts val="1919"/>
              </a:lnSpc>
            </a:pPr>
            <a:r>
              <a:rPr lang="en-US" sz="1599" spc="-15">
                <a:solidFill>
                  <a:srgbClr val="000000">
                    <a:alpha val="49804"/>
                  </a:srgbClr>
                </a:solidFill>
                <a:latin typeface="Helvetica World"/>
                <a:ea typeface="Helvetica World"/>
                <a:cs typeface="Helvetica World"/>
                <a:sym typeface="Helvetica World"/>
              </a:rPr>
              <a:t>#3191183</a:t>
            </a:r>
          </a:p>
        </p:txBody>
      </p:sp>
      <p:sp>
        <p:nvSpPr>
          <p:cNvPr name="TextBox 5" id="5"/>
          <p:cNvSpPr txBox="true"/>
          <p:nvPr/>
        </p:nvSpPr>
        <p:spPr>
          <a:xfrm rot="0">
            <a:off x="9144000" y="8775065"/>
            <a:ext cx="2051920" cy="723900"/>
          </a:xfrm>
          <a:prstGeom prst="rect">
            <a:avLst/>
          </a:prstGeom>
        </p:spPr>
        <p:txBody>
          <a:bodyPr anchor="t" rtlCol="false" tIns="0" lIns="0" bIns="0" rIns="0">
            <a:spAutoFit/>
          </a:bodyPr>
          <a:lstStyle/>
          <a:p>
            <a:pPr algn="l">
              <a:lnSpc>
                <a:spcPts val="1919"/>
              </a:lnSpc>
            </a:pPr>
            <a:r>
              <a:rPr lang="en-US" sz="1599" spc="-15">
                <a:solidFill>
                  <a:srgbClr val="000000">
                    <a:alpha val="49804"/>
                  </a:srgbClr>
                </a:solidFill>
                <a:latin typeface="Helvetica World"/>
                <a:ea typeface="Helvetica World"/>
                <a:cs typeface="Helvetica World"/>
                <a:sym typeface="Helvetica World"/>
              </a:rPr>
              <a:t>Michael Joongmin Park</a:t>
            </a:r>
          </a:p>
          <a:p>
            <a:pPr algn="l">
              <a:lnSpc>
                <a:spcPts val="1919"/>
              </a:lnSpc>
            </a:pPr>
            <a:r>
              <a:rPr lang="en-US" sz="1599" spc="-15">
                <a:solidFill>
                  <a:srgbClr val="000000">
                    <a:alpha val="49804"/>
                  </a:srgbClr>
                </a:solidFill>
                <a:latin typeface="Helvetica World"/>
                <a:ea typeface="Helvetica World"/>
                <a:cs typeface="Helvetica World"/>
                <a:sym typeface="Helvetica World"/>
              </a:rPr>
              <a:t>Industrial Design</a:t>
            </a:r>
          </a:p>
          <a:p>
            <a:pPr algn="l">
              <a:lnSpc>
                <a:spcPts val="1919"/>
              </a:lnSpc>
            </a:pPr>
            <a:r>
              <a:rPr lang="en-US" sz="1599" spc="-15">
                <a:solidFill>
                  <a:srgbClr val="000000">
                    <a:alpha val="49804"/>
                  </a:srgbClr>
                </a:solidFill>
                <a:latin typeface="Helvetica World"/>
                <a:ea typeface="Helvetica World"/>
                <a:cs typeface="Helvetica World"/>
                <a:sym typeface="Helvetica World"/>
              </a:rPr>
              <a:t>#3187413</a:t>
            </a:r>
          </a:p>
        </p:txBody>
      </p:sp>
      <p:sp>
        <p:nvSpPr>
          <p:cNvPr name="TextBox 6" id="6"/>
          <p:cNvSpPr txBox="true"/>
          <p:nvPr/>
        </p:nvSpPr>
        <p:spPr>
          <a:xfrm rot="0">
            <a:off x="15898937" y="8775065"/>
            <a:ext cx="1360363" cy="723900"/>
          </a:xfrm>
          <a:prstGeom prst="rect">
            <a:avLst/>
          </a:prstGeom>
        </p:spPr>
        <p:txBody>
          <a:bodyPr anchor="t" rtlCol="false" tIns="0" lIns="0" bIns="0" rIns="0">
            <a:spAutoFit/>
          </a:bodyPr>
          <a:lstStyle/>
          <a:p>
            <a:pPr algn="l">
              <a:lnSpc>
                <a:spcPts val="1919"/>
              </a:lnSpc>
            </a:pPr>
            <a:r>
              <a:rPr lang="en-US" sz="1599" spc="-15">
                <a:solidFill>
                  <a:srgbClr val="000000">
                    <a:alpha val="49804"/>
                  </a:srgbClr>
                </a:solidFill>
                <a:latin typeface="Helvetica World"/>
                <a:ea typeface="Helvetica World"/>
                <a:cs typeface="Helvetica World"/>
                <a:sym typeface="Helvetica World"/>
              </a:rPr>
              <a:t>Elsie Jang</a:t>
            </a:r>
          </a:p>
          <a:p>
            <a:pPr algn="l">
              <a:lnSpc>
                <a:spcPts val="1919"/>
              </a:lnSpc>
            </a:pPr>
            <a:r>
              <a:rPr lang="en-US" sz="1599" spc="-15">
                <a:solidFill>
                  <a:srgbClr val="000000">
                    <a:alpha val="49804"/>
                  </a:srgbClr>
                </a:solidFill>
                <a:latin typeface="Helvetica World"/>
                <a:ea typeface="Helvetica World"/>
                <a:cs typeface="Helvetica World"/>
                <a:sym typeface="Helvetica World"/>
              </a:rPr>
              <a:t>Graphic Design</a:t>
            </a:r>
          </a:p>
          <a:p>
            <a:pPr algn="l">
              <a:lnSpc>
                <a:spcPts val="1919"/>
              </a:lnSpc>
            </a:pPr>
            <a:r>
              <a:rPr lang="en-US" sz="1599" spc="-15">
                <a:solidFill>
                  <a:srgbClr val="000000">
                    <a:alpha val="49804"/>
                  </a:srgbClr>
                </a:solidFill>
                <a:latin typeface="Helvetica World"/>
                <a:ea typeface="Helvetica World"/>
                <a:cs typeface="Helvetica World"/>
                <a:sym typeface="Helvetica World"/>
              </a:rPr>
              <a:t>#3197476</a:t>
            </a:r>
          </a:p>
        </p:txBody>
      </p:sp>
      <p:sp>
        <p:nvSpPr>
          <p:cNvPr name="TextBox 7" id="7"/>
          <p:cNvSpPr txBox="true"/>
          <p:nvPr/>
        </p:nvSpPr>
        <p:spPr>
          <a:xfrm rot="0">
            <a:off x="1028700" y="8813165"/>
            <a:ext cx="6641406" cy="212090"/>
          </a:xfrm>
          <a:prstGeom prst="rect">
            <a:avLst/>
          </a:prstGeom>
        </p:spPr>
        <p:txBody>
          <a:bodyPr anchor="t" rtlCol="false" tIns="0" lIns="0" bIns="0" rIns="0">
            <a:spAutoFit/>
          </a:bodyPr>
          <a:lstStyle/>
          <a:p>
            <a:pPr algn="l">
              <a:lnSpc>
                <a:spcPts val="1599"/>
              </a:lnSpc>
            </a:pPr>
            <a:r>
              <a:rPr lang="en-US" sz="1599" spc="-47">
                <a:solidFill>
                  <a:srgbClr val="000000"/>
                </a:solidFill>
                <a:latin typeface="Helvetica World"/>
                <a:ea typeface="Helvetica World"/>
                <a:cs typeface="Helvetica World"/>
                <a:sym typeface="Helvetica World"/>
              </a:rPr>
              <a:t>Term Project Phase I - The Richly Augmented Future Enterprise</a:t>
            </a:r>
          </a:p>
        </p:txBody>
      </p:sp>
      <p:sp>
        <p:nvSpPr>
          <p:cNvPr name="TextBox 8" id="8"/>
          <p:cNvSpPr txBox="true"/>
          <p:nvPr/>
        </p:nvSpPr>
        <p:spPr>
          <a:xfrm rot="0">
            <a:off x="1028700" y="9286875"/>
            <a:ext cx="1023111" cy="212090"/>
          </a:xfrm>
          <a:prstGeom prst="rect">
            <a:avLst/>
          </a:prstGeom>
        </p:spPr>
        <p:txBody>
          <a:bodyPr anchor="t" rtlCol="false" tIns="0" lIns="0" bIns="0" rIns="0">
            <a:spAutoFit/>
          </a:bodyPr>
          <a:lstStyle/>
          <a:p>
            <a:pPr algn="just">
              <a:lnSpc>
                <a:spcPts val="1599"/>
              </a:lnSpc>
            </a:pPr>
            <a:r>
              <a:rPr lang="en-US" sz="1599" spc="-47">
                <a:solidFill>
                  <a:srgbClr val="000000">
                    <a:alpha val="49804"/>
                  </a:srgbClr>
                </a:solidFill>
                <a:latin typeface="Helvetica World"/>
                <a:ea typeface="Helvetica World"/>
                <a:cs typeface="Helvetica World"/>
                <a:sym typeface="Helvetica World"/>
              </a:rPr>
              <a:t>Group 14</a:t>
            </a:r>
          </a:p>
        </p:txBody>
      </p:sp>
      <p:sp>
        <p:nvSpPr>
          <p:cNvPr name="TextBox 9" id="9"/>
          <p:cNvSpPr txBox="true"/>
          <p:nvPr/>
        </p:nvSpPr>
        <p:spPr>
          <a:xfrm rot="0">
            <a:off x="11355971" y="4826573"/>
            <a:ext cx="5903329" cy="967740"/>
          </a:xfrm>
          <a:prstGeom prst="rect">
            <a:avLst/>
          </a:prstGeom>
        </p:spPr>
        <p:txBody>
          <a:bodyPr anchor="t" rtlCol="false" tIns="0" lIns="0" bIns="0" rIns="0">
            <a:spAutoFit/>
          </a:bodyPr>
          <a:lstStyle/>
          <a:p>
            <a:pPr algn="r">
              <a:lnSpc>
                <a:spcPts val="3600"/>
              </a:lnSpc>
            </a:pPr>
            <a:r>
              <a:rPr lang="en-US" sz="3600" spc="-53">
                <a:solidFill>
                  <a:srgbClr val="000000"/>
                </a:solidFill>
                <a:latin typeface="Times New Roman"/>
                <a:ea typeface="Times New Roman"/>
                <a:cs typeface="Times New Roman"/>
                <a:sym typeface="Times New Roman"/>
              </a:rPr>
              <a:t>The AI Data</a:t>
            </a:r>
          </a:p>
          <a:p>
            <a:pPr algn="r">
              <a:lnSpc>
                <a:spcPts val="3600"/>
              </a:lnSpc>
            </a:pPr>
            <a:r>
              <a:rPr lang="en-US" sz="3600" spc="-53">
                <a:solidFill>
                  <a:srgbClr val="000000"/>
                </a:solidFill>
                <a:latin typeface="Times New Roman"/>
                <a:ea typeface="Times New Roman"/>
                <a:cs typeface="Times New Roman"/>
                <a:sym typeface="Times New Roman"/>
              </a:rPr>
              <a:t>Governance Society</a:t>
            </a:r>
          </a:p>
        </p:txBody>
      </p:sp>
      <p:grpSp>
        <p:nvGrpSpPr>
          <p:cNvPr name="Group 10" id="10"/>
          <p:cNvGrpSpPr/>
          <p:nvPr/>
        </p:nvGrpSpPr>
        <p:grpSpPr>
          <a:xfrm rot="0">
            <a:off x="1028700" y="3452112"/>
            <a:ext cx="8082343" cy="2685707"/>
            <a:chOff x="0" y="0"/>
            <a:chExt cx="10776457" cy="3580942"/>
          </a:xfrm>
        </p:grpSpPr>
        <p:grpSp>
          <p:nvGrpSpPr>
            <p:cNvPr name="Group 11" id="11"/>
            <p:cNvGrpSpPr/>
            <p:nvPr/>
          </p:nvGrpSpPr>
          <p:grpSpPr>
            <a:xfrm rot="0">
              <a:off x="9173516" y="0"/>
              <a:ext cx="1602940" cy="1671814"/>
              <a:chOff x="0" y="0"/>
              <a:chExt cx="584874" cy="610004"/>
            </a:xfrm>
          </p:grpSpPr>
          <p:sp>
            <p:nvSpPr>
              <p:cNvPr name="Freeform 12" id="12"/>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solidFill>
            </p:spPr>
          </p:sp>
          <p:sp>
            <p:nvSpPr>
              <p:cNvPr name="TextBox 13" id="13"/>
              <p:cNvSpPr txBox="true"/>
              <p:nvPr/>
            </p:nvSpPr>
            <p:spPr>
              <a:xfrm>
                <a:off x="137617" y="172105"/>
                <a:ext cx="309639" cy="294368"/>
              </a:xfrm>
              <a:prstGeom prst="rect">
                <a:avLst/>
              </a:prstGeom>
            </p:spPr>
            <p:txBody>
              <a:bodyPr anchor="ctr" rtlCol="false" tIns="50800" lIns="50800" bIns="50800" rIns="50800"/>
              <a:lstStyle/>
              <a:p>
                <a:pPr algn="ctr">
                  <a:lnSpc>
                    <a:spcPts val="1599"/>
                  </a:lnSpc>
                </a:pPr>
              </a:p>
            </p:txBody>
          </p:sp>
        </p:grpSp>
        <p:sp>
          <p:nvSpPr>
            <p:cNvPr name="TextBox 14" id="14"/>
            <p:cNvSpPr txBox="true"/>
            <p:nvPr/>
          </p:nvSpPr>
          <p:spPr>
            <a:xfrm rot="0">
              <a:off x="0" y="943940"/>
              <a:ext cx="9601895" cy="2637003"/>
            </a:xfrm>
            <a:prstGeom prst="rect">
              <a:avLst/>
            </a:prstGeom>
          </p:spPr>
          <p:txBody>
            <a:bodyPr anchor="t" rtlCol="false" tIns="0" lIns="0" bIns="0" rIns="0">
              <a:spAutoFit/>
            </a:bodyPr>
            <a:lstStyle/>
            <a:p>
              <a:pPr algn="ctr">
                <a:lnSpc>
                  <a:spcPts val="14020"/>
                </a:lnSpc>
              </a:pPr>
              <a:r>
                <a:rPr lang="en-US" b="true" sz="14020" spc="-560">
                  <a:solidFill>
                    <a:srgbClr val="000000"/>
                  </a:solidFill>
                  <a:latin typeface="Times New Roman Bold"/>
                  <a:ea typeface="Times New Roman Bold"/>
                  <a:cs typeface="Times New Roman Bold"/>
                  <a:sym typeface="Times New Roman Bold"/>
                </a:rPr>
                <a:t>tokentrust</a:t>
              </a:r>
            </a:p>
          </p:txBody>
        </p:sp>
      </p:grpSp>
      <p:sp>
        <p:nvSpPr>
          <p:cNvPr name="AutoShape 15" id="15"/>
          <p:cNvSpPr/>
          <p:nvPr/>
        </p:nvSpPr>
        <p:spPr>
          <a:xfrm>
            <a:off x="1028700" y="7461204"/>
            <a:ext cx="16230600" cy="0"/>
          </a:xfrm>
          <a:prstGeom prst="line">
            <a:avLst/>
          </a:prstGeom>
          <a:ln cap="flat" w="9525">
            <a:solidFill>
              <a:srgbClr val="000000">
                <a:alpha val="49804"/>
              </a:srgbClr>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Table of Contents</a:t>
            </a:r>
          </a:p>
        </p:txBody>
      </p:sp>
      <p:sp>
        <p:nvSpPr>
          <p:cNvPr name="TextBox 5" id="5"/>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02</a:t>
            </a:r>
          </a:p>
        </p:txBody>
      </p:sp>
      <p:sp>
        <p:nvSpPr>
          <p:cNvPr name="AutoShape 6" id="6"/>
          <p:cNvSpPr/>
          <p:nvPr/>
        </p:nvSpPr>
        <p:spPr>
          <a:xfrm flipH="true">
            <a:off x="1028700" y="5500526"/>
            <a:ext cx="16230600" cy="0"/>
          </a:xfrm>
          <a:prstGeom prst="line">
            <a:avLst/>
          </a:prstGeom>
          <a:ln cap="rnd" w="19050">
            <a:solidFill>
              <a:srgbClr val="FFFFFF">
                <a:alpha val="29804"/>
              </a:srgbClr>
            </a:solidFill>
            <a:prstDash val="sysDash"/>
            <a:headEnd type="none" len="sm" w="sm"/>
            <a:tailEnd type="none" len="sm" w="sm"/>
          </a:ln>
        </p:spPr>
      </p:sp>
      <p:sp>
        <p:nvSpPr>
          <p:cNvPr name="AutoShape 7" id="7"/>
          <p:cNvSpPr/>
          <p:nvPr/>
        </p:nvSpPr>
        <p:spPr>
          <a:xfrm flipH="true">
            <a:off x="1028700" y="8225199"/>
            <a:ext cx="16230600" cy="0"/>
          </a:xfrm>
          <a:prstGeom prst="line">
            <a:avLst/>
          </a:prstGeom>
          <a:ln cap="rnd" w="19050">
            <a:solidFill>
              <a:srgbClr val="FFFFFF">
                <a:alpha val="29804"/>
              </a:srgbClr>
            </a:solidFill>
            <a:prstDash val="sysDash"/>
            <a:headEnd type="none" len="sm" w="sm"/>
            <a:tailEnd type="none" len="sm" w="sm"/>
          </a:ln>
        </p:spPr>
      </p:sp>
      <p:sp>
        <p:nvSpPr>
          <p:cNvPr name="AutoShape 8" id="8"/>
          <p:cNvSpPr/>
          <p:nvPr/>
        </p:nvSpPr>
        <p:spPr>
          <a:xfrm flipH="true">
            <a:off x="1028700" y="2421211"/>
            <a:ext cx="16230600" cy="0"/>
          </a:xfrm>
          <a:prstGeom prst="line">
            <a:avLst/>
          </a:prstGeom>
          <a:ln cap="rnd" w="19050">
            <a:solidFill>
              <a:srgbClr val="FFFFFF">
                <a:alpha val="29804"/>
              </a:srgbClr>
            </a:solidFill>
            <a:prstDash val="sysDash"/>
            <a:headEnd type="none" len="sm" w="sm"/>
            <a:tailEnd type="none" len="sm" w="sm"/>
          </a:ln>
        </p:spPr>
      </p:sp>
      <p:sp>
        <p:nvSpPr>
          <p:cNvPr name="TextBox 9" id="9"/>
          <p:cNvSpPr txBox="true"/>
          <p:nvPr/>
        </p:nvSpPr>
        <p:spPr>
          <a:xfrm rot="0">
            <a:off x="1028700" y="1390809"/>
            <a:ext cx="4575426" cy="542925"/>
          </a:xfrm>
          <a:prstGeom prst="rect">
            <a:avLst/>
          </a:prstGeom>
        </p:spPr>
        <p:txBody>
          <a:bodyPr anchor="t" rtlCol="false" tIns="0" lIns="0" bIns="0" rIns="0">
            <a:spAutoFit/>
          </a:bodyPr>
          <a:lstStyle/>
          <a:p>
            <a:pPr algn="l">
              <a:lnSpc>
                <a:spcPts val="4200"/>
              </a:lnSpc>
            </a:pPr>
            <a:r>
              <a:rPr lang="en-US" sz="3000" spc="-30">
                <a:solidFill>
                  <a:srgbClr val="000000"/>
                </a:solidFill>
                <a:latin typeface="Times New Roman"/>
                <a:ea typeface="Times New Roman"/>
                <a:cs typeface="Times New Roman"/>
                <a:sym typeface="Times New Roman"/>
              </a:rPr>
              <a:t>Introduction &amp; Background</a:t>
            </a:r>
          </a:p>
        </p:txBody>
      </p:sp>
      <p:sp>
        <p:nvSpPr>
          <p:cNvPr name="TextBox 10" id="10"/>
          <p:cNvSpPr txBox="true"/>
          <p:nvPr/>
        </p:nvSpPr>
        <p:spPr>
          <a:xfrm rot="0">
            <a:off x="1028700" y="1886109"/>
            <a:ext cx="4575426" cy="283210"/>
          </a:xfrm>
          <a:prstGeom prst="rect">
            <a:avLst/>
          </a:prstGeom>
        </p:spPr>
        <p:txBody>
          <a:bodyPr anchor="t" rtlCol="false" tIns="0" lIns="0" bIns="0" rIns="0">
            <a:spAutoFit/>
          </a:bodyPr>
          <a:lstStyle/>
          <a:p>
            <a:pPr algn="l">
              <a:lnSpc>
                <a:spcPts val="2239"/>
              </a:lnSpc>
            </a:pPr>
            <a:r>
              <a:rPr lang="en-US" sz="1599" spc="-15">
                <a:solidFill>
                  <a:srgbClr val="000000">
                    <a:alpha val="49804"/>
                  </a:srgbClr>
                </a:solidFill>
                <a:latin typeface="Times New Roman"/>
                <a:ea typeface="Times New Roman"/>
                <a:cs typeface="Times New Roman"/>
                <a:sym typeface="Times New Roman"/>
              </a:rPr>
              <a:t>Data i</a:t>
            </a:r>
            <a:r>
              <a:rPr lang="en-US" sz="1599" spc="-15">
                <a:solidFill>
                  <a:srgbClr val="000000">
                    <a:alpha val="49804"/>
                  </a:srgbClr>
                </a:solidFill>
                <a:latin typeface="Times New Roman"/>
                <a:ea typeface="Times New Roman"/>
                <a:cs typeface="Times New Roman"/>
                <a:sym typeface="Times New Roman"/>
              </a:rPr>
              <a:t>nvisibility and the birth of TokenTrust</a:t>
            </a:r>
          </a:p>
        </p:txBody>
      </p:sp>
      <p:sp>
        <p:nvSpPr>
          <p:cNvPr name="TextBox 11" id="11"/>
          <p:cNvSpPr txBox="true"/>
          <p:nvPr/>
        </p:nvSpPr>
        <p:spPr>
          <a:xfrm rot="0">
            <a:off x="16238711" y="1390809"/>
            <a:ext cx="1020589" cy="542925"/>
          </a:xfrm>
          <a:prstGeom prst="rect">
            <a:avLst/>
          </a:prstGeom>
        </p:spPr>
        <p:txBody>
          <a:bodyPr anchor="t" rtlCol="false" tIns="0" lIns="0" bIns="0" rIns="0">
            <a:spAutoFit/>
          </a:bodyPr>
          <a:lstStyle/>
          <a:p>
            <a:pPr algn="r">
              <a:lnSpc>
                <a:spcPts val="4200"/>
              </a:lnSpc>
            </a:pPr>
            <a:r>
              <a:rPr lang="en-US" sz="3000" spc="-30">
                <a:solidFill>
                  <a:srgbClr val="000000">
                    <a:alpha val="49804"/>
                  </a:srgbClr>
                </a:solidFill>
                <a:latin typeface="Times New Roman"/>
                <a:ea typeface="Times New Roman"/>
                <a:cs typeface="Times New Roman"/>
                <a:sym typeface="Times New Roman"/>
              </a:rPr>
              <a:t>03-09</a:t>
            </a:r>
          </a:p>
        </p:txBody>
      </p:sp>
      <p:sp>
        <p:nvSpPr>
          <p:cNvPr name="TextBox 12" id="12"/>
          <p:cNvSpPr txBox="true"/>
          <p:nvPr/>
        </p:nvSpPr>
        <p:spPr>
          <a:xfrm rot="0">
            <a:off x="1028700" y="2454027"/>
            <a:ext cx="6003652" cy="542925"/>
          </a:xfrm>
          <a:prstGeom prst="rect">
            <a:avLst/>
          </a:prstGeom>
        </p:spPr>
        <p:txBody>
          <a:bodyPr anchor="t" rtlCol="false" tIns="0" lIns="0" bIns="0" rIns="0">
            <a:spAutoFit/>
          </a:bodyPr>
          <a:lstStyle/>
          <a:p>
            <a:pPr algn="l">
              <a:lnSpc>
                <a:spcPts val="4200"/>
              </a:lnSpc>
            </a:pPr>
            <a:r>
              <a:rPr lang="en-US" sz="3000" spc="-30">
                <a:solidFill>
                  <a:srgbClr val="000000"/>
                </a:solidFill>
                <a:latin typeface="Times New Roman"/>
                <a:ea typeface="Times New Roman"/>
                <a:cs typeface="Times New Roman"/>
                <a:sym typeface="Times New Roman"/>
              </a:rPr>
              <a:t>C</a:t>
            </a:r>
            <a:r>
              <a:rPr lang="en-US" sz="3000" spc="-30">
                <a:solidFill>
                  <a:srgbClr val="000000"/>
                </a:solidFill>
                <a:latin typeface="Times New Roman"/>
                <a:ea typeface="Times New Roman"/>
                <a:cs typeface="Times New Roman"/>
                <a:sym typeface="Times New Roman"/>
              </a:rPr>
              <a:t>risis &amp; Opportunity: The AI Data Shift</a:t>
            </a:r>
          </a:p>
        </p:txBody>
      </p:sp>
      <p:sp>
        <p:nvSpPr>
          <p:cNvPr name="TextBox 13" id="13"/>
          <p:cNvSpPr txBox="true"/>
          <p:nvPr/>
        </p:nvSpPr>
        <p:spPr>
          <a:xfrm rot="0">
            <a:off x="1028700" y="3423026"/>
            <a:ext cx="4587032" cy="542925"/>
          </a:xfrm>
          <a:prstGeom prst="rect">
            <a:avLst/>
          </a:prstGeom>
        </p:spPr>
        <p:txBody>
          <a:bodyPr anchor="t" rtlCol="false" tIns="0" lIns="0" bIns="0" rIns="0">
            <a:spAutoFit/>
          </a:bodyPr>
          <a:lstStyle/>
          <a:p>
            <a:pPr algn="just">
              <a:lnSpc>
                <a:spcPts val="4200"/>
              </a:lnSpc>
            </a:pPr>
            <a:r>
              <a:rPr lang="en-US" sz="3000" spc="-30">
                <a:solidFill>
                  <a:srgbClr val="000000"/>
                </a:solidFill>
                <a:latin typeface="Times New Roman"/>
                <a:ea typeface="Times New Roman"/>
                <a:cs typeface="Times New Roman"/>
                <a:sym typeface="Times New Roman"/>
              </a:rPr>
              <a:t>Strategic Value &amp; Perspectives</a:t>
            </a:r>
          </a:p>
        </p:txBody>
      </p:sp>
      <p:sp>
        <p:nvSpPr>
          <p:cNvPr name="TextBox 14" id="14"/>
          <p:cNvSpPr txBox="true"/>
          <p:nvPr/>
        </p:nvSpPr>
        <p:spPr>
          <a:xfrm rot="0">
            <a:off x="1028700" y="4392025"/>
            <a:ext cx="5225058" cy="542925"/>
          </a:xfrm>
          <a:prstGeom prst="rect">
            <a:avLst/>
          </a:prstGeom>
        </p:spPr>
        <p:txBody>
          <a:bodyPr anchor="t" rtlCol="false" tIns="0" lIns="0" bIns="0" rIns="0">
            <a:spAutoFit/>
          </a:bodyPr>
          <a:lstStyle/>
          <a:p>
            <a:pPr algn="just">
              <a:lnSpc>
                <a:spcPts val="4200"/>
              </a:lnSpc>
            </a:pPr>
            <a:r>
              <a:rPr lang="en-US" sz="3000" spc="-30">
                <a:solidFill>
                  <a:srgbClr val="000000"/>
                </a:solidFill>
                <a:latin typeface="Times New Roman"/>
                <a:ea typeface="Times New Roman"/>
                <a:cs typeface="Times New Roman"/>
                <a:sym typeface="Times New Roman"/>
              </a:rPr>
              <a:t>Stakeholder &amp; Engagement Matrix</a:t>
            </a:r>
          </a:p>
        </p:txBody>
      </p:sp>
      <p:sp>
        <p:nvSpPr>
          <p:cNvPr name="TextBox 15" id="15"/>
          <p:cNvSpPr txBox="true"/>
          <p:nvPr/>
        </p:nvSpPr>
        <p:spPr>
          <a:xfrm rot="0">
            <a:off x="1028700" y="2949327"/>
            <a:ext cx="3264991" cy="283210"/>
          </a:xfrm>
          <a:prstGeom prst="rect">
            <a:avLst/>
          </a:prstGeom>
        </p:spPr>
        <p:txBody>
          <a:bodyPr anchor="t" rtlCol="false" tIns="0" lIns="0" bIns="0" rIns="0">
            <a:spAutoFit/>
          </a:bodyPr>
          <a:lstStyle/>
          <a:p>
            <a:pPr algn="just">
              <a:lnSpc>
                <a:spcPts val="2239"/>
              </a:lnSpc>
            </a:pPr>
            <a:r>
              <a:rPr lang="en-US" sz="1599" spc="-15">
                <a:solidFill>
                  <a:srgbClr val="000000">
                    <a:alpha val="49804"/>
                  </a:srgbClr>
                </a:solidFill>
                <a:latin typeface="Times New Roman"/>
                <a:ea typeface="Times New Roman"/>
                <a:cs typeface="Times New Roman"/>
                <a:sym typeface="Times New Roman"/>
              </a:rPr>
              <a:t>M</a:t>
            </a:r>
            <a:r>
              <a:rPr lang="en-US" sz="1599" spc="-15">
                <a:solidFill>
                  <a:srgbClr val="000000">
                    <a:alpha val="49804"/>
                  </a:srgbClr>
                </a:solidFill>
                <a:latin typeface="Times New Roman"/>
                <a:ea typeface="Times New Roman"/>
                <a:cs typeface="Times New Roman"/>
                <a:sym typeface="Times New Roman"/>
              </a:rPr>
              <a:t>odel noise and the new token economy</a:t>
            </a:r>
          </a:p>
        </p:txBody>
      </p:sp>
      <p:sp>
        <p:nvSpPr>
          <p:cNvPr name="TextBox 16" id="16"/>
          <p:cNvSpPr txBox="true"/>
          <p:nvPr/>
        </p:nvSpPr>
        <p:spPr>
          <a:xfrm rot="0">
            <a:off x="1028700" y="3918326"/>
            <a:ext cx="3667423" cy="283210"/>
          </a:xfrm>
          <a:prstGeom prst="rect">
            <a:avLst/>
          </a:prstGeom>
        </p:spPr>
        <p:txBody>
          <a:bodyPr anchor="t" rtlCol="false" tIns="0" lIns="0" bIns="0" rIns="0">
            <a:spAutoFit/>
          </a:bodyPr>
          <a:lstStyle/>
          <a:p>
            <a:pPr algn="l">
              <a:lnSpc>
                <a:spcPts val="2239"/>
              </a:lnSpc>
            </a:pPr>
            <a:r>
              <a:rPr lang="en-US" sz="1599" spc="-15">
                <a:solidFill>
                  <a:srgbClr val="000000">
                    <a:alpha val="49804"/>
                  </a:srgbClr>
                </a:solidFill>
                <a:latin typeface="Times New Roman"/>
                <a:ea typeface="Times New Roman"/>
                <a:cs typeface="Times New Roman"/>
                <a:sym typeface="Times New Roman"/>
              </a:rPr>
              <a:t>User </a:t>
            </a:r>
            <a:r>
              <a:rPr lang="en-US" sz="1599" spc="-15">
                <a:solidFill>
                  <a:srgbClr val="000000">
                    <a:alpha val="49804"/>
                  </a:srgbClr>
                </a:solidFill>
                <a:latin typeface="Times New Roman"/>
                <a:ea typeface="Times New Roman"/>
                <a:cs typeface="Times New Roman"/>
                <a:sym typeface="Times New Roman"/>
              </a:rPr>
              <a:t>agency and enterprise liability protection</a:t>
            </a:r>
          </a:p>
        </p:txBody>
      </p:sp>
      <p:sp>
        <p:nvSpPr>
          <p:cNvPr name="TextBox 17" id="17"/>
          <p:cNvSpPr txBox="true"/>
          <p:nvPr/>
        </p:nvSpPr>
        <p:spPr>
          <a:xfrm rot="0">
            <a:off x="1028700" y="4896850"/>
            <a:ext cx="3802856" cy="283210"/>
          </a:xfrm>
          <a:prstGeom prst="rect">
            <a:avLst/>
          </a:prstGeom>
        </p:spPr>
        <p:txBody>
          <a:bodyPr anchor="t" rtlCol="false" tIns="0" lIns="0" bIns="0" rIns="0">
            <a:spAutoFit/>
          </a:bodyPr>
          <a:lstStyle/>
          <a:p>
            <a:pPr algn="l">
              <a:lnSpc>
                <a:spcPts val="2239"/>
              </a:lnSpc>
            </a:pPr>
            <a:r>
              <a:rPr lang="en-US" sz="1599" spc="-15">
                <a:solidFill>
                  <a:srgbClr val="000000">
                    <a:alpha val="49804"/>
                  </a:srgbClr>
                </a:solidFill>
                <a:latin typeface="Times New Roman"/>
                <a:ea typeface="Times New Roman"/>
                <a:cs typeface="Times New Roman"/>
                <a:sym typeface="Times New Roman"/>
              </a:rPr>
              <a:t>G</a:t>
            </a:r>
            <a:r>
              <a:rPr lang="en-US" sz="1599" spc="-15">
                <a:solidFill>
                  <a:srgbClr val="000000">
                    <a:alpha val="49804"/>
                  </a:srgbClr>
                </a:solidFill>
                <a:latin typeface="Times New Roman"/>
                <a:ea typeface="Times New Roman"/>
                <a:cs typeface="Times New Roman"/>
                <a:sym typeface="Times New Roman"/>
              </a:rPr>
              <a:t>overnance ecosystem for data-token exchange</a:t>
            </a:r>
          </a:p>
        </p:txBody>
      </p:sp>
      <p:sp>
        <p:nvSpPr>
          <p:cNvPr name="TextBox 18" id="18"/>
          <p:cNvSpPr txBox="true"/>
          <p:nvPr/>
        </p:nvSpPr>
        <p:spPr>
          <a:xfrm rot="0">
            <a:off x="16173599" y="2454027"/>
            <a:ext cx="1085701" cy="542925"/>
          </a:xfrm>
          <a:prstGeom prst="rect">
            <a:avLst/>
          </a:prstGeom>
        </p:spPr>
        <p:txBody>
          <a:bodyPr anchor="t" rtlCol="false" tIns="0" lIns="0" bIns="0" rIns="0">
            <a:spAutoFit/>
          </a:bodyPr>
          <a:lstStyle/>
          <a:p>
            <a:pPr algn="r">
              <a:lnSpc>
                <a:spcPts val="4200"/>
              </a:lnSpc>
            </a:pPr>
            <a:r>
              <a:rPr lang="en-US" sz="3000" spc="-30">
                <a:solidFill>
                  <a:srgbClr val="000000">
                    <a:alpha val="49804"/>
                  </a:srgbClr>
                </a:solidFill>
                <a:latin typeface="Times New Roman"/>
                <a:ea typeface="Times New Roman"/>
                <a:cs typeface="Times New Roman"/>
                <a:sym typeface="Times New Roman"/>
              </a:rPr>
              <a:t>10</a:t>
            </a:r>
            <a:r>
              <a:rPr lang="en-US" sz="3000" spc="-30">
                <a:solidFill>
                  <a:srgbClr val="000000">
                    <a:alpha val="49804"/>
                  </a:srgbClr>
                </a:solidFill>
                <a:latin typeface="Times New Roman"/>
                <a:ea typeface="Times New Roman"/>
                <a:cs typeface="Times New Roman"/>
                <a:sym typeface="Times New Roman"/>
              </a:rPr>
              <a:t>-16</a:t>
            </a:r>
          </a:p>
        </p:txBody>
      </p:sp>
      <p:sp>
        <p:nvSpPr>
          <p:cNvPr name="TextBox 19" id="19"/>
          <p:cNvSpPr txBox="true"/>
          <p:nvPr/>
        </p:nvSpPr>
        <p:spPr>
          <a:xfrm rot="0">
            <a:off x="16172706" y="3425577"/>
            <a:ext cx="1085701" cy="542925"/>
          </a:xfrm>
          <a:prstGeom prst="rect">
            <a:avLst/>
          </a:prstGeom>
        </p:spPr>
        <p:txBody>
          <a:bodyPr anchor="t" rtlCol="false" tIns="0" lIns="0" bIns="0" rIns="0">
            <a:spAutoFit/>
          </a:bodyPr>
          <a:lstStyle/>
          <a:p>
            <a:pPr algn="r">
              <a:lnSpc>
                <a:spcPts val="4200"/>
              </a:lnSpc>
            </a:pPr>
            <a:r>
              <a:rPr lang="en-US" sz="3000" spc="-30">
                <a:solidFill>
                  <a:srgbClr val="000000">
                    <a:alpha val="49804"/>
                  </a:srgbClr>
                </a:solidFill>
                <a:latin typeface="Times New Roman"/>
                <a:ea typeface="Times New Roman"/>
                <a:cs typeface="Times New Roman"/>
                <a:sym typeface="Times New Roman"/>
              </a:rPr>
              <a:t>1</a:t>
            </a:r>
            <a:r>
              <a:rPr lang="en-US" sz="3000" spc="-30">
                <a:solidFill>
                  <a:srgbClr val="000000">
                    <a:alpha val="49804"/>
                  </a:srgbClr>
                </a:solidFill>
                <a:latin typeface="Times New Roman"/>
                <a:ea typeface="Times New Roman"/>
                <a:cs typeface="Times New Roman"/>
                <a:sym typeface="Times New Roman"/>
              </a:rPr>
              <a:t>7-21</a:t>
            </a:r>
          </a:p>
        </p:txBody>
      </p:sp>
      <p:sp>
        <p:nvSpPr>
          <p:cNvPr name="TextBox 20" id="20"/>
          <p:cNvSpPr txBox="true"/>
          <p:nvPr/>
        </p:nvSpPr>
        <p:spPr>
          <a:xfrm rot="0">
            <a:off x="16171813" y="4397127"/>
            <a:ext cx="1085701" cy="542925"/>
          </a:xfrm>
          <a:prstGeom prst="rect">
            <a:avLst/>
          </a:prstGeom>
        </p:spPr>
        <p:txBody>
          <a:bodyPr anchor="t" rtlCol="false" tIns="0" lIns="0" bIns="0" rIns="0">
            <a:spAutoFit/>
          </a:bodyPr>
          <a:lstStyle/>
          <a:p>
            <a:pPr algn="r">
              <a:lnSpc>
                <a:spcPts val="4200"/>
              </a:lnSpc>
            </a:pPr>
            <a:r>
              <a:rPr lang="en-US" sz="3000" spc="-30">
                <a:solidFill>
                  <a:srgbClr val="000000">
                    <a:alpha val="49804"/>
                  </a:srgbClr>
                </a:solidFill>
                <a:latin typeface="Times New Roman"/>
                <a:ea typeface="Times New Roman"/>
                <a:cs typeface="Times New Roman"/>
                <a:sym typeface="Times New Roman"/>
              </a:rPr>
              <a:t>22-24</a:t>
            </a:r>
          </a:p>
        </p:txBody>
      </p:sp>
      <p:sp>
        <p:nvSpPr>
          <p:cNvPr name="TextBox 21" id="21"/>
          <p:cNvSpPr txBox="true"/>
          <p:nvPr/>
        </p:nvSpPr>
        <p:spPr>
          <a:xfrm rot="0">
            <a:off x="13215417" y="5625735"/>
            <a:ext cx="4043883" cy="542925"/>
          </a:xfrm>
          <a:prstGeom prst="rect">
            <a:avLst/>
          </a:prstGeom>
        </p:spPr>
        <p:txBody>
          <a:bodyPr anchor="t" rtlCol="false" tIns="0" lIns="0" bIns="0" rIns="0">
            <a:spAutoFit/>
          </a:bodyPr>
          <a:lstStyle/>
          <a:p>
            <a:pPr algn="r">
              <a:lnSpc>
                <a:spcPts val="4200"/>
              </a:lnSpc>
            </a:pPr>
            <a:r>
              <a:rPr lang="en-US" sz="3000" spc="-30">
                <a:solidFill>
                  <a:srgbClr val="000000"/>
                </a:solidFill>
                <a:latin typeface="Times New Roman"/>
                <a:ea typeface="Times New Roman"/>
                <a:cs typeface="Times New Roman"/>
                <a:sym typeface="Times New Roman"/>
              </a:rPr>
              <a:t>Co</a:t>
            </a:r>
            <a:r>
              <a:rPr lang="en-US" sz="3000" spc="-30">
                <a:solidFill>
                  <a:srgbClr val="000000"/>
                </a:solidFill>
                <a:latin typeface="Times New Roman"/>
                <a:ea typeface="Times New Roman"/>
                <a:cs typeface="Times New Roman"/>
                <a:sym typeface="Times New Roman"/>
              </a:rPr>
              <a:t>re Service Infrastructure</a:t>
            </a:r>
          </a:p>
        </p:txBody>
      </p:sp>
      <p:sp>
        <p:nvSpPr>
          <p:cNvPr name="TextBox 22" id="22"/>
          <p:cNvSpPr txBox="true"/>
          <p:nvPr/>
        </p:nvSpPr>
        <p:spPr>
          <a:xfrm rot="0">
            <a:off x="11529343" y="6594734"/>
            <a:ext cx="5729957" cy="542925"/>
          </a:xfrm>
          <a:prstGeom prst="rect">
            <a:avLst/>
          </a:prstGeom>
        </p:spPr>
        <p:txBody>
          <a:bodyPr anchor="t" rtlCol="false" tIns="0" lIns="0" bIns="0" rIns="0">
            <a:spAutoFit/>
          </a:bodyPr>
          <a:lstStyle/>
          <a:p>
            <a:pPr algn="r">
              <a:lnSpc>
                <a:spcPts val="4200"/>
              </a:lnSpc>
            </a:pPr>
            <a:r>
              <a:rPr lang="en-US" sz="3000" spc="-30">
                <a:solidFill>
                  <a:srgbClr val="000000"/>
                </a:solidFill>
                <a:latin typeface="Times New Roman"/>
                <a:ea typeface="Times New Roman"/>
                <a:cs typeface="Times New Roman"/>
                <a:sym typeface="Times New Roman"/>
              </a:rPr>
              <a:t>Market </a:t>
            </a:r>
            <a:r>
              <a:rPr lang="en-US" sz="3000" spc="-30">
                <a:solidFill>
                  <a:srgbClr val="000000"/>
                </a:solidFill>
                <a:latin typeface="Times New Roman"/>
                <a:ea typeface="Times New Roman"/>
                <a:cs typeface="Times New Roman"/>
                <a:sym typeface="Times New Roman"/>
              </a:rPr>
              <a:t>Positioning &amp; Business Model</a:t>
            </a:r>
          </a:p>
        </p:txBody>
      </p:sp>
      <p:sp>
        <p:nvSpPr>
          <p:cNvPr name="TextBox 23" id="23"/>
          <p:cNvSpPr txBox="true"/>
          <p:nvPr/>
        </p:nvSpPr>
        <p:spPr>
          <a:xfrm rot="0">
            <a:off x="11912203" y="7563733"/>
            <a:ext cx="5347097" cy="542925"/>
          </a:xfrm>
          <a:prstGeom prst="rect">
            <a:avLst/>
          </a:prstGeom>
        </p:spPr>
        <p:txBody>
          <a:bodyPr anchor="t" rtlCol="false" tIns="0" lIns="0" bIns="0" rIns="0">
            <a:spAutoFit/>
          </a:bodyPr>
          <a:lstStyle/>
          <a:p>
            <a:pPr algn="r">
              <a:lnSpc>
                <a:spcPts val="4200"/>
              </a:lnSpc>
            </a:pPr>
            <a:r>
              <a:rPr lang="en-US" sz="3000" spc="-30">
                <a:solidFill>
                  <a:srgbClr val="000000"/>
                </a:solidFill>
                <a:latin typeface="Times New Roman"/>
                <a:ea typeface="Times New Roman"/>
                <a:cs typeface="Times New Roman"/>
                <a:sym typeface="Times New Roman"/>
              </a:rPr>
              <a:t>Strategic R</a:t>
            </a:r>
            <a:r>
              <a:rPr lang="en-US" sz="3000" spc="-30">
                <a:solidFill>
                  <a:srgbClr val="000000"/>
                </a:solidFill>
                <a:latin typeface="Times New Roman"/>
                <a:ea typeface="Times New Roman"/>
                <a:cs typeface="Times New Roman"/>
                <a:sym typeface="Times New Roman"/>
              </a:rPr>
              <a:t>oadmap &amp; Future Vision</a:t>
            </a:r>
          </a:p>
        </p:txBody>
      </p:sp>
      <p:sp>
        <p:nvSpPr>
          <p:cNvPr name="TextBox 24" id="24"/>
          <p:cNvSpPr txBox="true"/>
          <p:nvPr/>
        </p:nvSpPr>
        <p:spPr>
          <a:xfrm rot="0">
            <a:off x="13630349" y="6121035"/>
            <a:ext cx="3628951" cy="283210"/>
          </a:xfrm>
          <a:prstGeom prst="rect">
            <a:avLst/>
          </a:prstGeom>
        </p:spPr>
        <p:txBody>
          <a:bodyPr anchor="t" rtlCol="false" tIns="0" lIns="0" bIns="0" rIns="0">
            <a:spAutoFit/>
          </a:bodyPr>
          <a:lstStyle/>
          <a:p>
            <a:pPr algn="r">
              <a:lnSpc>
                <a:spcPts val="2239"/>
              </a:lnSpc>
            </a:pPr>
            <a:r>
              <a:rPr lang="en-US" sz="1599" spc="-15">
                <a:solidFill>
                  <a:srgbClr val="000000">
                    <a:alpha val="49804"/>
                  </a:srgbClr>
                </a:solidFill>
                <a:latin typeface="Times New Roman"/>
                <a:ea typeface="Times New Roman"/>
                <a:cs typeface="Times New Roman"/>
                <a:sym typeface="Times New Roman"/>
              </a:rPr>
              <a:t>DQI ass</a:t>
            </a:r>
            <a:r>
              <a:rPr lang="en-US" sz="1599" spc="-15">
                <a:solidFill>
                  <a:srgbClr val="000000">
                    <a:alpha val="49804"/>
                  </a:srgbClr>
                </a:solidFill>
                <a:latin typeface="Times New Roman"/>
                <a:ea typeface="Times New Roman"/>
                <a:cs typeface="Times New Roman"/>
                <a:sym typeface="Times New Roman"/>
              </a:rPr>
              <a:t>essment and reward distribution logic</a:t>
            </a:r>
          </a:p>
        </p:txBody>
      </p:sp>
      <p:sp>
        <p:nvSpPr>
          <p:cNvPr name="TextBox 25" id="25"/>
          <p:cNvSpPr txBox="true"/>
          <p:nvPr/>
        </p:nvSpPr>
        <p:spPr>
          <a:xfrm rot="0">
            <a:off x="12975506" y="7083060"/>
            <a:ext cx="4282008" cy="283210"/>
          </a:xfrm>
          <a:prstGeom prst="rect">
            <a:avLst/>
          </a:prstGeom>
        </p:spPr>
        <p:txBody>
          <a:bodyPr anchor="t" rtlCol="false" tIns="0" lIns="0" bIns="0" rIns="0">
            <a:spAutoFit/>
          </a:bodyPr>
          <a:lstStyle/>
          <a:p>
            <a:pPr algn="r">
              <a:lnSpc>
                <a:spcPts val="2239"/>
              </a:lnSpc>
            </a:pPr>
            <a:r>
              <a:rPr lang="en-US" sz="1599" spc="-15">
                <a:solidFill>
                  <a:srgbClr val="000000">
                    <a:alpha val="49804"/>
                  </a:srgbClr>
                </a:solidFill>
                <a:latin typeface="Times New Roman"/>
                <a:ea typeface="Times New Roman"/>
                <a:cs typeface="Times New Roman"/>
                <a:sym typeface="Times New Roman"/>
              </a:rPr>
              <a:t>C</a:t>
            </a:r>
            <a:r>
              <a:rPr lang="en-US" sz="1599" spc="-15">
                <a:solidFill>
                  <a:srgbClr val="000000">
                    <a:alpha val="49804"/>
                  </a:srgbClr>
                </a:solidFill>
                <a:latin typeface="Times New Roman"/>
                <a:ea typeface="Times New Roman"/>
                <a:cs typeface="Times New Roman"/>
                <a:sym typeface="Times New Roman"/>
              </a:rPr>
              <a:t>ompetitive edge in the DaaS and compliance market</a:t>
            </a:r>
          </a:p>
        </p:txBody>
      </p:sp>
      <p:sp>
        <p:nvSpPr>
          <p:cNvPr name="TextBox 26" id="26"/>
          <p:cNvSpPr txBox="true"/>
          <p:nvPr/>
        </p:nvSpPr>
        <p:spPr>
          <a:xfrm rot="0">
            <a:off x="1030486" y="5616210"/>
            <a:ext cx="1085701" cy="542925"/>
          </a:xfrm>
          <a:prstGeom prst="rect">
            <a:avLst/>
          </a:prstGeom>
        </p:spPr>
        <p:txBody>
          <a:bodyPr anchor="t" rtlCol="false" tIns="0" lIns="0" bIns="0" rIns="0">
            <a:spAutoFit/>
          </a:bodyPr>
          <a:lstStyle/>
          <a:p>
            <a:pPr algn="l">
              <a:lnSpc>
                <a:spcPts val="4200"/>
              </a:lnSpc>
            </a:pPr>
            <a:r>
              <a:rPr lang="en-US" sz="3000" spc="-30">
                <a:solidFill>
                  <a:srgbClr val="000000">
                    <a:alpha val="49804"/>
                  </a:srgbClr>
                </a:solidFill>
                <a:latin typeface="Times New Roman"/>
                <a:ea typeface="Times New Roman"/>
                <a:cs typeface="Times New Roman"/>
                <a:sym typeface="Times New Roman"/>
              </a:rPr>
              <a:t>25-32</a:t>
            </a:r>
          </a:p>
        </p:txBody>
      </p:sp>
      <p:sp>
        <p:nvSpPr>
          <p:cNvPr name="TextBox 27" id="27"/>
          <p:cNvSpPr txBox="true"/>
          <p:nvPr/>
        </p:nvSpPr>
        <p:spPr>
          <a:xfrm rot="0">
            <a:off x="1029593" y="6587760"/>
            <a:ext cx="1085701" cy="542925"/>
          </a:xfrm>
          <a:prstGeom prst="rect">
            <a:avLst/>
          </a:prstGeom>
        </p:spPr>
        <p:txBody>
          <a:bodyPr anchor="t" rtlCol="false" tIns="0" lIns="0" bIns="0" rIns="0">
            <a:spAutoFit/>
          </a:bodyPr>
          <a:lstStyle/>
          <a:p>
            <a:pPr algn="l">
              <a:lnSpc>
                <a:spcPts val="4200"/>
              </a:lnSpc>
            </a:pPr>
            <a:r>
              <a:rPr lang="en-US" sz="3000" spc="-30">
                <a:solidFill>
                  <a:srgbClr val="000000">
                    <a:alpha val="49804"/>
                  </a:srgbClr>
                </a:solidFill>
                <a:latin typeface="Times New Roman"/>
                <a:ea typeface="Times New Roman"/>
                <a:cs typeface="Times New Roman"/>
                <a:sym typeface="Times New Roman"/>
              </a:rPr>
              <a:t>33-38</a:t>
            </a:r>
          </a:p>
        </p:txBody>
      </p:sp>
      <p:sp>
        <p:nvSpPr>
          <p:cNvPr name="TextBox 28" id="28"/>
          <p:cNvSpPr txBox="true"/>
          <p:nvPr/>
        </p:nvSpPr>
        <p:spPr>
          <a:xfrm rot="0">
            <a:off x="1030486" y="7559310"/>
            <a:ext cx="1085701" cy="542925"/>
          </a:xfrm>
          <a:prstGeom prst="rect">
            <a:avLst/>
          </a:prstGeom>
        </p:spPr>
        <p:txBody>
          <a:bodyPr anchor="t" rtlCol="false" tIns="0" lIns="0" bIns="0" rIns="0">
            <a:spAutoFit/>
          </a:bodyPr>
          <a:lstStyle/>
          <a:p>
            <a:pPr algn="l">
              <a:lnSpc>
                <a:spcPts val="4200"/>
              </a:lnSpc>
            </a:pPr>
            <a:r>
              <a:rPr lang="en-US" sz="3000" spc="-30">
                <a:solidFill>
                  <a:srgbClr val="000000">
                    <a:alpha val="49804"/>
                  </a:srgbClr>
                </a:solidFill>
                <a:latin typeface="Times New Roman"/>
                <a:ea typeface="Times New Roman"/>
                <a:cs typeface="Times New Roman"/>
                <a:sym typeface="Times New Roman"/>
              </a:rPr>
              <a:t>39-40</a:t>
            </a:r>
          </a:p>
        </p:txBody>
      </p:sp>
      <p:sp>
        <p:nvSpPr>
          <p:cNvPr name="TextBox 29" id="29"/>
          <p:cNvSpPr txBox="true"/>
          <p:nvPr/>
        </p:nvSpPr>
        <p:spPr>
          <a:xfrm rot="0">
            <a:off x="1028700" y="8258016"/>
            <a:ext cx="2025551" cy="542925"/>
          </a:xfrm>
          <a:prstGeom prst="rect">
            <a:avLst/>
          </a:prstGeom>
        </p:spPr>
        <p:txBody>
          <a:bodyPr anchor="t" rtlCol="false" tIns="0" lIns="0" bIns="0" rIns="0">
            <a:spAutoFit/>
          </a:bodyPr>
          <a:lstStyle/>
          <a:p>
            <a:pPr algn="l">
              <a:lnSpc>
                <a:spcPts val="4200"/>
              </a:lnSpc>
            </a:pPr>
            <a:r>
              <a:rPr lang="en-US" sz="3000" spc="-30">
                <a:solidFill>
                  <a:srgbClr val="000000"/>
                </a:solidFill>
                <a:latin typeface="Times New Roman"/>
                <a:ea typeface="Times New Roman"/>
                <a:cs typeface="Times New Roman"/>
                <a:sym typeface="Times New Roman"/>
              </a:rPr>
              <a:t>Works Cited</a:t>
            </a:r>
          </a:p>
        </p:txBody>
      </p:sp>
      <p:sp>
        <p:nvSpPr>
          <p:cNvPr name="TextBox 30" id="30"/>
          <p:cNvSpPr txBox="true"/>
          <p:nvPr/>
        </p:nvSpPr>
        <p:spPr>
          <a:xfrm rot="0">
            <a:off x="16171813" y="8267541"/>
            <a:ext cx="1085701" cy="542925"/>
          </a:xfrm>
          <a:prstGeom prst="rect">
            <a:avLst/>
          </a:prstGeom>
        </p:spPr>
        <p:txBody>
          <a:bodyPr anchor="t" rtlCol="false" tIns="0" lIns="0" bIns="0" rIns="0">
            <a:spAutoFit/>
          </a:bodyPr>
          <a:lstStyle/>
          <a:p>
            <a:pPr algn="r">
              <a:lnSpc>
                <a:spcPts val="4200"/>
              </a:lnSpc>
            </a:pPr>
            <a:r>
              <a:rPr lang="en-US" sz="3000" spc="-30">
                <a:solidFill>
                  <a:srgbClr val="000000">
                    <a:alpha val="49804"/>
                  </a:srgbClr>
                </a:solidFill>
                <a:latin typeface="Times New Roman"/>
                <a:ea typeface="Times New Roman"/>
                <a:cs typeface="Times New Roman"/>
                <a:sym typeface="Times New Roman"/>
              </a:rPr>
              <a:t>41</a:t>
            </a:r>
          </a:p>
        </p:txBody>
      </p:sp>
      <p:sp>
        <p:nvSpPr>
          <p:cNvPr name="AutoShape 31" id="31"/>
          <p:cNvSpPr/>
          <p:nvPr/>
        </p:nvSpPr>
        <p:spPr>
          <a:xfrm flipH="true">
            <a:off x="1028700" y="2445544"/>
            <a:ext cx="16230600" cy="0"/>
          </a:xfrm>
          <a:prstGeom prst="line">
            <a:avLst/>
          </a:prstGeom>
          <a:ln cap="rnd" w="19050">
            <a:solidFill>
              <a:srgbClr val="B2B2B2">
                <a:alpha val="29804"/>
              </a:srgbClr>
            </a:solidFill>
            <a:prstDash val="sysDash"/>
            <a:headEnd type="none" len="sm" w="sm"/>
            <a:tailEnd type="none" len="sm" w="sm"/>
          </a:ln>
        </p:spPr>
      </p:sp>
      <p:sp>
        <p:nvSpPr>
          <p:cNvPr name="AutoShape 32" id="32"/>
          <p:cNvSpPr/>
          <p:nvPr/>
        </p:nvSpPr>
        <p:spPr>
          <a:xfrm flipH="true">
            <a:off x="1028700" y="5594392"/>
            <a:ext cx="16230600" cy="0"/>
          </a:xfrm>
          <a:prstGeom prst="line">
            <a:avLst/>
          </a:prstGeom>
          <a:ln cap="rnd" w="19050">
            <a:solidFill>
              <a:srgbClr val="B2B2B2">
                <a:alpha val="29804"/>
              </a:srgbClr>
            </a:solidFill>
            <a:prstDash val="sysDash"/>
            <a:headEnd type="none" len="sm" w="sm"/>
            <a:tailEnd type="none" len="sm" w="sm"/>
          </a:ln>
        </p:spPr>
      </p:sp>
      <p:sp>
        <p:nvSpPr>
          <p:cNvPr name="AutoShape 33" id="33"/>
          <p:cNvSpPr/>
          <p:nvPr/>
        </p:nvSpPr>
        <p:spPr>
          <a:xfrm flipH="true">
            <a:off x="1028700" y="8234724"/>
            <a:ext cx="16230600" cy="0"/>
          </a:xfrm>
          <a:prstGeom prst="line">
            <a:avLst/>
          </a:prstGeom>
          <a:ln cap="rnd" w="19050">
            <a:solidFill>
              <a:srgbClr val="B2B2B2">
                <a:alpha val="29804"/>
              </a:srgbClr>
            </a:solidFill>
            <a:prstDash val="sysDash"/>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Introduction</a:t>
            </a:r>
          </a:p>
        </p:txBody>
      </p:sp>
      <p:grpSp>
        <p:nvGrpSpPr>
          <p:cNvPr name="Group 5" id="5"/>
          <p:cNvGrpSpPr/>
          <p:nvPr/>
        </p:nvGrpSpPr>
        <p:grpSpPr>
          <a:xfrm rot="0">
            <a:off x="1028700" y="3426903"/>
            <a:ext cx="16230600" cy="3938780"/>
            <a:chOff x="0" y="0"/>
            <a:chExt cx="21640800" cy="5251707"/>
          </a:xfrm>
        </p:grpSpPr>
        <p:sp>
          <p:nvSpPr>
            <p:cNvPr name="TextBox 6" id="6"/>
            <p:cNvSpPr txBox="true"/>
            <p:nvPr/>
          </p:nvSpPr>
          <p:spPr>
            <a:xfrm rot="0">
              <a:off x="0" y="114300"/>
              <a:ext cx="21640800" cy="2849034"/>
            </a:xfrm>
            <a:prstGeom prst="rect">
              <a:avLst/>
            </a:prstGeom>
          </p:spPr>
          <p:txBody>
            <a:bodyPr anchor="t" rtlCol="false" tIns="0" lIns="0" bIns="0" rIns="0">
              <a:spAutoFit/>
            </a:bodyPr>
            <a:lstStyle/>
            <a:p>
              <a:pPr algn="l">
                <a:lnSpc>
                  <a:spcPts val="8000"/>
                </a:lnSpc>
              </a:pPr>
              <a:r>
                <a:rPr lang="en-US" sz="8000" spc="-120">
                  <a:solidFill>
                    <a:srgbClr val="000000"/>
                  </a:solidFill>
                  <a:latin typeface="Times New Roman"/>
                  <a:ea typeface="Times New Roman"/>
                  <a:cs typeface="Times New Roman"/>
                  <a:sym typeface="Times New Roman"/>
                </a:rPr>
                <a:t>Where does the data we provide to AI actually go?</a:t>
              </a:r>
            </a:p>
          </p:txBody>
        </p:sp>
        <p:sp>
          <p:nvSpPr>
            <p:cNvPr name="TextBox 7" id="7"/>
            <p:cNvSpPr txBox="true"/>
            <p:nvPr/>
          </p:nvSpPr>
          <p:spPr>
            <a:xfrm rot="0">
              <a:off x="6705708" y="4328628"/>
              <a:ext cx="14935092" cy="923078"/>
            </a:xfrm>
            <a:prstGeom prst="rect">
              <a:avLst/>
            </a:prstGeom>
          </p:spPr>
          <p:txBody>
            <a:bodyPr anchor="t" rtlCol="false" tIns="0" lIns="0" bIns="0" rIns="0">
              <a:spAutoFit/>
            </a:bodyPr>
            <a:lstStyle/>
            <a:p>
              <a:pPr algn="r">
                <a:lnSpc>
                  <a:spcPts val="2600"/>
                </a:lnSpc>
              </a:pPr>
              <a:r>
                <a:rPr lang="en-US" sz="2600" spc="-39">
                  <a:solidFill>
                    <a:srgbClr val="000000"/>
                  </a:solidFill>
                  <a:latin typeface="Times New Roman"/>
                  <a:ea typeface="Times New Roman"/>
                  <a:cs typeface="Times New Roman"/>
                  <a:sym typeface="Times New Roman"/>
                </a:rPr>
                <a:t>“We use AI every day without a second thought. But we have no visibility into how AI enterprises handle our data, or whose hands it ends up in.”</a:t>
              </a:r>
            </a:p>
          </p:txBody>
        </p:sp>
        <p:sp>
          <p:nvSpPr>
            <p:cNvPr name="AutoShape 8" id="8"/>
            <p:cNvSpPr/>
            <p:nvPr/>
          </p:nvSpPr>
          <p:spPr>
            <a:xfrm>
              <a:off x="0" y="3630084"/>
              <a:ext cx="21640800" cy="0"/>
            </a:xfrm>
            <a:prstGeom prst="line">
              <a:avLst/>
            </a:prstGeom>
            <a:ln cap="flat" w="12700">
              <a:solidFill>
                <a:srgbClr val="000000">
                  <a:alpha val="49804"/>
                </a:srgbClr>
              </a:solidFill>
              <a:prstDash val="solid"/>
              <a:headEnd type="none" len="sm" w="sm"/>
              <a:tailEnd type="none" len="sm" w="sm"/>
            </a:ln>
          </p:spPr>
        </p:sp>
      </p:grpSp>
      <p:sp>
        <p:nvSpPr>
          <p:cNvPr name="TextBox 9" id="9"/>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03</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grpSp>
        <p:nvGrpSpPr>
          <p:cNvPr name="Group 4" id="4"/>
          <p:cNvGrpSpPr/>
          <p:nvPr/>
        </p:nvGrpSpPr>
        <p:grpSpPr>
          <a:xfrm rot="0">
            <a:off x="1028700" y="3426903"/>
            <a:ext cx="16230600" cy="3938780"/>
            <a:chOff x="0" y="0"/>
            <a:chExt cx="21640800" cy="5251707"/>
          </a:xfrm>
        </p:grpSpPr>
        <p:sp>
          <p:nvSpPr>
            <p:cNvPr name="TextBox 5" id="5"/>
            <p:cNvSpPr txBox="true"/>
            <p:nvPr/>
          </p:nvSpPr>
          <p:spPr>
            <a:xfrm rot="0">
              <a:off x="0" y="114300"/>
              <a:ext cx="21640800" cy="2849034"/>
            </a:xfrm>
            <a:prstGeom prst="rect">
              <a:avLst/>
            </a:prstGeom>
          </p:spPr>
          <p:txBody>
            <a:bodyPr anchor="t" rtlCol="false" tIns="0" lIns="0" bIns="0" rIns="0">
              <a:spAutoFit/>
            </a:bodyPr>
            <a:lstStyle/>
            <a:p>
              <a:pPr algn="l">
                <a:lnSpc>
                  <a:spcPts val="8000"/>
                </a:lnSpc>
              </a:pPr>
              <a:r>
                <a:rPr lang="en-US" sz="8000" spc="-120">
                  <a:solidFill>
                    <a:srgbClr val="000000"/>
                  </a:solidFill>
                  <a:latin typeface="Times New Roman"/>
                  <a:ea typeface="Times New Roman"/>
                  <a:cs typeface="Times New Roman"/>
                  <a:sym typeface="Times New Roman"/>
                </a:rPr>
                <a:t>How is the data we provide being processed?</a:t>
              </a:r>
            </a:p>
          </p:txBody>
        </p:sp>
        <p:sp>
          <p:nvSpPr>
            <p:cNvPr name="TextBox 6" id="6"/>
            <p:cNvSpPr txBox="true"/>
            <p:nvPr/>
          </p:nvSpPr>
          <p:spPr>
            <a:xfrm rot="0">
              <a:off x="5407410" y="4328628"/>
              <a:ext cx="16233390" cy="923078"/>
            </a:xfrm>
            <a:prstGeom prst="rect">
              <a:avLst/>
            </a:prstGeom>
          </p:spPr>
          <p:txBody>
            <a:bodyPr anchor="t" rtlCol="false" tIns="0" lIns="0" bIns="0" rIns="0">
              <a:spAutoFit/>
            </a:bodyPr>
            <a:lstStyle/>
            <a:p>
              <a:pPr algn="r">
                <a:lnSpc>
                  <a:spcPts val="2600"/>
                </a:lnSpc>
              </a:pPr>
              <a:r>
                <a:rPr lang="en-US" sz="2600" spc="-39">
                  <a:solidFill>
                    <a:srgbClr val="000000"/>
                  </a:solidFill>
                  <a:latin typeface="Times New Roman"/>
                  <a:ea typeface="Times New Roman"/>
                  <a:cs typeface="Times New Roman"/>
                  <a:sym typeface="Times New Roman"/>
                </a:rPr>
                <a:t>"Is our data being processed? Stored? Or fed into the next AI model? We simply do not know. Just like the black box of AI thinking, what happens to our data remains invisible to us."</a:t>
              </a:r>
            </a:p>
          </p:txBody>
        </p:sp>
      </p:grpSp>
      <p:sp>
        <p:nvSpPr>
          <p:cNvPr name="TextBox 7" id="7"/>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Introduction</a:t>
            </a:r>
          </a:p>
        </p:txBody>
      </p:sp>
      <p:sp>
        <p:nvSpPr>
          <p:cNvPr name="AutoShape 8" id="8"/>
          <p:cNvSpPr/>
          <p:nvPr/>
        </p:nvSpPr>
        <p:spPr>
          <a:xfrm>
            <a:off x="1028700" y="6149466"/>
            <a:ext cx="16230600" cy="0"/>
          </a:xfrm>
          <a:prstGeom prst="line">
            <a:avLst/>
          </a:prstGeom>
          <a:ln cap="flat" w="9525">
            <a:solidFill>
              <a:srgbClr val="000000">
                <a:alpha val="49804"/>
              </a:srgbClr>
            </a:solidFill>
            <a:prstDash val="solid"/>
            <a:headEnd type="none" len="sm" w="sm"/>
            <a:tailEnd type="none" len="sm" w="sm"/>
          </a:ln>
        </p:spPr>
      </p:sp>
      <p:sp>
        <p:nvSpPr>
          <p:cNvPr name="TextBox 9" id="9"/>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04</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3426903"/>
            <a:ext cx="16230600" cy="3938780"/>
            <a:chOff x="0" y="0"/>
            <a:chExt cx="21640800" cy="5251707"/>
          </a:xfrm>
        </p:grpSpPr>
        <p:sp>
          <p:nvSpPr>
            <p:cNvPr name="TextBox 3" id="3"/>
            <p:cNvSpPr txBox="true"/>
            <p:nvPr/>
          </p:nvSpPr>
          <p:spPr>
            <a:xfrm rot="0">
              <a:off x="0" y="114300"/>
              <a:ext cx="21640800" cy="2849034"/>
            </a:xfrm>
            <a:prstGeom prst="rect">
              <a:avLst/>
            </a:prstGeom>
          </p:spPr>
          <p:txBody>
            <a:bodyPr anchor="t" rtlCol="false" tIns="0" lIns="0" bIns="0" rIns="0">
              <a:spAutoFit/>
            </a:bodyPr>
            <a:lstStyle/>
            <a:p>
              <a:pPr algn="l">
                <a:lnSpc>
                  <a:spcPts val="8000"/>
                </a:lnSpc>
              </a:pPr>
              <a:r>
                <a:rPr lang="en-US" sz="8000" spc="-120">
                  <a:solidFill>
                    <a:srgbClr val="000000"/>
                  </a:solidFill>
                  <a:latin typeface="Times New Roman"/>
                  <a:ea typeface="Times New Roman"/>
                  <a:cs typeface="Times New Roman"/>
                  <a:sym typeface="Times New Roman"/>
                </a:rPr>
                <a:t>Are AI companies properly rewarding us for the value of our data?</a:t>
              </a:r>
            </a:p>
          </p:txBody>
        </p:sp>
        <p:sp>
          <p:nvSpPr>
            <p:cNvPr name="TextBox 4" id="4"/>
            <p:cNvSpPr txBox="true"/>
            <p:nvPr/>
          </p:nvSpPr>
          <p:spPr>
            <a:xfrm rot="0">
              <a:off x="5407410" y="4328628"/>
              <a:ext cx="16233390" cy="923078"/>
            </a:xfrm>
            <a:prstGeom prst="rect">
              <a:avLst/>
            </a:prstGeom>
          </p:spPr>
          <p:txBody>
            <a:bodyPr anchor="t" rtlCol="false" tIns="0" lIns="0" bIns="0" rIns="0">
              <a:spAutoFit/>
            </a:bodyPr>
            <a:lstStyle/>
            <a:p>
              <a:pPr algn="r">
                <a:lnSpc>
                  <a:spcPts val="2600"/>
                </a:lnSpc>
              </a:pPr>
              <a:r>
                <a:rPr lang="en-US" sz="2600" spc="-39">
                  <a:solidFill>
                    <a:srgbClr val="000000"/>
                  </a:solidFill>
                  <a:latin typeface="Times New Roman"/>
                  <a:ea typeface="Times New Roman"/>
                  <a:cs typeface="Times New Roman"/>
                  <a:sym typeface="Times New Roman"/>
                </a:rPr>
                <a:t>"AI enterprises walk away with our intellectual property and the value of our data. And still, we are the ones writing the check. Where exactly did our data rights go?"</a:t>
              </a:r>
            </a:p>
          </p:txBody>
        </p:sp>
      </p:grpSp>
      <p:sp>
        <p:nvSpPr>
          <p:cNvPr name="AutoShape 5" id="5"/>
          <p:cNvSpPr/>
          <p:nvPr/>
        </p:nvSpPr>
        <p:spPr>
          <a:xfrm>
            <a:off x="1028700" y="6149466"/>
            <a:ext cx="16230600" cy="0"/>
          </a:xfrm>
          <a:prstGeom prst="line">
            <a:avLst/>
          </a:prstGeom>
          <a:ln cap="flat" w="9525">
            <a:solidFill>
              <a:srgbClr val="000000">
                <a:alpha val="49804"/>
              </a:srgbClr>
            </a:solidFill>
            <a:prstDash val="solid"/>
            <a:headEnd type="none" len="sm" w="sm"/>
            <a:tailEnd type="none" len="sm" w="sm"/>
          </a:ln>
        </p:spPr>
      </p:sp>
      <p:sp>
        <p:nvSpPr>
          <p:cNvPr name="TextBox 6" id="6"/>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7" id="7"/>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8" id="8"/>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Introduction</a:t>
            </a:r>
          </a:p>
        </p:txBody>
      </p:sp>
      <p:sp>
        <p:nvSpPr>
          <p:cNvPr name="TextBox 9" id="9"/>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52471" y="2095119"/>
            <a:ext cx="15506829" cy="549275"/>
          </a:xfrm>
          <a:prstGeom prst="rect">
            <a:avLst/>
          </a:prstGeom>
        </p:spPr>
        <p:txBody>
          <a:bodyPr anchor="t" rtlCol="false" tIns="0" lIns="0" bIns="0" rIns="0">
            <a:spAutoFit/>
          </a:bodyPr>
          <a:lstStyle/>
          <a:p>
            <a:pPr algn="r">
              <a:lnSpc>
                <a:spcPts val="3999"/>
              </a:lnSpc>
              <a:spcBef>
                <a:spcPct val="0"/>
              </a:spcBef>
            </a:pPr>
            <a:r>
              <a:rPr lang="en-US" sz="3999" spc="-119">
                <a:solidFill>
                  <a:srgbClr val="000000"/>
                </a:solidFill>
                <a:latin typeface="Times New Roman"/>
                <a:ea typeface="Times New Roman"/>
                <a:cs typeface="Times New Roman"/>
                <a:sym typeface="Times New Roman"/>
              </a:rPr>
              <a:t>Project Overview</a:t>
            </a:r>
          </a:p>
        </p:txBody>
      </p:sp>
      <p:grpSp>
        <p:nvGrpSpPr>
          <p:cNvPr name="Group 3" id="3"/>
          <p:cNvGrpSpPr/>
          <p:nvPr/>
        </p:nvGrpSpPr>
        <p:grpSpPr>
          <a:xfrm rot="0">
            <a:off x="1028700" y="2037969"/>
            <a:ext cx="5090047" cy="1691388"/>
            <a:chOff x="0" y="0"/>
            <a:chExt cx="6786730" cy="2255183"/>
          </a:xfrm>
        </p:grpSpPr>
        <p:grpSp>
          <p:nvGrpSpPr>
            <p:cNvPr name="Group 4" id="4"/>
            <p:cNvGrpSpPr/>
            <p:nvPr/>
          </p:nvGrpSpPr>
          <p:grpSpPr>
            <a:xfrm rot="0">
              <a:off x="5777240" y="0"/>
              <a:ext cx="1009490" cy="1052865"/>
              <a:chOff x="0" y="0"/>
              <a:chExt cx="584874" cy="610004"/>
            </a:xfrm>
          </p:grpSpPr>
          <p:sp>
            <p:nvSpPr>
              <p:cNvPr name="Freeform 5" id="5"/>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solidFill>
            </p:spPr>
          </p:sp>
          <p:sp>
            <p:nvSpPr>
              <p:cNvPr name="TextBox 6" id="6"/>
              <p:cNvSpPr txBox="true"/>
              <p:nvPr/>
            </p:nvSpPr>
            <p:spPr>
              <a:xfrm>
                <a:off x="137617" y="172105"/>
                <a:ext cx="309639" cy="294368"/>
              </a:xfrm>
              <a:prstGeom prst="rect">
                <a:avLst/>
              </a:prstGeom>
            </p:spPr>
            <p:txBody>
              <a:bodyPr anchor="ctr" rtlCol="false" tIns="31993" lIns="31993" bIns="31993" rIns="31993"/>
              <a:lstStyle/>
              <a:p>
                <a:pPr algn="ctr">
                  <a:lnSpc>
                    <a:spcPts val="1599"/>
                  </a:lnSpc>
                </a:pPr>
              </a:p>
            </p:txBody>
          </p:sp>
        </p:grpSp>
        <p:sp>
          <p:nvSpPr>
            <p:cNvPr name="TextBox 7" id="7"/>
            <p:cNvSpPr txBox="true"/>
            <p:nvPr/>
          </p:nvSpPr>
          <p:spPr>
            <a:xfrm rot="0">
              <a:off x="0" y="592323"/>
              <a:ext cx="6047021" cy="1662861"/>
            </a:xfrm>
            <a:prstGeom prst="rect">
              <a:avLst/>
            </a:prstGeom>
          </p:spPr>
          <p:txBody>
            <a:bodyPr anchor="t" rtlCol="false" tIns="0" lIns="0" bIns="0" rIns="0">
              <a:spAutoFit/>
            </a:bodyPr>
            <a:lstStyle/>
            <a:p>
              <a:pPr algn="ctr">
                <a:lnSpc>
                  <a:spcPts val="8829"/>
                </a:lnSpc>
              </a:pPr>
              <a:r>
                <a:rPr lang="en-US" b="true" sz="8829" spc="-353">
                  <a:solidFill>
                    <a:srgbClr val="000000"/>
                  </a:solidFill>
                  <a:latin typeface="Times New Roman Bold"/>
                  <a:ea typeface="Times New Roman Bold"/>
                  <a:cs typeface="Times New Roman Bold"/>
                  <a:sym typeface="Times New Roman Bold"/>
                </a:rPr>
                <a:t>tokentrust</a:t>
              </a:r>
            </a:p>
          </p:txBody>
        </p:sp>
      </p:grpSp>
      <p:sp>
        <p:nvSpPr>
          <p:cNvPr name="AutoShape 8" id="8"/>
          <p:cNvSpPr/>
          <p:nvPr/>
        </p:nvSpPr>
        <p:spPr>
          <a:xfrm>
            <a:off x="1028700" y="4513898"/>
            <a:ext cx="16230600" cy="0"/>
          </a:xfrm>
          <a:prstGeom prst="line">
            <a:avLst/>
          </a:prstGeom>
          <a:ln cap="flat" w="9525">
            <a:solidFill>
              <a:srgbClr val="000000">
                <a:alpha val="49804"/>
              </a:srgbClr>
            </a:solidFill>
            <a:prstDash val="solid"/>
            <a:headEnd type="none" len="sm" w="sm"/>
            <a:tailEnd type="none" len="sm" w="sm"/>
          </a:ln>
        </p:spPr>
      </p:sp>
      <p:sp>
        <p:nvSpPr>
          <p:cNvPr name="TextBox 9" id="9"/>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11" id="11"/>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Background</a:t>
            </a:r>
          </a:p>
        </p:txBody>
      </p:sp>
      <p:sp>
        <p:nvSpPr>
          <p:cNvPr name="TextBox 12" id="12"/>
          <p:cNvSpPr txBox="true"/>
          <p:nvPr/>
        </p:nvSpPr>
        <p:spPr>
          <a:xfrm rot="0">
            <a:off x="9144000" y="2954656"/>
            <a:ext cx="8115300" cy="774700"/>
          </a:xfrm>
          <a:prstGeom prst="rect">
            <a:avLst/>
          </a:prstGeom>
        </p:spPr>
        <p:txBody>
          <a:bodyPr anchor="t" rtlCol="false" tIns="0" lIns="0" bIns="0" rIns="0">
            <a:spAutoFit/>
          </a:bodyPr>
          <a:lstStyle/>
          <a:p>
            <a:pPr algn="r">
              <a:lnSpc>
                <a:spcPts val="2000"/>
              </a:lnSpc>
              <a:spcBef>
                <a:spcPct val="0"/>
              </a:spcBef>
            </a:pPr>
            <a:r>
              <a:rPr lang="en-US" sz="2000" spc="-60">
                <a:solidFill>
                  <a:srgbClr val="000000"/>
                </a:solidFill>
                <a:latin typeface="Times New Roman"/>
                <a:ea typeface="Times New Roman"/>
                <a:cs typeface="Times New Roman"/>
                <a:sym typeface="Times New Roman"/>
              </a:rPr>
              <a:t>TokenTru</a:t>
            </a:r>
            <a:r>
              <a:rPr lang="en-US" sz="2000" spc="-60">
                <a:solidFill>
                  <a:srgbClr val="000000"/>
                </a:solidFill>
                <a:latin typeface="Times New Roman"/>
                <a:ea typeface="Times New Roman"/>
                <a:cs typeface="Times New Roman"/>
                <a:sym typeface="Times New Roman"/>
              </a:rPr>
              <a:t>st is an ethical data governance platform that converts user-contributed data into measurable, compensable value through the DQI(Data Qaulity Index) framework, Reward token, and Data Credit.</a:t>
            </a:r>
          </a:p>
        </p:txBody>
      </p:sp>
      <p:sp>
        <p:nvSpPr>
          <p:cNvPr name="Freeform 13" id="13"/>
          <p:cNvSpPr/>
          <p:nvPr/>
        </p:nvSpPr>
        <p:spPr>
          <a:xfrm flipH="false" flipV="false" rot="0">
            <a:off x="1028700" y="4893564"/>
            <a:ext cx="16230600" cy="4096441"/>
          </a:xfrm>
          <a:custGeom>
            <a:avLst/>
            <a:gdLst/>
            <a:ahLst/>
            <a:cxnLst/>
            <a:rect r="r" b="b" t="t" l="l"/>
            <a:pathLst>
              <a:path h="4096441" w="16230600">
                <a:moveTo>
                  <a:pt x="0" y="0"/>
                </a:moveTo>
                <a:lnTo>
                  <a:pt x="16230600" y="0"/>
                </a:lnTo>
                <a:lnTo>
                  <a:pt x="16230600" y="4096441"/>
                </a:lnTo>
                <a:lnTo>
                  <a:pt x="0" y="4096441"/>
                </a:lnTo>
                <a:lnTo>
                  <a:pt x="0" y="0"/>
                </a:lnTo>
                <a:close/>
              </a:path>
            </a:pathLst>
          </a:custGeom>
          <a:blipFill>
            <a:blip r:embed="rId2"/>
            <a:stretch>
              <a:fillRect l="0" t="-127908" r="0" b="-36233"/>
            </a:stretch>
          </a:blipFill>
        </p:spPr>
      </p:sp>
      <p:sp>
        <p:nvSpPr>
          <p:cNvPr name="TextBox 14" id="1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011774" y="1895974"/>
            <a:ext cx="3247526" cy="3247526"/>
          </a:xfrm>
          <a:custGeom>
            <a:avLst/>
            <a:gdLst/>
            <a:ahLst/>
            <a:cxnLst/>
            <a:rect r="r" b="b" t="t" l="l"/>
            <a:pathLst>
              <a:path h="3247526" w="3247526">
                <a:moveTo>
                  <a:pt x="0" y="0"/>
                </a:moveTo>
                <a:lnTo>
                  <a:pt x="3247526" y="0"/>
                </a:lnTo>
                <a:lnTo>
                  <a:pt x="3247526" y="3247526"/>
                </a:lnTo>
                <a:lnTo>
                  <a:pt x="0" y="3247526"/>
                </a:lnTo>
                <a:lnTo>
                  <a:pt x="0" y="0"/>
                </a:lnTo>
                <a:close/>
              </a:path>
            </a:pathLst>
          </a:custGeom>
          <a:blipFill>
            <a:blip r:embed="rId2"/>
            <a:stretch>
              <a:fillRect l="0" t="0" r="0" b="0"/>
            </a:stretch>
          </a:blipFill>
        </p:spPr>
      </p:sp>
      <p:sp>
        <p:nvSpPr>
          <p:cNvPr name="TextBox 3" id="3"/>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5" id="5"/>
          <p:cNvSpPr txBox="true"/>
          <p:nvPr/>
        </p:nvSpPr>
        <p:spPr>
          <a:xfrm rot="0">
            <a:off x="1028700" y="2734162"/>
            <a:ext cx="10325908" cy="2400299"/>
          </a:xfrm>
          <a:prstGeom prst="rect">
            <a:avLst/>
          </a:prstGeom>
        </p:spPr>
        <p:txBody>
          <a:bodyPr anchor="t" rtlCol="false" tIns="0" lIns="0" bIns="0" rIns="0">
            <a:spAutoFit/>
          </a:bodyPr>
          <a:lstStyle/>
          <a:p>
            <a:pPr algn="l">
              <a:lnSpc>
                <a:spcPts val="8999"/>
              </a:lnSpc>
            </a:pPr>
            <a:r>
              <a:rPr lang="en-US" sz="9999" spc="-299">
                <a:solidFill>
                  <a:srgbClr val="000000"/>
                </a:solidFill>
                <a:latin typeface="Times New Roman"/>
                <a:ea typeface="Times New Roman"/>
                <a:cs typeface="Times New Roman"/>
                <a:sym typeface="Times New Roman"/>
              </a:rPr>
              <a:t>General Data</a:t>
            </a:r>
          </a:p>
          <a:p>
            <a:pPr algn="l">
              <a:lnSpc>
                <a:spcPts val="8999"/>
              </a:lnSpc>
            </a:pPr>
            <a:r>
              <a:rPr lang="en-US" sz="9999" spc="-299">
                <a:solidFill>
                  <a:srgbClr val="000000"/>
                </a:solidFill>
                <a:latin typeface="Times New Roman"/>
                <a:ea typeface="Times New Roman"/>
                <a:cs typeface="Times New Roman"/>
                <a:sym typeface="Times New Roman"/>
              </a:rPr>
              <a:t>Protection Regulation</a:t>
            </a:r>
          </a:p>
        </p:txBody>
      </p:sp>
      <p:sp>
        <p:nvSpPr>
          <p:cNvPr name="TextBox 6" id="6"/>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Background</a:t>
            </a:r>
          </a:p>
        </p:txBody>
      </p:sp>
      <p:sp>
        <p:nvSpPr>
          <p:cNvPr name="AutoShape 7" id="7"/>
          <p:cNvSpPr/>
          <p:nvPr/>
        </p:nvSpPr>
        <p:spPr>
          <a:xfrm>
            <a:off x="1028700" y="6015038"/>
            <a:ext cx="16230600" cy="0"/>
          </a:xfrm>
          <a:prstGeom prst="line">
            <a:avLst/>
          </a:prstGeom>
          <a:ln cap="flat" w="9525">
            <a:solidFill>
              <a:srgbClr val="000000">
                <a:alpha val="49804"/>
              </a:srgbClr>
            </a:solidFill>
            <a:prstDash val="solid"/>
            <a:headEnd type="none" len="sm" w="sm"/>
            <a:tailEnd type="none" len="sm" w="sm"/>
          </a:ln>
        </p:spPr>
      </p:sp>
      <p:sp>
        <p:nvSpPr>
          <p:cNvPr name="TextBox 8" id="8"/>
          <p:cNvSpPr txBox="true"/>
          <p:nvPr/>
        </p:nvSpPr>
        <p:spPr>
          <a:xfrm rot="0">
            <a:off x="1752471" y="7538177"/>
            <a:ext cx="15506829" cy="1054100"/>
          </a:xfrm>
          <a:prstGeom prst="rect">
            <a:avLst/>
          </a:prstGeom>
        </p:spPr>
        <p:txBody>
          <a:bodyPr anchor="t" rtlCol="false" tIns="0" lIns="0" bIns="0" rIns="0">
            <a:spAutoFit/>
          </a:bodyPr>
          <a:lstStyle/>
          <a:p>
            <a:pPr algn="r">
              <a:lnSpc>
                <a:spcPts val="3999"/>
              </a:lnSpc>
              <a:spcBef>
                <a:spcPct val="0"/>
              </a:spcBef>
            </a:pPr>
            <a:r>
              <a:rPr lang="en-US" sz="3999" spc="-119">
                <a:solidFill>
                  <a:srgbClr val="000000"/>
                </a:solidFill>
                <a:latin typeface="Times New Roman"/>
                <a:ea typeface="Times New Roman"/>
                <a:cs typeface="Times New Roman"/>
                <a:sym typeface="Times New Roman"/>
              </a:rPr>
              <a:t>“</a:t>
            </a:r>
            <a:r>
              <a:rPr lang="en-US" b="true" sz="3999" spc="-119">
                <a:solidFill>
                  <a:srgbClr val="000000"/>
                </a:solidFill>
                <a:latin typeface="Times New Roman Bold"/>
                <a:ea typeface="Times New Roman Bold"/>
                <a:cs typeface="Times New Roman Bold"/>
                <a:sym typeface="Times New Roman Bold"/>
              </a:rPr>
              <a:t>GDPR </a:t>
            </a:r>
            <a:r>
              <a:rPr lang="en-US" sz="3999" spc="-119">
                <a:solidFill>
                  <a:srgbClr val="000000"/>
                </a:solidFill>
                <a:latin typeface="Times New Roman"/>
                <a:ea typeface="Times New Roman"/>
                <a:cs typeface="Times New Roman"/>
                <a:sym typeface="Times New Roman"/>
              </a:rPr>
              <a:t>is a data pr</a:t>
            </a:r>
            <a:r>
              <a:rPr lang="en-US" sz="3999" spc="-119">
                <a:solidFill>
                  <a:srgbClr val="000000"/>
                </a:solidFill>
                <a:latin typeface="Times New Roman"/>
                <a:ea typeface="Times New Roman"/>
                <a:cs typeface="Times New Roman"/>
                <a:sym typeface="Times New Roman"/>
              </a:rPr>
              <a:t>otection law in the EU that requires companies to obtain user consent and ensure transparency when collecting and using personal data.”</a:t>
            </a:r>
          </a:p>
        </p:txBody>
      </p:sp>
      <p:sp>
        <p:nvSpPr>
          <p:cNvPr name="TextBox 9" id="9"/>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07</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3800974" y="3456426"/>
            <a:ext cx="1283284" cy="0"/>
          </a:xfrm>
          <a:prstGeom prst="line">
            <a:avLst/>
          </a:prstGeom>
          <a:ln cap="flat" w="9525">
            <a:solidFill>
              <a:srgbClr val="000000">
                <a:alpha val="49804"/>
              </a:srgbClr>
            </a:solidFill>
            <a:prstDash val="solid"/>
            <a:headEnd type="none" len="sm" w="sm"/>
            <a:tailEnd type="none" len="sm" w="sm"/>
          </a:ln>
        </p:spPr>
      </p:sp>
      <p:sp>
        <p:nvSpPr>
          <p:cNvPr name="TextBox 3" id="3"/>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5" id="5"/>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Background</a:t>
            </a:r>
          </a:p>
        </p:txBody>
      </p:sp>
      <p:sp>
        <p:nvSpPr>
          <p:cNvPr name="TextBox 6" id="6"/>
          <p:cNvSpPr txBox="true"/>
          <p:nvPr/>
        </p:nvSpPr>
        <p:spPr>
          <a:xfrm rot="0">
            <a:off x="1028700" y="6582456"/>
            <a:ext cx="3631093" cy="885825"/>
          </a:xfrm>
          <a:prstGeom prst="rect">
            <a:avLst/>
          </a:prstGeom>
        </p:spPr>
        <p:txBody>
          <a:bodyPr anchor="t" rtlCol="false" tIns="0" lIns="0" bIns="0" rIns="0">
            <a:spAutoFit/>
          </a:bodyPr>
          <a:lstStyle/>
          <a:p>
            <a:pPr algn="l">
              <a:lnSpc>
                <a:spcPts val="6299"/>
              </a:lnSpc>
            </a:pPr>
            <a:r>
              <a:rPr lang="en-US" sz="6999" spc="-209">
                <a:solidFill>
                  <a:srgbClr val="000000"/>
                </a:solidFill>
                <a:latin typeface="Times New Roman"/>
                <a:ea typeface="Times New Roman"/>
                <a:cs typeface="Times New Roman"/>
                <a:sym typeface="Times New Roman"/>
              </a:rPr>
              <a:t>Privacy</a:t>
            </a:r>
          </a:p>
        </p:txBody>
      </p:sp>
      <p:sp>
        <p:nvSpPr>
          <p:cNvPr name="TextBox 7" id="7"/>
          <p:cNvSpPr txBox="true"/>
          <p:nvPr/>
        </p:nvSpPr>
        <p:spPr>
          <a:xfrm rot="0">
            <a:off x="1040938" y="7487331"/>
            <a:ext cx="4532072" cy="52705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Protects personal data and ensures secure handling</a:t>
            </a:r>
          </a:p>
        </p:txBody>
      </p:sp>
      <p:sp>
        <p:nvSpPr>
          <p:cNvPr name="TextBox 8" id="8"/>
          <p:cNvSpPr txBox="true"/>
          <p:nvPr/>
        </p:nvSpPr>
        <p:spPr>
          <a:xfrm rot="0">
            <a:off x="6577622" y="6582456"/>
            <a:ext cx="2919933" cy="885825"/>
          </a:xfrm>
          <a:prstGeom prst="rect">
            <a:avLst/>
          </a:prstGeom>
        </p:spPr>
        <p:txBody>
          <a:bodyPr anchor="t" rtlCol="false" tIns="0" lIns="0" bIns="0" rIns="0">
            <a:spAutoFit/>
          </a:bodyPr>
          <a:lstStyle/>
          <a:p>
            <a:pPr algn="just">
              <a:lnSpc>
                <a:spcPts val="6299"/>
              </a:lnSpc>
            </a:pPr>
            <a:r>
              <a:rPr lang="en-US" sz="6999" spc="-209">
                <a:solidFill>
                  <a:srgbClr val="000000"/>
                </a:solidFill>
                <a:latin typeface="Times New Roman"/>
                <a:ea typeface="Times New Roman"/>
                <a:cs typeface="Times New Roman"/>
                <a:sym typeface="Times New Roman"/>
              </a:rPr>
              <a:t>Consent</a:t>
            </a:r>
          </a:p>
        </p:txBody>
      </p:sp>
      <p:sp>
        <p:nvSpPr>
          <p:cNvPr name="TextBox 9" id="9"/>
          <p:cNvSpPr txBox="true"/>
          <p:nvPr/>
        </p:nvSpPr>
        <p:spPr>
          <a:xfrm rot="0">
            <a:off x="6577622" y="7487331"/>
            <a:ext cx="4205696" cy="52705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Requires clear user permission before data collection and use</a:t>
            </a:r>
          </a:p>
        </p:txBody>
      </p:sp>
      <p:sp>
        <p:nvSpPr>
          <p:cNvPr name="TextBox 10" id="10"/>
          <p:cNvSpPr txBox="true"/>
          <p:nvPr/>
        </p:nvSpPr>
        <p:spPr>
          <a:xfrm rot="0">
            <a:off x="11836382" y="7487331"/>
            <a:ext cx="4343752" cy="77470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Gives users the right to access, mod</a:t>
            </a:r>
            <a:r>
              <a:rPr lang="en-US" sz="2000" spc="-60">
                <a:solidFill>
                  <a:srgbClr val="000000"/>
                </a:solidFill>
                <a:latin typeface="Times New Roman"/>
                <a:ea typeface="Times New Roman"/>
                <a:cs typeface="Times New Roman"/>
                <a:sym typeface="Times New Roman"/>
              </a:rPr>
              <a:t>ify, and delete their data</a:t>
            </a:r>
          </a:p>
          <a:p>
            <a:pPr algn="l">
              <a:lnSpc>
                <a:spcPts val="2000"/>
              </a:lnSpc>
            </a:pPr>
          </a:p>
        </p:txBody>
      </p:sp>
      <p:sp>
        <p:nvSpPr>
          <p:cNvPr name="TextBox 11" id="11"/>
          <p:cNvSpPr txBox="true"/>
          <p:nvPr/>
        </p:nvSpPr>
        <p:spPr>
          <a:xfrm rot="0">
            <a:off x="11836382" y="6582456"/>
            <a:ext cx="5422918" cy="885825"/>
          </a:xfrm>
          <a:prstGeom prst="rect">
            <a:avLst/>
          </a:prstGeom>
        </p:spPr>
        <p:txBody>
          <a:bodyPr anchor="t" rtlCol="false" tIns="0" lIns="0" bIns="0" rIns="0">
            <a:spAutoFit/>
          </a:bodyPr>
          <a:lstStyle/>
          <a:p>
            <a:pPr algn="l">
              <a:lnSpc>
                <a:spcPts val="6299"/>
              </a:lnSpc>
            </a:pPr>
            <a:r>
              <a:rPr lang="en-US" sz="6999" spc="-209">
                <a:solidFill>
                  <a:srgbClr val="000000"/>
                </a:solidFill>
                <a:latin typeface="Times New Roman"/>
                <a:ea typeface="Times New Roman"/>
                <a:cs typeface="Times New Roman"/>
                <a:sym typeface="Times New Roman"/>
              </a:rPr>
              <a:t>Control</a:t>
            </a:r>
          </a:p>
        </p:txBody>
      </p:sp>
      <p:grpSp>
        <p:nvGrpSpPr>
          <p:cNvPr name="Group 12" id="12"/>
          <p:cNvGrpSpPr/>
          <p:nvPr/>
        </p:nvGrpSpPr>
        <p:grpSpPr>
          <a:xfrm rot="0">
            <a:off x="1028700" y="2013389"/>
            <a:ext cx="16230600" cy="457200"/>
            <a:chOff x="0" y="0"/>
            <a:chExt cx="21640800" cy="609600"/>
          </a:xfrm>
        </p:grpSpPr>
        <p:sp>
          <p:nvSpPr>
            <p:cNvPr name="AutoShape 13" id="13"/>
            <p:cNvSpPr/>
            <p:nvPr/>
          </p:nvSpPr>
          <p:spPr>
            <a:xfrm>
              <a:off x="16223570" y="381000"/>
              <a:ext cx="1711045" cy="0"/>
            </a:xfrm>
            <a:prstGeom prst="line">
              <a:avLst/>
            </a:prstGeom>
            <a:ln cap="flat" w="12700">
              <a:solidFill>
                <a:srgbClr val="000000">
                  <a:alpha val="49804"/>
                </a:srgbClr>
              </a:solidFill>
              <a:prstDash val="solid"/>
              <a:headEnd type="none" len="sm" w="sm"/>
              <a:tailEnd type="none" len="sm" w="sm"/>
            </a:ln>
          </p:spPr>
        </p:sp>
        <p:sp>
          <p:nvSpPr>
            <p:cNvPr name="TextBox 14" id="14"/>
            <p:cNvSpPr txBox="true"/>
            <p:nvPr/>
          </p:nvSpPr>
          <p:spPr>
            <a:xfrm rot="0">
              <a:off x="0" y="28575"/>
              <a:ext cx="15868253" cy="581025"/>
            </a:xfrm>
            <a:prstGeom prst="rect">
              <a:avLst/>
            </a:prstGeom>
          </p:spPr>
          <p:txBody>
            <a:bodyPr anchor="t" rtlCol="false" tIns="0" lIns="0" bIns="0" rIns="0">
              <a:spAutoFit/>
            </a:bodyPr>
            <a:lstStyle/>
            <a:p>
              <a:pPr algn="l">
                <a:lnSpc>
                  <a:spcPts val="3000"/>
                </a:lnSpc>
                <a:spcBef>
                  <a:spcPct val="0"/>
                </a:spcBef>
              </a:pPr>
              <a:r>
                <a:rPr lang="en-US" sz="3000" spc="-89">
                  <a:solidFill>
                    <a:srgbClr val="000000"/>
                  </a:solidFill>
                  <a:latin typeface="Times New Roman"/>
                  <a:ea typeface="Times New Roman"/>
                  <a:cs typeface="Times New Roman"/>
                  <a:sym typeface="Times New Roman"/>
                </a:rPr>
                <a:t>“</a:t>
              </a:r>
              <a:r>
                <a:rPr lang="en-US" b="true" sz="3000" spc="-89">
                  <a:solidFill>
                    <a:srgbClr val="000000"/>
                  </a:solidFill>
                  <a:latin typeface="Times New Roman Bold"/>
                  <a:ea typeface="Times New Roman Bold"/>
                  <a:cs typeface="Times New Roman Bold"/>
                  <a:sym typeface="Times New Roman Bold"/>
                </a:rPr>
                <a:t>Data</a:t>
              </a:r>
              <a:r>
                <a:rPr lang="en-US" b="true" sz="3000" spc="-89">
                  <a:solidFill>
                    <a:srgbClr val="000000"/>
                  </a:solidFill>
                  <a:latin typeface="Times New Roman Bold"/>
                  <a:ea typeface="Times New Roman Bold"/>
                  <a:cs typeface="Times New Roman Bold"/>
                  <a:sym typeface="Times New Roman Bold"/>
                </a:rPr>
                <a:t> protection</a:t>
              </a:r>
              <a:r>
                <a:rPr lang="en-US" sz="3000" spc="-89">
                  <a:solidFill>
                    <a:srgbClr val="000000"/>
                  </a:solidFill>
                  <a:latin typeface="Times New Roman"/>
                  <a:ea typeface="Times New Roman"/>
                  <a:cs typeface="Times New Roman"/>
                  <a:sym typeface="Times New Roman"/>
                </a:rPr>
                <a:t> should be integrated into technology design from the beginning.” </a:t>
              </a:r>
            </a:p>
          </p:txBody>
        </p:sp>
        <p:sp>
          <p:nvSpPr>
            <p:cNvPr name="TextBox 15" id="15"/>
            <p:cNvSpPr txBox="true"/>
            <p:nvPr/>
          </p:nvSpPr>
          <p:spPr>
            <a:xfrm rot="0">
              <a:off x="18310423" y="189018"/>
              <a:ext cx="3330377" cy="342688"/>
            </a:xfrm>
            <a:prstGeom prst="rect">
              <a:avLst/>
            </a:prstGeom>
          </p:spPr>
          <p:txBody>
            <a:bodyPr anchor="t" rtlCol="false" tIns="0" lIns="0" bIns="0" rIns="0">
              <a:spAutoFit/>
            </a:bodyPr>
            <a:lstStyle/>
            <a:p>
              <a:pPr algn="ctr">
                <a:lnSpc>
                  <a:spcPts val="2239"/>
                </a:lnSpc>
              </a:pPr>
              <a:r>
                <a:rPr lang="en-US" sz="1599">
                  <a:solidFill>
                    <a:srgbClr val="000000">
                      <a:alpha val="49804"/>
                    </a:srgbClr>
                  </a:solidFill>
                  <a:latin typeface="Canva Sans"/>
                  <a:ea typeface="Canva Sans"/>
                  <a:cs typeface="Canva Sans"/>
                  <a:sym typeface="Canva Sans"/>
                </a:rPr>
                <a:t>GDPR, Art. 25 &amp; Recital 78</a:t>
              </a:r>
            </a:p>
          </p:txBody>
        </p:sp>
      </p:grpSp>
      <p:grpSp>
        <p:nvGrpSpPr>
          <p:cNvPr name="Group 16" id="16"/>
          <p:cNvGrpSpPr/>
          <p:nvPr/>
        </p:nvGrpSpPr>
        <p:grpSpPr>
          <a:xfrm rot="0">
            <a:off x="1087630" y="3219450"/>
            <a:ext cx="15989722" cy="457200"/>
            <a:chOff x="0" y="0"/>
            <a:chExt cx="21319629" cy="609600"/>
          </a:xfrm>
        </p:grpSpPr>
        <p:sp>
          <p:nvSpPr>
            <p:cNvPr name="TextBox 17" id="17"/>
            <p:cNvSpPr txBox="true"/>
            <p:nvPr/>
          </p:nvSpPr>
          <p:spPr>
            <a:xfrm rot="0">
              <a:off x="5909965" y="28575"/>
              <a:ext cx="15409664" cy="581025"/>
            </a:xfrm>
            <a:prstGeom prst="rect">
              <a:avLst/>
            </a:prstGeom>
          </p:spPr>
          <p:txBody>
            <a:bodyPr anchor="t" rtlCol="false" tIns="0" lIns="0" bIns="0" rIns="0">
              <a:spAutoFit/>
            </a:bodyPr>
            <a:lstStyle/>
            <a:p>
              <a:pPr algn="l">
                <a:lnSpc>
                  <a:spcPts val="3000"/>
                </a:lnSpc>
                <a:spcBef>
                  <a:spcPct val="0"/>
                </a:spcBef>
              </a:pPr>
              <a:r>
                <a:rPr lang="en-US" sz="3000" spc="-89">
                  <a:solidFill>
                    <a:srgbClr val="000000"/>
                  </a:solidFill>
                  <a:latin typeface="Times New Roman"/>
                  <a:ea typeface="Times New Roman"/>
                  <a:cs typeface="Times New Roman"/>
                  <a:sym typeface="Times New Roman"/>
                </a:rPr>
                <a:t>“The data</a:t>
              </a:r>
              <a:r>
                <a:rPr lang="en-US" sz="3000" spc="-89">
                  <a:solidFill>
                    <a:srgbClr val="000000"/>
                  </a:solidFill>
                  <a:latin typeface="Times New Roman"/>
                  <a:ea typeface="Times New Roman"/>
                  <a:cs typeface="Times New Roman"/>
                  <a:sym typeface="Times New Roman"/>
                </a:rPr>
                <a:t> subj</a:t>
              </a:r>
              <a:r>
                <a:rPr lang="en-US" sz="3000" spc="-89">
                  <a:solidFill>
                    <a:srgbClr val="000000"/>
                  </a:solidFill>
                  <a:latin typeface="Times New Roman"/>
                  <a:ea typeface="Times New Roman"/>
                  <a:cs typeface="Times New Roman"/>
                  <a:sym typeface="Times New Roman"/>
                </a:rPr>
                <a:t>ect</a:t>
              </a:r>
              <a:r>
                <a:rPr lang="en-US" sz="3000" spc="-89">
                  <a:solidFill>
                    <a:srgbClr val="000000"/>
                  </a:solidFill>
                  <a:latin typeface="Times New Roman"/>
                  <a:ea typeface="Times New Roman"/>
                  <a:cs typeface="Times New Roman"/>
                  <a:sym typeface="Times New Roman"/>
                </a:rPr>
                <a:t> shall have the right to withdraw his or her </a:t>
              </a:r>
              <a:r>
                <a:rPr lang="en-US" b="true" sz="3000" spc="-89">
                  <a:solidFill>
                    <a:srgbClr val="000000"/>
                  </a:solidFill>
                  <a:latin typeface="Times New Roman Bold"/>
                  <a:ea typeface="Times New Roman Bold"/>
                  <a:cs typeface="Times New Roman Bold"/>
                  <a:sym typeface="Times New Roman Bold"/>
                </a:rPr>
                <a:t>consent</a:t>
              </a:r>
              <a:r>
                <a:rPr lang="en-US" sz="3000" spc="-89">
                  <a:solidFill>
                    <a:srgbClr val="000000"/>
                  </a:solidFill>
                  <a:latin typeface="Times New Roman"/>
                  <a:ea typeface="Times New Roman"/>
                  <a:cs typeface="Times New Roman"/>
                  <a:sym typeface="Times New Roman"/>
                </a:rPr>
                <a:t> at any time.”</a:t>
              </a:r>
            </a:p>
          </p:txBody>
        </p:sp>
        <p:sp>
          <p:nvSpPr>
            <p:cNvPr name="TextBox 18" id="18"/>
            <p:cNvSpPr txBox="true"/>
            <p:nvPr/>
          </p:nvSpPr>
          <p:spPr>
            <a:xfrm rot="0">
              <a:off x="0" y="93606"/>
              <a:ext cx="2484537" cy="342688"/>
            </a:xfrm>
            <a:prstGeom prst="rect">
              <a:avLst/>
            </a:prstGeom>
          </p:spPr>
          <p:txBody>
            <a:bodyPr anchor="t" rtlCol="false" tIns="0" lIns="0" bIns="0" rIns="0">
              <a:spAutoFit/>
            </a:bodyPr>
            <a:lstStyle/>
            <a:p>
              <a:pPr algn="ctr">
                <a:lnSpc>
                  <a:spcPts val="2239"/>
                </a:lnSpc>
              </a:pPr>
              <a:r>
                <a:rPr lang="en-US" sz="1599">
                  <a:solidFill>
                    <a:srgbClr val="000000">
                      <a:alpha val="49804"/>
                    </a:srgbClr>
                  </a:solidFill>
                  <a:latin typeface="Canva Sans"/>
                  <a:ea typeface="Canva Sans"/>
                  <a:cs typeface="Canva Sans"/>
                  <a:sym typeface="Canva Sans"/>
                </a:rPr>
                <a:t>GDPR, </a:t>
              </a:r>
              <a:r>
                <a:rPr lang="en-US" sz="1599">
                  <a:solidFill>
                    <a:srgbClr val="000000">
                      <a:alpha val="49804"/>
                    </a:srgbClr>
                  </a:solidFill>
                  <a:latin typeface="Canva Sans"/>
                  <a:ea typeface="Canva Sans"/>
                  <a:cs typeface="Canva Sans"/>
                  <a:sym typeface="Canva Sans"/>
                </a:rPr>
                <a:t>GDPR, Art. 7</a:t>
              </a:r>
            </a:p>
          </p:txBody>
        </p:sp>
      </p:grpSp>
      <p:grpSp>
        <p:nvGrpSpPr>
          <p:cNvPr name="Group 19" id="19"/>
          <p:cNvGrpSpPr/>
          <p:nvPr/>
        </p:nvGrpSpPr>
        <p:grpSpPr>
          <a:xfrm rot="0">
            <a:off x="1028700" y="4305300"/>
            <a:ext cx="16230600" cy="838200"/>
            <a:chOff x="0" y="0"/>
            <a:chExt cx="21640800" cy="1117600"/>
          </a:xfrm>
        </p:grpSpPr>
        <p:sp>
          <p:nvSpPr>
            <p:cNvPr name="TextBox 20" id="20"/>
            <p:cNvSpPr txBox="true"/>
            <p:nvPr/>
          </p:nvSpPr>
          <p:spPr>
            <a:xfrm rot="0">
              <a:off x="0" y="28575"/>
              <a:ext cx="20025221" cy="1089025"/>
            </a:xfrm>
            <a:prstGeom prst="rect">
              <a:avLst/>
            </a:prstGeom>
          </p:spPr>
          <p:txBody>
            <a:bodyPr anchor="t" rtlCol="false" tIns="0" lIns="0" bIns="0" rIns="0">
              <a:spAutoFit/>
            </a:bodyPr>
            <a:lstStyle/>
            <a:p>
              <a:pPr algn="l">
                <a:lnSpc>
                  <a:spcPts val="3000"/>
                </a:lnSpc>
              </a:pPr>
              <a:r>
                <a:rPr lang="en-US" sz="3000" spc="-89">
                  <a:solidFill>
                    <a:srgbClr val="000000"/>
                  </a:solidFill>
                  <a:latin typeface="Times New Roman"/>
                  <a:ea typeface="Times New Roman"/>
                  <a:cs typeface="Times New Roman"/>
                  <a:sym typeface="Times New Roman"/>
                </a:rPr>
                <a:t>“</a:t>
              </a:r>
              <a:r>
                <a:rPr lang="en-US" sz="3000" spc="-89" b="true">
                  <a:solidFill>
                    <a:srgbClr val="000000"/>
                  </a:solidFill>
                  <a:latin typeface="Times New Roman Bold"/>
                  <a:ea typeface="Times New Roman Bold"/>
                  <a:cs typeface="Times New Roman Bold"/>
                  <a:sym typeface="Times New Roman Bold"/>
                </a:rPr>
                <a:t>Controller</a:t>
              </a:r>
              <a:r>
                <a:rPr lang="en-US" sz="3000" spc="-89">
                  <a:solidFill>
                    <a:srgbClr val="000000"/>
                  </a:solidFill>
                  <a:latin typeface="Times New Roman"/>
                  <a:ea typeface="Times New Roman"/>
                  <a:cs typeface="Times New Roman"/>
                  <a:sym typeface="Times New Roman"/>
                </a:rPr>
                <a:t> means the natural or legal person, public authority, agency or other body </a:t>
              </a:r>
            </a:p>
            <a:p>
              <a:pPr algn="l">
                <a:lnSpc>
                  <a:spcPts val="3000"/>
                </a:lnSpc>
                <a:spcBef>
                  <a:spcPct val="0"/>
                </a:spcBef>
              </a:pPr>
              <a:r>
                <a:rPr lang="en-US" sz="3000" spc="-89">
                  <a:solidFill>
                    <a:srgbClr val="000000"/>
                  </a:solidFill>
                  <a:latin typeface="Times New Roman"/>
                  <a:ea typeface="Times New Roman"/>
                  <a:cs typeface="Times New Roman"/>
                  <a:sym typeface="Times New Roman"/>
                </a:rPr>
                <a:t>which, alone or jointly with others, determines the purposes and means of the processing of personal data”</a:t>
              </a:r>
            </a:p>
          </p:txBody>
        </p:sp>
        <p:sp>
          <p:nvSpPr>
            <p:cNvPr name="AutoShape 21" id="21"/>
            <p:cNvSpPr/>
            <p:nvPr/>
          </p:nvSpPr>
          <p:spPr>
            <a:xfrm>
              <a:off x="16759643" y="314896"/>
              <a:ext cx="1711045" cy="0"/>
            </a:xfrm>
            <a:prstGeom prst="line">
              <a:avLst/>
            </a:prstGeom>
            <a:ln cap="flat" w="12700">
              <a:solidFill>
                <a:srgbClr val="000000">
                  <a:alpha val="49804"/>
                </a:srgbClr>
              </a:solidFill>
              <a:prstDash val="solid"/>
              <a:headEnd type="none" len="sm" w="sm"/>
              <a:tailEnd type="none" len="sm" w="sm"/>
            </a:ln>
          </p:spPr>
        </p:sp>
        <p:sp>
          <p:nvSpPr>
            <p:cNvPr name="TextBox 22" id="22"/>
            <p:cNvSpPr txBox="true"/>
            <p:nvPr/>
          </p:nvSpPr>
          <p:spPr>
            <a:xfrm rot="0">
              <a:off x="18816340" y="78464"/>
              <a:ext cx="2824460" cy="342688"/>
            </a:xfrm>
            <a:prstGeom prst="rect">
              <a:avLst/>
            </a:prstGeom>
          </p:spPr>
          <p:txBody>
            <a:bodyPr anchor="t" rtlCol="false" tIns="0" lIns="0" bIns="0" rIns="0">
              <a:spAutoFit/>
            </a:bodyPr>
            <a:lstStyle/>
            <a:p>
              <a:pPr algn="ctr">
                <a:lnSpc>
                  <a:spcPts val="2239"/>
                </a:lnSpc>
              </a:pPr>
              <a:r>
                <a:rPr lang="en-US" sz="1599">
                  <a:solidFill>
                    <a:srgbClr val="000000">
                      <a:alpha val="49804"/>
                    </a:srgbClr>
                  </a:solidFill>
                  <a:latin typeface="Canva Sans"/>
                  <a:ea typeface="Canva Sans"/>
                  <a:cs typeface="Canva Sans"/>
                  <a:sym typeface="Canva Sans"/>
                </a:rPr>
                <a:t>GDPR, </a:t>
              </a:r>
              <a:r>
                <a:rPr lang="en-US" sz="1599">
                  <a:solidFill>
                    <a:srgbClr val="000000">
                      <a:alpha val="49804"/>
                    </a:srgbClr>
                  </a:solidFill>
                  <a:latin typeface="Canva Sans"/>
                  <a:ea typeface="Canva Sans"/>
                  <a:cs typeface="Canva Sans"/>
                  <a:sym typeface="Canva Sans"/>
                </a:rPr>
                <a:t>GDPR, Art. 4(7)</a:t>
              </a:r>
            </a:p>
          </p:txBody>
        </p:sp>
      </p:grpSp>
      <p:sp>
        <p:nvSpPr>
          <p:cNvPr name="AutoShape 23" id="23"/>
          <p:cNvSpPr/>
          <p:nvPr/>
        </p:nvSpPr>
        <p:spPr>
          <a:xfrm>
            <a:off x="1028700" y="5905275"/>
            <a:ext cx="16230600" cy="0"/>
          </a:xfrm>
          <a:prstGeom prst="line">
            <a:avLst/>
          </a:prstGeom>
          <a:ln cap="flat" w="9525">
            <a:solidFill>
              <a:srgbClr val="000000">
                <a:alpha val="49804"/>
              </a:srgbClr>
            </a:solidFill>
            <a:prstDash val="solid"/>
            <a:headEnd type="none" len="sm" w="sm"/>
            <a:tailEnd type="none" len="sm" w="sm"/>
          </a:ln>
        </p:spPr>
      </p:sp>
      <p:sp>
        <p:nvSpPr>
          <p:cNvPr name="TextBox 24" id="2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Trend</a:t>
            </a:r>
          </a:p>
        </p:txBody>
      </p:sp>
      <p:sp>
        <p:nvSpPr>
          <p:cNvPr name="TextBox 4" id="4"/>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grpSp>
        <p:nvGrpSpPr>
          <p:cNvPr name="Group 5" id="5"/>
          <p:cNvGrpSpPr/>
          <p:nvPr/>
        </p:nvGrpSpPr>
        <p:grpSpPr>
          <a:xfrm rot="0">
            <a:off x="1028700" y="5905275"/>
            <a:ext cx="10325908" cy="2647949"/>
            <a:chOff x="0" y="0"/>
            <a:chExt cx="13767877" cy="3530599"/>
          </a:xfrm>
        </p:grpSpPr>
        <p:sp>
          <p:nvSpPr>
            <p:cNvPr name="TextBox 6" id="6"/>
            <p:cNvSpPr txBox="true"/>
            <p:nvPr/>
          </p:nvSpPr>
          <p:spPr>
            <a:xfrm rot="0">
              <a:off x="0" y="247650"/>
              <a:ext cx="13767877" cy="3282949"/>
            </a:xfrm>
            <a:prstGeom prst="rect">
              <a:avLst/>
            </a:prstGeom>
          </p:spPr>
          <p:txBody>
            <a:bodyPr anchor="t" rtlCol="false" tIns="0" lIns="0" bIns="0" rIns="0">
              <a:spAutoFit/>
            </a:bodyPr>
            <a:lstStyle/>
            <a:p>
              <a:pPr algn="l">
                <a:lnSpc>
                  <a:spcPts val="8999"/>
                </a:lnSpc>
              </a:pPr>
              <a:r>
                <a:rPr lang="en-US" sz="9999" spc="-299">
                  <a:solidFill>
                    <a:srgbClr val="000000"/>
                  </a:solidFill>
                  <a:latin typeface="Times New Roman"/>
                  <a:ea typeface="Times New Roman"/>
                  <a:cs typeface="Times New Roman"/>
                  <a:sym typeface="Times New Roman"/>
                </a:rPr>
                <a:t>Data </a:t>
              </a:r>
            </a:p>
            <a:p>
              <a:pPr algn="l">
                <a:lnSpc>
                  <a:spcPts val="8999"/>
                </a:lnSpc>
              </a:pPr>
              <a:r>
                <a:rPr lang="en-US" sz="9999" spc="-299">
                  <a:solidFill>
                    <a:srgbClr val="000000"/>
                  </a:solidFill>
                  <a:latin typeface="Times New Roman"/>
                  <a:ea typeface="Times New Roman"/>
                  <a:cs typeface="Times New Roman"/>
                  <a:sym typeface="Times New Roman"/>
                </a:rPr>
                <a:t>Sovereignty </a:t>
              </a:r>
            </a:p>
          </p:txBody>
        </p:sp>
        <p:sp>
          <p:nvSpPr>
            <p:cNvPr name="TextBox 7" id="7"/>
            <p:cNvSpPr txBox="true"/>
            <p:nvPr/>
          </p:nvSpPr>
          <p:spPr>
            <a:xfrm rot="0">
              <a:off x="8069595" y="2263774"/>
              <a:ext cx="3999805" cy="911225"/>
            </a:xfrm>
            <a:prstGeom prst="rect">
              <a:avLst/>
            </a:prstGeom>
          </p:spPr>
          <p:txBody>
            <a:bodyPr anchor="t" rtlCol="false" tIns="0" lIns="0" bIns="0" rIns="0">
              <a:spAutoFit/>
            </a:bodyPr>
            <a:lstStyle/>
            <a:p>
              <a:pPr algn="l">
                <a:lnSpc>
                  <a:spcPts val="4500"/>
                </a:lnSpc>
              </a:pPr>
              <a:r>
                <a:rPr lang="en-US" sz="5000" spc="-150">
                  <a:solidFill>
                    <a:srgbClr val="000000"/>
                  </a:solidFill>
                  <a:latin typeface="Times New Roman"/>
                  <a:ea typeface="Times New Roman"/>
                  <a:cs typeface="Times New Roman"/>
                  <a:sym typeface="Times New Roman"/>
                </a:rPr>
                <a:t>(Ownership)</a:t>
              </a:r>
            </a:p>
          </p:txBody>
        </p:sp>
      </p:grpSp>
      <p:sp>
        <p:nvSpPr>
          <p:cNvPr name="TextBox 8" id="8"/>
          <p:cNvSpPr txBox="true"/>
          <p:nvPr/>
        </p:nvSpPr>
        <p:spPr>
          <a:xfrm rot="0">
            <a:off x="6822536" y="1971901"/>
            <a:ext cx="1204625" cy="1299711"/>
          </a:xfrm>
          <a:prstGeom prst="rect">
            <a:avLst/>
          </a:prstGeom>
        </p:spPr>
        <p:txBody>
          <a:bodyPr anchor="t" rtlCol="false" tIns="0" lIns="0" bIns="0" rIns="0">
            <a:spAutoFit/>
          </a:bodyPr>
          <a:lstStyle/>
          <a:p>
            <a:pPr algn="r">
              <a:lnSpc>
                <a:spcPts val="9081"/>
              </a:lnSpc>
            </a:pPr>
            <a:r>
              <a:rPr lang="en-US" sz="10090" spc="-302">
                <a:solidFill>
                  <a:srgbClr val="000000"/>
                </a:solidFill>
                <a:latin typeface="Times New Roman"/>
                <a:ea typeface="Times New Roman"/>
                <a:cs typeface="Times New Roman"/>
                <a:sym typeface="Times New Roman"/>
              </a:rPr>
              <a:t>84</a:t>
            </a:r>
          </a:p>
        </p:txBody>
      </p:sp>
      <p:sp>
        <p:nvSpPr>
          <p:cNvPr name="TextBox 9" id="9"/>
          <p:cNvSpPr txBox="true"/>
          <p:nvPr/>
        </p:nvSpPr>
        <p:spPr>
          <a:xfrm rot="0">
            <a:off x="8027161" y="2445858"/>
            <a:ext cx="408206" cy="652128"/>
          </a:xfrm>
          <a:prstGeom prst="rect">
            <a:avLst/>
          </a:prstGeom>
        </p:spPr>
        <p:txBody>
          <a:bodyPr anchor="t" rtlCol="false" tIns="0" lIns="0" bIns="0" rIns="0">
            <a:spAutoFit/>
          </a:bodyPr>
          <a:lstStyle/>
          <a:p>
            <a:pPr algn="l">
              <a:lnSpc>
                <a:spcPts val="4540"/>
              </a:lnSpc>
            </a:pPr>
            <a:r>
              <a:rPr lang="en-US" sz="5045" spc="-151">
                <a:solidFill>
                  <a:srgbClr val="000000"/>
                </a:solidFill>
                <a:latin typeface="Times New Roman"/>
                <a:ea typeface="Times New Roman"/>
                <a:cs typeface="Times New Roman"/>
                <a:sym typeface="Times New Roman"/>
              </a:rPr>
              <a:t>%</a:t>
            </a:r>
          </a:p>
        </p:txBody>
      </p:sp>
      <p:sp>
        <p:nvSpPr>
          <p:cNvPr name="TextBox 10" id="10"/>
          <p:cNvSpPr txBox="true"/>
          <p:nvPr/>
        </p:nvSpPr>
        <p:spPr>
          <a:xfrm rot="0">
            <a:off x="6822536" y="3290662"/>
            <a:ext cx="4532072" cy="77470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of business leaders say data sovereignty and repatriation regulations have grown more important over the past year.</a:t>
            </a:r>
          </a:p>
        </p:txBody>
      </p:sp>
      <p:sp>
        <p:nvSpPr>
          <p:cNvPr name="TextBox 11" id="11"/>
          <p:cNvSpPr txBox="true"/>
          <p:nvPr/>
        </p:nvSpPr>
        <p:spPr>
          <a:xfrm rot="0">
            <a:off x="12727228" y="1971901"/>
            <a:ext cx="1204625" cy="1299711"/>
          </a:xfrm>
          <a:prstGeom prst="rect">
            <a:avLst/>
          </a:prstGeom>
        </p:spPr>
        <p:txBody>
          <a:bodyPr anchor="t" rtlCol="false" tIns="0" lIns="0" bIns="0" rIns="0">
            <a:spAutoFit/>
          </a:bodyPr>
          <a:lstStyle/>
          <a:p>
            <a:pPr algn="r">
              <a:lnSpc>
                <a:spcPts val="9081"/>
              </a:lnSpc>
            </a:pPr>
            <a:r>
              <a:rPr lang="en-US" sz="10090" spc="-302">
                <a:solidFill>
                  <a:srgbClr val="000000"/>
                </a:solidFill>
                <a:latin typeface="Times New Roman"/>
                <a:ea typeface="Times New Roman"/>
                <a:cs typeface="Times New Roman"/>
                <a:sym typeface="Times New Roman"/>
              </a:rPr>
              <a:t>75</a:t>
            </a:r>
          </a:p>
        </p:txBody>
      </p:sp>
      <p:sp>
        <p:nvSpPr>
          <p:cNvPr name="TextBox 12" id="12"/>
          <p:cNvSpPr txBox="true"/>
          <p:nvPr/>
        </p:nvSpPr>
        <p:spPr>
          <a:xfrm rot="0">
            <a:off x="13931853" y="2445858"/>
            <a:ext cx="408206" cy="652128"/>
          </a:xfrm>
          <a:prstGeom prst="rect">
            <a:avLst/>
          </a:prstGeom>
        </p:spPr>
        <p:txBody>
          <a:bodyPr anchor="t" rtlCol="false" tIns="0" lIns="0" bIns="0" rIns="0">
            <a:spAutoFit/>
          </a:bodyPr>
          <a:lstStyle/>
          <a:p>
            <a:pPr algn="l">
              <a:lnSpc>
                <a:spcPts val="4540"/>
              </a:lnSpc>
            </a:pPr>
            <a:r>
              <a:rPr lang="en-US" sz="5045" spc="-151">
                <a:solidFill>
                  <a:srgbClr val="000000"/>
                </a:solidFill>
                <a:latin typeface="Times New Roman"/>
                <a:ea typeface="Times New Roman"/>
                <a:cs typeface="Times New Roman"/>
                <a:sym typeface="Times New Roman"/>
              </a:rPr>
              <a:t>%</a:t>
            </a:r>
          </a:p>
        </p:txBody>
      </p:sp>
      <p:sp>
        <p:nvSpPr>
          <p:cNvPr name="TextBox 13" id="13"/>
          <p:cNvSpPr txBox="true"/>
          <p:nvPr/>
        </p:nvSpPr>
        <p:spPr>
          <a:xfrm rot="0">
            <a:off x="12727228" y="3290662"/>
            <a:ext cx="4532072" cy="52705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of consumers say they won't purchase from an organization they don't trust with their data.</a:t>
            </a:r>
          </a:p>
        </p:txBody>
      </p:sp>
      <p:sp>
        <p:nvSpPr>
          <p:cNvPr name="TextBox 14" id="14"/>
          <p:cNvSpPr txBox="true"/>
          <p:nvPr/>
        </p:nvSpPr>
        <p:spPr>
          <a:xfrm rot="0">
            <a:off x="1028700" y="3290662"/>
            <a:ext cx="4532072" cy="102235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CAGR - The Global Sovereign Cloud Market was valued at approximately $129 billion in 2025 and is projected to reach $572.3 billion by 2032.</a:t>
            </a:r>
          </a:p>
        </p:txBody>
      </p:sp>
      <p:sp>
        <p:nvSpPr>
          <p:cNvPr name="TextBox 15" id="15"/>
          <p:cNvSpPr txBox="true"/>
          <p:nvPr/>
        </p:nvSpPr>
        <p:spPr>
          <a:xfrm rot="0">
            <a:off x="1028700" y="1971901"/>
            <a:ext cx="1204625" cy="1299711"/>
          </a:xfrm>
          <a:prstGeom prst="rect">
            <a:avLst/>
          </a:prstGeom>
        </p:spPr>
        <p:txBody>
          <a:bodyPr anchor="t" rtlCol="false" tIns="0" lIns="0" bIns="0" rIns="0">
            <a:spAutoFit/>
          </a:bodyPr>
          <a:lstStyle/>
          <a:p>
            <a:pPr algn="r">
              <a:lnSpc>
                <a:spcPts val="9081"/>
              </a:lnSpc>
            </a:pPr>
            <a:r>
              <a:rPr lang="en-US" sz="10090" spc="-302">
                <a:solidFill>
                  <a:srgbClr val="000000"/>
                </a:solidFill>
                <a:latin typeface="Times New Roman"/>
                <a:ea typeface="Times New Roman"/>
                <a:cs typeface="Times New Roman"/>
                <a:sym typeface="Times New Roman"/>
              </a:rPr>
              <a:t>24</a:t>
            </a:r>
          </a:p>
        </p:txBody>
      </p:sp>
      <p:sp>
        <p:nvSpPr>
          <p:cNvPr name="TextBox 16" id="16"/>
          <p:cNvSpPr txBox="true"/>
          <p:nvPr/>
        </p:nvSpPr>
        <p:spPr>
          <a:xfrm rot="0">
            <a:off x="2233325" y="2445858"/>
            <a:ext cx="408206" cy="652128"/>
          </a:xfrm>
          <a:prstGeom prst="rect">
            <a:avLst/>
          </a:prstGeom>
        </p:spPr>
        <p:txBody>
          <a:bodyPr anchor="t" rtlCol="false" tIns="0" lIns="0" bIns="0" rIns="0">
            <a:spAutoFit/>
          </a:bodyPr>
          <a:lstStyle/>
          <a:p>
            <a:pPr algn="l">
              <a:lnSpc>
                <a:spcPts val="4540"/>
              </a:lnSpc>
            </a:pPr>
            <a:r>
              <a:rPr lang="en-US" sz="5045" spc="-151">
                <a:solidFill>
                  <a:srgbClr val="000000"/>
                </a:solidFill>
                <a:latin typeface="Times New Roman"/>
                <a:ea typeface="Times New Roman"/>
                <a:cs typeface="Times New Roman"/>
                <a:sym typeface="Times New Roman"/>
              </a:rPr>
              <a:t>%</a:t>
            </a:r>
          </a:p>
        </p:txBody>
      </p:sp>
      <p:sp>
        <p:nvSpPr>
          <p:cNvPr name="AutoShape 17" id="17"/>
          <p:cNvSpPr/>
          <p:nvPr/>
        </p:nvSpPr>
        <p:spPr>
          <a:xfrm>
            <a:off x="1028700" y="5905275"/>
            <a:ext cx="16230600" cy="0"/>
          </a:xfrm>
          <a:prstGeom prst="line">
            <a:avLst/>
          </a:prstGeom>
          <a:ln cap="flat" w="9525">
            <a:solidFill>
              <a:srgbClr val="000000">
                <a:alpha val="49804"/>
              </a:srgbClr>
            </a:solidFill>
            <a:prstDash val="solid"/>
            <a:headEnd type="none" len="sm" w="sm"/>
            <a:tailEnd type="none" len="sm" w="sm"/>
          </a:ln>
        </p:spPr>
      </p:sp>
      <p:sp>
        <p:nvSpPr>
          <p:cNvPr name="TextBox 18" id="18"/>
          <p:cNvSpPr txBox="true"/>
          <p:nvPr/>
        </p:nvSpPr>
        <p:spPr>
          <a:xfrm rot="0">
            <a:off x="12727228" y="6356635"/>
            <a:ext cx="4532072" cy="295275"/>
          </a:xfrm>
          <a:prstGeom prst="rect">
            <a:avLst/>
          </a:prstGeom>
        </p:spPr>
        <p:txBody>
          <a:bodyPr anchor="t" rtlCol="false" tIns="0" lIns="0" bIns="0" rIns="0">
            <a:spAutoFit/>
          </a:bodyPr>
          <a:lstStyle/>
          <a:p>
            <a:pPr algn="r">
              <a:lnSpc>
                <a:spcPts val="1199"/>
              </a:lnSpc>
            </a:pPr>
            <a:r>
              <a:rPr lang="en-US" sz="999" spc="-29">
                <a:solidFill>
                  <a:srgbClr val="000000">
                    <a:alpha val="49804"/>
                  </a:srgbClr>
                </a:solidFill>
                <a:latin typeface="Times New Roman"/>
                <a:ea typeface="Times New Roman"/>
                <a:cs typeface="Times New Roman"/>
                <a:sym typeface="Times New Roman"/>
              </a:rPr>
              <a:t>Source: MarkNtel Advisors via PR Newswire, March 16, 2026 </a:t>
            </a:r>
            <a:r>
              <a:rPr lang="en-US" sz="999" spc="-29" u="sng">
                <a:solidFill>
                  <a:srgbClr val="000000">
                    <a:alpha val="49804"/>
                  </a:srgbClr>
                </a:solidFill>
                <a:latin typeface="Times New Roman"/>
                <a:ea typeface="Times New Roman"/>
                <a:cs typeface="Times New Roman"/>
                <a:sym typeface="Times New Roman"/>
                <a:hlinkClick r:id="rId2" tooltip="https://www.prnewswire.com/news-releases/sovereign-cloud-market-to-register-a-cagr-of-24-16-through-2032-driven-by-rising-data-sovereignty-regulations--markntel-advisors-302713680.html"/>
              </a:rPr>
              <a:t>of business leaders say data sovereignty and repatriation regulations have grown more important over the past year.</a:t>
            </a:r>
          </a:p>
        </p:txBody>
      </p:sp>
      <p:sp>
        <p:nvSpPr>
          <p:cNvPr name="TextBox 19" id="19"/>
          <p:cNvSpPr txBox="true"/>
          <p:nvPr/>
        </p:nvSpPr>
        <p:spPr>
          <a:xfrm rot="0">
            <a:off x="12727228" y="7164417"/>
            <a:ext cx="4532072" cy="438150"/>
          </a:xfrm>
          <a:prstGeom prst="rect">
            <a:avLst/>
          </a:prstGeom>
        </p:spPr>
        <p:txBody>
          <a:bodyPr anchor="t" rtlCol="false" tIns="0" lIns="0" bIns="0" rIns="0">
            <a:spAutoFit/>
          </a:bodyPr>
          <a:lstStyle/>
          <a:p>
            <a:pPr algn="r">
              <a:lnSpc>
                <a:spcPts val="1199"/>
              </a:lnSpc>
            </a:pPr>
            <a:r>
              <a:rPr lang="en-US" sz="999" spc="-29">
                <a:solidFill>
                  <a:srgbClr val="000000">
                    <a:alpha val="49804"/>
                  </a:srgbClr>
                </a:solidFill>
                <a:latin typeface="Times New Roman"/>
                <a:ea typeface="Times New Roman"/>
                <a:cs typeface="Times New Roman"/>
                <a:sym typeface="Times New Roman"/>
              </a:rPr>
              <a:t>Source: Kyndryl via PR Newswire, March 10, 2026 </a:t>
            </a:r>
            <a:r>
              <a:rPr lang="en-US" sz="999" spc="-29" u="sng">
                <a:solidFill>
                  <a:srgbClr val="000000">
                    <a:alpha val="49804"/>
                  </a:srgbClr>
                </a:solidFill>
                <a:latin typeface="Times New Roman"/>
                <a:ea typeface="Times New Roman"/>
                <a:cs typeface="Times New Roman"/>
                <a:sym typeface="Times New Roman"/>
                <a:hlinkClick r:id="rId3" tooltip="https://www.prnewswire.com/news-releases/kyndryl-confirms-converging-quantum-data-sovereignty-and-network-demands-expose-enterprise-readiness-gap-302709212.html"/>
              </a:rPr>
              <a:t>Source: MarkNtel Advisors via PR Newswire, March 16, 2026 of business leaders say data sovereignty and repatriation regulations have grown more important over the past year.</a:t>
            </a:r>
          </a:p>
        </p:txBody>
      </p:sp>
      <p:sp>
        <p:nvSpPr>
          <p:cNvPr name="TextBox 20" id="20"/>
          <p:cNvSpPr txBox="true"/>
          <p:nvPr/>
        </p:nvSpPr>
        <p:spPr>
          <a:xfrm rot="0">
            <a:off x="12727228" y="8115074"/>
            <a:ext cx="4532072" cy="438150"/>
          </a:xfrm>
          <a:prstGeom prst="rect">
            <a:avLst/>
          </a:prstGeom>
        </p:spPr>
        <p:txBody>
          <a:bodyPr anchor="t" rtlCol="false" tIns="0" lIns="0" bIns="0" rIns="0">
            <a:spAutoFit/>
          </a:bodyPr>
          <a:lstStyle/>
          <a:p>
            <a:pPr algn="r">
              <a:lnSpc>
                <a:spcPts val="1199"/>
              </a:lnSpc>
            </a:pPr>
            <a:r>
              <a:rPr lang="en-US" sz="999" spc="-29">
                <a:solidFill>
                  <a:srgbClr val="000000">
                    <a:alpha val="49804"/>
                  </a:srgbClr>
                </a:solidFill>
                <a:latin typeface="Times New Roman"/>
                <a:ea typeface="Times New Roman"/>
                <a:cs typeface="Times New Roman"/>
                <a:sym typeface="Times New Roman"/>
              </a:rPr>
              <a:t>Source: Cisco 2024 Consumer Privacy Survey Source: </a:t>
            </a:r>
            <a:r>
              <a:rPr lang="en-US" sz="999" spc="-29" u="sng">
                <a:solidFill>
                  <a:srgbClr val="000000">
                    <a:alpha val="49804"/>
                  </a:srgbClr>
                </a:solidFill>
                <a:latin typeface="Times New Roman"/>
                <a:ea typeface="Times New Roman"/>
                <a:cs typeface="Times New Roman"/>
                <a:sym typeface="Times New Roman"/>
                <a:hlinkClick r:id="rId4" tooltip="https://investor.cisco.com/news/news-details/2024/New-Cisco-Survey-Shows-Strong-Relationship-Between-Privacy-Awareness-and-Trust-in-AI/default.aspx"/>
              </a:rPr>
              <a:t>https://investor.cisco.com/news/news-details/2024/New-Cisco-Survey-Shows-Strong-Relationship-Between-Privacy-Awareness-and-Trust-in-AI/default.aspx</a:t>
            </a:r>
          </a:p>
        </p:txBody>
      </p:sp>
      <p:sp>
        <p:nvSpPr>
          <p:cNvPr name="TextBox 21" id="21"/>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09</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grpSp>
        <p:nvGrpSpPr>
          <p:cNvPr name="Group 4" id="4"/>
          <p:cNvGrpSpPr/>
          <p:nvPr/>
        </p:nvGrpSpPr>
        <p:grpSpPr>
          <a:xfrm rot="0">
            <a:off x="1028700" y="5905275"/>
            <a:ext cx="7322556" cy="2647949"/>
            <a:chOff x="0" y="0"/>
            <a:chExt cx="9763409" cy="3530599"/>
          </a:xfrm>
        </p:grpSpPr>
        <p:sp>
          <p:nvSpPr>
            <p:cNvPr name="TextBox 5" id="5"/>
            <p:cNvSpPr txBox="true"/>
            <p:nvPr/>
          </p:nvSpPr>
          <p:spPr>
            <a:xfrm rot="0">
              <a:off x="0" y="247650"/>
              <a:ext cx="9763409" cy="3282949"/>
            </a:xfrm>
            <a:prstGeom prst="rect">
              <a:avLst/>
            </a:prstGeom>
          </p:spPr>
          <p:txBody>
            <a:bodyPr anchor="t" rtlCol="false" tIns="0" lIns="0" bIns="0" rIns="0">
              <a:spAutoFit/>
            </a:bodyPr>
            <a:lstStyle/>
            <a:p>
              <a:pPr algn="l">
                <a:lnSpc>
                  <a:spcPts val="8999"/>
                </a:lnSpc>
              </a:pPr>
              <a:r>
                <a:rPr lang="en-US" sz="9999" spc="-299">
                  <a:solidFill>
                    <a:srgbClr val="000000"/>
                  </a:solidFill>
                  <a:latin typeface="Times New Roman"/>
                  <a:ea typeface="Times New Roman"/>
                  <a:cs typeface="Times New Roman"/>
                  <a:sym typeface="Times New Roman"/>
                </a:rPr>
                <a:t>AI-generated</a:t>
              </a:r>
            </a:p>
            <a:p>
              <a:pPr algn="l">
                <a:lnSpc>
                  <a:spcPts val="8999"/>
                </a:lnSpc>
              </a:pPr>
              <a:r>
                <a:rPr lang="en-US" sz="9999" spc="-299">
                  <a:solidFill>
                    <a:srgbClr val="000000"/>
                  </a:solidFill>
                  <a:latin typeface="Times New Roman"/>
                  <a:ea typeface="Times New Roman"/>
                  <a:cs typeface="Times New Roman"/>
                  <a:sym typeface="Times New Roman"/>
                </a:rPr>
                <a:t>Noise</a:t>
              </a:r>
            </a:p>
          </p:txBody>
        </p:sp>
        <p:sp>
          <p:nvSpPr>
            <p:cNvPr name="TextBox 6" id="6"/>
            <p:cNvSpPr txBox="true"/>
            <p:nvPr/>
          </p:nvSpPr>
          <p:spPr>
            <a:xfrm rot="0">
              <a:off x="4059968" y="2263774"/>
              <a:ext cx="5703440" cy="911225"/>
            </a:xfrm>
            <a:prstGeom prst="rect">
              <a:avLst/>
            </a:prstGeom>
          </p:spPr>
          <p:txBody>
            <a:bodyPr anchor="t" rtlCol="false" tIns="0" lIns="0" bIns="0" rIns="0">
              <a:spAutoFit/>
            </a:bodyPr>
            <a:lstStyle/>
            <a:p>
              <a:pPr algn="l">
                <a:lnSpc>
                  <a:spcPts val="4500"/>
                </a:lnSpc>
              </a:pPr>
              <a:r>
                <a:rPr lang="en-US" sz="5000" spc="-150">
                  <a:solidFill>
                    <a:srgbClr val="000000"/>
                  </a:solidFill>
                  <a:latin typeface="Times New Roman"/>
                  <a:ea typeface="Times New Roman"/>
                  <a:cs typeface="Times New Roman"/>
                  <a:sym typeface="Times New Roman"/>
                </a:rPr>
                <a:t>(Model Collapse)</a:t>
              </a:r>
            </a:p>
          </p:txBody>
        </p:sp>
      </p:grpSp>
      <p:sp>
        <p:nvSpPr>
          <p:cNvPr name="TextBox 7" id="7"/>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Signal I - Strong Signal</a:t>
            </a:r>
          </a:p>
        </p:txBody>
      </p:sp>
      <p:sp>
        <p:nvSpPr>
          <p:cNvPr name="AutoShape 8" id="8"/>
          <p:cNvSpPr/>
          <p:nvPr/>
        </p:nvSpPr>
        <p:spPr>
          <a:xfrm>
            <a:off x="1028700" y="5905275"/>
            <a:ext cx="16230600" cy="0"/>
          </a:xfrm>
          <a:prstGeom prst="line">
            <a:avLst/>
          </a:prstGeom>
          <a:ln cap="flat" w="9525">
            <a:solidFill>
              <a:srgbClr val="000000">
                <a:alpha val="49804"/>
              </a:srgbClr>
            </a:solidFill>
            <a:prstDash val="solid"/>
            <a:headEnd type="none" len="sm" w="sm"/>
            <a:tailEnd type="none" len="sm" w="sm"/>
          </a:ln>
        </p:spPr>
      </p:sp>
      <p:sp>
        <p:nvSpPr>
          <p:cNvPr name="TextBox 9" id="9"/>
          <p:cNvSpPr txBox="true"/>
          <p:nvPr/>
        </p:nvSpPr>
        <p:spPr>
          <a:xfrm rot="0">
            <a:off x="1028700" y="2398070"/>
            <a:ext cx="9352806" cy="809625"/>
          </a:xfrm>
          <a:prstGeom prst="rect">
            <a:avLst/>
          </a:prstGeom>
        </p:spPr>
        <p:txBody>
          <a:bodyPr anchor="t" rtlCol="false" tIns="0" lIns="0" bIns="0" rIns="0">
            <a:spAutoFit/>
          </a:bodyPr>
          <a:lstStyle/>
          <a:p>
            <a:pPr algn="l">
              <a:lnSpc>
                <a:spcPts val="3000"/>
              </a:lnSpc>
              <a:spcBef>
                <a:spcPct val="0"/>
              </a:spcBef>
            </a:pPr>
            <a:r>
              <a:rPr lang="en-US" sz="3000" spc="-89">
                <a:solidFill>
                  <a:srgbClr val="000000"/>
                </a:solidFill>
                <a:latin typeface="Times New Roman"/>
                <a:ea typeface="Times New Roman"/>
                <a:cs typeface="Times New Roman"/>
                <a:sym typeface="Times New Roman"/>
              </a:rPr>
              <a:t>As </a:t>
            </a:r>
            <a:r>
              <a:rPr lang="en-US" b="true" sz="3000" spc="-89">
                <a:solidFill>
                  <a:srgbClr val="000000"/>
                </a:solidFill>
                <a:latin typeface="Times New Roman Bold"/>
                <a:ea typeface="Times New Roman Bold"/>
                <a:cs typeface="Times New Roman Bold"/>
                <a:sym typeface="Times New Roman Bold"/>
              </a:rPr>
              <a:t>AI-generated content</a:t>
            </a:r>
            <a:r>
              <a:rPr lang="en-US" sz="3000" spc="-89">
                <a:solidFill>
                  <a:srgbClr val="000000"/>
                </a:solidFill>
                <a:latin typeface="Times New Roman"/>
                <a:ea typeface="Times New Roman"/>
                <a:cs typeface="Times New Roman"/>
                <a:sym typeface="Times New Roman"/>
              </a:rPr>
              <a:t> saturates the information environment, </a:t>
            </a:r>
          </a:p>
          <a:p>
            <a:pPr algn="l">
              <a:lnSpc>
                <a:spcPts val="3000"/>
              </a:lnSpc>
              <a:spcBef>
                <a:spcPct val="0"/>
              </a:spcBef>
            </a:pPr>
            <a:r>
              <a:rPr lang="en-US" sz="3000" spc="-89">
                <a:solidFill>
                  <a:srgbClr val="000000"/>
                </a:solidFill>
                <a:latin typeface="Times New Roman"/>
                <a:ea typeface="Times New Roman"/>
                <a:cs typeface="Times New Roman"/>
                <a:sym typeface="Times New Roman"/>
              </a:rPr>
              <a:t>firms face growing risks from degraded high-value data.</a:t>
            </a:r>
          </a:p>
        </p:txBody>
      </p:sp>
      <p:sp>
        <p:nvSpPr>
          <p:cNvPr name="TextBox 10" id="10"/>
          <p:cNvSpPr txBox="true"/>
          <p:nvPr/>
        </p:nvSpPr>
        <p:spPr>
          <a:xfrm rot="0">
            <a:off x="5991587" y="3787450"/>
            <a:ext cx="11267713" cy="809625"/>
          </a:xfrm>
          <a:prstGeom prst="rect">
            <a:avLst/>
          </a:prstGeom>
        </p:spPr>
        <p:txBody>
          <a:bodyPr anchor="t" rtlCol="false" tIns="0" lIns="0" bIns="0" rIns="0">
            <a:spAutoFit/>
          </a:bodyPr>
          <a:lstStyle/>
          <a:p>
            <a:pPr algn="r">
              <a:lnSpc>
                <a:spcPts val="3000"/>
              </a:lnSpc>
              <a:spcBef>
                <a:spcPct val="0"/>
              </a:spcBef>
            </a:pPr>
            <a:r>
              <a:rPr lang="en-US" sz="3000" spc="-89">
                <a:solidFill>
                  <a:srgbClr val="000000"/>
                </a:solidFill>
                <a:latin typeface="Times New Roman"/>
                <a:ea typeface="Times New Roman"/>
                <a:cs typeface="Times New Roman"/>
                <a:sym typeface="Times New Roman"/>
              </a:rPr>
              <a:t>Becau</a:t>
            </a:r>
            <a:r>
              <a:rPr lang="en-US" sz="3000" spc="-89">
                <a:solidFill>
                  <a:srgbClr val="000000"/>
                </a:solidFill>
                <a:latin typeface="Times New Roman"/>
                <a:ea typeface="Times New Roman"/>
                <a:cs typeface="Times New Roman"/>
                <a:sym typeface="Times New Roman"/>
              </a:rPr>
              <a:t>se </a:t>
            </a:r>
            <a:r>
              <a:rPr lang="en-US" b="true" sz="3000" spc="-89">
                <a:solidFill>
                  <a:srgbClr val="000000"/>
                </a:solidFill>
                <a:latin typeface="Times New Roman Bold"/>
                <a:ea typeface="Times New Roman Bold"/>
                <a:cs typeface="Times New Roman Bold"/>
                <a:sym typeface="Times New Roman Bold"/>
              </a:rPr>
              <a:t>trustworthy AI requires trustworthy data</a:t>
            </a:r>
            <a:r>
              <a:rPr lang="en-US" sz="3000" spc="-89">
                <a:solidFill>
                  <a:srgbClr val="000000"/>
                </a:solidFill>
                <a:latin typeface="Times New Roman"/>
                <a:ea typeface="Times New Roman"/>
                <a:cs typeface="Times New Roman"/>
                <a:sym typeface="Times New Roman"/>
              </a:rPr>
              <a:t>, stronger standards for </a:t>
            </a:r>
          </a:p>
          <a:p>
            <a:pPr algn="r">
              <a:lnSpc>
                <a:spcPts val="3000"/>
              </a:lnSpc>
              <a:spcBef>
                <a:spcPct val="0"/>
              </a:spcBef>
            </a:pPr>
            <a:r>
              <a:rPr lang="en-US" sz="3000" spc="-89">
                <a:solidFill>
                  <a:srgbClr val="000000"/>
                </a:solidFill>
                <a:latin typeface="Times New Roman"/>
                <a:ea typeface="Times New Roman"/>
                <a:cs typeface="Times New Roman"/>
                <a:sym typeface="Times New Roman"/>
              </a:rPr>
              <a:t>accuracy, relevance, and reliability in training datasets have become essential.</a:t>
            </a:r>
          </a:p>
        </p:txBody>
      </p:sp>
      <p:sp>
        <p:nvSpPr>
          <p:cNvPr name="TextBox 11" id="11"/>
          <p:cNvSpPr txBox="true"/>
          <p:nvPr/>
        </p:nvSpPr>
        <p:spPr>
          <a:xfrm rot="0">
            <a:off x="12727228" y="6356635"/>
            <a:ext cx="4532072" cy="438150"/>
          </a:xfrm>
          <a:prstGeom prst="rect">
            <a:avLst/>
          </a:prstGeom>
        </p:spPr>
        <p:txBody>
          <a:bodyPr anchor="t" rtlCol="false" tIns="0" lIns="0" bIns="0" rIns="0">
            <a:spAutoFit/>
          </a:bodyPr>
          <a:lstStyle/>
          <a:p>
            <a:pPr algn="r">
              <a:lnSpc>
                <a:spcPts val="1199"/>
              </a:lnSpc>
            </a:pPr>
            <a:r>
              <a:rPr lang="en-US" sz="999" spc="-29">
                <a:solidFill>
                  <a:srgbClr val="000000">
                    <a:alpha val="49804"/>
                  </a:srgbClr>
                </a:solidFill>
                <a:latin typeface="Times New Roman"/>
                <a:ea typeface="Times New Roman"/>
                <a:cs typeface="Times New Roman"/>
                <a:sym typeface="Times New Roman"/>
              </a:rPr>
              <a:t>Source: NIST AI Risk Management Framework, January 26, 2023. NIST frames AI as</a:t>
            </a:r>
            <a:r>
              <a:rPr lang="en-US" sz="999" spc="-29" u="none">
                <a:solidFill>
                  <a:srgbClr val="000000">
                    <a:alpha val="49804"/>
                  </a:srgbClr>
                </a:solidFill>
                <a:latin typeface="Times New Roman"/>
                <a:ea typeface="Times New Roman"/>
                <a:cs typeface="Times New Roman"/>
                <a:sym typeface="Times New Roman"/>
              </a:rPr>
              <a:t> a r</a:t>
            </a:r>
            <a:r>
              <a:rPr lang="en-US" sz="999" spc="-29">
                <a:solidFill>
                  <a:srgbClr val="000000">
                    <a:alpha val="49804"/>
                  </a:srgbClr>
                </a:solidFill>
                <a:latin typeface="Times New Roman"/>
                <a:ea typeface="Times New Roman"/>
                <a:cs typeface="Times New Roman"/>
                <a:sym typeface="Times New Roman"/>
              </a:rPr>
              <a:t>isk-management i</a:t>
            </a:r>
            <a:r>
              <a:rPr lang="en-US" sz="999" spc="-29" u="none">
                <a:solidFill>
                  <a:srgbClr val="000000">
                    <a:alpha val="49804"/>
                  </a:srgbClr>
                </a:solidFill>
                <a:latin typeface="Times New Roman"/>
                <a:ea typeface="Times New Roman"/>
                <a:cs typeface="Times New Roman"/>
                <a:sym typeface="Times New Roman"/>
              </a:rPr>
              <a:t>ssue f</a:t>
            </a:r>
            <a:r>
              <a:rPr lang="en-US" sz="999" spc="-29">
                <a:solidFill>
                  <a:srgbClr val="000000">
                    <a:alpha val="49804"/>
                  </a:srgbClr>
                </a:solidFill>
                <a:latin typeface="Times New Roman"/>
                <a:ea typeface="Times New Roman"/>
                <a:cs typeface="Times New Roman"/>
                <a:sym typeface="Times New Roman"/>
              </a:rPr>
              <a:t>or in</a:t>
            </a:r>
            <a:r>
              <a:rPr lang="en-US" sz="999" spc="-29" u="none">
                <a:solidFill>
                  <a:srgbClr val="000000">
                    <a:alpha val="49804"/>
                  </a:srgbClr>
                </a:solidFill>
                <a:latin typeface="Times New Roman"/>
                <a:ea typeface="Times New Roman"/>
                <a:cs typeface="Times New Roman"/>
                <a:sym typeface="Times New Roman"/>
              </a:rPr>
              <a:t>d</a:t>
            </a:r>
            <a:r>
              <a:rPr lang="en-US" sz="999" spc="-29">
                <a:solidFill>
                  <a:srgbClr val="000000">
                    <a:alpha val="49804"/>
                  </a:srgbClr>
                </a:solidFill>
                <a:latin typeface="Times New Roman"/>
                <a:ea typeface="Times New Roman"/>
                <a:cs typeface="Times New Roman"/>
                <a:sym typeface="Times New Roman"/>
              </a:rPr>
              <a:t>ividuals, organiz</a:t>
            </a:r>
            <a:r>
              <a:rPr lang="en-US" sz="999" spc="-29" u="none">
                <a:solidFill>
                  <a:srgbClr val="000000">
                    <a:alpha val="49804"/>
                  </a:srgbClr>
                </a:solidFill>
                <a:latin typeface="Times New Roman"/>
                <a:ea typeface="Times New Roman"/>
                <a:cs typeface="Times New Roman"/>
                <a:sym typeface="Times New Roman"/>
              </a:rPr>
              <a:t>at</a:t>
            </a:r>
            <a:r>
              <a:rPr lang="en-US" sz="999" spc="-29">
                <a:solidFill>
                  <a:srgbClr val="000000">
                    <a:alpha val="49804"/>
                  </a:srgbClr>
                </a:solidFill>
                <a:latin typeface="Times New Roman"/>
                <a:ea typeface="Times New Roman"/>
                <a:cs typeface="Times New Roman"/>
                <a:sym typeface="Times New Roman"/>
              </a:rPr>
              <a:t>ions, </a:t>
            </a:r>
            <a:r>
              <a:rPr lang="en-US" sz="999" spc="-29" u="none">
                <a:solidFill>
                  <a:srgbClr val="000000">
                    <a:alpha val="49804"/>
                  </a:srgbClr>
                </a:solidFill>
                <a:latin typeface="Times New Roman"/>
                <a:ea typeface="Times New Roman"/>
                <a:cs typeface="Times New Roman"/>
                <a:sym typeface="Times New Roman"/>
              </a:rPr>
              <a:t>a</a:t>
            </a:r>
            <a:r>
              <a:rPr lang="en-US" sz="999" spc="-29">
                <a:solidFill>
                  <a:srgbClr val="000000">
                    <a:alpha val="49804"/>
                  </a:srgbClr>
                </a:solidFill>
                <a:latin typeface="Times New Roman"/>
                <a:ea typeface="Times New Roman"/>
                <a:cs typeface="Times New Roman"/>
                <a:sym typeface="Times New Roman"/>
              </a:rPr>
              <a:t>nd</a:t>
            </a:r>
            <a:r>
              <a:rPr lang="en-US" sz="999" spc="-29" u="none">
                <a:solidFill>
                  <a:srgbClr val="000000">
                    <a:alpha val="49804"/>
                  </a:srgbClr>
                </a:solidFill>
                <a:latin typeface="Times New Roman"/>
                <a:ea typeface="Times New Roman"/>
                <a:cs typeface="Times New Roman"/>
                <a:sym typeface="Times New Roman"/>
              </a:rPr>
              <a:t> so</a:t>
            </a:r>
            <a:r>
              <a:rPr lang="en-US" sz="999" spc="-29">
                <a:solidFill>
                  <a:srgbClr val="000000">
                    <a:alpha val="49804"/>
                  </a:srgbClr>
                </a:solidFill>
                <a:latin typeface="Times New Roman"/>
                <a:ea typeface="Times New Roman"/>
                <a:cs typeface="Times New Roman"/>
                <a:sym typeface="Times New Roman"/>
              </a:rPr>
              <a:t>ci</a:t>
            </a:r>
            <a:r>
              <a:rPr lang="en-US" sz="999" spc="-29" u="none">
                <a:solidFill>
                  <a:srgbClr val="000000">
                    <a:alpha val="49804"/>
                  </a:srgbClr>
                </a:solidFill>
                <a:latin typeface="Times New Roman"/>
                <a:ea typeface="Times New Roman"/>
                <a:cs typeface="Times New Roman"/>
                <a:sym typeface="Times New Roman"/>
              </a:rPr>
              <a:t>e</a:t>
            </a:r>
            <a:r>
              <a:rPr lang="en-US" sz="999" spc="-29">
                <a:solidFill>
                  <a:srgbClr val="000000">
                    <a:alpha val="49804"/>
                  </a:srgbClr>
                </a:solidFill>
                <a:latin typeface="Times New Roman"/>
                <a:ea typeface="Times New Roman"/>
                <a:cs typeface="Times New Roman"/>
                <a:sym typeface="Times New Roman"/>
              </a:rPr>
              <a:t>ty </a:t>
            </a:r>
            <a:r>
              <a:rPr lang="en-US" sz="999" spc="-29" u="sng">
                <a:solidFill>
                  <a:srgbClr val="000000">
                    <a:alpha val="49804"/>
                  </a:srgbClr>
                </a:solidFill>
                <a:latin typeface="Times New Roman"/>
                <a:ea typeface="Times New Roman"/>
                <a:cs typeface="Times New Roman"/>
                <a:sym typeface="Times New Roman"/>
              </a:rPr>
              <a:t>https://nvlpubs.nist.gov/nistpubs/ai/NIST.AI.100-1.pdf</a:t>
            </a:r>
          </a:p>
        </p:txBody>
      </p:sp>
      <p:sp>
        <p:nvSpPr>
          <p:cNvPr name="TextBox 12" id="12"/>
          <p:cNvSpPr txBox="true"/>
          <p:nvPr/>
        </p:nvSpPr>
        <p:spPr>
          <a:xfrm rot="0">
            <a:off x="12727228" y="8115074"/>
            <a:ext cx="4532072" cy="438150"/>
          </a:xfrm>
          <a:prstGeom prst="rect">
            <a:avLst/>
          </a:prstGeom>
        </p:spPr>
        <p:txBody>
          <a:bodyPr anchor="t" rtlCol="false" tIns="0" lIns="0" bIns="0" rIns="0">
            <a:spAutoFit/>
          </a:bodyPr>
          <a:lstStyle/>
          <a:p>
            <a:pPr algn="r">
              <a:lnSpc>
                <a:spcPts val="1199"/>
              </a:lnSpc>
            </a:pPr>
            <a:r>
              <a:rPr lang="en-US" sz="999" spc="-29">
                <a:solidFill>
                  <a:srgbClr val="000000">
                    <a:alpha val="49804"/>
                  </a:srgbClr>
                </a:solidFill>
                <a:latin typeface="Times New Roman"/>
                <a:ea typeface="Times New Roman"/>
                <a:cs typeface="Times New Roman"/>
                <a:sym typeface="Times New Roman"/>
              </a:rPr>
              <a:t>Source: "AI, Data G</a:t>
            </a:r>
            <a:r>
              <a:rPr lang="en-US" sz="999" spc="-29" u="none">
                <a:solidFill>
                  <a:srgbClr val="000000">
                    <a:alpha val="49804"/>
                  </a:srgbClr>
                </a:solidFill>
                <a:latin typeface="Times New Roman"/>
                <a:ea typeface="Times New Roman"/>
                <a:cs typeface="Times New Roman"/>
                <a:sym typeface="Times New Roman"/>
              </a:rPr>
              <a:t>o</a:t>
            </a:r>
            <a:r>
              <a:rPr lang="en-US" sz="999" spc="-29">
                <a:solidFill>
                  <a:srgbClr val="000000">
                    <a:alpha val="49804"/>
                  </a:srgbClr>
                </a:solidFill>
                <a:latin typeface="Times New Roman"/>
                <a:ea typeface="Times New Roman"/>
                <a:cs typeface="Times New Roman"/>
                <a:sym typeface="Times New Roman"/>
              </a:rPr>
              <a:t>ve</a:t>
            </a:r>
            <a:r>
              <a:rPr lang="en-US" sz="999" spc="-29" u="none">
                <a:solidFill>
                  <a:srgbClr val="000000">
                    <a:alpha val="49804"/>
                  </a:srgbClr>
                </a:solidFill>
                <a:latin typeface="Times New Roman"/>
                <a:ea typeface="Times New Roman"/>
                <a:cs typeface="Times New Roman"/>
                <a:sym typeface="Times New Roman"/>
              </a:rPr>
              <a:t>r</a:t>
            </a:r>
            <a:r>
              <a:rPr lang="en-US" sz="999" spc="-29">
                <a:solidFill>
                  <a:srgbClr val="000000">
                    <a:alpha val="49804"/>
                  </a:srgbClr>
                </a:solidFill>
                <a:latin typeface="Times New Roman"/>
                <a:ea typeface="Times New Roman"/>
                <a:cs typeface="Times New Roman"/>
                <a:sym typeface="Times New Roman"/>
              </a:rPr>
              <a:t>nan</a:t>
            </a:r>
            <a:r>
              <a:rPr lang="en-US" sz="999" spc="-29" u="none">
                <a:solidFill>
                  <a:srgbClr val="000000">
                    <a:alpha val="49804"/>
                  </a:srgbClr>
                </a:solidFill>
                <a:latin typeface="Times New Roman"/>
                <a:ea typeface="Times New Roman"/>
                <a:cs typeface="Times New Roman"/>
                <a:sym typeface="Times New Roman"/>
              </a:rPr>
              <a:t>ce a</a:t>
            </a:r>
            <a:r>
              <a:rPr lang="en-US" sz="999" spc="-29">
                <a:solidFill>
                  <a:srgbClr val="000000">
                    <a:alpha val="49804"/>
                  </a:srgbClr>
                </a:solidFill>
                <a:latin typeface="Times New Roman"/>
                <a:ea typeface="Times New Roman"/>
                <a:cs typeface="Times New Roman"/>
                <a:sym typeface="Times New Roman"/>
              </a:rPr>
              <a:t>n</a:t>
            </a:r>
            <a:r>
              <a:rPr lang="en-US" sz="999" spc="-29" u="none">
                <a:solidFill>
                  <a:srgbClr val="000000">
                    <a:alpha val="49804"/>
                  </a:srgbClr>
                </a:solidFill>
                <a:latin typeface="Times New Roman"/>
                <a:ea typeface="Times New Roman"/>
                <a:cs typeface="Times New Roman"/>
                <a:sym typeface="Times New Roman"/>
              </a:rPr>
              <a:t>d Pr</a:t>
            </a:r>
            <a:r>
              <a:rPr lang="en-US" sz="999" spc="-29">
                <a:solidFill>
                  <a:srgbClr val="000000">
                    <a:alpha val="49804"/>
                  </a:srgbClr>
                </a:solidFill>
                <a:latin typeface="Times New Roman"/>
                <a:ea typeface="Times New Roman"/>
                <a:cs typeface="Times New Roman"/>
                <a:sym typeface="Times New Roman"/>
              </a:rPr>
              <a:t>iv</a:t>
            </a:r>
            <a:r>
              <a:rPr lang="en-US" sz="999" spc="-29" u="none">
                <a:solidFill>
                  <a:srgbClr val="000000">
                    <a:alpha val="49804"/>
                  </a:srgbClr>
                </a:solidFill>
                <a:latin typeface="Times New Roman"/>
                <a:ea typeface="Times New Roman"/>
                <a:cs typeface="Times New Roman"/>
                <a:sym typeface="Times New Roman"/>
              </a:rPr>
              <a:t>ac</a:t>
            </a:r>
            <a:r>
              <a:rPr lang="en-US" sz="999" spc="-29">
                <a:solidFill>
                  <a:srgbClr val="000000">
                    <a:alpha val="49804"/>
                  </a:srgbClr>
                </a:solidFill>
                <a:latin typeface="Times New Roman"/>
                <a:ea typeface="Times New Roman"/>
                <a:cs typeface="Times New Roman"/>
                <a:sym typeface="Times New Roman"/>
              </a:rPr>
              <a:t>y:</a:t>
            </a:r>
            <a:r>
              <a:rPr lang="en-US" sz="999" spc="-29" u="none">
                <a:solidFill>
                  <a:srgbClr val="000000">
                    <a:alpha val="49804"/>
                  </a:srgbClr>
                </a:solidFill>
                <a:latin typeface="Times New Roman"/>
                <a:ea typeface="Times New Roman"/>
                <a:cs typeface="Times New Roman"/>
                <a:sym typeface="Times New Roman"/>
              </a:rPr>
              <a:t> Sy</a:t>
            </a:r>
            <a:r>
              <a:rPr lang="en-US" sz="999" spc="-29">
                <a:solidFill>
                  <a:srgbClr val="000000">
                    <a:alpha val="49804"/>
                  </a:srgbClr>
                </a:solidFill>
                <a:latin typeface="Times New Roman"/>
                <a:ea typeface="Times New Roman"/>
                <a:cs typeface="Times New Roman"/>
                <a:sym typeface="Times New Roman"/>
              </a:rPr>
              <a:t>nergies</a:t>
            </a:r>
            <a:r>
              <a:rPr lang="en-US" sz="999" spc="-29" u="none">
                <a:solidFill>
                  <a:srgbClr val="000000">
                    <a:alpha val="49804"/>
                  </a:srgbClr>
                </a:solidFill>
                <a:latin typeface="Times New Roman"/>
                <a:ea typeface="Times New Roman"/>
                <a:cs typeface="Times New Roman"/>
                <a:sym typeface="Times New Roman"/>
              </a:rPr>
              <a:t> </a:t>
            </a:r>
            <a:r>
              <a:rPr lang="en-US" sz="999" spc="-29">
                <a:solidFill>
                  <a:srgbClr val="000000">
                    <a:alpha val="49804"/>
                  </a:srgbClr>
                </a:solidFill>
                <a:latin typeface="Times New Roman"/>
                <a:ea typeface="Times New Roman"/>
                <a:cs typeface="Times New Roman"/>
                <a:sym typeface="Times New Roman"/>
              </a:rPr>
              <a:t>and Ar</a:t>
            </a:r>
            <a:r>
              <a:rPr lang="en-US" sz="999" spc="-29" u="none">
                <a:solidFill>
                  <a:srgbClr val="000000">
                    <a:alpha val="49804"/>
                  </a:srgbClr>
                </a:solidFill>
                <a:latin typeface="Times New Roman"/>
                <a:ea typeface="Times New Roman"/>
                <a:cs typeface="Times New Roman"/>
                <a:sym typeface="Times New Roman"/>
              </a:rPr>
              <a:t>eas of In</a:t>
            </a:r>
            <a:r>
              <a:rPr lang="en-US" sz="999" spc="-29">
                <a:solidFill>
                  <a:srgbClr val="000000">
                    <a:alpha val="49804"/>
                  </a:srgbClr>
                </a:solidFill>
                <a:latin typeface="Times New Roman"/>
                <a:ea typeface="Times New Roman"/>
                <a:cs typeface="Times New Roman"/>
                <a:sym typeface="Times New Roman"/>
              </a:rPr>
              <a:t>tern</a:t>
            </a:r>
            <a:r>
              <a:rPr lang="en-US" sz="999" spc="-29" u="none">
                <a:solidFill>
                  <a:srgbClr val="000000">
                    <a:alpha val="49804"/>
                  </a:srgbClr>
                </a:solidFill>
                <a:latin typeface="Times New Roman"/>
                <a:ea typeface="Times New Roman"/>
                <a:cs typeface="Times New Roman"/>
                <a:sym typeface="Times New Roman"/>
              </a:rPr>
              <a:t>a</a:t>
            </a:r>
            <a:r>
              <a:rPr lang="en-US" sz="999" spc="-29">
                <a:solidFill>
                  <a:srgbClr val="000000">
                    <a:alpha val="49804"/>
                  </a:srgbClr>
                </a:solidFill>
                <a:latin typeface="Times New Roman"/>
                <a:ea typeface="Times New Roman"/>
                <a:cs typeface="Times New Roman"/>
                <a:sym typeface="Times New Roman"/>
              </a:rPr>
              <a:t>tional</a:t>
            </a:r>
            <a:r>
              <a:rPr lang="en-US" sz="999" spc="-29" u="none">
                <a:solidFill>
                  <a:srgbClr val="000000">
                    <a:alpha val="49804"/>
                  </a:srgbClr>
                </a:solidFill>
                <a:latin typeface="Times New Roman"/>
                <a:ea typeface="Times New Roman"/>
                <a:cs typeface="Times New Roman"/>
                <a:sym typeface="Times New Roman"/>
              </a:rPr>
              <a:t> Co-ope</a:t>
            </a:r>
            <a:r>
              <a:rPr lang="en-US" sz="999" spc="-29">
                <a:solidFill>
                  <a:srgbClr val="000000">
                    <a:alpha val="49804"/>
                  </a:srgbClr>
                </a:solidFill>
                <a:latin typeface="Times New Roman"/>
                <a:ea typeface="Times New Roman"/>
                <a:cs typeface="Times New Roman"/>
                <a:sym typeface="Times New Roman"/>
              </a:rPr>
              <a:t>rati</a:t>
            </a:r>
            <a:r>
              <a:rPr lang="en-US" sz="999" spc="-29" u="none">
                <a:solidFill>
                  <a:srgbClr val="000000">
                    <a:alpha val="49804"/>
                  </a:srgbClr>
                </a:solidFill>
                <a:latin typeface="Times New Roman"/>
                <a:ea typeface="Times New Roman"/>
                <a:cs typeface="Times New Roman"/>
                <a:sym typeface="Times New Roman"/>
              </a:rPr>
              <a:t>on" (OECD Artificial </a:t>
            </a:r>
            <a:r>
              <a:rPr lang="en-US" sz="999" spc="-29">
                <a:solidFill>
                  <a:srgbClr val="000000">
                    <a:alpha val="49804"/>
                  </a:srgbClr>
                </a:solidFill>
                <a:latin typeface="Times New Roman"/>
                <a:ea typeface="Times New Roman"/>
                <a:cs typeface="Times New Roman"/>
                <a:sym typeface="Times New Roman"/>
              </a:rPr>
              <a:t>Intelligence</a:t>
            </a:r>
            <a:r>
              <a:rPr lang="en-US" sz="999" spc="-29" u="none">
                <a:solidFill>
                  <a:srgbClr val="000000">
                    <a:alpha val="49804"/>
                  </a:srgbClr>
                </a:solidFill>
                <a:latin typeface="Times New Roman"/>
                <a:ea typeface="Times New Roman"/>
                <a:cs typeface="Times New Roman"/>
                <a:sym typeface="Times New Roman"/>
              </a:rPr>
              <a:t> Papers, No. 22) </a:t>
            </a:r>
            <a:r>
              <a:rPr lang="en-US" sz="999" spc="-29" u="sng">
                <a:solidFill>
                  <a:srgbClr val="000000">
                    <a:alpha val="49804"/>
                  </a:srgbClr>
                </a:solidFill>
                <a:latin typeface="Times New Roman"/>
                <a:ea typeface="Times New Roman"/>
                <a:cs typeface="Times New Roman"/>
                <a:sym typeface="Times New Roman"/>
              </a:rPr>
              <a:t>https://www.oecd.org/en/publications/ai-data-governance-and-privacy_2476b1a4-en.html</a:t>
            </a:r>
          </a:p>
        </p:txBody>
      </p:sp>
      <p:sp>
        <p:nvSpPr>
          <p:cNvPr name="TextBox 13" id="13"/>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10</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6152925"/>
            <a:ext cx="11097844" cy="2400299"/>
          </a:xfrm>
          <a:prstGeom prst="rect">
            <a:avLst/>
          </a:prstGeom>
        </p:spPr>
        <p:txBody>
          <a:bodyPr anchor="t" rtlCol="false" tIns="0" lIns="0" bIns="0" rIns="0">
            <a:spAutoFit/>
          </a:bodyPr>
          <a:lstStyle/>
          <a:p>
            <a:pPr algn="l">
              <a:lnSpc>
                <a:spcPts val="8999"/>
              </a:lnSpc>
            </a:pPr>
            <a:r>
              <a:rPr lang="en-US" sz="9999" spc="-299">
                <a:solidFill>
                  <a:srgbClr val="000000"/>
                </a:solidFill>
                <a:latin typeface="Times New Roman"/>
                <a:ea typeface="Times New Roman"/>
                <a:cs typeface="Times New Roman"/>
                <a:sym typeface="Times New Roman"/>
              </a:rPr>
              <a:t>Surge in AI Copyright Lawsuits</a:t>
            </a:r>
          </a:p>
        </p:txBody>
      </p:sp>
      <p:sp>
        <p:nvSpPr>
          <p:cNvPr name="TextBox 5" id="5"/>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Signal II - Strong Signal</a:t>
            </a:r>
          </a:p>
        </p:txBody>
      </p:sp>
      <p:sp>
        <p:nvSpPr>
          <p:cNvPr name="AutoShape 6" id="6"/>
          <p:cNvSpPr/>
          <p:nvPr/>
        </p:nvSpPr>
        <p:spPr>
          <a:xfrm>
            <a:off x="1028700" y="5905275"/>
            <a:ext cx="16230600" cy="0"/>
          </a:xfrm>
          <a:prstGeom prst="line">
            <a:avLst/>
          </a:prstGeom>
          <a:ln cap="flat" w="9525">
            <a:solidFill>
              <a:srgbClr val="000000">
                <a:alpha val="49804"/>
              </a:srgbClr>
            </a:solidFill>
            <a:prstDash val="solid"/>
            <a:headEnd type="none" len="sm" w="sm"/>
            <a:tailEnd type="none" len="sm" w="sm"/>
          </a:ln>
        </p:spPr>
      </p:sp>
      <p:sp>
        <p:nvSpPr>
          <p:cNvPr name="TextBox 7" id="7"/>
          <p:cNvSpPr txBox="true"/>
          <p:nvPr/>
        </p:nvSpPr>
        <p:spPr>
          <a:xfrm rot="0">
            <a:off x="1028700" y="2385788"/>
            <a:ext cx="3631093" cy="885825"/>
          </a:xfrm>
          <a:prstGeom prst="rect">
            <a:avLst/>
          </a:prstGeom>
        </p:spPr>
        <p:txBody>
          <a:bodyPr anchor="t" rtlCol="false" tIns="0" lIns="0" bIns="0" rIns="0">
            <a:spAutoFit/>
          </a:bodyPr>
          <a:lstStyle/>
          <a:p>
            <a:pPr algn="l">
              <a:lnSpc>
                <a:spcPts val="6299"/>
              </a:lnSpc>
            </a:pPr>
            <a:r>
              <a:rPr lang="en-US" sz="6999" spc="-209">
                <a:solidFill>
                  <a:srgbClr val="000000"/>
                </a:solidFill>
                <a:latin typeface="Times New Roman"/>
                <a:ea typeface="Times New Roman"/>
                <a:cs typeface="Times New Roman"/>
                <a:sym typeface="Times New Roman"/>
              </a:rPr>
              <a:t>Misuse</a:t>
            </a:r>
          </a:p>
        </p:txBody>
      </p:sp>
      <p:sp>
        <p:nvSpPr>
          <p:cNvPr name="TextBox 8" id="8"/>
          <p:cNvSpPr txBox="true"/>
          <p:nvPr/>
        </p:nvSpPr>
        <p:spPr>
          <a:xfrm rot="0">
            <a:off x="1040938" y="3290662"/>
            <a:ext cx="4532072" cy="102235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enables manipulation, deception, and harmful automated exploitation. The EU AI Act explicitly prohibits harmful AI-based manipulation and deception.</a:t>
            </a:r>
          </a:p>
        </p:txBody>
      </p:sp>
      <p:sp>
        <p:nvSpPr>
          <p:cNvPr name="TextBox 9" id="9"/>
          <p:cNvSpPr txBox="true"/>
          <p:nvPr/>
        </p:nvSpPr>
        <p:spPr>
          <a:xfrm rot="0">
            <a:off x="6577622" y="2385788"/>
            <a:ext cx="2266036" cy="885825"/>
          </a:xfrm>
          <a:prstGeom prst="rect">
            <a:avLst/>
          </a:prstGeom>
        </p:spPr>
        <p:txBody>
          <a:bodyPr anchor="t" rtlCol="false" tIns="0" lIns="0" bIns="0" rIns="0">
            <a:spAutoFit/>
          </a:bodyPr>
          <a:lstStyle/>
          <a:p>
            <a:pPr algn="just">
              <a:lnSpc>
                <a:spcPts val="6299"/>
              </a:lnSpc>
            </a:pPr>
            <a:r>
              <a:rPr lang="en-US" sz="6999" spc="-209">
                <a:solidFill>
                  <a:srgbClr val="000000"/>
                </a:solidFill>
                <a:latin typeface="Times New Roman"/>
                <a:ea typeface="Times New Roman"/>
                <a:cs typeface="Times New Roman"/>
                <a:sym typeface="Times New Roman"/>
              </a:rPr>
              <a:t>Harm</a:t>
            </a:r>
          </a:p>
        </p:txBody>
      </p:sp>
      <p:sp>
        <p:nvSpPr>
          <p:cNvPr name="TextBox 10" id="10"/>
          <p:cNvSpPr txBox="true"/>
          <p:nvPr/>
        </p:nvSpPr>
        <p:spPr>
          <a:xfrm rot="0">
            <a:off x="6577622" y="3290662"/>
            <a:ext cx="4205696" cy="102235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extends beyond users to organizations and society as a whole. NIST frames AI risk as harm that can affect individuals, organizations, and society.</a:t>
            </a:r>
          </a:p>
        </p:txBody>
      </p:sp>
      <p:sp>
        <p:nvSpPr>
          <p:cNvPr name="TextBox 11" id="11"/>
          <p:cNvSpPr txBox="true"/>
          <p:nvPr/>
        </p:nvSpPr>
        <p:spPr>
          <a:xfrm rot="0">
            <a:off x="11836382" y="3290662"/>
            <a:ext cx="4343752" cy="102235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threatens the reliability of AI-generated outputs at scale. </a:t>
            </a:r>
            <a:r>
              <a:rPr lang="en-US" sz="2000" spc="-60">
                <a:solidFill>
                  <a:srgbClr val="000000"/>
                </a:solidFill>
                <a:latin typeface="Times New Roman"/>
                <a:ea typeface="Times New Roman"/>
                <a:cs typeface="Times New Roman"/>
                <a:sym typeface="Times New Roman"/>
              </a:rPr>
              <a:t>Generative AI can produce false or misleading information at scale, including misinformation and disinformation.</a:t>
            </a:r>
          </a:p>
        </p:txBody>
      </p:sp>
      <p:sp>
        <p:nvSpPr>
          <p:cNvPr name="TextBox 12" id="12"/>
          <p:cNvSpPr txBox="true"/>
          <p:nvPr/>
        </p:nvSpPr>
        <p:spPr>
          <a:xfrm rot="0">
            <a:off x="11836382" y="2385788"/>
            <a:ext cx="5422918" cy="885825"/>
          </a:xfrm>
          <a:prstGeom prst="rect">
            <a:avLst/>
          </a:prstGeom>
        </p:spPr>
        <p:txBody>
          <a:bodyPr anchor="t" rtlCol="false" tIns="0" lIns="0" bIns="0" rIns="0">
            <a:spAutoFit/>
          </a:bodyPr>
          <a:lstStyle/>
          <a:p>
            <a:pPr algn="l">
              <a:lnSpc>
                <a:spcPts val="6299"/>
              </a:lnSpc>
            </a:pPr>
            <a:r>
              <a:rPr lang="en-US" sz="6999" spc="-209">
                <a:solidFill>
                  <a:srgbClr val="000000"/>
                </a:solidFill>
                <a:latin typeface="Times New Roman"/>
                <a:ea typeface="Times New Roman"/>
                <a:cs typeface="Times New Roman"/>
                <a:sym typeface="Times New Roman"/>
              </a:rPr>
              <a:t>Misinformation</a:t>
            </a:r>
          </a:p>
        </p:txBody>
      </p:sp>
      <p:sp>
        <p:nvSpPr>
          <p:cNvPr name="TextBox 13" id="13"/>
          <p:cNvSpPr txBox="true"/>
          <p:nvPr/>
        </p:nvSpPr>
        <p:spPr>
          <a:xfrm rot="0">
            <a:off x="12727228" y="6356635"/>
            <a:ext cx="4532072" cy="295275"/>
          </a:xfrm>
          <a:prstGeom prst="rect">
            <a:avLst/>
          </a:prstGeom>
        </p:spPr>
        <p:txBody>
          <a:bodyPr anchor="t" rtlCol="false" tIns="0" lIns="0" bIns="0" rIns="0">
            <a:spAutoFit/>
          </a:bodyPr>
          <a:lstStyle/>
          <a:p>
            <a:pPr algn="r">
              <a:lnSpc>
                <a:spcPts val="1199"/>
              </a:lnSpc>
            </a:pPr>
            <a:r>
              <a:rPr lang="en-US" sz="999" spc="-29">
                <a:solidFill>
                  <a:srgbClr val="000000">
                    <a:alpha val="49804"/>
                  </a:srgbClr>
                </a:solidFill>
                <a:latin typeface="Times New Roman"/>
                <a:ea typeface="Times New Roman"/>
                <a:cs typeface="Times New Roman"/>
                <a:sym typeface="Times New Roman"/>
              </a:rPr>
              <a:t>Source: NIST AI RMF 1.0, January 2023 —</a:t>
            </a:r>
            <a:r>
              <a:rPr lang="en-US" sz="999" spc="-29" u="none">
                <a:solidFill>
                  <a:srgbClr val="000000">
                    <a:alpha val="49804"/>
                  </a:srgbClr>
                </a:solidFill>
                <a:latin typeface="Times New Roman"/>
                <a:ea typeface="Times New Roman"/>
                <a:cs typeface="Times New Roman"/>
                <a:sym typeface="Times New Roman"/>
              </a:rPr>
              <a:t> </a:t>
            </a:r>
            <a:r>
              <a:rPr lang="en-US" sz="999" spc="-29">
                <a:solidFill>
                  <a:srgbClr val="000000">
                    <a:alpha val="49804"/>
                  </a:srgbClr>
                </a:solidFill>
                <a:latin typeface="Times New Roman"/>
                <a:ea typeface="Times New Roman"/>
                <a:cs typeface="Times New Roman"/>
                <a:sym typeface="Times New Roman"/>
              </a:rPr>
              <a:t>AI</a:t>
            </a:r>
            <a:r>
              <a:rPr lang="en-US" sz="999" spc="-29" u="none">
                <a:solidFill>
                  <a:srgbClr val="000000">
                    <a:alpha val="49804"/>
                  </a:srgbClr>
                </a:solidFill>
                <a:latin typeface="Times New Roman"/>
                <a:ea typeface="Times New Roman"/>
                <a:cs typeface="Times New Roman"/>
                <a:sym typeface="Times New Roman"/>
              </a:rPr>
              <a:t> r</a:t>
            </a:r>
            <a:r>
              <a:rPr lang="en-US" sz="999" spc="-29">
                <a:solidFill>
                  <a:srgbClr val="000000">
                    <a:alpha val="49804"/>
                  </a:srgbClr>
                </a:solidFill>
                <a:latin typeface="Times New Roman"/>
                <a:ea typeface="Times New Roman"/>
                <a:cs typeface="Times New Roman"/>
                <a:sym typeface="Times New Roman"/>
              </a:rPr>
              <a:t>i</a:t>
            </a:r>
            <a:r>
              <a:rPr lang="en-US" sz="999" spc="-29" u="none">
                <a:solidFill>
                  <a:srgbClr val="000000">
                    <a:alpha val="49804"/>
                  </a:srgbClr>
                </a:solidFill>
                <a:latin typeface="Times New Roman"/>
                <a:ea typeface="Times New Roman"/>
                <a:cs typeface="Times New Roman"/>
                <a:sym typeface="Times New Roman"/>
              </a:rPr>
              <a:t>s</a:t>
            </a:r>
            <a:r>
              <a:rPr lang="en-US" sz="999" spc="-29">
                <a:solidFill>
                  <a:srgbClr val="000000">
                    <a:alpha val="49804"/>
                  </a:srgbClr>
                </a:solidFill>
                <a:latin typeface="Times New Roman"/>
                <a:ea typeface="Times New Roman"/>
                <a:cs typeface="Times New Roman"/>
                <a:sym typeface="Times New Roman"/>
              </a:rPr>
              <a:t>k</a:t>
            </a:r>
            <a:r>
              <a:rPr lang="en-US" sz="999" spc="-29" u="none">
                <a:solidFill>
                  <a:srgbClr val="000000">
                    <a:alpha val="49804"/>
                  </a:srgbClr>
                </a:solidFill>
                <a:latin typeface="Times New Roman"/>
                <a:ea typeface="Times New Roman"/>
                <a:cs typeface="Times New Roman"/>
                <a:sym typeface="Times New Roman"/>
              </a:rPr>
              <a:t> to </a:t>
            </a:r>
            <a:r>
              <a:rPr lang="en-US" sz="999" spc="-29">
                <a:solidFill>
                  <a:srgbClr val="000000">
                    <a:alpha val="49804"/>
                  </a:srgbClr>
                </a:solidFill>
                <a:latin typeface="Times New Roman"/>
                <a:ea typeface="Times New Roman"/>
                <a:cs typeface="Times New Roman"/>
                <a:sym typeface="Times New Roman"/>
              </a:rPr>
              <a:t>i</a:t>
            </a:r>
            <a:r>
              <a:rPr lang="en-US" sz="999" spc="-29" u="none">
                <a:solidFill>
                  <a:srgbClr val="000000">
                    <a:alpha val="49804"/>
                  </a:srgbClr>
                </a:solidFill>
                <a:latin typeface="Times New Roman"/>
                <a:ea typeface="Times New Roman"/>
                <a:cs typeface="Times New Roman"/>
                <a:sym typeface="Times New Roman"/>
              </a:rPr>
              <a:t>nd</a:t>
            </a:r>
            <a:r>
              <a:rPr lang="en-US" sz="999" spc="-29">
                <a:solidFill>
                  <a:srgbClr val="000000">
                    <a:alpha val="49804"/>
                  </a:srgbClr>
                </a:solidFill>
                <a:latin typeface="Times New Roman"/>
                <a:ea typeface="Times New Roman"/>
                <a:cs typeface="Times New Roman"/>
                <a:sym typeface="Times New Roman"/>
              </a:rPr>
              <a:t>iv</a:t>
            </a:r>
            <a:r>
              <a:rPr lang="en-US" sz="999" spc="-29" u="none">
                <a:solidFill>
                  <a:srgbClr val="000000">
                    <a:alpha val="49804"/>
                  </a:srgbClr>
                </a:solidFill>
                <a:latin typeface="Times New Roman"/>
                <a:ea typeface="Times New Roman"/>
                <a:cs typeface="Times New Roman"/>
                <a:sym typeface="Times New Roman"/>
              </a:rPr>
              <a:t>i</a:t>
            </a:r>
            <a:r>
              <a:rPr lang="en-US" sz="999" spc="-29">
                <a:solidFill>
                  <a:srgbClr val="000000">
                    <a:alpha val="49804"/>
                  </a:srgbClr>
                </a:solidFill>
                <a:latin typeface="Times New Roman"/>
                <a:ea typeface="Times New Roman"/>
                <a:cs typeface="Times New Roman"/>
                <a:sym typeface="Times New Roman"/>
              </a:rPr>
              <a:t>du</a:t>
            </a:r>
            <a:r>
              <a:rPr lang="en-US" sz="999" spc="-29" u="none">
                <a:solidFill>
                  <a:srgbClr val="000000">
                    <a:alpha val="49804"/>
                  </a:srgbClr>
                </a:solidFill>
                <a:latin typeface="Times New Roman"/>
                <a:ea typeface="Times New Roman"/>
                <a:cs typeface="Times New Roman"/>
                <a:sym typeface="Times New Roman"/>
              </a:rPr>
              <a:t>a</a:t>
            </a:r>
            <a:r>
              <a:rPr lang="en-US" sz="999" spc="-29">
                <a:solidFill>
                  <a:srgbClr val="000000">
                    <a:alpha val="49804"/>
                  </a:srgbClr>
                </a:solidFill>
                <a:latin typeface="Times New Roman"/>
                <a:ea typeface="Times New Roman"/>
                <a:cs typeface="Times New Roman"/>
                <a:sym typeface="Times New Roman"/>
              </a:rPr>
              <a:t>ls, </a:t>
            </a:r>
            <a:r>
              <a:rPr lang="en-US" sz="999" spc="-29" u="none">
                <a:solidFill>
                  <a:srgbClr val="000000">
                    <a:alpha val="49804"/>
                  </a:srgbClr>
                </a:solidFill>
                <a:latin typeface="Times New Roman"/>
                <a:ea typeface="Times New Roman"/>
                <a:cs typeface="Times New Roman"/>
                <a:sym typeface="Times New Roman"/>
              </a:rPr>
              <a:t>org</a:t>
            </a:r>
            <a:r>
              <a:rPr lang="en-US" sz="999" spc="-29">
                <a:solidFill>
                  <a:srgbClr val="000000">
                    <a:alpha val="49804"/>
                  </a:srgbClr>
                </a:solidFill>
                <a:latin typeface="Times New Roman"/>
                <a:ea typeface="Times New Roman"/>
                <a:cs typeface="Times New Roman"/>
                <a:sym typeface="Times New Roman"/>
              </a:rPr>
              <a:t>aniz</a:t>
            </a:r>
            <a:r>
              <a:rPr lang="en-US" sz="999" spc="-29" u="none">
                <a:solidFill>
                  <a:srgbClr val="000000">
                    <a:alpha val="49804"/>
                  </a:srgbClr>
                </a:solidFill>
                <a:latin typeface="Times New Roman"/>
                <a:ea typeface="Times New Roman"/>
                <a:cs typeface="Times New Roman"/>
                <a:sym typeface="Times New Roman"/>
              </a:rPr>
              <a:t>ations</a:t>
            </a:r>
            <a:r>
              <a:rPr lang="en-US" sz="999" spc="-29">
                <a:solidFill>
                  <a:srgbClr val="000000">
                    <a:alpha val="49804"/>
                  </a:srgbClr>
                </a:solidFill>
                <a:latin typeface="Times New Roman"/>
                <a:ea typeface="Times New Roman"/>
                <a:cs typeface="Times New Roman"/>
                <a:sym typeface="Times New Roman"/>
              </a:rPr>
              <a:t>,</a:t>
            </a:r>
            <a:r>
              <a:rPr lang="en-US" sz="999" spc="-29" u="none">
                <a:solidFill>
                  <a:srgbClr val="000000">
                    <a:alpha val="49804"/>
                  </a:srgbClr>
                </a:solidFill>
                <a:latin typeface="Times New Roman"/>
                <a:ea typeface="Times New Roman"/>
                <a:cs typeface="Times New Roman"/>
                <a:sym typeface="Times New Roman"/>
              </a:rPr>
              <a:t> an</a:t>
            </a:r>
            <a:r>
              <a:rPr lang="en-US" sz="999" spc="-29">
                <a:solidFill>
                  <a:srgbClr val="000000">
                    <a:alpha val="49804"/>
                  </a:srgbClr>
                </a:solidFill>
                <a:latin typeface="Times New Roman"/>
                <a:ea typeface="Times New Roman"/>
                <a:cs typeface="Times New Roman"/>
                <a:sym typeface="Times New Roman"/>
              </a:rPr>
              <a:t>d </a:t>
            </a:r>
            <a:r>
              <a:rPr lang="en-US" sz="999" spc="-29" u="sng">
                <a:solidFill>
                  <a:srgbClr val="000000">
                    <a:alpha val="49804"/>
                  </a:srgbClr>
                </a:solidFill>
                <a:latin typeface="Times New Roman"/>
                <a:ea typeface="Times New Roman"/>
                <a:cs typeface="Times New Roman"/>
                <a:sym typeface="Times New Roman"/>
              </a:rPr>
              <a:t>https://www.nist.gov/itl/ai-risk-management-framework</a:t>
            </a:r>
          </a:p>
        </p:txBody>
      </p:sp>
      <p:sp>
        <p:nvSpPr>
          <p:cNvPr name="TextBox 14" id="14"/>
          <p:cNvSpPr txBox="true"/>
          <p:nvPr/>
        </p:nvSpPr>
        <p:spPr>
          <a:xfrm rot="0">
            <a:off x="12727228" y="7164417"/>
            <a:ext cx="4532072" cy="438150"/>
          </a:xfrm>
          <a:prstGeom prst="rect">
            <a:avLst/>
          </a:prstGeom>
        </p:spPr>
        <p:txBody>
          <a:bodyPr anchor="t" rtlCol="false" tIns="0" lIns="0" bIns="0" rIns="0">
            <a:spAutoFit/>
          </a:bodyPr>
          <a:lstStyle/>
          <a:p>
            <a:pPr algn="r">
              <a:lnSpc>
                <a:spcPts val="1199"/>
              </a:lnSpc>
            </a:pPr>
            <a:r>
              <a:rPr lang="en-US" sz="999" spc="-29">
                <a:solidFill>
                  <a:srgbClr val="000000">
                    <a:alpha val="49804"/>
                  </a:srgbClr>
                </a:solidFill>
                <a:latin typeface="Times New Roman"/>
                <a:ea typeface="Times New Roman"/>
                <a:cs typeface="Times New Roman"/>
                <a:sym typeface="Times New Roman"/>
              </a:rPr>
              <a:t>Source: "AI, Data Governance and Privacy: Synergies and Areas of International Co-operation" (OECD Artificial Intelligence Papers, No. 22) </a:t>
            </a:r>
            <a:r>
              <a:rPr lang="en-US" sz="999" spc="-29" u="sng">
                <a:solidFill>
                  <a:srgbClr val="000000">
                    <a:alpha val="49804"/>
                  </a:srgbClr>
                </a:solidFill>
                <a:latin typeface="Times New Roman"/>
                <a:ea typeface="Times New Roman"/>
                <a:cs typeface="Times New Roman"/>
                <a:sym typeface="Times New Roman"/>
              </a:rPr>
              <a:t>https://www.oecd.org/en/publications/ai-data-governance-and-privacy_2476b1a4-en.html</a:t>
            </a:r>
          </a:p>
        </p:txBody>
      </p:sp>
      <p:sp>
        <p:nvSpPr>
          <p:cNvPr name="TextBox 15" id="15"/>
          <p:cNvSpPr txBox="true"/>
          <p:nvPr/>
        </p:nvSpPr>
        <p:spPr>
          <a:xfrm rot="0">
            <a:off x="12727228" y="8115074"/>
            <a:ext cx="4532072" cy="438150"/>
          </a:xfrm>
          <a:prstGeom prst="rect">
            <a:avLst/>
          </a:prstGeom>
        </p:spPr>
        <p:txBody>
          <a:bodyPr anchor="t" rtlCol="false" tIns="0" lIns="0" bIns="0" rIns="0">
            <a:spAutoFit/>
          </a:bodyPr>
          <a:lstStyle/>
          <a:p>
            <a:pPr algn="r">
              <a:lnSpc>
                <a:spcPts val="1199"/>
              </a:lnSpc>
            </a:pPr>
            <a:r>
              <a:rPr lang="en-US" sz="999" spc="-29">
                <a:solidFill>
                  <a:srgbClr val="000000">
                    <a:alpha val="49804"/>
                  </a:srgbClr>
                </a:solidFill>
                <a:latin typeface="Times New Roman"/>
                <a:ea typeface="Times New Roman"/>
                <a:cs typeface="Times New Roman"/>
                <a:sym typeface="Times New Roman"/>
              </a:rPr>
              <a:t>Source: European Parliament and Council of the EU, Regulation (EU) 2024/1689 (AI Act), July 12, 2024 (prohibitions applicable from February 2, 2025) </a:t>
            </a:r>
            <a:r>
              <a:rPr lang="en-US" sz="999" spc="-29" u="sng">
                <a:solidFill>
                  <a:srgbClr val="000000">
                    <a:alpha val="49804"/>
                  </a:srgbClr>
                </a:solidFill>
                <a:latin typeface="Times New Roman"/>
                <a:ea typeface="Times New Roman"/>
                <a:cs typeface="Times New Roman"/>
                <a:sym typeface="Times New Roman"/>
              </a:rPr>
              <a:t>https://eur-lex.europa.eu/legal-content/EN/TXT/?uri=CELEX:32024R1689</a:t>
            </a:r>
          </a:p>
        </p:txBody>
      </p:sp>
      <p:sp>
        <p:nvSpPr>
          <p:cNvPr name="TextBox 16" id="16"/>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11</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6150021"/>
            <a:ext cx="11097844" cy="2400299"/>
          </a:xfrm>
          <a:prstGeom prst="rect">
            <a:avLst/>
          </a:prstGeom>
        </p:spPr>
        <p:txBody>
          <a:bodyPr anchor="t" rtlCol="false" tIns="0" lIns="0" bIns="0" rIns="0">
            <a:spAutoFit/>
          </a:bodyPr>
          <a:lstStyle/>
          <a:p>
            <a:pPr algn="l">
              <a:lnSpc>
                <a:spcPts val="8999"/>
              </a:lnSpc>
            </a:pPr>
            <a:r>
              <a:rPr lang="en-US" sz="9999" spc="-299">
                <a:solidFill>
                  <a:srgbClr val="000000"/>
                </a:solidFill>
                <a:latin typeface="Times New Roman"/>
                <a:ea typeface="Times New Roman"/>
                <a:cs typeface="Times New Roman"/>
                <a:sym typeface="Times New Roman"/>
              </a:rPr>
              <a:t>Regulatory Pressure for Data Compensation</a:t>
            </a:r>
          </a:p>
        </p:txBody>
      </p:sp>
      <p:sp>
        <p:nvSpPr>
          <p:cNvPr name="TextBox 5" id="5"/>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Signal III - Weak Signal</a:t>
            </a:r>
          </a:p>
        </p:txBody>
      </p:sp>
      <p:sp>
        <p:nvSpPr>
          <p:cNvPr name="AutoShape 6" id="6"/>
          <p:cNvSpPr/>
          <p:nvPr/>
        </p:nvSpPr>
        <p:spPr>
          <a:xfrm>
            <a:off x="1028700" y="5905275"/>
            <a:ext cx="16230600" cy="0"/>
          </a:xfrm>
          <a:prstGeom prst="line">
            <a:avLst/>
          </a:prstGeom>
          <a:ln cap="flat" w="9525">
            <a:solidFill>
              <a:srgbClr val="000000">
                <a:alpha val="49804"/>
              </a:srgbClr>
            </a:solidFill>
            <a:prstDash val="solid"/>
            <a:headEnd type="none" len="sm" w="sm"/>
            <a:tailEnd type="none" len="sm" w="sm"/>
          </a:ln>
        </p:spPr>
      </p:sp>
      <p:sp>
        <p:nvSpPr>
          <p:cNvPr name="TextBox 7" id="7"/>
          <p:cNvSpPr txBox="true"/>
          <p:nvPr/>
        </p:nvSpPr>
        <p:spPr>
          <a:xfrm rot="0">
            <a:off x="1003648" y="2426645"/>
            <a:ext cx="13546521" cy="504825"/>
          </a:xfrm>
          <a:prstGeom prst="rect">
            <a:avLst/>
          </a:prstGeom>
        </p:spPr>
        <p:txBody>
          <a:bodyPr anchor="t" rtlCol="false" tIns="0" lIns="0" bIns="0" rIns="0">
            <a:spAutoFit/>
          </a:bodyPr>
          <a:lstStyle/>
          <a:p>
            <a:pPr algn="l">
              <a:lnSpc>
                <a:spcPts val="3599"/>
              </a:lnSpc>
            </a:pPr>
            <a:r>
              <a:rPr lang="en-US" sz="3999" spc="-119" b="true">
                <a:solidFill>
                  <a:srgbClr val="000000"/>
                </a:solidFill>
                <a:latin typeface="Times New Roman Bold"/>
                <a:ea typeface="Times New Roman Bold"/>
                <a:cs typeface="Times New Roman Bold"/>
                <a:sym typeface="Times New Roman Bold"/>
              </a:rPr>
              <a:t>Reward </a:t>
            </a:r>
            <a:r>
              <a:rPr lang="en-US" sz="3999" spc="-119">
                <a:solidFill>
                  <a:srgbClr val="000000"/>
                </a:solidFill>
                <a:latin typeface="Times New Roman"/>
                <a:ea typeface="Times New Roman"/>
                <a:cs typeface="Times New Roman"/>
                <a:sym typeface="Times New Roman"/>
              </a:rPr>
              <a:t>can do more than restrict the flow of information.</a:t>
            </a:r>
          </a:p>
        </p:txBody>
      </p:sp>
      <p:sp>
        <p:nvSpPr>
          <p:cNvPr name="TextBox 8" id="8"/>
          <p:cNvSpPr txBox="true"/>
          <p:nvPr/>
        </p:nvSpPr>
        <p:spPr>
          <a:xfrm rot="0">
            <a:off x="6716503" y="3822375"/>
            <a:ext cx="10542797" cy="774700"/>
          </a:xfrm>
          <a:prstGeom prst="rect">
            <a:avLst/>
          </a:prstGeom>
        </p:spPr>
        <p:txBody>
          <a:bodyPr anchor="t" rtlCol="false" tIns="0" lIns="0" bIns="0" rIns="0">
            <a:spAutoFit/>
          </a:bodyPr>
          <a:lstStyle/>
          <a:p>
            <a:pPr algn="r">
              <a:lnSpc>
                <a:spcPts val="2000"/>
              </a:lnSpc>
              <a:spcBef>
                <a:spcPct val="0"/>
              </a:spcBef>
            </a:pPr>
            <a:r>
              <a:rPr lang="en-US" sz="2000" spc="-60">
                <a:solidFill>
                  <a:srgbClr val="000000"/>
                </a:solidFill>
                <a:latin typeface="Times New Roman"/>
                <a:ea typeface="Times New Roman"/>
                <a:cs typeface="Times New Roman"/>
                <a:sym typeface="Times New Roman"/>
              </a:rPr>
              <a:t>I</a:t>
            </a:r>
            <a:r>
              <a:rPr lang="en-US" sz="2000" spc="-60">
                <a:solidFill>
                  <a:srgbClr val="000000"/>
                </a:solidFill>
                <a:latin typeface="Times New Roman"/>
                <a:ea typeface="Times New Roman"/>
                <a:cs typeface="Times New Roman"/>
                <a:sym typeface="Times New Roman"/>
              </a:rPr>
              <a:t>t can function as an institutional tool that improves accountability, data quality, and user consent across the AI ecosystem. Rather than simply blocking information, it helps define the conditions under which data can be shared, valued, and governed more responsibly.</a:t>
            </a:r>
          </a:p>
        </p:txBody>
      </p:sp>
      <p:sp>
        <p:nvSpPr>
          <p:cNvPr name="TextBox 9" id="9"/>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12</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6150021"/>
            <a:ext cx="11097844" cy="2400299"/>
          </a:xfrm>
          <a:prstGeom prst="rect">
            <a:avLst/>
          </a:prstGeom>
        </p:spPr>
        <p:txBody>
          <a:bodyPr anchor="t" rtlCol="false" tIns="0" lIns="0" bIns="0" rIns="0">
            <a:spAutoFit/>
          </a:bodyPr>
          <a:lstStyle/>
          <a:p>
            <a:pPr algn="l">
              <a:lnSpc>
                <a:spcPts val="8999"/>
              </a:lnSpc>
            </a:pPr>
            <a:r>
              <a:rPr lang="en-US" sz="9999" spc="-299">
                <a:solidFill>
                  <a:srgbClr val="000000"/>
                </a:solidFill>
                <a:latin typeface="Times New Roman"/>
                <a:ea typeface="Times New Roman"/>
                <a:cs typeface="Times New Roman"/>
                <a:sym typeface="Times New Roman"/>
              </a:rPr>
              <a:t>Interplatform</a:t>
            </a:r>
          </a:p>
          <a:p>
            <a:pPr algn="l">
              <a:lnSpc>
                <a:spcPts val="8999"/>
              </a:lnSpc>
            </a:pPr>
            <a:r>
              <a:rPr lang="en-US" sz="9999" spc="-299">
                <a:solidFill>
                  <a:srgbClr val="000000"/>
                </a:solidFill>
                <a:latin typeface="Times New Roman"/>
                <a:ea typeface="Times New Roman"/>
                <a:cs typeface="Times New Roman"/>
                <a:sym typeface="Times New Roman"/>
              </a:rPr>
              <a:t>AI Token economy</a:t>
            </a:r>
          </a:p>
        </p:txBody>
      </p:sp>
      <p:sp>
        <p:nvSpPr>
          <p:cNvPr name="TextBox 5" id="5"/>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Signal IV - Weak Signal</a:t>
            </a:r>
          </a:p>
        </p:txBody>
      </p:sp>
      <p:sp>
        <p:nvSpPr>
          <p:cNvPr name="AutoShape 6" id="6"/>
          <p:cNvSpPr/>
          <p:nvPr/>
        </p:nvSpPr>
        <p:spPr>
          <a:xfrm>
            <a:off x="1028700" y="5905275"/>
            <a:ext cx="16230600" cy="0"/>
          </a:xfrm>
          <a:prstGeom prst="line">
            <a:avLst/>
          </a:prstGeom>
          <a:ln cap="flat" w="9525">
            <a:solidFill>
              <a:srgbClr val="000000">
                <a:alpha val="49804"/>
              </a:srgbClr>
            </a:solidFill>
            <a:prstDash val="solid"/>
            <a:headEnd type="none" len="sm" w="sm"/>
            <a:tailEnd type="none" len="sm" w="sm"/>
          </a:ln>
        </p:spPr>
      </p:sp>
      <p:sp>
        <p:nvSpPr>
          <p:cNvPr name="TextBox 7" id="7"/>
          <p:cNvSpPr txBox="true"/>
          <p:nvPr/>
        </p:nvSpPr>
        <p:spPr>
          <a:xfrm rot="0">
            <a:off x="1003648" y="2426645"/>
            <a:ext cx="13546521" cy="504825"/>
          </a:xfrm>
          <a:prstGeom prst="rect">
            <a:avLst/>
          </a:prstGeom>
        </p:spPr>
        <p:txBody>
          <a:bodyPr anchor="t" rtlCol="false" tIns="0" lIns="0" bIns="0" rIns="0">
            <a:spAutoFit/>
          </a:bodyPr>
          <a:lstStyle/>
          <a:p>
            <a:pPr algn="l">
              <a:lnSpc>
                <a:spcPts val="3599"/>
              </a:lnSpc>
            </a:pPr>
            <a:r>
              <a:rPr lang="en-US" sz="3999" spc="-119">
                <a:solidFill>
                  <a:srgbClr val="000000"/>
                </a:solidFill>
                <a:latin typeface="Times New Roman"/>
                <a:ea typeface="Times New Roman"/>
                <a:cs typeface="Times New Roman"/>
                <a:sym typeface="Times New Roman"/>
              </a:rPr>
              <a:t>What If AI Tokens Became a </a:t>
            </a:r>
            <a:r>
              <a:rPr lang="en-US" sz="3999" spc="-119" b="true">
                <a:solidFill>
                  <a:srgbClr val="000000"/>
                </a:solidFill>
                <a:latin typeface="Times New Roman Bold"/>
                <a:ea typeface="Times New Roman Bold"/>
                <a:cs typeface="Times New Roman Bold"/>
                <a:sym typeface="Times New Roman Bold"/>
              </a:rPr>
              <a:t>Tradeable Currency?</a:t>
            </a:r>
          </a:p>
        </p:txBody>
      </p:sp>
      <p:sp>
        <p:nvSpPr>
          <p:cNvPr name="TextBox 8" id="8"/>
          <p:cNvSpPr txBox="true"/>
          <p:nvPr/>
        </p:nvSpPr>
        <p:spPr>
          <a:xfrm rot="0">
            <a:off x="6716503" y="3822375"/>
            <a:ext cx="10542797" cy="527050"/>
          </a:xfrm>
          <a:prstGeom prst="rect">
            <a:avLst/>
          </a:prstGeom>
        </p:spPr>
        <p:txBody>
          <a:bodyPr anchor="t" rtlCol="false" tIns="0" lIns="0" bIns="0" rIns="0">
            <a:spAutoFit/>
          </a:bodyPr>
          <a:lstStyle/>
          <a:p>
            <a:pPr algn="r">
              <a:lnSpc>
                <a:spcPts val="2000"/>
              </a:lnSpc>
              <a:spcBef>
                <a:spcPct val="0"/>
              </a:spcBef>
            </a:pPr>
            <a:r>
              <a:rPr lang="en-US" sz="2000" spc="-60">
                <a:solidFill>
                  <a:srgbClr val="000000"/>
                </a:solidFill>
                <a:latin typeface="Times New Roman"/>
                <a:ea typeface="Times New Roman"/>
                <a:cs typeface="Times New Roman"/>
                <a:sym typeface="Times New Roman"/>
              </a:rPr>
              <a:t>A</a:t>
            </a:r>
            <a:r>
              <a:rPr lang="en-US" sz="2000" spc="-60">
                <a:solidFill>
                  <a:srgbClr val="000000"/>
                </a:solidFill>
                <a:latin typeface="Times New Roman"/>
                <a:ea typeface="Times New Roman"/>
                <a:cs typeface="Times New Roman"/>
                <a:sym typeface="Times New Roman"/>
              </a:rPr>
              <a:t>n integrated AI token infrastructure that consolidates fragmented platform ecosystems into a single tradeable network, supported by regulatory governance and built for seamless end-user accessibility.</a:t>
            </a:r>
          </a:p>
        </p:txBody>
      </p:sp>
      <p:sp>
        <p:nvSpPr>
          <p:cNvPr name="TextBox 9" id="9"/>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13</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2382195"/>
            <a:ext cx="15506829" cy="549275"/>
          </a:xfrm>
          <a:prstGeom prst="rect">
            <a:avLst/>
          </a:prstGeom>
        </p:spPr>
        <p:txBody>
          <a:bodyPr anchor="t" rtlCol="false" tIns="0" lIns="0" bIns="0" rIns="0">
            <a:spAutoFit/>
          </a:bodyPr>
          <a:lstStyle/>
          <a:p>
            <a:pPr algn="l">
              <a:lnSpc>
                <a:spcPts val="3999"/>
              </a:lnSpc>
              <a:spcBef>
                <a:spcPct val="0"/>
              </a:spcBef>
            </a:pPr>
            <a:r>
              <a:rPr lang="en-US" sz="3999" spc="-119">
                <a:solidFill>
                  <a:srgbClr val="000000"/>
                </a:solidFill>
                <a:latin typeface="Times New Roman"/>
                <a:ea typeface="Times New Roman"/>
                <a:cs typeface="Times New Roman"/>
                <a:sym typeface="Times New Roman"/>
              </a:rPr>
              <a:t>“</a:t>
            </a:r>
            <a:r>
              <a:rPr lang="en-US" sz="3999" spc="-119">
                <a:solidFill>
                  <a:srgbClr val="000000"/>
                </a:solidFill>
                <a:latin typeface="Times New Roman"/>
                <a:ea typeface="Times New Roman"/>
                <a:cs typeface="Times New Roman"/>
                <a:sym typeface="Times New Roman"/>
              </a:rPr>
              <a:t>Token can become not only what AI consumes, but also what users earn.”</a:t>
            </a:r>
          </a:p>
        </p:txBody>
      </p:sp>
      <p:sp>
        <p:nvSpPr>
          <p:cNvPr name="TextBox 5" id="5"/>
          <p:cNvSpPr txBox="true"/>
          <p:nvPr/>
        </p:nvSpPr>
        <p:spPr>
          <a:xfrm rot="0">
            <a:off x="1028700" y="3822375"/>
            <a:ext cx="7409226" cy="774700"/>
          </a:xfrm>
          <a:prstGeom prst="rect">
            <a:avLst/>
          </a:prstGeom>
        </p:spPr>
        <p:txBody>
          <a:bodyPr anchor="t" rtlCol="false" tIns="0" lIns="0" bIns="0" rIns="0">
            <a:spAutoFit/>
          </a:bodyPr>
          <a:lstStyle/>
          <a:p>
            <a:pPr algn="l">
              <a:lnSpc>
                <a:spcPts val="2000"/>
              </a:lnSpc>
              <a:spcBef>
                <a:spcPct val="0"/>
              </a:spcBef>
            </a:pPr>
            <a:r>
              <a:rPr lang="en-US" sz="2000" spc="-60">
                <a:solidFill>
                  <a:srgbClr val="000000"/>
                </a:solidFill>
                <a:latin typeface="Times New Roman"/>
                <a:ea typeface="Times New Roman"/>
                <a:cs typeface="Times New Roman"/>
                <a:sym typeface="Times New Roman"/>
              </a:rPr>
              <a:t>AI Token</a:t>
            </a:r>
            <a:r>
              <a:rPr lang="en-US" sz="2000" spc="-60">
                <a:solidFill>
                  <a:srgbClr val="000000"/>
                </a:solidFill>
                <a:latin typeface="Times New Roman"/>
                <a:ea typeface="Times New Roman"/>
                <a:cs typeface="Times New Roman"/>
                <a:sym typeface="Times New Roman"/>
              </a:rPr>
              <a:t> can be redefined as more than a technical unit of input and output. It can become an economic mechanism through which users are compensated for the value created through their data and interactions.</a:t>
            </a:r>
          </a:p>
        </p:txBody>
      </p:sp>
      <p:sp>
        <p:nvSpPr>
          <p:cNvPr name="TextBox 6" id="6"/>
          <p:cNvSpPr txBox="true"/>
          <p:nvPr/>
        </p:nvSpPr>
        <p:spPr>
          <a:xfrm rot="0">
            <a:off x="9850074" y="3822375"/>
            <a:ext cx="7409226" cy="1022350"/>
          </a:xfrm>
          <a:prstGeom prst="rect">
            <a:avLst/>
          </a:prstGeom>
        </p:spPr>
        <p:txBody>
          <a:bodyPr anchor="t" rtlCol="false" tIns="0" lIns="0" bIns="0" rIns="0">
            <a:spAutoFit/>
          </a:bodyPr>
          <a:lstStyle/>
          <a:p>
            <a:pPr algn="just">
              <a:lnSpc>
                <a:spcPts val="2000"/>
              </a:lnSpc>
              <a:spcBef>
                <a:spcPct val="0"/>
              </a:spcBef>
            </a:pPr>
            <a:r>
              <a:rPr lang="en-US" sz="2000" spc="-60">
                <a:solidFill>
                  <a:srgbClr val="000000"/>
                </a:solidFill>
                <a:latin typeface="Times New Roman"/>
                <a:ea typeface="Times New Roman"/>
                <a:cs typeface="Times New Roman"/>
                <a:sym typeface="Times New Roman"/>
              </a:rPr>
              <a:t>At present,</a:t>
            </a:r>
            <a:r>
              <a:rPr lang="en-US" sz="2000" spc="-60">
                <a:solidFill>
                  <a:srgbClr val="000000"/>
                </a:solidFill>
                <a:latin typeface="Times New Roman"/>
                <a:ea typeface="Times New Roman"/>
                <a:cs typeface="Times New Roman"/>
                <a:sym typeface="Times New Roman"/>
              </a:rPr>
              <a:t> most AI enterprises treat tokens as internal measures of usage rather than visible units of value. As a result, users have limited awareness of how their data is translated into economic worth, and little autonomy over how that value is distributed.</a:t>
            </a:r>
          </a:p>
        </p:txBody>
      </p:sp>
      <p:sp>
        <p:nvSpPr>
          <p:cNvPr name="TextBox 7" id="7"/>
          <p:cNvSpPr txBox="true"/>
          <p:nvPr/>
        </p:nvSpPr>
        <p:spPr>
          <a:xfrm rot="0">
            <a:off x="1028700" y="6092871"/>
            <a:ext cx="16230600" cy="2533649"/>
          </a:xfrm>
          <a:prstGeom prst="rect">
            <a:avLst/>
          </a:prstGeom>
        </p:spPr>
        <p:txBody>
          <a:bodyPr anchor="t" rtlCol="false" tIns="0" lIns="0" bIns="0" rIns="0">
            <a:spAutoFit/>
          </a:bodyPr>
          <a:lstStyle/>
          <a:p>
            <a:pPr algn="l">
              <a:lnSpc>
                <a:spcPts val="9599"/>
              </a:lnSpc>
            </a:pPr>
            <a:r>
              <a:rPr lang="en-US" sz="9999" spc="-299">
                <a:solidFill>
                  <a:srgbClr val="000000"/>
                </a:solidFill>
                <a:latin typeface="Times New Roman"/>
                <a:ea typeface="Times New Roman"/>
                <a:cs typeface="Times New Roman"/>
                <a:sym typeface="Times New Roman"/>
              </a:rPr>
              <a:t>Opportunity:</a:t>
            </a:r>
          </a:p>
          <a:p>
            <a:pPr algn="l">
              <a:lnSpc>
                <a:spcPts val="9599"/>
              </a:lnSpc>
            </a:pPr>
            <a:r>
              <a:rPr lang="en-US" sz="9999" spc="-299">
                <a:solidFill>
                  <a:srgbClr val="000000"/>
                </a:solidFill>
                <a:latin typeface="Times New Roman"/>
                <a:ea typeface="Times New Roman"/>
                <a:cs typeface="Times New Roman"/>
                <a:sym typeface="Times New Roman"/>
              </a:rPr>
              <a:t>AI Token as economy model</a:t>
            </a:r>
          </a:p>
        </p:txBody>
      </p:sp>
      <p:sp>
        <p:nvSpPr>
          <p:cNvPr name="TextBox 8" id="8"/>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Opportunity</a:t>
            </a:r>
          </a:p>
        </p:txBody>
      </p:sp>
      <p:sp>
        <p:nvSpPr>
          <p:cNvPr name="AutoShape 9" id="9"/>
          <p:cNvSpPr/>
          <p:nvPr/>
        </p:nvSpPr>
        <p:spPr>
          <a:xfrm>
            <a:off x="1028700" y="5905275"/>
            <a:ext cx="16230600" cy="0"/>
          </a:xfrm>
          <a:prstGeom prst="line">
            <a:avLst/>
          </a:prstGeom>
          <a:ln cap="flat" w="9525">
            <a:solidFill>
              <a:srgbClr val="000000">
                <a:alpha val="49804"/>
              </a:srgbClr>
            </a:solidFill>
            <a:prstDash val="solid"/>
            <a:headEnd type="none" len="sm" w="sm"/>
            <a:tailEnd type="none" len="sm" w="sm"/>
          </a:ln>
        </p:spPr>
      </p:sp>
      <p:sp>
        <p:nvSpPr>
          <p:cNvPr name="TextBox 10" id="10"/>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14</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40938" y="2321606"/>
            <a:ext cx="16218362" cy="2362200"/>
          </a:xfrm>
          <a:prstGeom prst="rect">
            <a:avLst/>
          </a:prstGeom>
        </p:spPr>
        <p:txBody>
          <a:bodyPr anchor="t" rtlCol="false" tIns="0" lIns="0" bIns="0" rIns="0">
            <a:spAutoFit/>
          </a:bodyPr>
          <a:lstStyle/>
          <a:p>
            <a:pPr algn="l">
              <a:lnSpc>
                <a:spcPts val="6000"/>
              </a:lnSpc>
            </a:pPr>
            <a:r>
              <a:rPr lang="en-US" sz="6000" spc="-89">
                <a:solidFill>
                  <a:srgbClr val="000000"/>
                </a:solidFill>
                <a:latin typeface="Times New Roman"/>
                <a:ea typeface="Times New Roman"/>
                <a:cs typeface="Times New Roman"/>
                <a:sym typeface="Times New Roman"/>
              </a:rPr>
              <a:t>How might we create a unified AI token ecosystem that incentivizes both platforms and users to participate across boundaries?</a:t>
            </a:r>
          </a:p>
        </p:txBody>
      </p:sp>
      <p:sp>
        <p:nvSpPr>
          <p:cNvPr name="TextBox 3" id="3"/>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5" id="5"/>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Opportunity - HMW Question</a:t>
            </a:r>
          </a:p>
        </p:txBody>
      </p:sp>
      <p:sp>
        <p:nvSpPr>
          <p:cNvPr name="AutoShape 6" id="6"/>
          <p:cNvSpPr/>
          <p:nvPr/>
        </p:nvSpPr>
        <p:spPr>
          <a:xfrm>
            <a:off x="1028700" y="5905275"/>
            <a:ext cx="16230600" cy="0"/>
          </a:xfrm>
          <a:prstGeom prst="line">
            <a:avLst/>
          </a:prstGeom>
          <a:ln cap="flat" w="9525">
            <a:solidFill>
              <a:srgbClr val="000000">
                <a:alpha val="49804"/>
              </a:srgbClr>
            </a:solidFill>
            <a:prstDash val="solid"/>
            <a:headEnd type="none" len="sm" w="sm"/>
            <a:tailEnd type="none" len="sm" w="sm"/>
          </a:ln>
        </p:spPr>
      </p:sp>
      <p:sp>
        <p:nvSpPr>
          <p:cNvPr name="TextBox 7" id="7"/>
          <p:cNvSpPr txBox="true"/>
          <p:nvPr/>
        </p:nvSpPr>
        <p:spPr>
          <a:xfrm rot="0">
            <a:off x="1028700" y="6582456"/>
            <a:ext cx="3631093" cy="885825"/>
          </a:xfrm>
          <a:prstGeom prst="rect">
            <a:avLst/>
          </a:prstGeom>
        </p:spPr>
        <p:txBody>
          <a:bodyPr anchor="t" rtlCol="false" tIns="0" lIns="0" bIns="0" rIns="0">
            <a:spAutoFit/>
          </a:bodyPr>
          <a:lstStyle/>
          <a:p>
            <a:pPr algn="l">
              <a:lnSpc>
                <a:spcPts val="6299"/>
              </a:lnSpc>
            </a:pPr>
            <a:r>
              <a:rPr lang="en-US" sz="6999" spc="-209">
                <a:solidFill>
                  <a:srgbClr val="000000"/>
                </a:solidFill>
                <a:latin typeface="Times New Roman"/>
                <a:ea typeface="Times New Roman"/>
                <a:cs typeface="Times New Roman"/>
                <a:sym typeface="Times New Roman"/>
              </a:rPr>
              <a:t>Reward</a:t>
            </a:r>
          </a:p>
        </p:txBody>
      </p:sp>
      <p:sp>
        <p:nvSpPr>
          <p:cNvPr name="TextBox 8" id="8"/>
          <p:cNvSpPr txBox="true"/>
          <p:nvPr/>
        </p:nvSpPr>
        <p:spPr>
          <a:xfrm rot="0">
            <a:off x="1040938" y="7487331"/>
            <a:ext cx="4532072" cy="127000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AI token rewards, as consent-based incentives for data contribution, transform data into a transactional asset that circulates within a self-sustaining loop, enabling systematic audit and traceability throughout.</a:t>
            </a:r>
          </a:p>
        </p:txBody>
      </p:sp>
      <p:sp>
        <p:nvSpPr>
          <p:cNvPr name="TextBox 9" id="9"/>
          <p:cNvSpPr txBox="true"/>
          <p:nvPr/>
        </p:nvSpPr>
        <p:spPr>
          <a:xfrm rot="0">
            <a:off x="6577622" y="6582456"/>
            <a:ext cx="3139827" cy="885825"/>
          </a:xfrm>
          <a:prstGeom prst="rect">
            <a:avLst/>
          </a:prstGeom>
        </p:spPr>
        <p:txBody>
          <a:bodyPr anchor="t" rtlCol="false" tIns="0" lIns="0" bIns="0" rIns="0">
            <a:spAutoFit/>
          </a:bodyPr>
          <a:lstStyle/>
          <a:p>
            <a:pPr algn="just">
              <a:lnSpc>
                <a:spcPts val="6299"/>
              </a:lnSpc>
            </a:pPr>
            <a:r>
              <a:rPr lang="en-US" sz="6999" spc="-209">
                <a:solidFill>
                  <a:srgbClr val="000000"/>
                </a:solidFill>
                <a:latin typeface="Times New Roman"/>
                <a:ea typeface="Times New Roman"/>
                <a:cs typeface="Times New Roman"/>
                <a:sym typeface="Times New Roman"/>
              </a:rPr>
              <a:t>AI Token</a:t>
            </a:r>
          </a:p>
        </p:txBody>
      </p:sp>
      <p:sp>
        <p:nvSpPr>
          <p:cNvPr name="TextBox 10" id="10"/>
          <p:cNvSpPr txBox="true"/>
          <p:nvPr/>
        </p:nvSpPr>
        <p:spPr>
          <a:xfrm rot="0">
            <a:off x="6577622" y="7487331"/>
            <a:ext cx="4205696" cy="127000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As the AI token moves beyond its role as a unit of computing and reasoning into a receipt-generating exchangeable asset, it effectively functions as a currency tied to quantifiable indicators for data exchange.</a:t>
            </a:r>
          </a:p>
        </p:txBody>
      </p:sp>
      <p:sp>
        <p:nvSpPr>
          <p:cNvPr name="TextBox 11" id="11"/>
          <p:cNvSpPr txBox="true"/>
          <p:nvPr/>
        </p:nvSpPr>
        <p:spPr>
          <a:xfrm rot="0">
            <a:off x="11836382" y="7487331"/>
            <a:ext cx="4363705" cy="127000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Monetizing and consolidating siloed AI token units ac</a:t>
            </a:r>
            <a:r>
              <a:rPr lang="en-US" sz="2000" spc="-60">
                <a:solidFill>
                  <a:srgbClr val="000000"/>
                </a:solidFill>
                <a:latin typeface="Times New Roman"/>
                <a:ea typeface="Times New Roman"/>
                <a:cs typeface="Times New Roman"/>
                <a:sym typeface="Times New Roman"/>
              </a:rPr>
              <a:t>ross platforms into a unified framework enables demand-driven pricing, greater service utility for users, and automation across a broader range of services.</a:t>
            </a:r>
          </a:p>
        </p:txBody>
      </p:sp>
      <p:sp>
        <p:nvSpPr>
          <p:cNvPr name="TextBox 12" id="12"/>
          <p:cNvSpPr txBox="true"/>
          <p:nvPr/>
        </p:nvSpPr>
        <p:spPr>
          <a:xfrm rot="0">
            <a:off x="11836382" y="6582456"/>
            <a:ext cx="5422918" cy="885825"/>
          </a:xfrm>
          <a:prstGeom prst="rect">
            <a:avLst/>
          </a:prstGeom>
        </p:spPr>
        <p:txBody>
          <a:bodyPr anchor="t" rtlCol="false" tIns="0" lIns="0" bIns="0" rIns="0">
            <a:spAutoFit/>
          </a:bodyPr>
          <a:lstStyle/>
          <a:p>
            <a:pPr algn="l">
              <a:lnSpc>
                <a:spcPts val="6299"/>
              </a:lnSpc>
            </a:pPr>
            <a:r>
              <a:rPr lang="en-US" sz="6999" spc="-209">
                <a:solidFill>
                  <a:srgbClr val="000000"/>
                </a:solidFill>
                <a:latin typeface="Times New Roman"/>
                <a:ea typeface="Times New Roman"/>
                <a:cs typeface="Times New Roman"/>
                <a:sym typeface="Times New Roman"/>
              </a:rPr>
              <a:t>Interplatform</a:t>
            </a:r>
          </a:p>
        </p:txBody>
      </p:sp>
      <p:sp>
        <p:nvSpPr>
          <p:cNvPr name="TextBox 13" id="13"/>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376362"/>
            <a:ext cx="16230600" cy="4096441"/>
          </a:xfrm>
          <a:custGeom>
            <a:avLst/>
            <a:gdLst/>
            <a:ahLst/>
            <a:cxnLst/>
            <a:rect r="r" b="b" t="t" l="l"/>
            <a:pathLst>
              <a:path h="4096441" w="16230600">
                <a:moveTo>
                  <a:pt x="0" y="0"/>
                </a:moveTo>
                <a:lnTo>
                  <a:pt x="16230600" y="0"/>
                </a:lnTo>
                <a:lnTo>
                  <a:pt x="16230600" y="4096442"/>
                </a:lnTo>
                <a:lnTo>
                  <a:pt x="0" y="4096442"/>
                </a:lnTo>
                <a:lnTo>
                  <a:pt x="0" y="0"/>
                </a:lnTo>
                <a:close/>
              </a:path>
            </a:pathLst>
          </a:custGeom>
          <a:blipFill>
            <a:blip r:embed="rId2"/>
            <a:stretch>
              <a:fillRect l="0" t="-36048" r="0" b="-23465"/>
            </a:stretch>
          </a:blipFill>
        </p:spPr>
      </p:sp>
      <p:sp>
        <p:nvSpPr>
          <p:cNvPr name="AutoShape 3" id="3"/>
          <p:cNvSpPr/>
          <p:nvPr/>
        </p:nvSpPr>
        <p:spPr>
          <a:xfrm>
            <a:off x="1028700" y="5905275"/>
            <a:ext cx="16230600" cy="0"/>
          </a:xfrm>
          <a:prstGeom prst="line">
            <a:avLst/>
          </a:prstGeom>
          <a:ln cap="flat" w="9525">
            <a:solidFill>
              <a:srgbClr val="000000">
                <a:alpha val="49804"/>
              </a:srgbClr>
            </a:solidFill>
            <a:prstDash val="solid"/>
            <a:headEnd type="none" len="sm" w="sm"/>
            <a:tailEnd type="none" len="sm" w="sm"/>
          </a:ln>
        </p:spPr>
      </p:sp>
      <p:grpSp>
        <p:nvGrpSpPr>
          <p:cNvPr name="Group 4" id="4"/>
          <p:cNvGrpSpPr/>
          <p:nvPr/>
        </p:nvGrpSpPr>
        <p:grpSpPr>
          <a:xfrm rot="0">
            <a:off x="14575221" y="1376362"/>
            <a:ext cx="2684079" cy="891901"/>
            <a:chOff x="0" y="0"/>
            <a:chExt cx="3578772" cy="1189201"/>
          </a:xfrm>
        </p:grpSpPr>
        <p:grpSp>
          <p:nvGrpSpPr>
            <p:cNvPr name="Group 5" id="5"/>
            <p:cNvGrpSpPr/>
            <p:nvPr/>
          </p:nvGrpSpPr>
          <p:grpSpPr>
            <a:xfrm rot="0">
              <a:off x="3046449" y="0"/>
              <a:ext cx="532323" cy="555196"/>
              <a:chOff x="0" y="0"/>
              <a:chExt cx="584874" cy="610004"/>
            </a:xfrm>
          </p:grpSpPr>
          <p:sp>
            <p:nvSpPr>
              <p:cNvPr name="Freeform 6" id="6"/>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FFFFFF"/>
              </a:solidFill>
            </p:spPr>
          </p:sp>
          <p:sp>
            <p:nvSpPr>
              <p:cNvPr name="TextBox 7" id="7"/>
              <p:cNvSpPr txBox="true"/>
              <p:nvPr/>
            </p:nvSpPr>
            <p:spPr>
              <a:xfrm>
                <a:off x="137617" y="172105"/>
                <a:ext cx="309639" cy="294368"/>
              </a:xfrm>
              <a:prstGeom prst="rect">
                <a:avLst/>
              </a:prstGeom>
            </p:spPr>
            <p:txBody>
              <a:bodyPr anchor="ctr" rtlCol="false" tIns="31993" lIns="31993" bIns="31993" rIns="31993"/>
              <a:lstStyle/>
              <a:p>
                <a:pPr algn="ctr">
                  <a:lnSpc>
                    <a:spcPts val="1599"/>
                  </a:lnSpc>
                </a:pPr>
              </a:p>
            </p:txBody>
          </p:sp>
        </p:grpSp>
        <p:sp>
          <p:nvSpPr>
            <p:cNvPr name="TextBox 8" id="8"/>
            <p:cNvSpPr txBox="true"/>
            <p:nvPr/>
          </p:nvSpPr>
          <p:spPr>
            <a:xfrm rot="0">
              <a:off x="0" y="313723"/>
              <a:ext cx="3188709" cy="875478"/>
            </a:xfrm>
            <a:prstGeom prst="rect">
              <a:avLst/>
            </a:prstGeom>
          </p:spPr>
          <p:txBody>
            <a:bodyPr anchor="t" rtlCol="false" tIns="0" lIns="0" bIns="0" rIns="0">
              <a:spAutoFit/>
            </a:bodyPr>
            <a:lstStyle/>
            <a:p>
              <a:pPr algn="ctr">
                <a:lnSpc>
                  <a:spcPts val="4656"/>
                </a:lnSpc>
              </a:pPr>
              <a:r>
                <a:rPr lang="en-US" b="true" sz="4656" spc="-186">
                  <a:solidFill>
                    <a:srgbClr val="FFFFFF"/>
                  </a:solidFill>
                  <a:latin typeface="Times New Roman Bold"/>
                  <a:ea typeface="Times New Roman Bold"/>
                  <a:cs typeface="Times New Roman Bold"/>
                  <a:sym typeface="Times New Roman Bold"/>
                </a:rPr>
                <a:t>tokentrust</a:t>
              </a:r>
            </a:p>
          </p:txBody>
        </p:sp>
      </p:grpSp>
      <p:sp>
        <p:nvSpPr>
          <p:cNvPr name="TextBox 9" id="9"/>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11" id="11"/>
          <p:cNvSpPr txBox="true"/>
          <p:nvPr/>
        </p:nvSpPr>
        <p:spPr>
          <a:xfrm rot="0">
            <a:off x="1752471" y="8043002"/>
            <a:ext cx="15506829" cy="549275"/>
          </a:xfrm>
          <a:prstGeom prst="rect">
            <a:avLst/>
          </a:prstGeom>
        </p:spPr>
        <p:txBody>
          <a:bodyPr anchor="t" rtlCol="false" tIns="0" lIns="0" bIns="0" rIns="0">
            <a:spAutoFit/>
          </a:bodyPr>
          <a:lstStyle/>
          <a:p>
            <a:pPr algn="r">
              <a:lnSpc>
                <a:spcPts val="3999"/>
              </a:lnSpc>
              <a:spcBef>
                <a:spcPct val="0"/>
              </a:spcBef>
            </a:pPr>
            <a:r>
              <a:rPr lang="en-US" sz="3999" spc="-119">
                <a:solidFill>
                  <a:srgbClr val="000000"/>
                </a:solidFill>
                <a:latin typeface="Times New Roman"/>
                <a:ea typeface="Times New Roman"/>
                <a:cs typeface="Times New Roman"/>
                <a:sym typeface="Times New Roman"/>
              </a:rPr>
              <a:t>“AI </a:t>
            </a:r>
            <a:r>
              <a:rPr lang="en-US" sz="3999" spc="-119">
                <a:solidFill>
                  <a:srgbClr val="000000"/>
                </a:solidFill>
                <a:latin typeface="Times New Roman"/>
                <a:ea typeface="Times New Roman"/>
                <a:cs typeface="Times New Roman"/>
                <a:sym typeface="Times New Roman"/>
              </a:rPr>
              <a:t>Token should not only measure usage, but also enable user agency.”</a:t>
            </a:r>
          </a:p>
        </p:txBody>
      </p:sp>
      <p:sp>
        <p:nvSpPr>
          <p:cNvPr name="TextBox 12" id="12"/>
          <p:cNvSpPr txBox="true"/>
          <p:nvPr/>
        </p:nvSpPr>
        <p:spPr>
          <a:xfrm rot="0">
            <a:off x="1028700" y="6515064"/>
            <a:ext cx="7409226" cy="774700"/>
          </a:xfrm>
          <a:prstGeom prst="rect">
            <a:avLst/>
          </a:prstGeom>
        </p:spPr>
        <p:txBody>
          <a:bodyPr anchor="t" rtlCol="false" tIns="0" lIns="0" bIns="0" rIns="0">
            <a:spAutoFit/>
          </a:bodyPr>
          <a:lstStyle/>
          <a:p>
            <a:pPr algn="l">
              <a:lnSpc>
                <a:spcPts val="2000"/>
              </a:lnSpc>
              <a:spcBef>
                <a:spcPct val="0"/>
              </a:spcBef>
            </a:pPr>
            <a:r>
              <a:rPr lang="en-US" sz="2000" spc="-60">
                <a:solidFill>
                  <a:srgbClr val="000000"/>
                </a:solidFill>
                <a:latin typeface="Times New Roman"/>
                <a:ea typeface="Times New Roman"/>
                <a:cs typeface="Times New Roman"/>
                <a:sym typeface="Times New Roman"/>
              </a:rPr>
              <a:t>At this point, AI Token</a:t>
            </a:r>
            <a:r>
              <a:rPr lang="en-US" sz="2000" spc="-60">
                <a:solidFill>
                  <a:srgbClr val="000000"/>
                </a:solidFill>
                <a:latin typeface="Times New Roman"/>
                <a:ea typeface="Times New Roman"/>
                <a:cs typeface="Times New Roman"/>
                <a:sym typeface="Times New Roman"/>
              </a:rPr>
              <a:t> becomes closely connected to the issue of information sovereignty. Information sovereignty refers to the user’s ability to understand, choose, and control how their data is collected, evaluated, and used.</a:t>
            </a:r>
          </a:p>
        </p:txBody>
      </p:sp>
      <p:sp>
        <p:nvSpPr>
          <p:cNvPr name="TextBox 13" id="13"/>
          <p:cNvSpPr txBox="true"/>
          <p:nvPr/>
        </p:nvSpPr>
        <p:spPr>
          <a:xfrm rot="0">
            <a:off x="9850074" y="6515064"/>
            <a:ext cx="7409226" cy="1022350"/>
          </a:xfrm>
          <a:prstGeom prst="rect">
            <a:avLst/>
          </a:prstGeom>
        </p:spPr>
        <p:txBody>
          <a:bodyPr anchor="t" rtlCol="false" tIns="0" lIns="0" bIns="0" rIns="0">
            <a:spAutoFit/>
          </a:bodyPr>
          <a:lstStyle/>
          <a:p>
            <a:pPr algn="just">
              <a:lnSpc>
                <a:spcPts val="2000"/>
              </a:lnSpc>
              <a:spcBef>
                <a:spcPct val="0"/>
              </a:spcBef>
            </a:pPr>
            <a:r>
              <a:rPr lang="en-US" sz="2000" spc="-60">
                <a:solidFill>
                  <a:srgbClr val="000000"/>
                </a:solidFill>
                <a:latin typeface="Times New Roman"/>
                <a:ea typeface="Times New Roman"/>
                <a:cs typeface="Times New Roman"/>
                <a:sym typeface="Times New Roman"/>
              </a:rPr>
              <a:t>However, visibility alone is not</a:t>
            </a:r>
            <a:r>
              <a:rPr lang="en-US" sz="2000" spc="-60">
                <a:solidFill>
                  <a:srgbClr val="000000"/>
                </a:solidFill>
                <a:latin typeface="Times New Roman"/>
                <a:ea typeface="Times New Roman"/>
                <a:cs typeface="Times New Roman"/>
                <a:sym typeface="Times New Roman"/>
              </a:rPr>
              <a:t> enough. For AI Token to support information sovereignty, data valuation must be transparent, compensation must be understandable, and the token itself must function as a meaningful economic instrument.</a:t>
            </a:r>
          </a:p>
        </p:txBody>
      </p:sp>
      <p:sp>
        <p:nvSpPr>
          <p:cNvPr name="TextBox 14" id="1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Opportunity</a:t>
            </a:r>
          </a:p>
        </p:txBody>
      </p:sp>
      <p:sp>
        <p:nvSpPr>
          <p:cNvPr name="TextBox 15" id="15"/>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16</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Shift</a:t>
            </a:r>
          </a:p>
        </p:txBody>
      </p:sp>
      <p:sp>
        <p:nvSpPr>
          <p:cNvPr name="TextBox 4" id="4"/>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5" id="5"/>
          <p:cNvSpPr txBox="true"/>
          <p:nvPr/>
        </p:nvSpPr>
        <p:spPr>
          <a:xfrm rot="0">
            <a:off x="10175470" y="2903168"/>
            <a:ext cx="1882750" cy="1085850"/>
          </a:xfrm>
          <a:prstGeom prst="rect">
            <a:avLst/>
          </a:prstGeom>
        </p:spPr>
        <p:txBody>
          <a:bodyPr anchor="t" rtlCol="false" tIns="0" lIns="0" bIns="0" rIns="0">
            <a:spAutoFit/>
          </a:bodyPr>
          <a:lstStyle/>
          <a:p>
            <a:pPr algn="just">
              <a:lnSpc>
                <a:spcPts val="8399"/>
              </a:lnSpc>
            </a:pPr>
            <a:r>
              <a:rPr lang="en-US" sz="6999" spc="-279">
                <a:solidFill>
                  <a:srgbClr val="000000"/>
                </a:solidFill>
                <a:latin typeface="Times New Roman"/>
                <a:ea typeface="Times New Roman"/>
                <a:cs typeface="Times New Roman"/>
                <a:sym typeface="Times New Roman"/>
              </a:rPr>
              <a:t>To-be</a:t>
            </a:r>
          </a:p>
        </p:txBody>
      </p:sp>
      <p:sp>
        <p:nvSpPr>
          <p:cNvPr name="TextBox 6" id="6"/>
          <p:cNvSpPr txBox="true"/>
          <p:nvPr/>
        </p:nvSpPr>
        <p:spPr>
          <a:xfrm rot="0">
            <a:off x="1028700" y="2903168"/>
            <a:ext cx="1699171" cy="1085850"/>
          </a:xfrm>
          <a:prstGeom prst="rect">
            <a:avLst/>
          </a:prstGeom>
        </p:spPr>
        <p:txBody>
          <a:bodyPr anchor="t" rtlCol="false" tIns="0" lIns="0" bIns="0" rIns="0">
            <a:spAutoFit/>
          </a:bodyPr>
          <a:lstStyle/>
          <a:p>
            <a:pPr algn="l">
              <a:lnSpc>
                <a:spcPts val="8399"/>
              </a:lnSpc>
            </a:pPr>
            <a:r>
              <a:rPr lang="en-US" sz="6999" spc="-279">
                <a:solidFill>
                  <a:srgbClr val="000000">
                    <a:alpha val="49804"/>
                  </a:srgbClr>
                </a:solidFill>
                <a:latin typeface="Times New Roman"/>
                <a:ea typeface="Times New Roman"/>
                <a:cs typeface="Times New Roman"/>
                <a:sym typeface="Times New Roman"/>
              </a:rPr>
              <a:t>As-is</a:t>
            </a:r>
          </a:p>
        </p:txBody>
      </p:sp>
      <p:sp>
        <p:nvSpPr>
          <p:cNvPr name="AutoShape 7" id="7"/>
          <p:cNvSpPr/>
          <p:nvPr/>
        </p:nvSpPr>
        <p:spPr>
          <a:xfrm>
            <a:off x="9148763" y="2931743"/>
            <a:ext cx="0" cy="2897521"/>
          </a:xfrm>
          <a:prstGeom prst="line">
            <a:avLst/>
          </a:prstGeom>
          <a:ln cap="flat" w="9525">
            <a:solidFill>
              <a:srgbClr val="000000">
                <a:alpha val="49804"/>
              </a:srgbClr>
            </a:solidFill>
            <a:prstDash val="solid"/>
            <a:headEnd type="none" len="sm" w="sm"/>
            <a:tailEnd type="none" len="sm" w="sm"/>
          </a:ln>
        </p:spPr>
      </p:sp>
      <p:sp>
        <p:nvSpPr>
          <p:cNvPr name="TextBox 8" id="8"/>
          <p:cNvSpPr txBox="true"/>
          <p:nvPr/>
        </p:nvSpPr>
        <p:spPr>
          <a:xfrm rot="0">
            <a:off x="1033463" y="5054564"/>
            <a:ext cx="7083830" cy="774700"/>
          </a:xfrm>
          <a:prstGeom prst="rect">
            <a:avLst/>
          </a:prstGeom>
        </p:spPr>
        <p:txBody>
          <a:bodyPr anchor="t" rtlCol="false" tIns="0" lIns="0" bIns="0" rIns="0">
            <a:spAutoFit/>
          </a:bodyPr>
          <a:lstStyle/>
          <a:p>
            <a:pPr algn="r">
              <a:lnSpc>
                <a:spcPts val="2000"/>
              </a:lnSpc>
            </a:pPr>
            <a:r>
              <a:rPr lang="en-US" sz="2000" spc="-60">
                <a:solidFill>
                  <a:srgbClr val="000000">
                    <a:alpha val="49804"/>
                  </a:srgbClr>
                </a:solidFill>
                <a:latin typeface="Times New Roman"/>
                <a:ea typeface="Times New Roman"/>
                <a:cs typeface="Times New Roman"/>
                <a:sym typeface="Times New Roman"/>
              </a:rPr>
              <a:t>No visibility into how data is used</a:t>
            </a:r>
          </a:p>
          <a:p>
            <a:pPr algn="r">
              <a:lnSpc>
                <a:spcPts val="2000"/>
              </a:lnSpc>
            </a:pPr>
            <a:r>
              <a:rPr lang="en-US" sz="2000" spc="-60">
                <a:solidFill>
                  <a:srgbClr val="000000">
                    <a:alpha val="49804"/>
                  </a:srgbClr>
                </a:solidFill>
                <a:latin typeface="Times New Roman"/>
                <a:ea typeface="Times New Roman"/>
                <a:cs typeface="Times New Roman"/>
                <a:sym typeface="Times New Roman"/>
              </a:rPr>
              <a:t>Data extracted with zero compensation</a:t>
            </a:r>
          </a:p>
          <a:p>
            <a:pPr algn="r">
              <a:lnSpc>
                <a:spcPts val="2000"/>
              </a:lnSpc>
            </a:pPr>
            <a:r>
              <a:rPr lang="en-US" sz="2000" spc="-60">
                <a:solidFill>
                  <a:srgbClr val="000000">
                    <a:alpha val="49804"/>
                  </a:srgbClr>
                </a:solidFill>
                <a:latin typeface="Times New Roman"/>
                <a:ea typeface="Times New Roman"/>
                <a:cs typeface="Times New Roman"/>
                <a:sym typeface="Times New Roman"/>
              </a:rPr>
              <a:t>Vague anxiety and uncertainty</a:t>
            </a:r>
          </a:p>
        </p:txBody>
      </p:sp>
      <p:sp>
        <p:nvSpPr>
          <p:cNvPr name="TextBox 9" id="9"/>
          <p:cNvSpPr txBox="true"/>
          <p:nvPr/>
        </p:nvSpPr>
        <p:spPr>
          <a:xfrm rot="0">
            <a:off x="10180232" y="5054564"/>
            <a:ext cx="7083830" cy="774700"/>
          </a:xfrm>
          <a:prstGeom prst="rect">
            <a:avLst/>
          </a:prstGeom>
        </p:spPr>
        <p:txBody>
          <a:bodyPr anchor="t" rtlCol="false" tIns="0" lIns="0" bIns="0" rIns="0">
            <a:spAutoFit/>
          </a:bodyPr>
          <a:lstStyle/>
          <a:p>
            <a:pPr algn="r">
              <a:lnSpc>
                <a:spcPts val="2000"/>
              </a:lnSpc>
            </a:pPr>
            <a:r>
              <a:rPr lang="en-US" sz="2000" spc="-60">
                <a:solidFill>
                  <a:srgbClr val="000000"/>
                </a:solidFill>
                <a:latin typeface="Times New Roman"/>
                <a:ea typeface="Times New Roman"/>
                <a:cs typeface="Times New Roman"/>
                <a:sym typeface="Times New Roman"/>
              </a:rPr>
              <a:t>Direct control over data sharing scope</a:t>
            </a:r>
          </a:p>
          <a:p>
            <a:pPr algn="r">
              <a:lnSpc>
                <a:spcPts val="2000"/>
              </a:lnSpc>
            </a:pPr>
            <a:r>
              <a:rPr lang="en-US" sz="2000" spc="-60">
                <a:solidFill>
                  <a:srgbClr val="000000"/>
                </a:solidFill>
                <a:latin typeface="Times New Roman"/>
                <a:ea typeface="Times New Roman"/>
                <a:cs typeface="Times New Roman"/>
                <a:sym typeface="Times New Roman"/>
              </a:rPr>
              <a:t>AI token rewards based on DQI</a:t>
            </a:r>
          </a:p>
          <a:p>
            <a:pPr algn="r">
              <a:lnSpc>
                <a:spcPts val="2000"/>
              </a:lnSpc>
            </a:pPr>
            <a:r>
              <a:rPr lang="en-US" sz="2000" spc="-60">
                <a:solidFill>
                  <a:srgbClr val="000000"/>
                </a:solidFill>
                <a:latin typeface="Times New Roman"/>
                <a:ea typeface="Times New Roman"/>
                <a:cs typeface="Times New Roman"/>
                <a:sym typeface="Times New Roman"/>
              </a:rPr>
              <a:t>Visible, actionable data ownership</a:t>
            </a:r>
          </a:p>
        </p:txBody>
      </p:sp>
      <p:sp>
        <p:nvSpPr>
          <p:cNvPr name="TextBox 10" id="10"/>
          <p:cNvSpPr txBox="true"/>
          <p:nvPr/>
        </p:nvSpPr>
        <p:spPr>
          <a:xfrm rot="0">
            <a:off x="1752471" y="8043002"/>
            <a:ext cx="15506829" cy="549275"/>
          </a:xfrm>
          <a:prstGeom prst="rect">
            <a:avLst/>
          </a:prstGeom>
        </p:spPr>
        <p:txBody>
          <a:bodyPr anchor="t" rtlCol="false" tIns="0" lIns="0" bIns="0" rIns="0">
            <a:spAutoFit/>
          </a:bodyPr>
          <a:lstStyle/>
          <a:p>
            <a:pPr algn="r">
              <a:lnSpc>
                <a:spcPts val="3999"/>
              </a:lnSpc>
              <a:spcBef>
                <a:spcPct val="0"/>
              </a:spcBef>
            </a:pPr>
            <a:r>
              <a:rPr lang="en-US" sz="3999" spc="-119">
                <a:solidFill>
                  <a:srgbClr val="000000"/>
                </a:solidFill>
                <a:latin typeface="Times New Roman"/>
                <a:ea typeface="Times New Roman"/>
                <a:cs typeface="Times New Roman"/>
                <a:sym typeface="Times New Roman"/>
              </a:rPr>
              <a:t>User Perspective</a:t>
            </a:r>
          </a:p>
        </p:txBody>
      </p:sp>
      <p:sp>
        <p:nvSpPr>
          <p:cNvPr name="TextBox 11" id="11"/>
          <p:cNvSpPr txBox="true"/>
          <p:nvPr/>
        </p:nvSpPr>
        <p:spPr>
          <a:xfrm rot="0">
            <a:off x="1028700" y="6524589"/>
            <a:ext cx="16235362" cy="946785"/>
          </a:xfrm>
          <a:prstGeom prst="rect">
            <a:avLst/>
          </a:prstGeom>
        </p:spPr>
        <p:txBody>
          <a:bodyPr anchor="t" rtlCol="false" tIns="0" lIns="0" bIns="0" rIns="0">
            <a:spAutoFit/>
          </a:bodyPr>
          <a:lstStyle/>
          <a:p>
            <a:pPr algn="l">
              <a:lnSpc>
                <a:spcPts val="2400"/>
              </a:lnSpc>
              <a:spcBef>
                <a:spcPct val="0"/>
              </a:spcBef>
            </a:pPr>
            <a:r>
              <a:rPr lang="en-US" sz="2400" spc="-72">
                <a:solidFill>
                  <a:srgbClr val="000000"/>
                </a:solidFill>
                <a:latin typeface="Times New Roman"/>
                <a:ea typeface="Times New Roman"/>
                <a:cs typeface="Times New Roman"/>
                <a:sym typeface="Times New Roman"/>
              </a:rPr>
              <a:t>The primary barrier to data compensation has not been techni</a:t>
            </a:r>
            <a:r>
              <a:rPr lang="en-US" sz="2400" spc="-72">
                <a:solidFill>
                  <a:srgbClr val="000000"/>
                </a:solidFill>
                <a:latin typeface="Times New Roman"/>
                <a:ea typeface="Times New Roman"/>
                <a:cs typeface="Times New Roman"/>
                <a:sym typeface="Times New Roman"/>
              </a:rPr>
              <a:t>cal, but definitional. Without a consistent framework for measuring data value, fair exchange has been structurally impossible. DQI establishes that measurement layer, effectively serving as the exchange rate system of the data economy.</a:t>
            </a:r>
          </a:p>
        </p:txBody>
      </p:sp>
      <p:sp>
        <p:nvSpPr>
          <p:cNvPr name="TextBox 12" id="12"/>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17</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752471" y="8043002"/>
            <a:ext cx="15506829" cy="549275"/>
          </a:xfrm>
          <a:prstGeom prst="rect">
            <a:avLst/>
          </a:prstGeom>
        </p:spPr>
        <p:txBody>
          <a:bodyPr anchor="t" rtlCol="false" tIns="0" lIns="0" bIns="0" rIns="0">
            <a:spAutoFit/>
          </a:bodyPr>
          <a:lstStyle/>
          <a:p>
            <a:pPr algn="r">
              <a:lnSpc>
                <a:spcPts val="3999"/>
              </a:lnSpc>
              <a:spcBef>
                <a:spcPct val="0"/>
              </a:spcBef>
            </a:pPr>
            <a:r>
              <a:rPr lang="en-US" sz="3999" spc="-119">
                <a:solidFill>
                  <a:srgbClr val="000000"/>
                </a:solidFill>
                <a:latin typeface="Times New Roman"/>
                <a:ea typeface="Times New Roman"/>
                <a:cs typeface="Times New Roman"/>
                <a:sym typeface="Times New Roman"/>
              </a:rPr>
              <a:t>AI Enterprise Perspective</a:t>
            </a:r>
          </a:p>
        </p:txBody>
      </p:sp>
      <p:sp>
        <p:nvSpPr>
          <p:cNvPr name="TextBox 5" id="5"/>
          <p:cNvSpPr txBox="true"/>
          <p:nvPr/>
        </p:nvSpPr>
        <p:spPr>
          <a:xfrm rot="0">
            <a:off x="10175470" y="2903168"/>
            <a:ext cx="1882750" cy="1085850"/>
          </a:xfrm>
          <a:prstGeom prst="rect">
            <a:avLst/>
          </a:prstGeom>
        </p:spPr>
        <p:txBody>
          <a:bodyPr anchor="t" rtlCol="false" tIns="0" lIns="0" bIns="0" rIns="0">
            <a:spAutoFit/>
          </a:bodyPr>
          <a:lstStyle/>
          <a:p>
            <a:pPr algn="just">
              <a:lnSpc>
                <a:spcPts val="8399"/>
              </a:lnSpc>
            </a:pPr>
            <a:r>
              <a:rPr lang="en-US" sz="6999" spc="-279">
                <a:solidFill>
                  <a:srgbClr val="000000"/>
                </a:solidFill>
                <a:latin typeface="Times New Roman"/>
                <a:ea typeface="Times New Roman"/>
                <a:cs typeface="Times New Roman"/>
                <a:sym typeface="Times New Roman"/>
              </a:rPr>
              <a:t>To-be</a:t>
            </a:r>
          </a:p>
        </p:txBody>
      </p:sp>
      <p:sp>
        <p:nvSpPr>
          <p:cNvPr name="TextBox 6" id="6"/>
          <p:cNvSpPr txBox="true"/>
          <p:nvPr/>
        </p:nvSpPr>
        <p:spPr>
          <a:xfrm rot="0">
            <a:off x="1028700" y="2903168"/>
            <a:ext cx="1699171" cy="1085850"/>
          </a:xfrm>
          <a:prstGeom prst="rect">
            <a:avLst/>
          </a:prstGeom>
        </p:spPr>
        <p:txBody>
          <a:bodyPr anchor="t" rtlCol="false" tIns="0" lIns="0" bIns="0" rIns="0">
            <a:spAutoFit/>
          </a:bodyPr>
          <a:lstStyle/>
          <a:p>
            <a:pPr algn="l">
              <a:lnSpc>
                <a:spcPts val="8399"/>
              </a:lnSpc>
            </a:pPr>
            <a:r>
              <a:rPr lang="en-US" sz="6999" spc="-279">
                <a:solidFill>
                  <a:srgbClr val="000000">
                    <a:alpha val="49804"/>
                  </a:srgbClr>
                </a:solidFill>
                <a:latin typeface="Times New Roman"/>
                <a:ea typeface="Times New Roman"/>
                <a:cs typeface="Times New Roman"/>
                <a:sym typeface="Times New Roman"/>
              </a:rPr>
              <a:t>As-is</a:t>
            </a:r>
          </a:p>
        </p:txBody>
      </p:sp>
      <p:sp>
        <p:nvSpPr>
          <p:cNvPr name="AutoShape 7" id="7"/>
          <p:cNvSpPr/>
          <p:nvPr/>
        </p:nvSpPr>
        <p:spPr>
          <a:xfrm>
            <a:off x="9148763" y="2931743"/>
            <a:ext cx="0" cy="2897521"/>
          </a:xfrm>
          <a:prstGeom prst="line">
            <a:avLst/>
          </a:prstGeom>
          <a:ln cap="flat" w="9525">
            <a:solidFill>
              <a:srgbClr val="000000">
                <a:alpha val="49804"/>
              </a:srgbClr>
            </a:solidFill>
            <a:prstDash val="solid"/>
            <a:headEnd type="none" len="sm" w="sm"/>
            <a:tailEnd type="none" len="sm" w="sm"/>
          </a:ln>
        </p:spPr>
      </p:sp>
      <p:sp>
        <p:nvSpPr>
          <p:cNvPr name="TextBox 8" id="8"/>
          <p:cNvSpPr txBox="true"/>
          <p:nvPr/>
        </p:nvSpPr>
        <p:spPr>
          <a:xfrm rot="0">
            <a:off x="1033463" y="5054564"/>
            <a:ext cx="7083830" cy="774700"/>
          </a:xfrm>
          <a:prstGeom prst="rect">
            <a:avLst/>
          </a:prstGeom>
        </p:spPr>
        <p:txBody>
          <a:bodyPr anchor="t" rtlCol="false" tIns="0" lIns="0" bIns="0" rIns="0">
            <a:spAutoFit/>
          </a:bodyPr>
          <a:lstStyle/>
          <a:p>
            <a:pPr algn="r">
              <a:lnSpc>
                <a:spcPts val="2000"/>
              </a:lnSpc>
            </a:pPr>
            <a:r>
              <a:rPr lang="en-US" sz="2000" spc="-60">
                <a:solidFill>
                  <a:srgbClr val="000000">
                    <a:alpha val="49804"/>
                  </a:srgbClr>
                </a:solidFill>
                <a:latin typeface="Times New Roman"/>
                <a:ea typeface="Times New Roman"/>
                <a:cs typeface="Times New Roman"/>
                <a:sym typeface="Times New Roman"/>
              </a:rPr>
              <a:t>Unauthorized collection → litigation &amp; regulatory risk</a:t>
            </a:r>
          </a:p>
          <a:p>
            <a:pPr algn="r">
              <a:lnSpc>
                <a:spcPts val="2000"/>
              </a:lnSpc>
            </a:pPr>
            <a:r>
              <a:rPr lang="en-US" sz="2000" spc="-60">
                <a:solidFill>
                  <a:srgbClr val="000000">
                    <a:alpha val="49804"/>
                  </a:srgbClr>
                </a:solidFill>
                <a:latin typeface="Times New Roman"/>
                <a:ea typeface="Times New Roman"/>
                <a:cs typeface="Times New Roman"/>
                <a:sym typeface="Times New Roman"/>
              </a:rPr>
              <a:t>Inconsistent data quality</a:t>
            </a:r>
          </a:p>
          <a:p>
            <a:pPr algn="r">
              <a:lnSpc>
                <a:spcPts val="2000"/>
              </a:lnSpc>
            </a:pPr>
            <a:r>
              <a:rPr lang="en-US" sz="2000" spc="-60">
                <a:solidFill>
                  <a:srgbClr val="000000">
                    <a:alpha val="49804"/>
                  </a:srgbClr>
                </a:solidFill>
                <a:latin typeface="Times New Roman"/>
                <a:ea typeface="Times New Roman"/>
                <a:cs typeface="Times New Roman"/>
                <a:sym typeface="Times New Roman"/>
              </a:rPr>
              <a:t>Limited scope of data collection</a:t>
            </a:r>
          </a:p>
        </p:txBody>
      </p:sp>
      <p:sp>
        <p:nvSpPr>
          <p:cNvPr name="TextBox 9" id="9"/>
          <p:cNvSpPr txBox="true"/>
          <p:nvPr/>
        </p:nvSpPr>
        <p:spPr>
          <a:xfrm rot="0">
            <a:off x="10180232" y="5054564"/>
            <a:ext cx="7083830" cy="774700"/>
          </a:xfrm>
          <a:prstGeom prst="rect">
            <a:avLst/>
          </a:prstGeom>
        </p:spPr>
        <p:txBody>
          <a:bodyPr anchor="t" rtlCol="false" tIns="0" lIns="0" bIns="0" rIns="0">
            <a:spAutoFit/>
          </a:bodyPr>
          <a:lstStyle/>
          <a:p>
            <a:pPr algn="r">
              <a:lnSpc>
                <a:spcPts val="2000"/>
              </a:lnSpc>
            </a:pPr>
            <a:r>
              <a:rPr lang="en-US" sz="2000" spc="-60">
                <a:solidFill>
                  <a:srgbClr val="000000"/>
                </a:solidFill>
                <a:latin typeface="Times New Roman"/>
                <a:ea typeface="Times New Roman"/>
                <a:cs typeface="Times New Roman"/>
                <a:sym typeface="Times New Roman"/>
              </a:rPr>
              <a:t>Consent-based collection → liability protection</a:t>
            </a:r>
          </a:p>
          <a:p>
            <a:pPr algn="r">
              <a:lnSpc>
                <a:spcPts val="2000"/>
              </a:lnSpc>
            </a:pPr>
            <a:r>
              <a:rPr lang="en-US" sz="2000" spc="-60">
                <a:solidFill>
                  <a:srgbClr val="000000"/>
                </a:solidFill>
                <a:latin typeface="Times New Roman"/>
                <a:ea typeface="Times New Roman"/>
                <a:cs typeface="Times New Roman"/>
                <a:sym typeface="Times New Roman"/>
              </a:rPr>
              <a:t>High-quality data selection powered by DQI</a:t>
            </a:r>
          </a:p>
          <a:p>
            <a:pPr algn="r">
              <a:lnSpc>
                <a:spcPts val="2000"/>
              </a:lnSpc>
            </a:pPr>
            <a:r>
              <a:rPr lang="en-US" sz="2000" spc="-60">
                <a:solidFill>
                  <a:srgbClr val="000000"/>
                </a:solidFill>
                <a:latin typeface="Times New Roman"/>
                <a:ea typeface="Times New Roman"/>
                <a:cs typeface="Times New Roman"/>
                <a:sym typeface="Times New Roman"/>
              </a:rPr>
              <a:t>Expanded reach through trusted framework</a:t>
            </a:r>
          </a:p>
        </p:txBody>
      </p:sp>
      <p:sp>
        <p:nvSpPr>
          <p:cNvPr name="TextBox 10" id="10"/>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Shift</a:t>
            </a:r>
          </a:p>
        </p:txBody>
      </p:sp>
      <p:sp>
        <p:nvSpPr>
          <p:cNvPr name="TextBox 11" id="11"/>
          <p:cNvSpPr txBox="true"/>
          <p:nvPr/>
        </p:nvSpPr>
        <p:spPr>
          <a:xfrm rot="0">
            <a:off x="1028700" y="6524589"/>
            <a:ext cx="16235362" cy="1251585"/>
          </a:xfrm>
          <a:prstGeom prst="rect">
            <a:avLst/>
          </a:prstGeom>
        </p:spPr>
        <p:txBody>
          <a:bodyPr anchor="t" rtlCol="false" tIns="0" lIns="0" bIns="0" rIns="0">
            <a:spAutoFit/>
          </a:bodyPr>
          <a:lstStyle/>
          <a:p>
            <a:pPr algn="l">
              <a:lnSpc>
                <a:spcPts val="2400"/>
              </a:lnSpc>
              <a:spcBef>
                <a:spcPct val="0"/>
              </a:spcBef>
            </a:pPr>
            <a:r>
              <a:rPr lang="en-US" sz="2400" spc="-72">
                <a:solidFill>
                  <a:srgbClr val="000000"/>
                </a:solidFill>
                <a:latin typeface="Times New Roman"/>
                <a:ea typeface="Times New Roman"/>
                <a:cs typeface="Times New Roman"/>
                <a:sym typeface="Times New Roman"/>
              </a:rPr>
              <a:t>Unauthorized data collection, built on inaccessible consent, is not a s</a:t>
            </a:r>
            <a:r>
              <a:rPr lang="en-US" sz="2400" spc="-72">
                <a:solidFill>
                  <a:srgbClr val="000000"/>
                </a:solidFill>
                <a:latin typeface="Times New Roman"/>
                <a:ea typeface="Times New Roman"/>
                <a:cs typeface="Times New Roman"/>
                <a:sym typeface="Times New Roman"/>
              </a:rPr>
              <a:t>calable foundation. Litigation risk, inconsistent quality, and eroding user trust are not separate problems. They are structural consequences of a model that was never designed to last. When data is contributed willingly, liability converts to protection, quality becomes a selectable standard powered by DQI, and collection expands on the basis of trust rather than resistance.</a:t>
            </a:r>
          </a:p>
        </p:txBody>
      </p:sp>
      <p:sp>
        <p:nvSpPr>
          <p:cNvPr name="TextBox 12" id="12"/>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Proposition - Potential Partnerships</a:t>
            </a:r>
          </a:p>
        </p:txBody>
      </p:sp>
      <p:sp>
        <p:nvSpPr>
          <p:cNvPr name="Freeform 5" id="5"/>
          <p:cNvSpPr/>
          <p:nvPr/>
        </p:nvSpPr>
        <p:spPr>
          <a:xfrm flipH="false" flipV="false" rot="0">
            <a:off x="7313412" y="4635469"/>
            <a:ext cx="3661175" cy="1208188"/>
          </a:xfrm>
          <a:custGeom>
            <a:avLst/>
            <a:gdLst/>
            <a:ahLst/>
            <a:cxnLst/>
            <a:rect r="r" b="b" t="t" l="l"/>
            <a:pathLst>
              <a:path h="1208188" w="3661175">
                <a:moveTo>
                  <a:pt x="0" y="0"/>
                </a:moveTo>
                <a:lnTo>
                  <a:pt x="3661176" y="0"/>
                </a:lnTo>
                <a:lnTo>
                  <a:pt x="3661176" y="1208188"/>
                </a:lnTo>
                <a:lnTo>
                  <a:pt x="0" y="1208188"/>
                </a:lnTo>
                <a:lnTo>
                  <a:pt x="0" y="0"/>
                </a:lnTo>
                <a:close/>
              </a:path>
            </a:pathLst>
          </a:custGeom>
          <a:blipFill>
            <a:blip r:embed="rId2">
              <a:alphaModFix amt="30000"/>
            </a:blip>
            <a:stretch>
              <a:fillRect l="0" t="0" r="0" b="0"/>
            </a:stretch>
          </a:blipFill>
        </p:spPr>
      </p:sp>
      <p:sp>
        <p:nvSpPr>
          <p:cNvPr name="Freeform 6" id="6"/>
          <p:cNvSpPr/>
          <p:nvPr/>
        </p:nvSpPr>
        <p:spPr>
          <a:xfrm flipH="false" flipV="false" rot="0">
            <a:off x="1028700" y="4846235"/>
            <a:ext cx="3197381" cy="786657"/>
          </a:xfrm>
          <a:custGeom>
            <a:avLst/>
            <a:gdLst/>
            <a:ahLst/>
            <a:cxnLst/>
            <a:rect r="r" b="b" t="t" l="l"/>
            <a:pathLst>
              <a:path h="786657" w="3197381">
                <a:moveTo>
                  <a:pt x="0" y="0"/>
                </a:moveTo>
                <a:lnTo>
                  <a:pt x="3197381" y="0"/>
                </a:lnTo>
                <a:lnTo>
                  <a:pt x="3197381" y="786657"/>
                </a:lnTo>
                <a:lnTo>
                  <a:pt x="0" y="786657"/>
                </a:lnTo>
                <a:lnTo>
                  <a:pt x="0" y="0"/>
                </a:lnTo>
                <a:close/>
              </a:path>
            </a:pathLst>
          </a:custGeom>
          <a:blipFill>
            <a:blip r:embed="rId3">
              <a:alphaModFix amt="30000"/>
            </a:blip>
            <a:stretch>
              <a:fillRect l="0" t="0" r="0" b="0"/>
            </a:stretch>
          </a:blipFill>
        </p:spPr>
      </p:sp>
      <p:sp>
        <p:nvSpPr>
          <p:cNvPr name="Freeform 7" id="7"/>
          <p:cNvSpPr/>
          <p:nvPr/>
        </p:nvSpPr>
        <p:spPr>
          <a:xfrm flipH="false" flipV="false" rot="0">
            <a:off x="13598125" y="4665337"/>
            <a:ext cx="3661175" cy="1148453"/>
          </a:xfrm>
          <a:custGeom>
            <a:avLst/>
            <a:gdLst/>
            <a:ahLst/>
            <a:cxnLst/>
            <a:rect r="r" b="b" t="t" l="l"/>
            <a:pathLst>
              <a:path h="1148453" w="3661175">
                <a:moveTo>
                  <a:pt x="0" y="0"/>
                </a:moveTo>
                <a:lnTo>
                  <a:pt x="3661175" y="0"/>
                </a:lnTo>
                <a:lnTo>
                  <a:pt x="3661175" y="1148453"/>
                </a:lnTo>
                <a:lnTo>
                  <a:pt x="0" y="1148453"/>
                </a:lnTo>
                <a:lnTo>
                  <a:pt x="0" y="0"/>
                </a:lnTo>
                <a:close/>
              </a:path>
            </a:pathLst>
          </a:custGeom>
          <a:blipFill>
            <a:blip r:embed="rId4">
              <a:alphaModFix amt="30000"/>
            </a:blip>
            <a:stretch>
              <a:fillRect l="-2538" t="-51739" r="-2538" b="-49247"/>
            </a:stretch>
          </a:blipFill>
        </p:spPr>
      </p:sp>
      <p:sp>
        <p:nvSpPr>
          <p:cNvPr name="TextBox 8" id="8"/>
          <p:cNvSpPr txBox="true"/>
          <p:nvPr/>
        </p:nvSpPr>
        <p:spPr>
          <a:xfrm rot="0">
            <a:off x="1033463" y="4122196"/>
            <a:ext cx="2537668" cy="323850"/>
          </a:xfrm>
          <a:prstGeom prst="rect">
            <a:avLst/>
          </a:prstGeom>
        </p:spPr>
        <p:txBody>
          <a:bodyPr anchor="t" rtlCol="false" tIns="0" lIns="0" bIns="0" rIns="0">
            <a:spAutoFit/>
          </a:bodyPr>
          <a:lstStyle/>
          <a:p>
            <a:pPr algn="l">
              <a:lnSpc>
                <a:spcPts val="2400"/>
              </a:lnSpc>
            </a:pPr>
            <a:r>
              <a:rPr lang="en-US" sz="2000" spc="-60">
                <a:solidFill>
                  <a:srgbClr val="000000">
                    <a:alpha val="49804"/>
                  </a:srgbClr>
                </a:solidFill>
                <a:latin typeface="Times New Roman"/>
                <a:ea typeface="Times New Roman"/>
                <a:cs typeface="Times New Roman"/>
                <a:sym typeface="Times New Roman"/>
              </a:rPr>
              <a:t>Safe Superintelligence Inc.</a:t>
            </a:r>
          </a:p>
        </p:txBody>
      </p:sp>
      <p:sp>
        <p:nvSpPr>
          <p:cNvPr name="TextBox 9" id="9"/>
          <p:cNvSpPr txBox="true"/>
          <p:nvPr/>
        </p:nvSpPr>
        <p:spPr>
          <a:xfrm rot="0">
            <a:off x="7414803" y="4122196"/>
            <a:ext cx="3458394" cy="323850"/>
          </a:xfrm>
          <a:prstGeom prst="rect">
            <a:avLst/>
          </a:prstGeom>
        </p:spPr>
        <p:txBody>
          <a:bodyPr anchor="t" rtlCol="false" tIns="0" lIns="0" bIns="0" rIns="0">
            <a:spAutoFit/>
          </a:bodyPr>
          <a:lstStyle/>
          <a:p>
            <a:pPr algn="ctr">
              <a:lnSpc>
                <a:spcPts val="2400"/>
              </a:lnSpc>
            </a:pPr>
            <a:r>
              <a:rPr lang="en-US" sz="2000" spc="-60">
                <a:solidFill>
                  <a:srgbClr val="000000">
                    <a:alpha val="49804"/>
                  </a:srgbClr>
                </a:solidFill>
                <a:latin typeface="Times New Roman"/>
                <a:ea typeface="Times New Roman"/>
                <a:cs typeface="Times New Roman"/>
                <a:sym typeface="Times New Roman"/>
              </a:rPr>
              <a:t>AI Identity and Access Management</a:t>
            </a:r>
          </a:p>
        </p:txBody>
      </p:sp>
      <p:sp>
        <p:nvSpPr>
          <p:cNvPr name="TextBox 10" id="10"/>
          <p:cNvSpPr txBox="true"/>
          <p:nvPr/>
        </p:nvSpPr>
        <p:spPr>
          <a:xfrm rot="0">
            <a:off x="13130510" y="4122196"/>
            <a:ext cx="4128790" cy="323850"/>
          </a:xfrm>
          <a:prstGeom prst="rect">
            <a:avLst/>
          </a:prstGeom>
        </p:spPr>
        <p:txBody>
          <a:bodyPr anchor="t" rtlCol="false" tIns="0" lIns="0" bIns="0" rIns="0">
            <a:spAutoFit/>
          </a:bodyPr>
          <a:lstStyle/>
          <a:p>
            <a:pPr algn="r">
              <a:lnSpc>
                <a:spcPts val="2400"/>
              </a:lnSpc>
            </a:pPr>
            <a:r>
              <a:rPr lang="en-US" sz="2000" spc="-60">
                <a:solidFill>
                  <a:srgbClr val="000000">
                    <a:alpha val="49804"/>
                  </a:srgbClr>
                </a:solidFill>
                <a:latin typeface="Times New Roman"/>
                <a:ea typeface="Times New Roman"/>
                <a:cs typeface="Times New Roman"/>
                <a:sym typeface="Times New Roman"/>
              </a:rPr>
              <a:t>Global Partnership on Artificial Intelligence</a:t>
            </a:r>
          </a:p>
        </p:txBody>
      </p:sp>
      <p:sp>
        <p:nvSpPr>
          <p:cNvPr name="TextBox 11" id="11"/>
          <p:cNvSpPr txBox="true"/>
          <p:nvPr/>
        </p:nvSpPr>
        <p:spPr>
          <a:xfrm rot="0">
            <a:off x="1028700" y="7414094"/>
            <a:ext cx="16235362" cy="641985"/>
          </a:xfrm>
          <a:prstGeom prst="rect">
            <a:avLst/>
          </a:prstGeom>
        </p:spPr>
        <p:txBody>
          <a:bodyPr anchor="t" rtlCol="false" tIns="0" lIns="0" bIns="0" rIns="0">
            <a:spAutoFit/>
          </a:bodyPr>
          <a:lstStyle/>
          <a:p>
            <a:pPr algn="l">
              <a:lnSpc>
                <a:spcPts val="2400"/>
              </a:lnSpc>
              <a:spcBef>
                <a:spcPct val="0"/>
              </a:spcBef>
            </a:pPr>
            <a:r>
              <a:rPr lang="en-US" sz="2400" spc="-72">
                <a:solidFill>
                  <a:srgbClr val="000000"/>
                </a:solidFill>
                <a:latin typeface="Times New Roman"/>
                <a:ea typeface="Times New Roman"/>
                <a:cs typeface="Times New Roman"/>
                <a:sym typeface="Times New Roman"/>
              </a:rPr>
              <a:t>For commercialization at s</a:t>
            </a:r>
            <a:r>
              <a:rPr lang="en-US" sz="2400" spc="-72">
                <a:solidFill>
                  <a:srgbClr val="000000"/>
                </a:solidFill>
                <a:latin typeface="Times New Roman"/>
                <a:ea typeface="Times New Roman"/>
                <a:cs typeface="Times New Roman"/>
                <a:sym typeface="Times New Roman"/>
              </a:rPr>
              <a:t>cale, the strategic foundation includes Safe Superintelligence (SSI) as technical advisor, Okta as the authentication and identity management infrastructure, and a partnership with GPAI to support global market entry.</a:t>
            </a:r>
          </a:p>
        </p:txBody>
      </p:sp>
      <p:sp>
        <p:nvSpPr>
          <p:cNvPr name="AutoShape 12" id="12"/>
          <p:cNvSpPr/>
          <p:nvPr/>
        </p:nvSpPr>
        <p:spPr>
          <a:xfrm>
            <a:off x="1028700" y="6584888"/>
            <a:ext cx="16230600" cy="0"/>
          </a:xfrm>
          <a:prstGeom prst="line">
            <a:avLst/>
          </a:prstGeom>
          <a:ln cap="flat" w="9525">
            <a:solidFill>
              <a:srgbClr val="000000">
                <a:alpha val="49804"/>
              </a:srgbClr>
            </a:solidFill>
            <a:prstDash val="solid"/>
            <a:headEnd type="none" len="sm" w="sm"/>
            <a:tailEnd type="none" len="sm" w="sm"/>
          </a:ln>
        </p:spPr>
      </p:sp>
      <p:sp>
        <p:nvSpPr>
          <p:cNvPr name="TextBox 13" id="13"/>
          <p:cNvSpPr txBox="true"/>
          <p:nvPr/>
        </p:nvSpPr>
        <p:spPr>
          <a:xfrm rot="0">
            <a:off x="1028700" y="2382195"/>
            <a:ext cx="4808488" cy="549275"/>
          </a:xfrm>
          <a:prstGeom prst="rect">
            <a:avLst/>
          </a:prstGeom>
        </p:spPr>
        <p:txBody>
          <a:bodyPr anchor="t" rtlCol="false" tIns="0" lIns="0" bIns="0" rIns="0">
            <a:spAutoFit/>
          </a:bodyPr>
          <a:lstStyle/>
          <a:p>
            <a:pPr algn="l">
              <a:lnSpc>
                <a:spcPts val="3999"/>
              </a:lnSpc>
              <a:spcBef>
                <a:spcPct val="0"/>
              </a:spcBef>
            </a:pPr>
            <a:r>
              <a:rPr lang="en-US" sz="3999" spc="-119">
                <a:solidFill>
                  <a:srgbClr val="000000">
                    <a:alpha val="69804"/>
                  </a:srgbClr>
                </a:solidFill>
                <a:latin typeface="Times New Roman"/>
                <a:ea typeface="Times New Roman"/>
                <a:cs typeface="Times New Roman"/>
                <a:sym typeface="Times New Roman"/>
              </a:rPr>
              <a:t>I</a:t>
            </a:r>
            <a:r>
              <a:rPr lang="en-US" sz="3999" spc="-119">
                <a:solidFill>
                  <a:srgbClr val="000000">
                    <a:alpha val="69804"/>
                  </a:srgbClr>
                </a:solidFill>
                <a:latin typeface="Times New Roman"/>
                <a:ea typeface="Times New Roman"/>
                <a:cs typeface="Times New Roman"/>
                <a:sym typeface="Times New Roman"/>
              </a:rPr>
              <a:t>nfrastructure Partnership</a:t>
            </a:r>
          </a:p>
        </p:txBody>
      </p:sp>
      <p:sp>
        <p:nvSpPr>
          <p:cNvPr name="TextBox 14" id="1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Proposition - B2G Proposal</a:t>
            </a:r>
          </a:p>
        </p:txBody>
      </p:sp>
      <p:grpSp>
        <p:nvGrpSpPr>
          <p:cNvPr name="Group 5" id="5"/>
          <p:cNvGrpSpPr/>
          <p:nvPr/>
        </p:nvGrpSpPr>
        <p:grpSpPr>
          <a:xfrm rot="0">
            <a:off x="1028700" y="4141246"/>
            <a:ext cx="16235362" cy="4219633"/>
            <a:chOff x="0" y="0"/>
            <a:chExt cx="21647150" cy="5626178"/>
          </a:xfrm>
        </p:grpSpPr>
        <p:sp>
          <p:nvSpPr>
            <p:cNvPr name="Freeform 6" id="6"/>
            <p:cNvSpPr/>
            <p:nvPr/>
          </p:nvSpPr>
          <p:spPr>
            <a:xfrm flipH="false" flipV="false" rot="0">
              <a:off x="13646961" y="481997"/>
              <a:ext cx="7993839" cy="1708683"/>
            </a:xfrm>
            <a:custGeom>
              <a:avLst/>
              <a:gdLst/>
              <a:ahLst/>
              <a:cxnLst/>
              <a:rect r="r" b="b" t="t" l="l"/>
              <a:pathLst>
                <a:path h="1708683" w="7993839">
                  <a:moveTo>
                    <a:pt x="0" y="0"/>
                  </a:moveTo>
                  <a:lnTo>
                    <a:pt x="7993839" y="0"/>
                  </a:lnTo>
                  <a:lnTo>
                    <a:pt x="7993839" y="1708683"/>
                  </a:lnTo>
                  <a:lnTo>
                    <a:pt x="0" y="1708683"/>
                  </a:lnTo>
                  <a:lnTo>
                    <a:pt x="0" y="0"/>
                  </a:lnTo>
                  <a:close/>
                </a:path>
              </a:pathLst>
            </a:custGeom>
            <a:blipFill>
              <a:blip r:embed="rId2">
                <a:alphaModFix amt="30000"/>
              </a:blip>
              <a:stretch>
                <a:fillRect l="0" t="0" r="0" b="0"/>
              </a:stretch>
            </a:blipFill>
          </p:spPr>
        </p:sp>
        <p:sp>
          <p:nvSpPr>
            <p:cNvPr name="TextBox 7" id="7"/>
            <p:cNvSpPr txBox="true"/>
            <p:nvPr/>
          </p:nvSpPr>
          <p:spPr>
            <a:xfrm rot="0">
              <a:off x="6350" y="-19050"/>
              <a:ext cx="2956421" cy="425450"/>
            </a:xfrm>
            <a:prstGeom prst="rect">
              <a:avLst/>
            </a:prstGeom>
          </p:spPr>
          <p:txBody>
            <a:bodyPr anchor="t" rtlCol="false" tIns="0" lIns="0" bIns="0" rIns="0">
              <a:spAutoFit/>
            </a:bodyPr>
            <a:lstStyle/>
            <a:p>
              <a:pPr algn="l">
                <a:lnSpc>
                  <a:spcPts val="2400"/>
                </a:lnSpc>
              </a:pPr>
              <a:r>
                <a:rPr lang="en-US" sz="2000" spc="-60">
                  <a:solidFill>
                    <a:srgbClr val="000000">
                      <a:alpha val="49804"/>
                    </a:srgbClr>
                  </a:solidFill>
                  <a:latin typeface="Times New Roman"/>
                  <a:ea typeface="Times New Roman"/>
                  <a:cs typeface="Times New Roman"/>
                  <a:sym typeface="Times New Roman"/>
                </a:rPr>
                <a:t>Government of Canada</a:t>
              </a:r>
            </a:p>
          </p:txBody>
        </p:sp>
        <p:sp>
          <p:nvSpPr>
            <p:cNvPr name="TextBox 8" id="8"/>
            <p:cNvSpPr txBox="true"/>
            <p:nvPr/>
          </p:nvSpPr>
          <p:spPr>
            <a:xfrm rot="0">
              <a:off x="15736888" y="-19050"/>
              <a:ext cx="5903912" cy="425450"/>
            </a:xfrm>
            <a:prstGeom prst="rect">
              <a:avLst/>
            </a:prstGeom>
          </p:spPr>
          <p:txBody>
            <a:bodyPr anchor="t" rtlCol="false" tIns="0" lIns="0" bIns="0" rIns="0">
              <a:spAutoFit/>
            </a:bodyPr>
            <a:lstStyle/>
            <a:p>
              <a:pPr algn="r">
                <a:lnSpc>
                  <a:spcPts val="2400"/>
                </a:lnSpc>
              </a:pPr>
              <a:r>
                <a:rPr lang="en-US" sz="2000" spc="-60">
                  <a:solidFill>
                    <a:srgbClr val="000000">
                      <a:alpha val="49804"/>
                    </a:srgbClr>
                  </a:solidFill>
                  <a:latin typeface="Times New Roman"/>
                  <a:ea typeface="Times New Roman"/>
                  <a:cs typeface="Times New Roman"/>
                  <a:sym typeface="Times New Roman"/>
                </a:rPr>
                <a:t>Office of the privacy Commissioner of Canada</a:t>
              </a:r>
            </a:p>
          </p:txBody>
        </p:sp>
        <p:sp>
          <p:nvSpPr>
            <p:cNvPr name="Freeform 9" id="9"/>
            <p:cNvSpPr/>
            <p:nvPr/>
          </p:nvSpPr>
          <p:spPr>
            <a:xfrm flipH="false" flipV="false" rot="0">
              <a:off x="0" y="1213941"/>
              <a:ext cx="8720771" cy="806212"/>
            </a:xfrm>
            <a:custGeom>
              <a:avLst/>
              <a:gdLst/>
              <a:ahLst/>
              <a:cxnLst/>
              <a:rect r="r" b="b" t="t" l="l"/>
              <a:pathLst>
                <a:path h="806212" w="8720771">
                  <a:moveTo>
                    <a:pt x="0" y="0"/>
                  </a:moveTo>
                  <a:lnTo>
                    <a:pt x="8720771" y="0"/>
                  </a:lnTo>
                  <a:lnTo>
                    <a:pt x="8720771" y="806212"/>
                  </a:lnTo>
                  <a:lnTo>
                    <a:pt x="0" y="806212"/>
                  </a:lnTo>
                  <a:lnTo>
                    <a:pt x="0" y="0"/>
                  </a:lnTo>
                  <a:close/>
                </a:path>
              </a:pathLst>
            </a:custGeom>
            <a:blipFill>
              <a:blip r:embed="rId3">
                <a:alphaModFix amt="30000"/>
              </a:blip>
              <a:stretch>
                <a:fillRect l="0" t="-254227" r="0" b="-254227"/>
              </a:stretch>
            </a:blipFill>
          </p:spPr>
        </p:sp>
        <p:sp>
          <p:nvSpPr>
            <p:cNvPr name="TextBox 10" id="10"/>
            <p:cNvSpPr txBox="true"/>
            <p:nvPr/>
          </p:nvSpPr>
          <p:spPr>
            <a:xfrm rot="0">
              <a:off x="0" y="4354273"/>
              <a:ext cx="21647150" cy="1271905"/>
            </a:xfrm>
            <a:prstGeom prst="rect">
              <a:avLst/>
            </a:prstGeom>
          </p:spPr>
          <p:txBody>
            <a:bodyPr anchor="t" rtlCol="false" tIns="0" lIns="0" bIns="0" rIns="0">
              <a:spAutoFit/>
            </a:bodyPr>
            <a:lstStyle/>
            <a:p>
              <a:pPr algn="l">
                <a:lnSpc>
                  <a:spcPts val="2400"/>
                </a:lnSpc>
                <a:spcBef>
                  <a:spcPct val="0"/>
                </a:spcBef>
              </a:pPr>
              <a:r>
                <a:rPr lang="en-US" sz="2400" spc="-72">
                  <a:solidFill>
                    <a:srgbClr val="000000"/>
                  </a:solidFill>
                  <a:latin typeface="Times New Roman"/>
                  <a:ea typeface="Times New Roman"/>
                  <a:cs typeface="Times New Roman"/>
                  <a:sym typeface="Times New Roman"/>
                </a:rPr>
                <a:t>Government bodies are informed of program outcomes and consulted</a:t>
              </a:r>
              <a:r>
                <a:rPr lang="en-US" sz="2400" spc="-72">
                  <a:solidFill>
                    <a:srgbClr val="000000"/>
                  </a:solidFill>
                  <a:latin typeface="Times New Roman"/>
                  <a:ea typeface="Times New Roman"/>
                  <a:cs typeface="Times New Roman"/>
                  <a:sym typeface="Times New Roman"/>
                </a:rPr>
                <a:t> for input, retaining the authority to exert regulatory influence over direct and indirect compliance boundaries, information exchange, and AI token transactions. At the same time, they impose an obligation of transparent disclosure regarding how data is processed and the volume of tokens exchanged.</a:t>
              </a:r>
            </a:p>
          </p:txBody>
        </p:sp>
        <p:sp>
          <p:nvSpPr>
            <p:cNvPr name="AutoShape 11" id="11"/>
            <p:cNvSpPr/>
            <p:nvPr/>
          </p:nvSpPr>
          <p:spPr>
            <a:xfrm>
              <a:off x="0" y="3258189"/>
              <a:ext cx="21640800" cy="0"/>
            </a:xfrm>
            <a:prstGeom prst="line">
              <a:avLst/>
            </a:prstGeom>
            <a:ln cap="flat" w="12700">
              <a:solidFill>
                <a:srgbClr val="000000">
                  <a:alpha val="49804"/>
                </a:srgbClr>
              </a:solidFill>
              <a:prstDash val="solid"/>
              <a:headEnd type="none" len="sm" w="sm"/>
              <a:tailEnd type="none" len="sm" w="sm"/>
            </a:ln>
          </p:spPr>
        </p:sp>
      </p:grpSp>
      <p:sp>
        <p:nvSpPr>
          <p:cNvPr name="TextBox 12" id="12"/>
          <p:cNvSpPr txBox="true"/>
          <p:nvPr/>
        </p:nvSpPr>
        <p:spPr>
          <a:xfrm rot="0">
            <a:off x="1028700" y="2382195"/>
            <a:ext cx="4644479" cy="549275"/>
          </a:xfrm>
          <a:prstGeom prst="rect">
            <a:avLst/>
          </a:prstGeom>
        </p:spPr>
        <p:txBody>
          <a:bodyPr anchor="t" rtlCol="false" tIns="0" lIns="0" bIns="0" rIns="0">
            <a:spAutoFit/>
          </a:bodyPr>
          <a:lstStyle/>
          <a:p>
            <a:pPr algn="l">
              <a:lnSpc>
                <a:spcPts val="3999"/>
              </a:lnSpc>
              <a:spcBef>
                <a:spcPct val="0"/>
              </a:spcBef>
            </a:pPr>
            <a:r>
              <a:rPr lang="en-US" sz="3999" spc="-119">
                <a:solidFill>
                  <a:srgbClr val="000000">
                    <a:alpha val="69804"/>
                  </a:srgbClr>
                </a:solidFill>
                <a:latin typeface="Times New Roman"/>
                <a:ea typeface="Times New Roman"/>
                <a:cs typeface="Times New Roman"/>
                <a:sym typeface="Times New Roman"/>
              </a:rPr>
              <a:t>Gov</a:t>
            </a:r>
            <a:r>
              <a:rPr lang="en-US" sz="3999" spc="-119">
                <a:solidFill>
                  <a:srgbClr val="000000">
                    <a:alpha val="69804"/>
                  </a:srgbClr>
                </a:solidFill>
                <a:latin typeface="Times New Roman"/>
                <a:ea typeface="Times New Roman"/>
                <a:cs typeface="Times New Roman"/>
                <a:sym typeface="Times New Roman"/>
              </a:rPr>
              <a:t>ernment Partnership</a:t>
            </a:r>
          </a:p>
        </p:txBody>
      </p:sp>
      <p:sp>
        <p:nvSpPr>
          <p:cNvPr name="TextBox 13" id="13"/>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Proposition - B2B Proposal</a:t>
            </a:r>
          </a:p>
        </p:txBody>
      </p:sp>
      <p:grpSp>
        <p:nvGrpSpPr>
          <p:cNvPr name="Group 5" id="5"/>
          <p:cNvGrpSpPr/>
          <p:nvPr/>
        </p:nvGrpSpPr>
        <p:grpSpPr>
          <a:xfrm rot="0">
            <a:off x="1028700" y="4141246"/>
            <a:ext cx="16235362" cy="3914833"/>
            <a:chOff x="0" y="0"/>
            <a:chExt cx="21647150" cy="5219778"/>
          </a:xfrm>
        </p:grpSpPr>
        <p:sp>
          <p:nvSpPr>
            <p:cNvPr name="Freeform 6" id="6"/>
            <p:cNvSpPr/>
            <p:nvPr/>
          </p:nvSpPr>
          <p:spPr>
            <a:xfrm flipH="false" flipV="false" rot="0">
              <a:off x="16710077" y="688172"/>
              <a:ext cx="4930723" cy="1296333"/>
            </a:xfrm>
            <a:custGeom>
              <a:avLst/>
              <a:gdLst/>
              <a:ahLst/>
              <a:cxnLst/>
              <a:rect r="r" b="b" t="t" l="l"/>
              <a:pathLst>
                <a:path h="1296333" w="4930723">
                  <a:moveTo>
                    <a:pt x="0" y="0"/>
                  </a:moveTo>
                  <a:lnTo>
                    <a:pt x="4930723" y="0"/>
                  </a:lnTo>
                  <a:lnTo>
                    <a:pt x="4930723" y="1296334"/>
                  </a:lnTo>
                  <a:lnTo>
                    <a:pt x="0" y="1296334"/>
                  </a:lnTo>
                  <a:lnTo>
                    <a:pt x="0" y="0"/>
                  </a:lnTo>
                  <a:close/>
                </a:path>
              </a:pathLst>
            </a:custGeom>
            <a:blipFill>
              <a:blip r:embed="rId2">
                <a:alphaModFix amt="30000"/>
              </a:blip>
              <a:stretch>
                <a:fillRect l="0" t="-140179" r="0" b="-140179"/>
              </a:stretch>
            </a:blipFill>
          </p:spPr>
        </p:sp>
        <p:sp>
          <p:nvSpPr>
            <p:cNvPr name="Freeform 7" id="7"/>
            <p:cNvSpPr/>
            <p:nvPr/>
          </p:nvSpPr>
          <p:spPr>
            <a:xfrm flipH="false" flipV="false" rot="0">
              <a:off x="7277479" y="937760"/>
              <a:ext cx="7085842" cy="797157"/>
            </a:xfrm>
            <a:custGeom>
              <a:avLst/>
              <a:gdLst/>
              <a:ahLst/>
              <a:cxnLst/>
              <a:rect r="r" b="b" t="t" l="l"/>
              <a:pathLst>
                <a:path h="797157" w="7085842">
                  <a:moveTo>
                    <a:pt x="0" y="0"/>
                  </a:moveTo>
                  <a:lnTo>
                    <a:pt x="7085842" y="0"/>
                  </a:lnTo>
                  <a:lnTo>
                    <a:pt x="7085842" y="797158"/>
                  </a:lnTo>
                  <a:lnTo>
                    <a:pt x="0" y="797158"/>
                  </a:lnTo>
                  <a:lnTo>
                    <a:pt x="0" y="0"/>
                  </a:lnTo>
                  <a:close/>
                </a:path>
              </a:pathLst>
            </a:custGeom>
            <a:blipFill>
              <a:blip r:embed="rId3">
                <a:alphaModFix amt="30000"/>
              </a:blip>
              <a:stretch>
                <a:fillRect l="0" t="0" r="0" b="0"/>
              </a:stretch>
            </a:blipFill>
          </p:spPr>
        </p:sp>
        <p:sp>
          <p:nvSpPr>
            <p:cNvPr name="Freeform 8" id="8"/>
            <p:cNvSpPr/>
            <p:nvPr/>
          </p:nvSpPr>
          <p:spPr>
            <a:xfrm flipH="false" flipV="false" rot="0">
              <a:off x="0" y="662815"/>
              <a:ext cx="3991252" cy="1347048"/>
            </a:xfrm>
            <a:custGeom>
              <a:avLst/>
              <a:gdLst/>
              <a:ahLst/>
              <a:cxnLst/>
              <a:rect r="r" b="b" t="t" l="l"/>
              <a:pathLst>
                <a:path h="1347048" w="3991252">
                  <a:moveTo>
                    <a:pt x="0" y="0"/>
                  </a:moveTo>
                  <a:lnTo>
                    <a:pt x="3991252" y="0"/>
                  </a:lnTo>
                  <a:lnTo>
                    <a:pt x="3991252" y="1347048"/>
                  </a:lnTo>
                  <a:lnTo>
                    <a:pt x="0" y="1347048"/>
                  </a:lnTo>
                  <a:lnTo>
                    <a:pt x="0" y="0"/>
                  </a:lnTo>
                  <a:close/>
                </a:path>
              </a:pathLst>
            </a:custGeom>
            <a:blipFill>
              <a:blip r:embed="rId4">
                <a:alphaModFix amt="30000"/>
              </a:blip>
              <a:stretch>
                <a:fillRect l="0" t="0" r="0" b="0"/>
              </a:stretch>
            </a:blipFill>
          </p:spPr>
        </p:sp>
        <p:sp>
          <p:nvSpPr>
            <p:cNvPr name="TextBox 9" id="9"/>
            <p:cNvSpPr txBox="true"/>
            <p:nvPr/>
          </p:nvSpPr>
          <p:spPr>
            <a:xfrm rot="0">
              <a:off x="6350" y="-19050"/>
              <a:ext cx="1029395" cy="425450"/>
            </a:xfrm>
            <a:prstGeom prst="rect">
              <a:avLst/>
            </a:prstGeom>
          </p:spPr>
          <p:txBody>
            <a:bodyPr anchor="t" rtlCol="false" tIns="0" lIns="0" bIns="0" rIns="0">
              <a:spAutoFit/>
            </a:bodyPr>
            <a:lstStyle/>
            <a:p>
              <a:pPr algn="l">
                <a:lnSpc>
                  <a:spcPts val="2400"/>
                </a:lnSpc>
              </a:pPr>
              <a:r>
                <a:rPr lang="en-US" sz="2000" spc="-60">
                  <a:solidFill>
                    <a:srgbClr val="000000">
                      <a:alpha val="49804"/>
                    </a:srgbClr>
                  </a:solidFill>
                  <a:latin typeface="Times New Roman"/>
                  <a:ea typeface="Times New Roman"/>
                  <a:cs typeface="Times New Roman"/>
                  <a:sym typeface="Times New Roman"/>
                </a:rPr>
                <a:t>Gemini </a:t>
              </a:r>
            </a:p>
          </p:txBody>
        </p:sp>
        <p:sp>
          <p:nvSpPr>
            <p:cNvPr name="TextBox 10" id="10"/>
            <p:cNvSpPr txBox="true"/>
            <p:nvPr/>
          </p:nvSpPr>
          <p:spPr>
            <a:xfrm rot="0">
              <a:off x="10371237" y="-19050"/>
              <a:ext cx="898327" cy="425450"/>
            </a:xfrm>
            <a:prstGeom prst="rect">
              <a:avLst/>
            </a:prstGeom>
          </p:spPr>
          <p:txBody>
            <a:bodyPr anchor="t" rtlCol="false" tIns="0" lIns="0" bIns="0" rIns="0">
              <a:spAutoFit/>
            </a:bodyPr>
            <a:lstStyle/>
            <a:p>
              <a:pPr algn="ctr">
                <a:lnSpc>
                  <a:spcPts val="2400"/>
                </a:lnSpc>
              </a:pPr>
              <a:r>
                <a:rPr lang="en-US" sz="2000" spc="-60">
                  <a:solidFill>
                    <a:srgbClr val="000000">
                      <a:alpha val="49804"/>
                    </a:srgbClr>
                  </a:solidFill>
                  <a:latin typeface="Times New Roman"/>
                  <a:ea typeface="Times New Roman"/>
                  <a:cs typeface="Times New Roman"/>
                  <a:sym typeface="Times New Roman"/>
                </a:rPr>
                <a:t>Claude</a:t>
              </a:r>
            </a:p>
          </p:txBody>
        </p:sp>
        <p:sp>
          <p:nvSpPr>
            <p:cNvPr name="TextBox 11" id="11"/>
            <p:cNvSpPr txBox="true"/>
            <p:nvPr/>
          </p:nvSpPr>
          <p:spPr>
            <a:xfrm rot="0">
              <a:off x="20432514" y="-19050"/>
              <a:ext cx="1208286" cy="425450"/>
            </a:xfrm>
            <a:prstGeom prst="rect">
              <a:avLst/>
            </a:prstGeom>
          </p:spPr>
          <p:txBody>
            <a:bodyPr anchor="t" rtlCol="false" tIns="0" lIns="0" bIns="0" rIns="0">
              <a:spAutoFit/>
            </a:bodyPr>
            <a:lstStyle/>
            <a:p>
              <a:pPr algn="r">
                <a:lnSpc>
                  <a:spcPts val="2400"/>
                </a:lnSpc>
              </a:pPr>
              <a:r>
                <a:rPr lang="en-US" sz="2000" spc="-60">
                  <a:solidFill>
                    <a:srgbClr val="000000">
                      <a:alpha val="49804"/>
                    </a:srgbClr>
                  </a:solidFill>
                  <a:latin typeface="Times New Roman"/>
                  <a:ea typeface="Times New Roman"/>
                  <a:cs typeface="Times New Roman"/>
                  <a:sym typeface="Times New Roman"/>
                </a:rPr>
                <a:t>ChatGPT</a:t>
              </a:r>
            </a:p>
          </p:txBody>
        </p:sp>
        <p:sp>
          <p:nvSpPr>
            <p:cNvPr name="TextBox 12" id="12"/>
            <p:cNvSpPr txBox="true"/>
            <p:nvPr/>
          </p:nvSpPr>
          <p:spPr>
            <a:xfrm rot="0">
              <a:off x="0" y="4354273"/>
              <a:ext cx="21647150" cy="865505"/>
            </a:xfrm>
            <a:prstGeom prst="rect">
              <a:avLst/>
            </a:prstGeom>
          </p:spPr>
          <p:txBody>
            <a:bodyPr anchor="t" rtlCol="false" tIns="0" lIns="0" bIns="0" rIns="0">
              <a:spAutoFit/>
            </a:bodyPr>
            <a:lstStyle/>
            <a:p>
              <a:pPr algn="l">
                <a:lnSpc>
                  <a:spcPts val="2400"/>
                </a:lnSpc>
                <a:spcBef>
                  <a:spcPct val="0"/>
                </a:spcBef>
              </a:pPr>
              <a:r>
                <a:rPr lang="en-US" sz="2400" spc="-72">
                  <a:solidFill>
                    <a:srgbClr val="000000"/>
                  </a:solidFill>
                  <a:latin typeface="Times New Roman"/>
                  <a:ea typeface="Times New Roman"/>
                  <a:cs typeface="Times New Roman"/>
                  <a:sym typeface="Times New Roman"/>
                </a:rPr>
                <a:t>AI enterprises gain the ability to convert and manage tokens across mult</a:t>
              </a:r>
              <a:r>
                <a:rPr lang="en-US" sz="2400" spc="-72">
                  <a:solidFill>
                    <a:srgbClr val="000000"/>
                  </a:solidFill>
                  <a:latin typeface="Times New Roman"/>
                  <a:ea typeface="Times New Roman"/>
                  <a:cs typeface="Times New Roman"/>
                  <a:sym typeface="Times New Roman"/>
                </a:rPr>
                <a:t>iple streams within a unified platform, while unlocking the potential for structured information exchange. Simultaneously, they can access high-quality data and claim corresponding token compensation.</a:t>
              </a:r>
            </a:p>
          </p:txBody>
        </p:sp>
        <p:sp>
          <p:nvSpPr>
            <p:cNvPr name="AutoShape 13" id="13"/>
            <p:cNvSpPr/>
            <p:nvPr/>
          </p:nvSpPr>
          <p:spPr>
            <a:xfrm>
              <a:off x="0" y="3258189"/>
              <a:ext cx="21640800" cy="0"/>
            </a:xfrm>
            <a:prstGeom prst="line">
              <a:avLst/>
            </a:prstGeom>
            <a:ln cap="flat" w="12700">
              <a:solidFill>
                <a:srgbClr val="000000">
                  <a:alpha val="49804"/>
                </a:srgbClr>
              </a:solidFill>
              <a:prstDash val="solid"/>
              <a:headEnd type="none" len="sm" w="sm"/>
              <a:tailEnd type="none" len="sm" w="sm"/>
            </a:ln>
          </p:spPr>
        </p:sp>
      </p:grpSp>
      <p:sp>
        <p:nvSpPr>
          <p:cNvPr name="TextBox 14" id="14"/>
          <p:cNvSpPr txBox="true"/>
          <p:nvPr/>
        </p:nvSpPr>
        <p:spPr>
          <a:xfrm rot="0">
            <a:off x="1028700" y="2382195"/>
            <a:ext cx="4292278" cy="549275"/>
          </a:xfrm>
          <a:prstGeom prst="rect">
            <a:avLst/>
          </a:prstGeom>
        </p:spPr>
        <p:txBody>
          <a:bodyPr anchor="t" rtlCol="false" tIns="0" lIns="0" bIns="0" rIns="0">
            <a:spAutoFit/>
          </a:bodyPr>
          <a:lstStyle/>
          <a:p>
            <a:pPr algn="l">
              <a:lnSpc>
                <a:spcPts val="3999"/>
              </a:lnSpc>
              <a:spcBef>
                <a:spcPct val="0"/>
              </a:spcBef>
            </a:pPr>
            <a:r>
              <a:rPr lang="en-US" sz="3999" spc="-119">
                <a:solidFill>
                  <a:srgbClr val="000000">
                    <a:alpha val="69804"/>
                  </a:srgbClr>
                </a:solidFill>
                <a:latin typeface="Times New Roman"/>
                <a:ea typeface="Times New Roman"/>
                <a:cs typeface="Times New Roman"/>
                <a:sym typeface="Times New Roman"/>
              </a:rPr>
              <a:t>S</a:t>
            </a:r>
            <a:r>
              <a:rPr lang="en-US" sz="3999" spc="-119">
                <a:solidFill>
                  <a:srgbClr val="000000">
                    <a:alpha val="69804"/>
                  </a:srgbClr>
                </a:solidFill>
                <a:latin typeface="Times New Roman"/>
                <a:ea typeface="Times New Roman"/>
                <a:cs typeface="Times New Roman"/>
                <a:sym typeface="Times New Roman"/>
              </a:rPr>
              <a:t>ubjects of Regulation</a:t>
            </a:r>
          </a:p>
        </p:txBody>
      </p:sp>
      <p:sp>
        <p:nvSpPr>
          <p:cNvPr name="TextBox 15" id="15"/>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432494"/>
            <a:ext cx="16230600" cy="5490373"/>
            <a:chOff x="0" y="0"/>
            <a:chExt cx="21640800" cy="7320498"/>
          </a:xfrm>
        </p:grpSpPr>
        <p:sp>
          <p:nvSpPr>
            <p:cNvPr name="Freeform 3" id="3"/>
            <p:cNvSpPr/>
            <p:nvPr/>
          </p:nvSpPr>
          <p:spPr>
            <a:xfrm flipH="false" flipV="false" rot="0">
              <a:off x="0" y="0"/>
              <a:ext cx="21640800" cy="7320498"/>
            </a:xfrm>
            <a:custGeom>
              <a:avLst/>
              <a:gdLst/>
              <a:ahLst/>
              <a:cxnLst/>
              <a:rect r="r" b="b" t="t" l="l"/>
              <a:pathLst>
                <a:path h="7320498" w="21640800">
                  <a:moveTo>
                    <a:pt x="0" y="0"/>
                  </a:moveTo>
                  <a:lnTo>
                    <a:pt x="21640800" y="0"/>
                  </a:lnTo>
                  <a:lnTo>
                    <a:pt x="21640800" y="7320498"/>
                  </a:lnTo>
                  <a:lnTo>
                    <a:pt x="0" y="7320498"/>
                  </a:lnTo>
                  <a:lnTo>
                    <a:pt x="0" y="0"/>
                  </a:lnTo>
                  <a:close/>
                </a:path>
              </a:pathLst>
            </a:custGeom>
            <a:blipFill>
              <a:blip r:embed="rId2"/>
              <a:stretch>
                <a:fillRect l="-8997" t="-16266" r="-5967" b="-11179"/>
              </a:stretch>
            </a:blipFill>
          </p:spPr>
        </p:sp>
        <p:sp>
          <p:nvSpPr>
            <p:cNvPr name="TextBox 4" id="4"/>
            <p:cNvSpPr txBox="true"/>
            <p:nvPr/>
          </p:nvSpPr>
          <p:spPr>
            <a:xfrm rot="0">
              <a:off x="0" y="37304"/>
              <a:ext cx="4794361" cy="1024036"/>
            </a:xfrm>
            <a:prstGeom prst="rect">
              <a:avLst/>
            </a:prstGeom>
          </p:spPr>
          <p:txBody>
            <a:bodyPr anchor="t" rtlCol="false" tIns="0" lIns="0" bIns="0" rIns="0">
              <a:spAutoFit/>
            </a:bodyPr>
            <a:lstStyle/>
            <a:p>
              <a:pPr algn="l">
                <a:lnSpc>
                  <a:spcPts val="1907"/>
                </a:lnSpc>
              </a:pPr>
              <a:r>
                <a:rPr lang="en-US" sz="1907" spc="-57">
                  <a:solidFill>
                    <a:srgbClr val="000000">
                      <a:alpha val="29804"/>
                    </a:srgbClr>
                  </a:solidFill>
                  <a:latin typeface="Times New Roman"/>
                  <a:ea typeface="Times New Roman"/>
                  <a:cs typeface="Times New Roman"/>
                  <a:sym typeface="Times New Roman"/>
                </a:rPr>
                <a:t>*Dot size is proportional</a:t>
              </a:r>
              <a:r>
                <a:rPr lang="en-US" sz="1907" spc="-57">
                  <a:solidFill>
                    <a:srgbClr val="000000">
                      <a:alpha val="29804"/>
                    </a:srgbClr>
                  </a:solidFill>
                  <a:latin typeface="Times New Roman"/>
                  <a:ea typeface="Times New Roman"/>
                  <a:cs typeface="Times New Roman"/>
                  <a:sym typeface="Times New Roman"/>
                </a:rPr>
                <a:t> to the strength of the partnership between the stakeholder and partner</a:t>
              </a:r>
            </a:p>
          </p:txBody>
        </p:sp>
      </p:grpSp>
      <p:sp>
        <p:nvSpPr>
          <p:cNvPr name="TextBox 5" id="5"/>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6" id="6"/>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7" id="7"/>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Proposition</a:t>
            </a:r>
          </a:p>
        </p:txBody>
      </p:sp>
      <p:sp>
        <p:nvSpPr>
          <p:cNvPr name="AutoShape 8" id="8"/>
          <p:cNvSpPr/>
          <p:nvPr/>
        </p:nvSpPr>
        <p:spPr>
          <a:xfrm>
            <a:off x="1028700" y="7331424"/>
            <a:ext cx="16230600" cy="0"/>
          </a:xfrm>
          <a:prstGeom prst="line">
            <a:avLst/>
          </a:prstGeom>
          <a:ln cap="flat" w="9525">
            <a:solidFill>
              <a:srgbClr val="000000">
                <a:alpha val="49804"/>
              </a:srgbClr>
            </a:solidFill>
            <a:prstDash val="solid"/>
            <a:headEnd type="none" len="sm" w="sm"/>
            <a:tailEnd type="none" len="sm" w="sm"/>
          </a:ln>
        </p:spPr>
      </p:sp>
      <p:grpSp>
        <p:nvGrpSpPr>
          <p:cNvPr name="Group 9" id="9"/>
          <p:cNvGrpSpPr/>
          <p:nvPr/>
        </p:nvGrpSpPr>
        <p:grpSpPr>
          <a:xfrm rot="0">
            <a:off x="1028700" y="7830962"/>
            <a:ext cx="16230600" cy="793750"/>
            <a:chOff x="0" y="0"/>
            <a:chExt cx="21640800" cy="1058333"/>
          </a:xfrm>
        </p:grpSpPr>
        <p:sp>
          <p:nvSpPr>
            <p:cNvPr name="TextBox 10" id="10"/>
            <p:cNvSpPr txBox="true"/>
            <p:nvPr/>
          </p:nvSpPr>
          <p:spPr>
            <a:xfrm rot="0">
              <a:off x="10106502" y="57150"/>
              <a:ext cx="11534298" cy="751417"/>
            </a:xfrm>
            <a:prstGeom prst="rect">
              <a:avLst/>
            </a:prstGeom>
          </p:spPr>
          <p:txBody>
            <a:bodyPr anchor="t" rtlCol="false" tIns="0" lIns="0" bIns="0" rIns="0">
              <a:spAutoFit/>
            </a:bodyPr>
            <a:lstStyle/>
            <a:p>
              <a:pPr algn="r">
                <a:lnSpc>
                  <a:spcPts val="3999"/>
                </a:lnSpc>
                <a:spcBef>
                  <a:spcPct val="0"/>
                </a:spcBef>
              </a:pPr>
              <a:r>
                <a:rPr lang="en-US" sz="3999" spc="-119">
                  <a:solidFill>
                    <a:srgbClr val="000000"/>
                  </a:solidFill>
                  <a:latin typeface="Times New Roman"/>
                  <a:ea typeface="Times New Roman"/>
                  <a:cs typeface="Times New Roman"/>
                  <a:sym typeface="Times New Roman"/>
                </a:rPr>
                <a:t>Stakeholder Engagement Matrix</a:t>
              </a:r>
            </a:p>
          </p:txBody>
        </p:sp>
        <p:sp>
          <p:nvSpPr>
            <p:cNvPr name="TextBox 11" id="11"/>
            <p:cNvSpPr txBox="true"/>
            <p:nvPr/>
          </p:nvSpPr>
          <p:spPr>
            <a:xfrm rot="0">
              <a:off x="0" y="19050"/>
              <a:ext cx="9878967" cy="1039283"/>
            </a:xfrm>
            <a:prstGeom prst="rect">
              <a:avLst/>
            </a:prstGeom>
          </p:spPr>
          <p:txBody>
            <a:bodyPr anchor="t" rtlCol="false" tIns="0" lIns="0" bIns="0" rIns="0">
              <a:spAutoFit/>
            </a:bodyPr>
            <a:lstStyle/>
            <a:p>
              <a:pPr algn="l">
                <a:lnSpc>
                  <a:spcPts val="2000"/>
                </a:lnSpc>
                <a:spcBef>
                  <a:spcPct val="0"/>
                </a:spcBef>
              </a:pPr>
              <a:r>
                <a:rPr lang="en-US" sz="2000" spc="-60">
                  <a:solidFill>
                    <a:srgbClr val="000000"/>
                  </a:solidFill>
                  <a:latin typeface="Times New Roman"/>
                  <a:ea typeface="Times New Roman"/>
                  <a:cs typeface="Times New Roman"/>
                  <a:sym typeface="Times New Roman"/>
                </a:rPr>
                <a:t>Partnerships fall</a:t>
              </a:r>
              <a:r>
                <a:rPr lang="en-US" sz="2000" spc="-60">
                  <a:solidFill>
                    <a:srgbClr val="000000"/>
                  </a:solidFill>
                  <a:latin typeface="Times New Roman"/>
                  <a:ea typeface="Times New Roman"/>
                  <a:cs typeface="Times New Roman"/>
                  <a:sym typeface="Times New Roman"/>
                </a:rPr>
                <a:t> into two layers: regulatory alignment and platform development. Okta and SSI are the Responsible parties as core builders, while government bodies are Consulted and Informed throughout.</a:t>
              </a:r>
            </a:p>
          </p:txBody>
        </p:sp>
      </p:grpSp>
      <p:sp>
        <p:nvSpPr>
          <p:cNvPr name="TextBox 12" id="12"/>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2940892"/>
            <a:ext cx="16230600" cy="0"/>
          </a:xfrm>
          <a:prstGeom prst="line">
            <a:avLst/>
          </a:prstGeom>
          <a:ln cap="flat" w="9525">
            <a:solidFill>
              <a:srgbClr val="000000">
                <a:alpha val="49804"/>
              </a:srgbClr>
            </a:solidFill>
            <a:prstDash val="solid"/>
            <a:headEnd type="none" len="sm" w="sm"/>
            <a:tailEnd type="none" len="sm" w="sm"/>
          </a:ln>
        </p:spPr>
      </p:sp>
      <p:sp>
        <p:nvSpPr>
          <p:cNvPr name="Freeform 3" id="3"/>
          <p:cNvSpPr/>
          <p:nvPr/>
        </p:nvSpPr>
        <p:spPr>
          <a:xfrm flipH="false" flipV="false" rot="0">
            <a:off x="1028700" y="3421904"/>
            <a:ext cx="16230600" cy="5607839"/>
          </a:xfrm>
          <a:custGeom>
            <a:avLst/>
            <a:gdLst/>
            <a:ahLst/>
            <a:cxnLst/>
            <a:rect r="r" b="b" t="t" l="l"/>
            <a:pathLst>
              <a:path h="5607839" w="16230600">
                <a:moveTo>
                  <a:pt x="0" y="0"/>
                </a:moveTo>
                <a:lnTo>
                  <a:pt x="16230600" y="0"/>
                </a:lnTo>
                <a:lnTo>
                  <a:pt x="16230600" y="5607840"/>
                </a:lnTo>
                <a:lnTo>
                  <a:pt x="0" y="5607840"/>
                </a:lnTo>
                <a:lnTo>
                  <a:pt x="0" y="0"/>
                </a:lnTo>
                <a:close/>
              </a:path>
            </a:pathLst>
          </a:custGeom>
          <a:blipFill>
            <a:blip r:embed="rId2"/>
            <a:stretch>
              <a:fillRect l="-1172" t="-3480" r="-1172" b="-1305"/>
            </a:stretch>
          </a:blipFill>
        </p:spPr>
      </p:sp>
      <p:sp>
        <p:nvSpPr>
          <p:cNvPr name="TextBox 4" id="4"/>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6" id="6"/>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Proposition</a:t>
            </a:r>
          </a:p>
        </p:txBody>
      </p:sp>
      <p:sp>
        <p:nvSpPr>
          <p:cNvPr name="TextBox 7" id="7"/>
          <p:cNvSpPr txBox="true"/>
          <p:nvPr/>
        </p:nvSpPr>
        <p:spPr>
          <a:xfrm rot="0">
            <a:off x="8608577" y="1727493"/>
            <a:ext cx="8650723" cy="549275"/>
          </a:xfrm>
          <a:prstGeom prst="rect">
            <a:avLst/>
          </a:prstGeom>
        </p:spPr>
        <p:txBody>
          <a:bodyPr anchor="t" rtlCol="false" tIns="0" lIns="0" bIns="0" rIns="0">
            <a:spAutoFit/>
          </a:bodyPr>
          <a:lstStyle/>
          <a:p>
            <a:pPr algn="r">
              <a:lnSpc>
                <a:spcPts val="3999"/>
              </a:lnSpc>
              <a:spcBef>
                <a:spcPct val="0"/>
              </a:spcBef>
            </a:pPr>
            <a:r>
              <a:rPr lang="en-US" sz="3999" spc="-119">
                <a:solidFill>
                  <a:srgbClr val="000000"/>
                </a:solidFill>
                <a:latin typeface="Times New Roman"/>
                <a:ea typeface="Times New Roman"/>
                <a:cs typeface="Times New Roman"/>
                <a:sym typeface="Times New Roman"/>
              </a:rPr>
              <a:t>Stakeholder Index Mapping</a:t>
            </a:r>
          </a:p>
        </p:txBody>
      </p:sp>
      <p:sp>
        <p:nvSpPr>
          <p:cNvPr name="TextBox 8" id="8"/>
          <p:cNvSpPr txBox="true"/>
          <p:nvPr/>
        </p:nvSpPr>
        <p:spPr>
          <a:xfrm rot="0">
            <a:off x="1028700" y="1689393"/>
            <a:ext cx="7409226" cy="774700"/>
          </a:xfrm>
          <a:prstGeom prst="rect">
            <a:avLst/>
          </a:prstGeom>
        </p:spPr>
        <p:txBody>
          <a:bodyPr anchor="t" rtlCol="false" tIns="0" lIns="0" bIns="0" rIns="0">
            <a:spAutoFit/>
          </a:bodyPr>
          <a:lstStyle/>
          <a:p>
            <a:pPr algn="l">
              <a:lnSpc>
                <a:spcPts val="2000"/>
              </a:lnSpc>
              <a:spcBef>
                <a:spcPct val="0"/>
              </a:spcBef>
            </a:pPr>
            <a:r>
              <a:rPr lang="en-US" sz="2000" spc="-60">
                <a:solidFill>
                  <a:srgbClr val="000000"/>
                </a:solidFill>
                <a:latin typeface="Times New Roman"/>
                <a:ea typeface="Times New Roman"/>
                <a:cs typeface="Times New Roman"/>
                <a:sym typeface="Times New Roman"/>
              </a:rPr>
              <a:t>Each ecosystem participant is positioned</a:t>
            </a:r>
            <a:r>
              <a:rPr lang="en-US" sz="2000" spc="-60">
                <a:solidFill>
                  <a:srgbClr val="000000"/>
                </a:solidFill>
                <a:latin typeface="Times New Roman"/>
                <a:ea typeface="Times New Roman"/>
                <a:cs typeface="Times New Roman"/>
                <a:sym typeface="Times New Roman"/>
              </a:rPr>
              <a:t> across two indices: data consumption and token compensation. The distribution exposes structural imbalances in how value is currently allocated, and where DQI-driven rebalancing impact.</a:t>
            </a:r>
          </a:p>
        </p:txBody>
      </p:sp>
      <p:sp>
        <p:nvSpPr>
          <p:cNvPr name="TextBox 9" id="9"/>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23</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7086416"/>
            <a:ext cx="4772618" cy="1585908"/>
            <a:chOff x="0" y="0"/>
            <a:chExt cx="6363491" cy="2114544"/>
          </a:xfrm>
        </p:grpSpPr>
        <p:grpSp>
          <p:nvGrpSpPr>
            <p:cNvPr name="Group 3" id="3"/>
            <p:cNvGrpSpPr/>
            <p:nvPr/>
          </p:nvGrpSpPr>
          <p:grpSpPr>
            <a:xfrm rot="0">
              <a:off x="5416956" y="0"/>
              <a:ext cx="946535" cy="987205"/>
              <a:chOff x="0" y="0"/>
              <a:chExt cx="584874" cy="610004"/>
            </a:xfrm>
          </p:grpSpPr>
          <p:sp>
            <p:nvSpPr>
              <p:cNvPr name="Freeform 4" id="4"/>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alpha val="29804"/>
                </a:srgbClr>
              </a:solidFill>
            </p:spPr>
          </p:sp>
          <p:sp>
            <p:nvSpPr>
              <p:cNvPr name="TextBox 5" id="5"/>
              <p:cNvSpPr txBox="true"/>
              <p:nvPr/>
            </p:nvSpPr>
            <p:spPr>
              <a:xfrm>
                <a:off x="137617" y="172105"/>
                <a:ext cx="309639" cy="294368"/>
              </a:xfrm>
              <a:prstGeom prst="rect">
                <a:avLst/>
              </a:prstGeom>
            </p:spPr>
            <p:txBody>
              <a:bodyPr anchor="ctr" rtlCol="false" tIns="50800" lIns="50800" bIns="50800" rIns="50800"/>
              <a:lstStyle/>
              <a:p>
                <a:pPr algn="ctr">
                  <a:lnSpc>
                    <a:spcPts val="1599"/>
                  </a:lnSpc>
                </a:pPr>
              </a:p>
            </p:txBody>
          </p:sp>
        </p:grpSp>
        <p:sp>
          <p:nvSpPr>
            <p:cNvPr name="TextBox 6" id="6"/>
            <p:cNvSpPr txBox="true"/>
            <p:nvPr/>
          </p:nvSpPr>
          <p:spPr>
            <a:xfrm rot="0">
              <a:off x="0" y="553581"/>
              <a:ext cx="5669913" cy="1560963"/>
            </a:xfrm>
            <a:prstGeom prst="rect">
              <a:avLst/>
            </a:prstGeom>
          </p:spPr>
          <p:txBody>
            <a:bodyPr anchor="t" rtlCol="false" tIns="0" lIns="0" bIns="0" rIns="0">
              <a:spAutoFit/>
            </a:bodyPr>
            <a:lstStyle/>
            <a:p>
              <a:pPr algn="ctr">
                <a:lnSpc>
                  <a:spcPts val="8279"/>
                </a:lnSpc>
              </a:pPr>
              <a:r>
                <a:rPr lang="en-US" b="true" sz="8279" spc="-331">
                  <a:solidFill>
                    <a:srgbClr val="000000">
                      <a:alpha val="29804"/>
                    </a:srgbClr>
                  </a:solidFill>
                  <a:latin typeface="Times New Roman Bold"/>
                  <a:ea typeface="Times New Roman Bold"/>
                  <a:cs typeface="Times New Roman Bold"/>
                  <a:sym typeface="Times New Roman Bold"/>
                </a:rPr>
                <a:t>tokentrust</a:t>
              </a:r>
            </a:p>
          </p:txBody>
        </p:sp>
      </p:grpSp>
      <p:sp>
        <p:nvSpPr>
          <p:cNvPr name="TextBox 7" id="7"/>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8" id="8"/>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9" id="9"/>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Proposition</a:t>
            </a:r>
          </a:p>
        </p:txBody>
      </p:sp>
      <p:grpSp>
        <p:nvGrpSpPr>
          <p:cNvPr name="Group 10" id="10"/>
          <p:cNvGrpSpPr/>
          <p:nvPr/>
        </p:nvGrpSpPr>
        <p:grpSpPr>
          <a:xfrm rot="0">
            <a:off x="11983819" y="6689657"/>
            <a:ext cx="5275481" cy="1865481"/>
            <a:chOff x="0" y="0"/>
            <a:chExt cx="7033975" cy="2487308"/>
          </a:xfrm>
        </p:grpSpPr>
        <p:sp>
          <p:nvSpPr>
            <p:cNvPr name="TextBox 11" id="11"/>
            <p:cNvSpPr txBox="true"/>
            <p:nvPr/>
          </p:nvSpPr>
          <p:spPr>
            <a:xfrm rot="0">
              <a:off x="722393" y="9525"/>
              <a:ext cx="2804843" cy="2339629"/>
            </a:xfrm>
            <a:prstGeom prst="rect">
              <a:avLst/>
            </a:prstGeom>
          </p:spPr>
          <p:txBody>
            <a:bodyPr anchor="t" rtlCol="false" tIns="0" lIns="0" bIns="0" rIns="0">
              <a:spAutoFit/>
            </a:bodyPr>
            <a:lstStyle/>
            <a:p>
              <a:pPr algn="l">
                <a:lnSpc>
                  <a:spcPts val="1752"/>
                </a:lnSpc>
              </a:pPr>
              <a:r>
                <a:rPr lang="en-US" sz="1752" spc="-52">
                  <a:solidFill>
                    <a:srgbClr val="000000"/>
                  </a:solidFill>
                  <a:latin typeface="Times New Roman"/>
                  <a:ea typeface="Times New Roman"/>
                  <a:cs typeface="Times New Roman"/>
                  <a:sym typeface="Times New Roman"/>
                </a:rPr>
                <a:t>Token Distribution</a:t>
              </a:r>
            </a:p>
            <a:p>
              <a:pPr algn="l">
                <a:lnSpc>
                  <a:spcPts val="1752"/>
                </a:lnSpc>
              </a:pPr>
              <a:r>
                <a:rPr lang="en-US" sz="1752" spc="-52">
                  <a:solidFill>
                    <a:srgbClr val="000000"/>
                  </a:solidFill>
                  <a:latin typeface="Times New Roman"/>
                  <a:ea typeface="Times New Roman"/>
                  <a:cs typeface="Times New Roman"/>
                  <a:sym typeface="Times New Roman"/>
                </a:rPr>
                <a:t>Refund Calculation</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Marketplace Ma</a:t>
              </a:r>
              <a:r>
                <a:rPr lang="en-US" sz="1752" spc="-52">
                  <a:solidFill>
                    <a:srgbClr val="000000"/>
                  </a:solidFill>
                  <a:latin typeface="Times New Roman"/>
                  <a:ea typeface="Times New Roman"/>
                  <a:cs typeface="Times New Roman"/>
                  <a:sym typeface="Times New Roman"/>
                </a:rPr>
                <a:t>tching</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Royalty Splitter</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Usage Analytics Engine</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Micro-Payment Gateway</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Data Quality Scoring</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Audit &amp; Compliance</a:t>
              </a:r>
            </a:p>
          </p:txBody>
        </p:sp>
        <p:sp>
          <p:nvSpPr>
            <p:cNvPr name="TextBox 12" id="12"/>
            <p:cNvSpPr txBox="true"/>
            <p:nvPr/>
          </p:nvSpPr>
          <p:spPr>
            <a:xfrm rot="0">
              <a:off x="3630969" y="9525"/>
              <a:ext cx="3403006" cy="2386640"/>
            </a:xfrm>
            <a:prstGeom prst="rect">
              <a:avLst/>
            </a:prstGeom>
          </p:spPr>
          <p:txBody>
            <a:bodyPr anchor="t" rtlCol="false" tIns="0" lIns="0" bIns="0" rIns="0">
              <a:spAutoFit/>
            </a:bodyPr>
            <a:lstStyle/>
            <a:p>
              <a:pPr algn="r">
                <a:lnSpc>
                  <a:spcPts val="1752"/>
                </a:lnSpc>
              </a:pPr>
              <a:r>
                <a:rPr lang="en-US" sz="1752" spc="-52">
                  <a:solidFill>
                    <a:srgbClr val="000000"/>
                  </a:solidFill>
                  <a:latin typeface="Times New Roman"/>
                  <a:ea typeface="Times New Roman"/>
                  <a:cs typeface="Times New Roman"/>
                  <a:sym typeface="Times New Roman"/>
                </a:rPr>
                <a:t>Privacy &amp; Consent</a:t>
              </a:r>
            </a:p>
            <a:p>
              <a:pPr algn="r">
                <a:lnSpc>
                  <a:spcPts val="1752"/>
                </a:lnSpc>
              </a:pPr>
              <a:r>
                <a:rPr lang="en-US" sz="1752" spc="-52">
                  <a:solidFill>
                    <a:srgbClr val="000000"/>
                  </a:solidFill>
                  <a:latin typeface="Times New Roman"/>
                  <a:ea typeface="Times New Roman"/>
                  <a:cs typeface="Times New Roman"/>
                  <a:sym typeface="Times New Roman"/>
                </a:rPr>
                <a:t>Bias Detection Module</a:t>
              </a:r>
            </a:p>
            <a:p>
              <a:pPr algn="r">
                <a:lnSpc>
                  <a:spcPts val="1752"/>
                </a:lnSpc>
              </a:pPr>
              <a:r>
                <a:rPr lang="en-US" sz="1752" spc="-52">
                  <a:solidFill>
                    <a:srgbClr val="000000"/>
                  </a:solidFill>
                  <a:latin typeface="Times New Roman"/>
                  <a:ea typeface="Times New Roman"/>
                  <a:cs typeface="Times New Roman"/>
                  <a:sym typeface="Times New Roman"/>
                </a:rPr>
                <a:t>Watermark &amp; Provenance</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Dispute Resolu</a:t>
              </a:r>
              <a:r>
                <a:rPr lang="en-US" sz="1752" spc="-52">
                  <a:solidFill>
                    <a:srgbClr val="000000"/>
                  </a:solidFill>
                  <a:latin typeface="Times New Roman"/>
                  <a:ea typeface="Times New Roman"/>
                  <a:cs typeface="Times New Roman"/>
                  <a:sym typeface="Times New Roman"/>
                </a:rPr>
                <a:t>tion</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Smart Contract Layer</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Identity Verification (OKTA)</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Decentralized Storage (IPFS)</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API Gateway &amp; Rate Limiting</a:t>
              </a:r>
            </a:p>
          </p:txBody>
        </p:sp>
        <p:sp>
          <p:nvSpPr>
            <p:cNvPr name="TextBox 13" id="13"/>
            <p:cNvSpPr txBox="true"/>
            <p:nvPr/>
          </p:nvSpPr>
          <p:spPr>
            <a:xfrm rot="5400000">
              <a:off x="-1092736" y="1092736"/>
              <a:ext cx="2487308" cy="301837"/>
            </a:xfrm>
            <a:prstGeom prst="rect">
              <a:avLst/>
            </a:prstGeom>
          </p:spPr>
          <p:txBody>
            <a:bodyPr anchor="t" rtlCol="false" tIns="0" lIns="0" bIns="0" rIns="0">
              <a:spAutoFit/>
            </a:bodyPr>
            <a:lstStyle/>
            <a:p>
              <a:pPr algn="just">
                <a:lnSpc>
                  <a:spcPts val="1599"/>
                </a:lnSpc>
                <a:spcBef>
                  <a:spcPct val="0"/>
                </a:spcBef>
              </a:pPr>
              <a:r>
                <a:rPr lang="en-US" sz="1599" spc="-47">
                  <a:solidFill>
                    <a:srgbClr val="000000">
                      <a:alpha val="49804"/>
                    </a:srgbClr>
                  </a:solidFill>
                  <a:latin typeface="Times New Roman"/>
                  <a:ea typeface="Times New Roman"/>
                  <a:cs typeface="Times New Roman"/>
                  <a:sym typeface="Times New Roman"/>
                </a:rPr>
                <a:t>AI Token Service</a:t>
              </a:r>
            </a:p>
          </p:txBody>
        </p:sp>
      </p:grpSp>
      <p:sp>
        <p:nvSpPr>
          <p:cNvPr name="AutoShape 14" id="14"/>
          <p:cNvSpPr/>
          <p:nvPr/>
        </p:nvSpPr>
        <p:spPr>
          <a:xfrm flipV="true">
            <a:off x="11965292" y="6317785"/>
            <a:ext cx="5294008" cy="0"/>
          </a:xfrm>
          <a:prstGeom prst="line">
            <a:avLst/>
          </a:prstGeom>
          <a:ln cap="flat" w="9525">
            <a:solidFill>
              <a:srgbClr val="000000">
                <a:alpha val="49804"/>
              </a:srgbClr>
            </a:solidFill>
            <a:prstDash val="solid"/>
            <a:headEnd type="none" len="sm" w="sm"/>
            <a:tailEnd type="none" len="sm" w="sm"/>
          </a:ln>
        </p:spPr>
      </p:sp>
      <p:grpSp>
        <p:nvGrpSpPr>
          <p:cNvPr name="Group 15" id="15"/>
          <p:cNvGrpSpPr/>
          <p:nvPr/>
        </p:nvGrpSpPr>
        <p:grpSpPr>
          <a:xfrm rot="0">
            <a:off x="1047227" y="1670343"/>
            <a:ext cx="10918065" cy="1758804"/>
            <a:chOff x="0" y="0"/>
            <a:chExt cx="14557421" cy="2345071"/>
          </a:xfrm>
        </p:grpSpPr>
        <p:sp>
          <p:nvSpPr>
            <p:cNvPr name="TextBox 16" id="16"/>
            <p:cNvSpPr txBox="true"/>
            <p:nvPr/>
          </p:nvSpPr>
          <p:spPr>
            <a:xfrm rot="0">
              <a:off x="809264" y="9525"/>
              <a:ext cx="3408620" cy="2053406"/>
            </a:xfrm>
            <a:prstGeom prst="rect">
              <a:avLst/>
            </a:prstGeom>
          </p:spPr>
          <p:txBody>
            <a:bodyPr anchor="t" rtlCol="false" tIns="0" lIns="0" bIns="0" rIns="0">
              <a:spAutoFit/>
            </a:bodyPr>
            <a:lstStyle/>
            <a:p>
              <a:pPr algn="just">
                <a:lnSpc>
                  <a:spcPts val="1752"/>
                </a:lnSpc>
                <a:spcBef>
                  <a:spcPct val="0"/>
                </a:spcBef>
              </a:pPr>
              <a:r>
                <a:rPr lang="en-US" sz="1752" spc="-52">
                  <a:solidFill>
                    <a:srgbClr val="000000"/>
                  </a:solidFill>
                  <a:latin typeface="Times New Roman"/>
                  <a:ea typeface="Times New Roman"/>
                  <a:cs typeface="Times New Roman"/>
                  <a:sym typeface="Times New Roman"/>
                </a:rPr>
                <a:t>Gover</a:t>
              </a:r>
              <a:r>
                <a:rPr lang="en-US" sz="1752" spc="-52">
                  <a:solidFill>
                    <a:srgbClr val="000000"/>
                  </a:solidFill>
                  <a:latin typeface="Times New Roman"/>
                  <a:ea typeface="Times New Roman"/>
                  <a:cs typeface="Times New Roman"/>
                  <a:sym typeface="Times New Roman"/>
                </a:rPr>
                <a:t>nment of Canada</a:t>
              </a:r>
            </a:p>
            <a:p>
              <a:pPr algn="just">
                <a:lnSpc>
                  <a:spcPts val="1752"/>
                </a:lnSpc>
                <a:spcBef>
                  <a:spcPct val="0"/>
                </a:spcBef>
              </a:pPr>
              <a:r>
                <a:rPr lang="en-US" sz="1752" spc="-52">
                  <a:solidFill>
                    <a:srgbClr val="000000"/>
                  </a:solidFill>
                  <a:latin typeface="Times New Roman"/>
                  <a:ea typeface="Times New Roman"/>
                  <a:cs typeface="Times New Roman"/>
                  <a:sym typeface="Times New Roman"/>
                </a:rPr>
                <a:t>Privacy Commissioner (OPC)</a:t>
              </a:r>
            </a:p>
            <a:p>
              <a:pPr algn="just">
                <a:lnSpc>
                  <a:spcPts val="1752"/>
                </a:lnSpc>
                <a:spcBef>
                  <a:spcPct val="0"/>
                </a:spcBef>
              </a:pPr>
              <a:r>
                <a:rPr lang="en-US" sz="1752" spc="-52">
                  <a:solidFill>
                    <a:srgbClr val="000000"/>
                  </a:solidFill>
                  <a:latin typeface="Times New Roman"/>
                  <a:ea typeface="Times New Roman"/>
                  <a:cs typeface="Times New Roman"/>
                  <a:sym typeface="Times New Roman"/>
                </a:rPr>
                <a:t>Treasury Board</a:t>
              </a:r>
            </a:p>
            <a:p>
              <a:pPr algn="just">
                <a:lnSpc>
                  <a:spcPts val="1752"/>
                </a:lnSpc>
                <a:spcBef>
                  <a:spcPct val="0"/>
                </a:spcBef>
              </a:pPr>
              <a:r>
                <a:rPr lang="en-US" sz="1752" spc="-52">
                  <a:solidFill>
                    <a:srgbClr val="000000"/>
                  </a:solidFill>
                  <a:latin typeface="Times New Roman"/>
                  <a:ea typeface="Times New Roman"/>
                  <a:cs typeface="Times New Roman"/>
                  <a:sym typeface="Times New Roman"/>
                </a:rPr>
                <a:t>EU AI Act</a:t>
              </a:r>
            </a:p>
            <a:p>
              <a:pPr algn="just">
                <a:lnSpc>
                  <a:spcPts val="1752"/>
                </a:lnSpc>
                <a:spcBef>
                  <a:spcPct val="0"/>
                </a:spcBef>
              </a:pPr>
              <a:r>
                <a:rPr lang="en-US" sz="1752" spc="-52">
                  <a:solidFill>
                    <a:srgbClr val="000000"/>
                  </a:solidFill>
                  <a:latin typeface="Times New Roman"/>
                  <a:ea typeface="Times New Roman"/>
                  <a:cs typeface="Times New Roman"/>
                  <a:sym typeface="Times New Roman"/>
                </a:rPr>
                <a:t>OECD AI Principles</a:t>
              </a:r>
            </a:p>
            <a:p>
              <a:pPr algn="just">
                <a:lnSpc>
                  <a:spcPts val="1752"/>
                </a:lnSpc>
                <a:spcBef>
                  <a:spcPct val="0"/>
                </a:spcBef>
              </a:pPr>
              <a:r>
                <a:rPr lang="en-US" sz="1752" spc="-52">
                  <a:solidFill>
                    <a:srgbClr val="000000"/>
                  </a:solidFill>
                  <a:latin typeface="Times New Roman"/>
                  <a:ea typeface="Times New Roman"/>
                  <a:cs typeface="Times New Roman"/>
                  <a:sym typeface="Times New Roman"/>
                </a:rPr>
                <a:t>ISO/IEC 42001</a:t>
              </a:r>
            </a:p>
            <a:p>
              <a:pPr algn="just">
                <a:lnSpc>
                  <a:spcPts val="1752"/>
                </a:lnSpc>
                <a:spcBef>
                  <a:spcPct val="0"/>
                </a:spcBef>
              </a:pPr>
              <a:r>
                <a:rPr lang="en-US" sz="1752" spc="-52">
                  <a:solidFill>
                    <a:srgbClr val="000000"/>
                  </a:solidFill>
                  <a:latin typeface="Times New Roman"/>
                  <a:ea typeface="Times New Roman"/>
                  <a:cs typeface="Times New Roman"/>
                  <a:sym typeface="Times New Roman"/>
                </a:rPr>
                <a:t>GPAINIST AI Framework</a:t>
              </a:r>
            </a:p>
          </p:txBody>
        </p:sp>
        <p:sp>
          <p:nvSpPr>
            <p:cNvPr name="TextBox 17" id="17"/>
            <p:cNvSpPr txBox="true"/>
            <p:nvPr/>
          </p:nvSpPr>
          <p:spPr>
            <a:xfrm rot="0">
              <a:off x="6066478" y="9525"/>
              <a:ext cx="8490943" cy="2094540"/>
            </a:xfrm>
            <a:prstGeom prst="rect">
              <a:avLst/>
            </a:prstGeom>
          </p:spPr>
          <p:txBody>
            <a:bodyPr anchor="t" rtlCol="false" tIns="0" lIns="0" bIns="0" rIns="0">
              <a:spAutoFit/>
            </a:bodyPr>
            <a:lstStyle/>
            <a:p>
              <a:pPr algn="r">
                <a:lnSpc>
                  <a:spcPts val="1752"/>
                </a:lnSpc>
                <a:spcBef>
                  <a:spcPct val="0"/>
                </a:spcBef>
              </a:pPr>
              <a:r>
                <a:rPr lang="en-US" sz="1752" spc="-52">
                  <a:solidFill>
                    <a:srgbClr val="000000"/>
                  </a:solidFill>
                  <a:latin typeface="Times New Roman"/>
                  <a:ea typeface="Times New Roman"/>
                  <a:cs typeface="Times New Roman"/>
                  <a:sym typeface="Times New Roman"/>
                </a:rPr>
                <a:t>Communicatio</a:t>
              </a:r>
              <a:r>
                <a:rPr lang="en-US" sz="1752" spc="-52">
                  <a:solidFill>
                    <a:srgbClr val="000000"/>
                  </a:solidFill>
                  <a:latin typeface="Times New Roman"/>
                  <a:ea typeface="Times New Roman"/>
                  <a:cs typeface="Times New Roman"/>
                  <a:sym typeface="Times New Roman"/>
                </a:rPr>
                <a:t>ns Security Establishment (CSE)</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Canadian Centre for Cyber Security</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Safe Super Intelligence (SSI)</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Public Safety Canada</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Standards Council of Canada (SCC)</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Digital Governance Council (Canada)</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Canadian Institute for Advanced Research (CIFAR) – AI &amp; Society Program</a:t>
              </a:r>
            </a:p>
          </p:txBody>
        </p:sp>
        <p:sp>
          <p:nvSpPr>
            <p:cNvPr name="TextBox 18" id="18"/>
            <p:cNvSpPr txBox="true"/>
            <p:nvPr/>
          </p:nvSpPr>
          <p:spPr>
            <a:xfrm rot="5400000">
              <a:off x="-1021617" y="1021617"/>
              <a:ext cx="2345071" cy="301837"/>
            </a:xfrm>
            <a:prstGeom prst="rect">
              <a:avLst/>
            </a:prstGeom>
          </p:spPr>
          <p:txBody>
            <a:bodyPr anchor="t" rtlCol="false" tIns="0" lIns="0" bIns="0" rIns="0">
              <a:spAutoFit/>
            </a:bodyPr>
            <a:lstStyle/>
            <a:p>
              <a:pPr algn="just">
                <a:lnSpc>
                  <a:spcPts val="1599"/>
                </a:lnSpc>
                <a:spcBef>
                  <a:spcPct val="0"/>
                </a:spcBef>
              </a:pPr>
              <a:r>
                <a:rPr lang="en-US" sz="1599" spc="-47">
                  <a:solidFill>
                    <a:srgbClr val="000000">
                      <a:alpha val="49804"/>
                    </a:srgbClr>
                  </a:solidFill>
                  <a:latin typeface="Times New Roman"/>
                  <a:ea typeface="Times New Roman"/>
                  <a:cs typeface="Times New Roman"/>
                  <a:sym typeface="Times New Roman"/>
                </a:rPr>
                <a:t>Government/Enforce</a:t>
              </a:r>
            </a:p>
          </p:txBody>
        </p:sp>
      </p:grpSp>
      <p:sp>
        <p:nvSpPr>
          <p:cNvPr name="AutoShape 19" id="19"/>
          <p:cNvSpPr/>
          <p:nvPr/>
        </p:nvSpPr>
        <p:spPr>
          <a:xfrm>
            <a:off x="1028700" y="3801018"/>
            <a:ext cx="10936592" cy="0"/>
          </a:xfrm>
          <a:prstGeom prst="line">
            <a:avLst/>
          </a:prstGeom>
          <a:ln cap="flat" w="9525">
            <a:solidFill>
              <a:srgbClr val="000000">
                <a:alpha val="49804"/>
              </a:srgbClr>
            </a:solidFill>
            <a:prstDash val="solid"/>
            <a:headEnd type="none" len="sm" w="sm"/>
            <a:tailEnd type="none" len="sm" w="sm"/>
          </a:ln>
        </p:spPr>
      </p:sp>
      <p:grpSp>
        <p:nvGrpSpPr>
          <p:cNvPr name="Group 20" id="20"/>
          <p:cNvGrpSpPr/>
          <p:nvPr/>
        </p:nvGrpSpPr>
        <p:grpSpPr>
          <a:xfrm rot="0">
            <a:off x="1047227" y="4172890"/>
            <a:ext cx="10918065" cy="1797124"/>
            <a:chOff x="0" y="0"/>
            <a:chExt cx="14557421" cy="2396165"/>
          </a:xfrm>
        </p:grpSpPr>
        <p:sp>
          <p:nvSpPr>
            <p:cNvPr name="TextBox 21" id="21"/>
            <p:cNvSpPr txBox="true"/>
            <p:nvPr/>
          </p:nvSpPr>
          <p:spPr>
            <a:xfrm rot="0">
              <a:off x="808506" y="9525"/>
              <a:ext cx="3124733" cy="2339629"/>
            </a:xfrm>
            <a:prstGeom prst="rect">
              <a:avLst/>
            </a:prstGeom>
          </p:spPr>
          <p:txBody>
            <a:bodyPr anchor="t" rtlCol="false" tIns="0" lIns="0" bIns="0" rIns="0">
              <a:spAutoFit/>
            </a:bodyPr>
            <a:lstStyle/>
            <a:p>
              <a:pPr algn="l">
                <a:lnSpc>
                  <a:spcPts val="1752"/>
                </a:lnSpc>
                <a:spcBef>
                  <a:spcPct val="0"/>
                </a:spcBef>
              </a:pPr>
              <a:r>
                <a:rPr lang="en-US" sz="1752" spc="-52">
                  <a:solidFill>
                    <a:srgbClr val="000000"/>
                  </a:solidFill>
                  <a:latin typeface="Times New Roman"/>
                  <a:ea typeface="Times New Roman"/>
                  <a:cs typeface="Times New Roman"/>
                  <a:sym typeface="Times New Roman"/>
                </a:rPr>
                <a:t>OpenAI / GPT</a:t>
              </a:r>
              <a:r>
                <a:rPr lang="en-US" sz="1752" spc="-52">
                  <a:solidFill>
                    <a:srgbClr val="000000"/>
                  </a:solidFill>
                  <a:latin typeface="Times New Roman"/>
                  <a:ea typeface="Times New Roman"/>
                  <a:cs typeface="Times New Roman"/>
                  <a:sym typeface="Times New Roman"/>
                </a:rPr>
                <a:t> Series</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Google DeepMind / Gemini</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Anthropic / ClaudexAI </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Grok</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Amazon / Nova</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Meta AI / Llama</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Mistral AI</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Hugging Face</a:t>
              </a:r>
            </a:p>
          </p:txBody>
        </p:sp>
        <p:sp>
          <p:nvSpPr>
            <p:cNvPr name="TextBox 22" id="22"/>
            <p:cNvSpPr txBox="true"/>
            <p:nvPr/>
          </p:nvSpPr>
          <p:spPr>
            <a:xfrm rot="0">
              <a:off x="7953780" y="9525"/>
              <a:ext cx="2942489" cy="2339629"/>
            </a:xfrm>
            <a:prstGeom prst="rect">
              <a:avLst/>
            </a:prstGeom>
          </p:spPr>
          <p:txBody>
            <a:bodyPr anchor="t" rtlCol="false" tIns="0" lIns="0" bIns="0" rIns="0">
              <a:spAutoFit/>
            </a:bodyPr>
            <a:lstStyle/>
            <a:p>
              <a:pPr algn="l">
                <a:lnSpc>
                  <a:spcPts val="1752"/>
                </a:lnSpc>
                <a:spcBef>
                  <a:spcPct val="0"/>
                </a:spcBef>
              </a:pPr>
              <a:r>
                <a:rPr lang="en-US" sz="1752" spc="-52">
                  <a:solidFill>
                    <a:srgbClr val="000000"/>
                  </a:solidFill>
                  <a:latin typeface="Times New Roman"/>
                  <a:ea typeface="Times New Roman"/>
                  <a:cs typeface="Times New Roman"/>
                  <a:sym typeface="Times New Roman"/>
                </a:rPr>
                <a:t>Content Creators &amp;</a:t>
              </a:r>
              <a:r>
                <a:rPr lang="en-US" sz="1752" spc="-52">
                  <a:solidFill>
                    <a:srgbClr val="000000"/>
                  </a:solidFill>
                  <a:latin typeface="Times New Roman"/>
                  <a:ea typeface="Times New Roman"/>
                  <a:cs typeface="Times New Roman"/>
                  <a:sym typeface="Times New Roman"/>
                </a:rPr>
                <a:t> Artists</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Social Media Contributors</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Freelance Annotators</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Open Source Contributors</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Podcast Creators</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Enterprise Data Teams</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Healthcare Providers</a:t>
              </a:r>
            </a:p>
            <a:p>
              <a:pPr algn="l">
                <a:lnSpc>
                  <a:spcPts val="1752"/>
                </a:lnSpc>
                <a:spcBef>
                  <a:spcPct val="0"/>
                </a:spcBef>
              </a:pPr>
              <a:r>
                <a:rPr lang="en-US" sz="1752" spc="-52">
                  <a:solidFill>
                    <a:srgbClr val="000000"/>
                  </a:solidFill>
                  <a:latin typeface="Times New Roman"/>
                  <a:ea typeface="Times New Roman"/>
                  <a:cs typeface="Times New Roman"/>
                  <a:sym typeface="Times New Roman"/>
                </a:rPr>
                <a:t>Financial Institutions</a:t>
              </a:r>
            </a:p>
          </p:txBody>
        </p:sp>
        <p:sp>
          <p:nvSpPr>
            <p:cNvPr name="TextBox 23" id="23"/>
            <p:cNvSpPr txBox="true"/>
            <p:nvPr/>
          </p:nvSpPr>
          <p:spPr>
            <a:xfrm rot="0">
              <a:off x="11409084" y="9525"/>
              <a:ext cx="3148336" cy="2386640"/>
            </a:xfrm>
            <a:prstGeom prst="rect">
              <a:avLst/>
            </a:prstGeom>
          </p:spPr>
          <p:txBody>
            <a:bodyPr anchor="t" rtlCol="false" tIns="0" lIns="0" bIns="0" rIns="0">
              <a:spAutoFit/>
            </a:bodyPr>
            <a:lstStyle/>
            <a:p>
              <a:pPr algn="r">
                <a:lnSpc>
                  <a:spcPts val="1752"/>
                </a:lnSpc>
                <a:spcBef>
                  <a:spcPct val="0"/>
                </a:spcBef>
              </a:pPr>
              <a:r>
                <a:rPr lang="en-US" sz="1752" spc="-52">
                  <a:solidFill>
                    <a:srgbClr val="000000"/>
                  </a:solidFill>
                  <a:latin typeface="Times New Roman"/>
                  <a:ea typeface="Times New Roman"/>
                  <a:cs typeface="Times New Roman"/>
                  <a:sym typeface="Times New Roman"/>
                </a:rPr>
                <a:t>Academic Researche</a:t>
              </a:r>
              <a:r>
                <a:rPr lang="en-US" sz="1752" spc="-52">
                  <a:solidFill>
                    <a:srgbClr val="000000"/>
                  </a:solidFill>
                  <a:latin typeface="Times New Roman"/>
                  <a:ea typeface="Times New Roman"/>
                  <a:cs typeface="Times New Roman"/>
                  <a:sym typeface="Times New Roman"/>
                </a:rPr>
                <a:t>rs</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Legal &amp; Law Firms</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Insurance Companies</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Pharmaceutical R&amp;D</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Government Open Data</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Weather &amp; Climate Services</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Public Libraries &amp; Archive</a:t>
              </a:r>
            </a:p>
            <a:p>
              <a:pPr algn="r">
                <a:lnSpc>
                  <a:spcPts val="1752"/>
                </a:lnSpc>
                <a:spcBef>
                  <a:spcPct val="0"/>
                </a:spcBef>
              </a:pPr>
              <a:r>
                <a:rPr lang="en-US" sz="1752" spc="-52">
                  <a:solidFill>
                    <a:srgbClr val="000000"/>
                  </a:solidFill>
                  <a:latin typeface="Times New Roman"/>
                  <a:ea typeface="Times New Roman"/>
                  <a:cs typeface="Times New Roman"/>
                  <a:sym typeface="Times New Roman"/>
                </a:rPr>
                <a:t>End Users</a:t>
              </a:r>
            </a:p>
          </p:txBody>
        </p:sp>
        <p:sp>
          <p:nvSpPr>
            <p:cNvPr name="TextBox 24" id="24"/>
            <p:cNvSpPr txBox="true"/>
            <p:nvPr/>
          </p:nvSpPr>
          <p:spPr>
            <a:xfrm rot="5400000">
              <a:off x="-1021617" y="1021617"/>
              <a:ext cx="2345071" cy="301837"/>
            </a:xfrm>
            <a:prstGeom prst="rect">
              <a:avLst/>
            </a:prstGeom>
          </p:spPr>
          <p:txBody>
            <a:bodyPr anchor="t" rtlCol="false" tIns="0" lIns="0" bIns="0" rIns="0">
              <a:spAutoFit/>
            </a:bodyPr>
            <a:lstStyle/>
            <a:p>
              <a:pPr algn="just">
                <a:lnSpc>
                  <a:spcPts val="1599"/>
                </a:lnSpc>
                <a:spcBef>
                  <a:spcPct val="0"/>
                </a:spcBef>
              </a:pPr>
              <a:r>
                <a:rPr lang="en-US" sz="1599" spc="-47">
                  <a:solidFill>
                    <a:srgbClr val="000000">
                      <a:alpha val="49804"/>
                    </a:srgbClr>
                  </a:solidFill>
                  <a:latin typeface="Times New Roman"/>
                  <a:ea typeface="Times New Roman"/>
                  <a:cs typeface="Times New Roman"/>
                  <a:sym typeface="Times New Roman"/>
                </a:rPr>
                <a:t>AI Enterprises</a:t>
              </a:r>
            </a:p>
          </p:txBody>
        </p:sp>
        <p:sp>
          <p:nvSpPr>
            <p:cNvPr name="TextBox 25" id="25"/>
            <p:cNvSpPr txBox="true"/>
            <p:nvPr/>
          </p:nvSpPr>
          <p:spPr>
            <a:xfrm rot="5400000">
              <a:off x="6122899" y="1021617"/>
              <a:ext cx="2345071" cy="301837"/>
            </a:xfrm>
            <a:prstGeom prst="rect">
              <a:avLst/>
            </a:prstGeom>
          </p:spPr>
          <p:txBody>
            <a:bodyPr anchor="t" rtlCol="false" tIns="0" lIns="0" bIns="0" rIns="0">
              <a:spAutoFit/>
            </a:bodyPr>
            <a:lstStyle/>
            <a:p>
              <a:pPr algn="just">
                <a:lnSpc>
                  <a:spcPts val="1599"/>
                </a:lnSpc>
                <a:spcBef>
                  <a:spcPct val="0"/>
                </a:spcBef>
              </a:pPr>
              <a:r>
                <a:rPr lang="en-US" sz="1599" spc="-47">
                  <a:solidFill>
                    <a:srgbClr val="000000">
                      <a:alpha val="49804"/>
                    </a:srgbClr>
                  </a:solidFill>
                  <a:latin typeface="Times New Roman"/>
                  <a:ea typeface="Times New Roman"/>
                  <a:cs typeface="Times New Roman"/>
                  <a:sym typeface="Times New Roman"/>
                </a:rPr>
                <a:t>User/Data Agencies</a:t>
              </a:r>
            </a:p>
          </p:txBody>
        </p:sp>
      </p:grpSp>
      <p:sp>
        <p:nvSpPr>
          <p:cNvPr name="TextBox 26" id="26"/>
          <p:cNvSpPr txBox="true"/>
          <p:nvPr/>
        </p:nvSpPr>
        <p:spPr>
          <a:xfrm rot="0">
            <a:off x="13161392" y="1727493"/>
            <a:ext cx="4097908" cy="549275"/>
          </a:xfrm>
          <a:prstGeom prst="rect">
            <a:avLst/>
          </a:prstGeom>
        </p:spPr>
        <p:txBody>
          <a:bodyPr anchor="t" rtlCol="false" tIns="0" lIns="0" bIns="0" rIns="0">
            <a:spAutoFit/>
          </a:bodyPr>
          <a:lstStyle/>
          <a:p>
            <a:pPr algn="r">
              <a:lnSpc>
                <a:spcPts val="3999"/>
              </a:lnSpc>
              <a:spcBef>
                <a:spcPct val="0"/>
              </a:spcBef>
            </a:pPr>
            <a:r>
              <a:rPr lang="en-US" sz="3999" spc="-119">
                <a:solidFill>
                  <a:srgbClr val="000000"/>
                </a:solidFill>
                <a:latin typeface="Times New Roman"/>
                <a:ea typeface="Times New Roman"/>
                <a:cs typeface="Times New Roman"/>
                <a:sym typeface="Times New Roman"/>
              </a:rPr>
              <a:t>Stakeholder Mapping</a:t>
            </a:r>
          </a:p>
        </p:txBody>
      </p:sp>
      <p:sp>
        <p:nvSpPr>
          <p:cNvPr name="TextBox 27" id="27"/>
          <p:cNvSpPr txBox="true"/>
          <p:nvPr/>
        </p:nvSpPr>
        <p:spPr>
          <a:xfrm rot="0">
            <a:off x="15103704" y="3067593"/>
            <a:ext cx="2155596" cy="733425"/>
          </a:xfrm>
          <a:prstGeom prst="rect">
            <a:avLst/>
          </a:prstGeom>
        </p:spPr>
        <p:txBody>
          <a:bodyPr anchor="t" rtlCol="false" tIns="0" lIns="0" bIns="0" rIns="0">
            <a:spAutoFit/>
          </a:bodyPr>
          <a:lstStyle/>
          <a:p>
            <a:pPr algn="l">
              <a:lnSpc>
                <a:spcPts val="1919"/>
              </a:lnSpc>
            </a:pPr>
            <a:r>
              <a:rPr lang="en-US" sz="1599" spc="-47">
                <a:solidFill>
                  <a:srgbClr val="000000">
                    <a:alpha val="49804"/>
                  </a:srgbClr>
                </a:solidFill>
                <a:latin typeface="Times New Roman"/>
                <a:ea typeface="Times New Roman"/>
                <a:cs typeface="Times New Roman"/>
                <a:sym typeface="Times New Roman"/>
              </a:rPr>
              <a:t>Layer I - Governing Bodies</a:t>
            </a:r>
          </a:p>
          <a:p>
            <a:pPr algn="l">
              <a:lnSpc>
                <a:spcPts val="1919"/>
              </a:lnSpc>
            </a:pPr>
            <a:r>
              <a:rPr lang="en-US" sz="1599" spc="-47">
                <a:solidFill>
                  <a:srgbClr val="000000">
                    <a:alpha val="49804"/>
                  </a:srgbClr>
                </a:solidFill>
                <a:latin typeface="Times New Roman"/>
                <a:ea typeface="Times New Roman"/>
                <a:cs typeface="Times New Roman"/>
                <a:sym typeface="Times New Roman"/>
              </a:rPr>
              <a:t>Layer II - Regulated Entities</a:t>
            </a:r>
          </a:p>
          <a:p>
            <a:pPr algn="l">
              <a:lnSpc>
                <a:spcPts val="1919"/>
              </a:lnSpc>
            </a:pPr>
            <a:r>
              <a:rPr lang="en-US" sz="1599" spc="-47">
                <a:solidFill>
                  <a:srgbClr val="000000">
                    <a:alpha val="49804"/>
                  </a:srgbClr>
                </a:solidFill>
                <a:latin typeface="Times New Roman"/>
                <a:ea typeface="Times New Roman"/>
                <a:cs typeface="Times New Roman"/>
                <a:sym typeface="Times New Roman"/>
              </a:rPr>
              <a:t>Layer III - Affected Parties</a:t>
            </a:r>
          </a:p>
        </p:txBody>
      </p:sp>
      <p:sp>
        <p:nvSpPr>
          <p:cNvPr name="TextBox 28" id="28"/>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82527" y="6194135"/>
            <a:ext cx="372160" cy="319825"/>
            <a:chOff x="0" y="0"/>
            <a:chExt cx="812800" cy="698500"/>
          </a:xfrm>
        </p:grpSpPr>
        <p:sp>
          <p:nvSpPr>
            <p:cNvPr name="Freeform 3" id="3"/>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ln w="19050" cap="sq">
              <a:solidFill>
                <a:srgbClr val="000000"/>
              </a:solidFill>
              <a:prstDash val="solid"/>
              <a:miter/>
            </a:ln>
          </p:spPr>
        </p:sp>
        <p:sp>
          <p:nvSpPr>
            <p:cNvPr name="TextBox 4" id="4"/>
            <p:cNvSpPr txBox="true"/>
            <p:nvPr/>
          </p:nvSpPr>
          <p:spPr>
            <a:xfrm>
              <a:off x="114300" y="28575"/>
              <a:ext cx="584200" cy="669925"/>
            </a:xfrm>
            <a:prstGeom prst="rect">
              <a:avLst/>
            </a:prstGeom>
          </p:spPr>
          <p:txBody>
            <a:bodyPr anchor="ctr" rtlCol="false" tIns="36709" lIns="36709" bIns="36709" rIns="36709"/>
            <a:lstStyle/>
            <a:p>
              <a:pPr algn="ctr">
                <a:lnSpc>
                  <a:spcPts val="1599"/>
                </a:lnSpc>
              </a:pPr>
            </a:p>
          </p:txBody>
        </p:sp>
      </p:grpSp>
      <p:grpSp>
        <p:nvGrpSpPr>
          <p:cNvPr name="Group 5" id="5"/>
          <p:cNvGrpSpPr/>
          <p:nvPr/>
        </p:nvGrpSpPr>
        <p:grpSpPr>
          <a:xfrm rot="0">
            <a:off x="5291634" y="6194135"/>
            <a:ext cx="372160" cy="348405"/>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ln w="19050" cap="sq">
              <a:solidFill>
                <a:srgbClr val="000000"/>
              </a:solidFill>
              <a:prstDash val="solid"/>
              <a:miter/>
            </a:ln>
          </p:spPr>
        </p:sp>
        <p:sp>
          <p:nvSpPr>
            <p:cNvPr name="TextBox 7" id="7"/>
            <p:cNvSpPr txBox="true"/>
            <p:nvPr/>
          </p:nvSpPr>
          <p:spPr>
            <a:xfrm>
              <a:off x="101600" y="161925"/>
              <a:ext cx="393700" cy="263525"/>
            </a:xfrm>
            <a:prstGeom prst="rect">
              <a:avLst/>
            </a:prstGeom>
          </p:spPr>
          <p:txBody>
            <a:bodyPr anchor="ctr" rtlCol="false" tIns="36709" lIns="36709" bIns="36709" rIns="36709"/>
            <a:lstStyle/>
            <a:p>
              <a:pPr algn="ctr">
                <a:lnSpc>
                  <a:spcPts val="1599"/>
                </a:lnSpc>
              </a:pPr>
            </a:p>
          </p:txBody>
        </p:sp>
      </p:grpSp>
      <p:sp>
        <p:nvSpPr>
          <p:cNvPr name="TextBox 8" id="8"/>
          <p:cNvSpPr txBox="true"/>
          <p:nvPr/>
        </p:nvSpPr>
        <p:spPr>
          <a:xfrm rot="0">
            <a:off x="6335200" y="6313420"/>
            <a:ext cx="3171028" cy="656508"/>
          </a:xfrm>
          <a:prstGeom prst="rect">
            <a:avLst/>
          </a:prstGeom>
        </p:spPr>
        <p:txBody>
          <a:bodyPr anchor="t" rtlCol="false" tIns="0" lIns="0" bIns="0" rIns="0">
            <a:spAutoFit/>
          </a:bodyPr>
          <a:lstStyle/>
          <a:p>
            <a:pPr algn="ctr">
              <a:lnSpc>
                <a:spcPts val="4755"/>
              </a:lnSpc>
            </a:pPr>
            <a:r>
              <a:rPr lang="en-US" b="true" sz="4755" spc="-190">
                <a:solidFill>
                  <a:srgbClr val="000000"/>
                </a:solidFill>
                <a:latin typeface="Times New Roman Bold"/>
                <a:ea typeface="Times New Roman Bold"/>
                <a:cs typeface="Times New Roman Bold"/>
                <a:sym typeface="Times New Roman Bold"/>
              </a:rPr>
              <a:t>reward token</a:t>
            </a:r>
          </a:p>
        </p:txBody>
      </p:sp>
      <p:grpSp>
        <p:nvGrpSpPr>
          <p:cNvPr name="Group 9" id="9"/>
          <p:cNvGrpSpPr/>
          <p:nvPr/>
        </p:nvGrpSpPr>
        <p:grpSpPr>
          <a:xfrm rot="0">
            <a:off x="9439298" y="6159931"/>
            <a:ext cx="388233" cy="38823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ln w="19050" cap="sq">
              <a:solidFill>
                <a:srgbClr val="000000"/>
              </a:solidFill>
              <a:prstDash val="solid"/>
              <a:miter/>
            </a:ln>
          </p:spPr>
        </p:sp>
        <p:sp>
          <p:nvSpPr>
            <p:cNvPr name="TextBox 11" id="11"/>
            <p:cNvSpPr txBox="true"/>
            <p:nvPr/>
          </p:nvSpPr>
          <p:spPr>
            <a:xfrm>
              <a:off x="127000" y="146050"/>
              <a:ext cx="558800" cy="539750"/>
            </a:xfrm>
            <a:prstGeom prst="rect">
              <a:avLst/>
            </a:prstGeom>
          </p:spPr>
          <p:txBody>
            <a:bodyPr anchor="ctr" rtlCol="false" tIns="36709" lIns="36709" bIns="36709" rIns="36709"/>
            <a:lstStyle/>
            <a:p>
              <a:pPr algn="ctr">
                <a:lnSpc>
                  <a:spcPts val="1799"/>
                </a:lnSpc>
              </a:pPr>
            </a:p>
          </p:txBody>
        </p:sp>
      </p:grpSp>
      <p:sp>
        <p:nvSpPr>
          <p:cNvPr name="AutoShape 12" id="12"/>
          <p:cNvSpPr/>
          <p:nvPr/>
        </p:nvSpPr>
        <p:spPr>
          <a:xfrm>
            <a:off x="5999497" y="6159931"/>
            <a:ext cx="0" cy="809996"/>
          </a:xfrm>
          <a:prstGeom prst="line">
            <a:avLst/>
          </a:prstGeom>
          <a:ln cap="flat" w="19050">
            <a:solidFill>
              <a:srgbClr val="000000">
                <a:alpha val="29804"/>
              </a:srgbClr>
            </a:solidFill>
            <a:prstDash val="solid"/>
            <a:headEnd type="none" len="sm" w="sm"/>
            <a:tailEnd type="none" len="sm" w="sm"/>
          </a:ln>
        </p:spPr>
      </p:sp>
      <p:sp>
        <p:nvSpPr>
          <p:cNvPr name="AutoShape 13" id="13"/>
          <p:cNvSpPr/>
          <p:nvPr/>
        </p:nvSpPr>
        <p:spPr>
          <a:xfrm>
            <a:off x="10163234" y="6159931"/>
            <a:ext cx="0" cy="809996"/>
          </a:xfrm>
          <a:prstGeom prst="line">
            <a:avLst/>
          </a:prstGeom>
          <a:ln cap="flat" w="19050">
            <a:solidFill>
              <a:srgbClr val="000000">
                <a:alpha val="29804"/>
              </a:srgbClr>
            </a:solidFill>
            <a:prstDash val="solid"/>
            <a:headEnd type="none" len="sm" w="sm"/>
            <a:tailEnd type="none" len="sm" w="sm"/>
          </a:ln>
        </p:spPr>
      </p:sp>
      <p:sp>
        <p:nvSpPr>
          <p:cNvPr name="AutoShape 14" id="14"/>
          <p:cNvSpPr/>
          <p:nvPr/>
        </p:nvSpPr>
        <p:spPr>
          <a:xfrm>
            <a:off x="1028700" y="5996331"/>
            <a:ext cx="16230600" cy="0"/>
          </a:xfrm>
          <a:prstGeom prst="line">
            <a:avLst/>
          </a:prstGeom>
          <a:ln cap="flat" w="9525">
            <a:solidFill>
              <a:srgbClr val="000000">
                <a:alpha val="49804"/>
              </a:srgbClr>
            </a:solidFill>
            <a:prstDash val="solid"/>
            <a:headEnd type="none" len="sm" w="sm"/>
            <a:tailEnd type="none" len="sm" w="sm"/>
          </a:ln>
        </p:spPr>
      </p:sp>
      <p:sp>
        <p:nvSpPr>
          <p:cNvPr name="Freeform 15" id="15"/>
          <p:cNvSpPr/>
          <p:nvPr/>
        </p:nvSpPr>
        <p:spPr>
          <a:xfrm flipH="false" flipV="false" rot="0">
            <a:off x="1028700" y="1376362"/>
            <a:ext cx="16230600" cy="4096441"/>
          </a:xfrm>
          <a:custGeom>
            <a:avLst/>
            <a:gdLst/>
            <a:ahLst/>
            <a:cxnLst/>
            <a:rect r="r" b="b" t="t" l="l"/>
            <a:pathLst>
              <a:path h="4096441" w="16230600">
                <a:moveTo>
                  <a:pt x="0" y="0"/>
                </a:moveTo>
                <a:lnTo>
                  <a:pt x="16230600" y="0"/>
                </a:lnTo>
                <a:lnTo>
                  <a:pt x="16230600" y="4096442"/>
                </a:lnTo>
                <a:lnTo>
                  <a:pt x="0" y="4096442"/>
                </a:lnTo>
                <a:lnTo>
                  <a:pt x="0" y="0"/>
                </a:lnTo>
                <a:close/>
              </a:path>
            </a:pathLst>
          </a:custGeom>
          <a:blipFill>
            <a:blip r:embed="rId2"/>
            <a:stretch>
              <a:fillRect l="0" t="-140851" r="0" b="-44916"/>
            </a:stretch>
          </a:blipFill>
        </p:spPr>
      </p:sp>
      <p:grpSp>
        <p:nvGrpSpPr>
          <p:cNvPr name="Group 16" id="16"/>
          <p:cNvGrpSpPr/>
          <p:nvPr/>
        </p:nvGrpSpPr>
        <p:grpSpPr>
          <a:xfrm rot="0">
            <a:off x="1028700" y="1376362"/>
            <a:ext cx="2684079" cy="891901"/>
            <a:chOff x="0" y="0"/>
            <a:chExt cx="3578772" cy="1189201"/>
          </a:xfrm>
        </p:grpSpPr>
        <p:grpSp>
          <p:nvGrpSpPr>
            <p:cNvPr name="Group 17" id="17"/>
            <p:cNvGrpSpPr/>
            <p:nvPr/>
          </p:nvGrpSpPr>
          <p:grpSpPr>
            <a:xfrm rot="0">
              <a:off x="3046449" y="0"/>
              <a:ext cx="532323" cy="555196"/>
              <a:chOff x="0" y="0"/>
              <a:chExt cx="584874" cy="610004"/>
            </a:xfrm>
          </p:grpSpPr>
          <p:sp>
            <p:nvSpPr>
              <p:cNvPr name="Freeform 18" id="18"/>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FFFFFF"/>
              </a:solidFill>
            </p:spPr>
          </p:sp>
          <p:sp>
            <p:nvSpPr>
              <p:cNvPr name="TextBox 19" id="19"/>
              <p:cNvSpPr txBox="true"/>
              <p:nvPr/>
            </p:nvSpPr>
            <p:spPr>
              <a:xfrm>
                <a:off x="137617" y="172105"/>
                <a:ext cx="309639" cy="294368"/>
              </a:xfrm>
              <a:prstGeom prst="rect">
                <a:avLst/>
              </a:prstGeom>
            </p:spPr>
            <p:txBody>
              <a:bodyPr anchor="ctr" rtlCol="false" tIns="31993" lIns="31993" bIns="31993" rIns="31993"/>
              <a:lstStyle/>
              <a:p>
                <a:pPr algn="ctr">
                  <a:lnSpc>
                    <a:spcPts val="1599"/>
                  </a:lnSpc>
                </a:pPr>
              </a:p>
            </p:txBody>
          </p:sp>
        </p:grpSp>
        <p:sp>
          <p:nvSpPr>
            <p:cNvPr name="TextBox 20" id="20"/>
            <p:cNvSpPr txBox="true"/>
            <p:nvPr/>
          </p:nvSpPr>
          <p:spPr>
            <a:xfrm rot="0">
              <a:off x="0" y="313723"/>
              <a:ext cx="3188709" cy="875478"/>
            </a:xfrm>
            <a:prstGeom prst="rect">
              <a:avLst/>
            </a:prstGeom>
          </p:spPr>
          <p:txBody>
            <a:bodyPr anchor="t" rtlCol="false" tIns="0" lIns="0" bIns="0" rIns="0">
              <a:spAutoFit/>
            </a:bodyPr>
            <a:lstStyle/>
            <a:p>
              <a:pPr algn="ctr">
                <a:lnSpc>
                  <a:spcPts val="4656"/>
                </a:lnSpc>
              </a:pPr>
              <a:r>
                <a:rPr lang="en-US" b="true" sz="4656" spc="-186">
                  <a:solidFill>
                    <a:srgbClr val="FFFFFF"/>
                  </a:solidFill>
                  <a:latin typeface="Times New Roman Bold"/>
                  <a:ea typeface="Times New Roman Bold"/>
                  <a:cs typeface="Times New Roman Bold"/>
                  <a:sym typeface="Times New Roman Bold"/>
                </a:rPr>
                <a:t>tokentrust</a:t>
              </a:r>
            </a:p>
          </p:txBody>
        </p:sp>
      </p:grpSp>
      <p:sp>
        <p:nvSpPr>
          <p:cNvPr name="TextBox 21" id="21"/>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22" id="22"/>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23" id="2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Service Components</a:t>
            </a:r>
          </a:p>
        </p:txBody>
      </p:sp>
      <p:sp>
        <p:nvSpPr>
          <p:cNvPr name="TextBox 24" id="24"/>
          <p:cNvSpPr txBox="true"/>
          <p:nvPr/>
        </p:nvSpPr>
        <p:spPr>
          <a:xfrm rot="0">
            <a:off x="10498937" y="6313420"/>
            <a:ext cx="2624323" cy="656508"/>
          </a:xfrm>
          <a:prstGeom prst="rect">
            <a:avLst/>
          </a:prstGeom>
        </p:spPr>
        <p:txBody>
          <a:bodyPr anchor="t" rtlCol="false" tIns="0" lIns="0" bIns="0" rIns="0">
            <a:spAutoFit/>
          </a:bodyPr>
          <a:lstStyle/>
          <a:p>
            <a:pPr algn="ctr">
              <a:lnSpc>
                <a:spcPts val="4755"/>
              </a:lnSpc>
            </a:pPr>
            <a:r>
              <a:rPr lang="en-US" b="true" sz="4755" spc="-190">
                <a:solidFill>
                  <a:srgbClr val="000000"/>
                </a:solidFill>
                <a:latin typeface="Times New Roman Bold"/>
                <a:ea typeface="Times New Roman Bold"/>
                <a:cs typeface="Times New Roman Bold"/>
                <a:sym typeface="Times New Roman Bold"/>
              </a:rPr>
              <a:t>data credit</a:t>
            </a:r>
          </a:p>
        </p:txBody>
      </p:sp>
      <p:sp>
        <p:nvSpPr>
          <p:cNvPr name="TextBox 25" id="25"/>
          <p:cNvSpPr txBox="true"/>
          <p:nvPr/>
        </p:nvSpPr>
        <p:spPr>
          <a:xfrm rot="0">
            <a:off x="1028700" y="6313420"/>
            <a:ext cx="4229759" cy="656508"/>
          </a:xfrm>
          <a:prstGeom prst="rect">
            <a:avLst/>
          </a:prstGeom>
        </p:spPr>
        <p:txBody>
          <a:bodyPr anchor="t" rtlCol="false" tIns="0" lIns="0" bIns="0" rIns="0">
            <a:spAutoFit/>
          </a:bodyPr>
          <a:lstStyle/>
          <a:p>
            <a:pPr algn="ctr">
              <a:lnSpc>
                <a:spcPts val="4755"/>
              </a:lnSpc>
            </a:pPr>
            <a:r>
              <a:rPr lang="en-US" b="true" sz="4755" spc="-190">
                <a:solidFill>
                  <a:srgbClr val="000000"/>
                </a:solidFill>
                <a:latin typeface="Times New Roman Bold"/>
                <a:ea typeface="Times New Roman Bold"/>
                <a:cs typeface="Times New Roman Bold"/>
                <a:sym typeface="Times New Roman Bold"/>
              </a:rPr>
              <a:t>data quality index</a:t>
            </a:r>
          </a:p>
        </p:txBody>
      </p:sp>
      <p:sp>
        <p:nvSpPr>
          <p:cNvPr name="TextBox 26" id="26"/>
          <p:cNvSpPr txBox="true"/>
          <p:nvPr/>
        </p:nvSpPr>
        <p:spPr>
          <a:xfrm rot="0">
            <a:off x="9850074" y="7436546"/>
            <a:ext cx="7409226" cy="774700"/>
          </a:xfrm>
          <a:prstGeom prst="rect">
            <a:avLst/>
          </a:prstGeom>
        </p:spPr>
        <p:txBody>
          <a:bodyPr anchor="t" rtlCol="false" tIns="0" lIns="0" bIns="0" rIns="0">
            <a:spAutoFit/>
          </a:bodyPr>
          <a:lstStyle/>
          <a:p>
            <a:pPr algn="r">
              <a:lnSpc>
                <a:spcPts val="2000"/>
              </a:lnSpc>
              <a:spcBef>
                <a:spcPct val="0"/>
              </a:spcBef>
            </a:pPr>
            <a:r>
              <a:rPr lang="en-US" sz="2000" spc="-60">
                <a:solidFill>
                  <a:srgbClr val="000000"/>
                </a:solidFill>
                <a:latin typeface="Times New Roman"/>
                <a:ea typeface="Times New Roman"/>
                <a:cs typeface="Times New Roman"/>
                <a:sym typeface="Times New Roman"/>
              </a:rPr>
              <a:t>DQI measures data worthiness, Reward Tokens translate that into direct</a:t>
            </a:r>
            <a:r>
              <a:rPr lang="en-US" sz="2000" spc="-60">
                <a:solidFill>
                  <a:srgbClr val="000000"/>
                </a:solidFill>
                <a:latin typeface="Times New Roman"/>
                <a:ea typeface="Times New Roman"/>
                <a:cs typeface="Times New Roman"/>
                <a:sym typeface="Times New Roman"/>
              </a:rPr>
              <a:t> compensation, and Data Credit converts accumulated value into purchasing power across the platform.</a:t>
            </a:r>
          </a:p>
        </p:txBody>
      </p:sp>
      <p:sp>
        <p:nvSpPr>
          <p:cNvPr name="TextBox 27" id="27"/>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25</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511886" y="6631087"/>
            <a:ext cx="9747414" cy="1997220"/>
            <a:chOff x="0" y="0"/>
            <a:chExt cx="12996552" cy="2662960"/>
          </a:xfrm>
        </p:grpSpPr>
        <p:sp>
          <p:nvSpPr>
            <p:cNvPr name="TextBox 3" id="3"/>
            <p:cNvSpPr txBox="true"/>
            <p:nvPr/>
          </p:nvSpPr>
          <p:spPr>
            <a:xfrm rot="0">
              <a:off x="0" y="299914"/>
              <a:ext cx="11860014" cy="1875366"/>
            </a:xfrm>
            <a:prstGeom prst="rect">
              <a:avLst/>
            </a:prstGeom>
          </p:spPr>
          <p:txBody>
            <a:bodyPr anchor="t" rtlCol="false" tIns="0" lIns="0" bIns="0" rIns="0">
              <a:spAutoFit/>
            </a:bodyPr>
            <a:lstStyle/>
            <a:p>
              <a:pPr algn="ctr">
                <a:lnSpc>
                  <a:spcPts val="9999"/>
                </a:lnSpc>
              </a:pPr>
              <a:r>
                <a:rPr lang="en-US" b="true" sz="9999" spc="-399">
                  <a:solidFill>
                    <a:srgbClr val="000000"/>
                  </a:solidFill>
                  <a:latin typeface="Times New Roman Bold"/>
                  <a:ea typeface="Times New Roman Bold"/>
                  <a:cs typeface="Times New Roman Bold"/>
                  <a:sym typeface="Times New Roman Bold"/>
                </a:rPr>
                <a:t>data quality index</a:t>
              </a:r>
            </a:p>
          </p:txBody>
        </p:sp>
        <p:grpSp>
          <p:nvGrpSpPr>
            <p:cNvPr name="Group 4" id="4"/>
            <p:cNvGrpSpPr/>
            <p:nvPr/>
          </p:nvGrpSpPr>
          <p:grpSpPr>
            <a:xfrm rot="0">
              <a:off x="11953035" y="0"/>
              <a:ext cx="1043517" cy="976910"/>
              <a:chOff x="0" y="0"/>
              <a:chExt cx="596900" cy="558800"/>
            </a:xfrm>
          </p:grpSpPr>
          <p:sp>
            <p:nvSpPr>
              <p:cNvPr name="Freeform 5" id="5"/>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ln w="66675" cap="sq">
                <a:solidFill>
                  <a:srgbClr val="000000"/>
                </a:solidFill>
                <a:prstDash val="solid"/>
                <a:miter/>
              </a:ln>
            </p:spPr>
          </p:sp>
          <p:sp>
            <p:nvSpPr>
              <p:cNvPr name="TextBox 6" id="6"/>
              <p:cNvSpPr txBox="true"/>
              <p:nvPr/>
            </p:nvSpPr>
            <p:spPr>
              <a:xfrm>
                <a:off x="101600" y="161925"/>
                <a:ext cx="393700" cy="263525"/>
              </a:xfrm>
              <a:prstGeom prst="rect">
                <a:avLst/>
              </a:prstGeom>
            </p:spPr>
            <p:txBody>
              <a:bodyPr anchor="ctr" rtlCol="false" tIns="50800" lIns="50800" bIns="50800" rIns="50800"/>
              <a:lstStyle/>
              <a:p>
                <a:pPr algn="ctr">
                  <a:lnSpc>
                    <a:spcPts val="1599"/>
                  </a:lnSpc>
                </a:pPr>
              </a:p>
            </p:txBody>
          </p:sp>
        </p:grpSp>
        <p:sp>
          <p:nvSpPr>
            <p:cNvPr name="TextBox 7" id="7"/>
            <p:cNvSpPr txBox="true"/>
            <p:nvPr/>
          </p:nvSpPr>
          <p:spPr>
            <a:xfrm rot="0">
              <a:off x="9215424" y="2203855"/>
              <a:ext cx="3781127" cy="459105"/>
            </a:xfrm>
            <a:prstGeom prst="rect">
              <a:avLst/>
            </a:prstGeom>
          </p:spPr>
          <p:txBody>
            <a:bodyPr anchor="t" rtlCol="false" tIns="0" lIns="0" bIns="0" rIns="0">
              <a:spAutoFit/>
            </a:bodyPr>
            <a:lstStyle/>
            <a:p>
              <a:pPr algn="ctr">
                <a:lnSpc>
                  <a:spcPts val="2400"/>
                </a:lnSpc>
                <a:spcBef>
                  <a:spcPct val="0"/>
                </a:spcBef>
              </a:pPr>
              <a:r>
                <a:rPr lang="en-US" sz="2400" spc="-72">
                  <a:solidFill>
                    <a:srgbClr val="000000"/>
                  </a:solidFill>
                  <a:latin typeface="Times New Roman"/>
                  <a:ea typeface="Times New Roman"/>
                  <a:cs typeface="Times New Roman"/>
                  <a:sym typeface="Times New Roman"/>
                </a:rPr>
                <a:t>“The </a:t>
              </a:r>
              <a:r>
                <a:rPr lang="en-US" sz="2400" spc="-72">
                  <a:solidFill>
                    <a:srgbClr val="000000"/>
                  </a:solidFill>
                  <a:latin typeface="Times New Roman"/>
                  <a:ea typeface="Times New Roman"/>
                  <a:cs typeface="Times New Roman"/>
                  <a:sym typeface="Times New Roman"/>
                </a:rPr>
                <a:t>worthiness of data”</a:t>
              </a:r>
            </a:p>
          </p:txBody>
        </p:sp>
      </p:grpSp>
      <p:sp>
        <p:nvSpPr>
          <p:cNvPr name="TextBox 8" id="8"/>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9" id="9"/>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10" id="10"/>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Service Component I</a:t>
            </a:r>
          </a:p>
        </p:txBody>
      </p:sp>
      <p:grpSp>
        <p:nvGrpSpPr>
          <p:cNvPr name="Group 11" id="11"/>
          <p:cNvGrpSpPr/>
          <p:nvPr/>
        </p:nvGrpSpPr>
        <p:grpSpPr>
          <a:xfrm rot="0">
            <a:off x="1028700" y="1028700"/>
            <a:ext cx="8082343" cy="2685707"/>
            <a:chOff x="0" y="0"/>
            <a:chExt cx="10776457" cy="3580942"/>
          </a:xfrm>
        </p:grpSpPr>
        <p:grpSp>
          <p:nvGrpSpPr>
            <p:cNvPr name="Group 12" id="12"/>
            <p:cNvGrpSpPr/>
            <p:nvPr/>
          </p:nvGrpSpPr>
          <p:grpSpPr>
            <a:xfrm rot="0">
              <a:off x="9173516" y="0"/>
              <a:ext cx="1602940" cy="1671814"/>
              <a:chOff x="0" y="0"/>
              <a:chExt cx="584874" cy="610004"/>
            </a:xfrm>
          </p:grpSpPr>
          <p:sp>
            <p:nvSpPr>
              <p:cNvPr name="Freeform 13" id="13"/>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alpha val="19608"/>
                </a:srgbClr>
              </a:solidFill>
            </p:spPr>
          </p:sp>
          <p:sp>
            <p:nvSpPr>
              <p:cNvPr name="TextBox 14" id="14"/>
              <p:cNvSpPr txBox="true"/>
              <p:nvPr/>
            </p:nvSpPr>
            <p:spPr>
              <a:xfrm>
                <a:off x="137617" y="172105"/>
                <a:ext cx="309639" cy="294368"/>
              </a:xfrm>
              <a:prstGeom prst="rect">
                <a:avLst/>
              </a:prstGeom>
            </p:spPr>
            <p:txBody>
              <a:bodyPr anchor="ctr" rtlCol="false" tIns="50800" lIns="50800" bIns="50800" rIns="50800"/>
              <a:lstStyle/>
              <a:p>
                <a:pPr algn="ctr">
                  <a:lnSpc>
                    <a:spcPts val="1599"/>
                  </a:lnSpc>
                </a:pPr>
              </a:p>
            </p:txBody>
          </p:sp>
        </p:grpSp>
        <p:sp>
          <p:nvSpPr>
            <p:cNvPr name="TextBox 15" id="15"/>
            <p:cNvSpPr txBox="true"/>
            <p:nvPr/>
          </p:nvSpPr>
          <p:spPr>
            <a:xfrm rot="0">
              <a:off x="0" y="943940"/>
              <a:ext cx="9601895" cy="2637003"/>
            </a:xfrm>
            <a:prstGeom prst="rect">
              <a:avLst/>
            </a:prstGeom>
          </p:spPr>
          <p:txBody>
            <a:bodyPr anchor="t" rtlCol="false" tIns="0" lIns="0" bIns="0" rIns="0">
              <a:spAutoFit/>
            </a:bodyPr>
            <a:lstStyle/>
            <a:p>
              <a:pPr algn="ctr">
                <a:lnSpc>
                  <a:spcPts val="14020"/>
                </a:lnSpc>
              </a:pPr>
              <a:r>
                <a:rPr lang="en-US" b="true" sz="14020" spc="-560">
                  <a:solidFill>
                    <a:srgbClr val="000000">
                      <a:alpha val="19608"/>
                    </a:srgbClr>
                  </a:solidFill>
                  <a:latin typeface="Times New Roman Bold"/>
                  <a:ea typeface="Times New Roman Bold"/>
                  <a:cs typeface="Times New Roman Bold"/>
                  <a:sym typeface="Times New Roman Bold"/>
                </a:rPr>
                <a:t>tokentrust</a:t>
              </a:r>
            </a:p>
          </p:txBody>
        </p:sp>
      </p:grpSp>
      <p:sp>
        <p:nvSpPr>
          <p:cNvPr name="AutoShape 16" id="16"/>
          <p:cNvSpPr/>
          <p:nvPr/>
        </p:nvSpPr>
        <p:spPr>
          <a:xfrm>
            <a:off x="1028700" y="5996331"/>
            <a:ext cx="16230600" cy="0"/>
          </a:xfrm>
          <a:prstGeom prst="line">
            <a:avLst/>
          </a:prstGeom>
          <a:ln cap="flat" w="9525">
            <a:solidFill>
              <a:srgbClr val="000000">
                <a:alpha val="49804"/>
              </a:srgbClr>
            </a:solidFill>
            <a:prstDash val="solid"/>
            <a:headEnd type="none" len="sm" w="sm"/>
            <a:tailEnd type="none" len="sm" w="sm"/>
          </a:ln>
        </p:spPr>
      </p:sp>
      <p:sp>
        <p:nvSpPr>
          <p:cNvPr name="TextBox 17" id="17"/>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26</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Service Component I</a:t>
            </a:r>
          </a:p>
        </p:txBody>
      </p:sp>
      <p:sp>
        <p:nvSpPr>
          <p:cNvPr name="TextBox 4" id="4"/>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AutoShape 5" id="5"/>
          <p:cNvSpPr/>
          <p:nvPr/>
        </p:nvSpPr>
        <p:spPr>
          <a:xfrm>
            <a:off x="1028700" y="7445629"/>
            <a:ext cx="16230600" cy="0"/>
          </a:xfrm>
          <a:prstGeom prst="line">
            <a:avLst/>
          </a:prstGeom>
          <a:ln cap="flat" w="9525">
            <a:solidFill>
              <a:srgbClr val="000000">
                <a:alpha val="49804"/>
              </a:srgbClr>
            </a:solidFill>
            <a:prstDash val="solid"/>
            <a:headEnd type="none" len="sm" w="sm"/>
            <a:tailEnd type="none" len="sm" w="sm"/>
          </a:ln>
        </p:spPr>
      </p:sp>
      <p:grpSp>
        <p:nvGrpSpPr>
          <p:cNvPr name="Group 6" id="6"/>
          <p:cNvGrpSpPr/>
          <p:nvPr/>
        </p:nvGrpSpPr>
        <p:grpSpPr>
          <a:xfrm rot="0">
            <a:off x="1028700" y="7923037"/>
            <a:ext cx="16230600" cy="609600"/>
            <a:chOff x="0" y="0"/>
            <a:chExt cx="21640800" cy="812800"/>
          </a:xfrm>
        </p:grpSpPr>
        <p:sp>
          <p:nvSpPr>
            <p:cNvPr name="TextBox 7" id="7"/>
            <p:cNvSpPr txBox="true"/>
            <p:nvPr/>
          </p:nvSpPr>
          <p:spPr>
            <a:xfrm rot="0">
              <a:off x="5718585" y="-19050"/>
              <a:ext cx="15922215" cy="831850"/>
            </a:xfrm>
            <a:prstGeom prst="rect">
              <a:avLst/>
            </a:prstGeom>
          </p:spPr>
          <p:txBody>
            <a:bodyPr anchor="t" rtlCol="false" tIns="0" lIns="0" bIns="0" rIns="0">
              <a:spAutoFit/>
            </a:bodyPr>
            <a:lstStyle/>
            <a:p>
              <a:pPr algn="r">
                <a:lnSpc>
                  <a:spcPts val="2400"/>
                </a:lnSpc>
              </a:pPr>
              <a:r>
                <a:rPr lang="en-US" sz="2000" spc="-60">
                  <a:solidFill>
                    <a:srgbClr val="000000"/>
                  </a:solidFill>
                  <a:latin typeface="Times New Roman"/>
                  <a:ea typeface="Times New Roman"/>
                  <a:cs typeface="Times New Roman"/>
                  <a:sym typeface="Times New Roman"/>
                </a:rPr>
                <a:t>Operates as an independent gate, outside the weighted scoring model. If triggered, the DQI output is fully blocked until encryption, anonymization, and mandatory user notification protocols are resolved.</a:t>
              </a:r>
            </a:p>
          </p:txBody>
        </p:sp>
        <p:sp>
          <p:nvSpPr>
            <p:cNvPr name="TextBox 8" id="8"/>
            <p:cNvSpPr txBox="true"/>
            <p:nvPr/>
          </p:nvSpPr>
          <p:spPr>
            <a:xfrm rot="0">
              <a:off x="0" y="-19050"/>
              <a:ext cx="5304074" cy="819150"/>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Privacy Sensitivity</a:t>
              </a:r>
            </a:p>
          </p:txBody>
        </p:sp>
      </p:grpSp>
      <p:sp>
        <p:nvSpPr>
          <p:cNvPr name="TextBox 9" id="9"/>
          <p:cNvSpPr txBox="true"/>
          <p:nvPr/>
        </p:nvSpPr>
        <p:spPr>
          <a:xfrm rot="0">
            <a:off x="5260097" y="5124450"/>
            <a:ext cx="3505062" cy="1238250"/>
          </a:xfrm>
          <a:prstGeom prst="rect">
            <a:avLst/>
          </a:prstGeom>
        </p:spPr>
        <p:txBody>
          <a:bodyPr anchor="t" rtlCol="false" tIns="0" lIns="0" bIns="0" rIns="0">
            <a:spAutoFit/>
          </a:bodyPr>
          <a:lstStyle/>
          <a:p>
            <a:pPr algn="l">
              <a:lnSpc>
                <a:spcPts val="2400"/>
              </a:lnSpc>
            </a:pPr>
            <a:r>
              <a:rPr lang="en-US" sz="2000" spc="-60">
                <a:solidFill>
                  <a:srgbClr val="000000"/>
                </a:solidFill>
                <a:latin typeface="Times New Roman"/>
                <a:ea typeface="Times New Roman"/>
                <a:cs typeface="Times New Roman"/>
                <a:sym typeface="Times New Roman"/>
              </a:rPr>
              <a:t>All required fields and records must be fully completed. Any gaps in audit trails constitute direct compliance violations.</a:t>
            </a:r>
          </a:p>
        </p:txBody>
      </p:sp>
      <p:sp>
        <p:nvSpPr>
          <p:cNvPr name="TextBox 10" id="10"/>
          <p:cNvSpPr txBox="true"/>
          <p:nvPr/>
        </p:nvSpPr>
        <p:spPr>
          <a:xfrm rot="0">
            <a:off x="9495327" y="5124450"/>
            <a:ext cx="3505062" cy="1543050"/>
          </a:xfrm>
          <a:prstGeom prst="rect">
            <a:avLst/>
          </a:prstGeom>
        </p:spPr>
        <p:txBody>
          <a:bodyPr anchor="t" rtlCol="false" tIns="0" lIns="0" bIns="0" rIns="0">
            <a:spAutoFit/>
          </a:bodyPr>
          <a:lstStyle/>
          <a:p>
            <a:pPr algn="l">
              <a:lnSpc>
                <a:spcPts val="2400"/>
              </a:lnSpc>
            </a:pPr>
            <a:r>
              <a:rPr lang="en-US" sz="2000" spc="-60">
                <a:solidFill>
                  <a:srgbClr val="000000"/>
                </a:solidFill>
                <a:latin typeface="Times New Roman"/>
                <a:ea typeface="Times New Roman"/>
                <a:cs typeface="Times New Roman"/>
                <a:sym typeface="Times New Roman"/>
              </a:rPr>
              <a:t>The same data point holds the same value across all systems. Discrepancies between sources are inadmissible under regulatory review.</a:t>
            </a:r>
          </a:p>
        </p:txBody>
      </p:sp>
      <p:sp>
        <p:nvSpPr>
          <p:cNvPr name="TextBox 11" id="11"/>
          <p:cNvSpPr txBox="true"/>
          <p:nvPr/>
        </p:nvSpPr>
        <p:spPr>
          <a:xfrm rot="0">
            <a:off x="1028700" y="5124450"/>
            <a:ext cx="3505062" cy="1543050"/>
          </a:xfrm>
          <a:prstGeom prst="rect">
            <a:avLst/>
          </a:prstGeom>
        </p:spPr>
        <p:txBody>
          <a:bodyPr anchor="t" rtlCol="false" tIns="0" lIns="0" bIns="0" rIns="0">
            <a:spAutoFit/>
          </a:bodyPr>
          <a:lstStyle/>
          <a:p>
            <a:pPr algn="l">
              <a:lnSpc>
                <a:spcPts val="2400"/>
              </a:lnSpc>
            </a:pPr>
            <a:r>
              <a:rPr lang="en-US" sz="2000" spc="-60">
                <a:solidFill>
                  <a:srgbClr val="000000"/>
                </a:solidFill>
                <a:latin typeface="Times New Roman"/>
                <a:ea typeface="Times New Roman"/>
                <a:cs typeface="Times New Roman"/>
                <a:sym typeface="Times New Roman"/>
              </a:rPr>
              <a:t>Data must accurately reflect the real world at all times. Any errors or inaccuracies will directly trigger regulatory penalties with serious consequences.</a:t>
            </a:r>
          </a:p>
        </p:txBody>
      </p:sp>
      <p:sp>
        <p:nvSpPr>
          <p:cNvPr name="TextBox 12" id="12"/>
          <p:cNvSpPr txBox="true"/>
          <p:nvPr/>
        </p:nvSpPr>
        <p:spPr>
          <a:xfrm rot="0">
            <a:off x="13722890" y="5124450"/>
            <a:ext cx="3505062" cy="1238250"/>
          </a:xfrm>
          <a:prstGeom prst="rect">
            <a:avLst/>
          </a:prstGeom>
        </p:spPr>
        <p:txBody>
          <a:bodyPr anchor="t" rtlCol="false" tIns="0" lIns="0" bIns="0" rIns="0">
            <a:spAutoFit/>
          </a:bodyPr>
          <a:lstStyle/>
          <a:p>
            <a:pPr algn="l">
              <a:lnSpc>
                <a:spcPts val="2400"/>
              </a:lnSpc>
            </a:pPr>
            <a:r>
              <a:rPr lang="en-US" sz="2000" spc="-60">
                <a:solidFill>
                  <a:srgbClr val="000000"/>
                </a:solidFill>
                <a:latin typeface="Times New Roman"/>
                <a:ea typeface="Times New Roman"/>
                <a:cs typeface="Times New Roman"/>
                <a:sym typeface="Times New Roman"/>
              </a:rPr>
              <a:t>How current and up-to-date the data is, and whether the latest elements and updates have been properly applied and reflected.</a:t>
            </a:r>
          </a:p>
        </p:txBody>
      </p:sp>
      <p:sp>
        <p:nvSpPr>
          <p:cNvPr name="TextBox 13" id="13"/>
          <p:cNvSpPr txBox="true"/>
          <p:nvPr/>
        </p:nvSpPr>
        <p:spPr>
          <a:xfrm rot="0">
            <a:off x="13722890" y="3800475"/>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Freshness</a:t>
            </a:r>
          </a:p>
        </p:txBody>
      </p:sp>
      <p:sp>
        <p:nvSpPr>
          <p:cNvPr name="TextBox 14" id="14"/>
          <p:cNvSpPr txBox="true"/>
          <p:nvPr/>
        </p:nvSpPr>
        <p:spPr>
          <a:xfrm rot="0">
            <a:off x="9495327" y="3800475"/>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Consistency</a:t>
            </a:r>
          </a:p>
        </p:txBody>
      </p:sp>
      <p:sp>
        <p:nvSpPr>
          <p:cNvPr name="TextBox 15" id="15"/>
          <p:cNvSpPr txBox="true"/>
          <p:nvPr/>
        </p:nvSpPr>
        <p:spPr>
          <a:xfrm rot="0">
            <a:off x="5260097" y="3800475"/>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Completeness</a:t>
            </a:r>
          </a:p>
        </p:txBody>
      </p:sp>
      <p:sp>
        <p:nvSpPr>
          <p:cNvPr name="TextBox 16" id="16"/>
          <p:cNvSpPr txBox="true"/>
          <p:nvPr/>
        </p:nvSpPr>
        <p:spPr>
          <a:xfrm rot="0">
            <a:off x="1028700" y="3800475"/>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Accuracy</a:t>
            </a:r>
          </a:p>
        </p:txBody>
      </p:sp>
      <p:sp>
        <p:nvSpPr>
          <p:cNvPr name="TextBox 17" id="17"/>
          <p:cNvSpPr txBox="true"/>
          <p:nvPr/>
        </p:nvSpPr>
        <p:spPr>
          <a:xfrm rot="0">
            <a:off x="1031135" y="2733675"/>
            <a:ext cx="3505062" cy="942975"/>
          </a:xfrm>
          <a:prstGeom prst="rect">
            <a:avLst/>
          </a:prstGeom>
        </p:spPr>
        <p:txBody>
          <a:bodyPr anchor="t" rtlCol="false" tIns="0" lIns="0" bIns="0" rIns="0">
            <a:spAutoFit/>
          </a:bodyPr>
          <a:lstStyle/>
          <a:p>
            <a:pPr algn="r">
              <a:lnSpc>
                <a:spcPts val="7199"/>
              </a:lnSpc>
            </a:pPr>
            <a:r>
              <a:rPr lang="en-US" sz="5999" spc="-239">
                <a:solidFill>
                  <a:srgbClr val="000000"/>
                </a:solidFill>
                <a:latin typeface="Times New Roman"/>
                <a:ea typeface="Times New Roman"/>
                <a:cs typeface="Times New Roman"/>
                <a:sym typeface="Times New Roman"/>
              </a:rPr>
              <a:t>.I</a:t>
            </a:r>
          </a:p>
        </p:txBody>
      </p:sp>
      <p:sp>
        <p:nvSpPr>
          <p:cNvPr name="TextBox 18" id="18"/>
          <p:cNvSpPr txBox="true"/>
          <p:nvPr/>
        </p:nvSpPr>
        <p:spPr>
          <a:xfrm rot="0">
            <a:off x="5260097" y="2733675"/>
            <a:ext cx="3505062" cy="942975"/>
          </a:xfrm>
          <a:prstGeom prst="rect">
            <a:avLst/>
          </a:prstGeom>
        </p:spPr>
        <p:txBody>
          <a:bodyPr anchor="t" rtlCol="false" tIns="0" lIns="0" bIns="0" rIns="0">
            <a:spAutoFit/>
          </a:bodyPr>
          <a:lstStyle/>
          <a:p>
            <a:pPr algn="r">
              <a:lnSpc>
                <a:spcPts val="7199"/>
              </a:lnSpc>
            </a:pPr>
            <a:r>
              <a:rPr lang="en-US" sz="5999" spc="-239">
                <a:solidFill>
                  <a:srgbClr val="000000"/>
                </a:solidFill>
                <a:latin typeface="Times New Roman"/>
                <a:ea typeface="Times New Roman"/>
                <a:cs typeface="Times New Roman"/>
                <a:sym typeface="Times New Roman"/>
              </a:rPr>
              <a:t>.II</a:t>
            </a:r>
          </a:p>
        </p:txBody>
      </p:sp>
      <p:sp>
        <p:nvSpPr>
          <p:cNvPr name="TextBox 19" id="19"/>
          <p:cNvSpPr txBox="true"/>
          <p:nvPr/>
        </p:nvSpPr>
        <p:spPr>
          <a:xfrm rot="0">
            <a:off x="9491493" y="2733675"/>
            <a:ext cx="3505062" cy="942975"/>
          </a:xfrm>
          <a:prstGeom prst="rect">
            <a:avLst/>
          </a:prstGeom>
        </p:spPr>
        <p:txBody>
          <a:bodyPr anchor="t" rtlCol="false" tIns="0" lIns="0" bIns="0" rIns="0">
            <a:spAutoFit/>
          </a:bodyPr>
          <a:lstStyle/>
          <a:p>
            <a:pPr algn="r">
              <a:lnSpc>
                <a:spcPts val="7199"/>
              </a:lnSpc>
            </a:pPr>
            <a:r>
              <a:rPr lang="en-US" sz="5999" spc="-239">
                <a:solidFill>
                  <a:srgbClr val="000000"/>
                </a:solidFill>
                <a:latin typeface="Times New Roman"/>
                <a:ea typeface="Times New Roman"/>
                <a:cs typeface="Times New Roman"/>
                <a:sym typeface="Times New Roman"/>
              </a:rPr>
              <a:t>.III</a:t>
            </a:r>
          </a:p>
        </p:txBody>
      </p:sp>
      <p:sp>
        <p:nvSpPr>
          <p:cNvPr name="TextBox 20" id="20"/>
          <p:cNvSpPr txBox="true"/>
          <p:nvPr/>
        </p:nvSpPr>
        <p:spPr>
          <a:xfrm rot="0">
            <a:off x="13722890" y="2733675"/>
            <a:ext cx="3505062" cy="942975"/>
          </a:xfrm>
          <a:prstGeom prst="rect">
            <a:avLst/>
          </a:prstGeom>
        </p:spPr>
        <p:txBody>
          <a:bodyPr anchor="t" rtlCol="false" tIns="0" lIns="0" bIns="0" rIns="0">
            <a:spAutoFit/>
          </a:bodyPr>
          <a:lstStyle/>
          <a:p>
            <a:pPr algn="r">
              <a:lnSpc>
                <a:spcPts val="7199"/>
              </a:lnSpc>
            </a:pPr>
            <a:r>
              <a:rPr lang="en-US" sz="5999" spc="-239">
                <a:solidFill>
                  <a:srgbClr val="000000"/>
                </a:solidFill>
                <a:latin typeface="Times New Roman"/>
                <a:ea typeface="Times New Roman"/>
                <a:cs typeface="Times New Roman"/>
                <a:sym typeface="Times New Roman"/>
              </a:rPr>
              <a:t>.IV</a:t>
            </a:r>
          </a:p>
        </p:txBody>
      </p:sp>
      <p:sp>
        <p:nvSpPr>
          <p:cNvPr name="TextBox 21" id="21"/>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27</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Service Component II</a:t>
            </a:r>
          </a:p>
        </p:txBody>
      </p:sp>
      <p:grpSp>
        <p:nvGrpSpPr>
          <p:cNvPr name="Group 5" id="5"/>
          <p:cNvGrpSpPr/>
          <p:nvPr/>
        </p:nvGrpSpPr>
        <p:grpSpPr>
          <a:xfrm rot="0">
            <a:off x="9915071" y="6595122"/>
            <a:ext cx="7344229" cy="2069149"/>
            <a:chOff x="0" y="0"/>
            <a:chExt cx="9792306" cy="2758866"/>
          </a:xfrm>
        </p:grpSpPr>
        <p:sp>
          <p:nvSpPr>
            <p:cNvPr name="TextBox 6" id="6"/>
            <p:cNvSpPr txBox="true"/>
            <p:nvPr/>
          </p:nvSpPr>
          <p:spPr>
            <a:xfrm rot="0">
              <a:off x="6000860" y="2299761"/>
              <a:ext cx="3791446" cy="459105"/>
            </a:xfrm>
            <a:prstGeom prst="rect">
              <a:avLst/>
            </a:prstGeom>
          </p:spPr>
          <p:txBody>
            <a:bodyPr anchor="t" rtlCol="false" tIns="0" lIns="0" bIns="0" rIns="0">
              <a:spAutoFit/>
            </a:bodyPr>
            <a:lstStyle/>
            <a:p>
              <a:pPr algn="ctr">
                <a:lnSpc>
                  <a:spcPts val="2400"/>
                </a:lnSpc>
                <a:spcBef>
                  <a:spcPct val="0"/>
                </a:spcBef>
              </a:pPr>
              <a:r>
                <a:rPr lang="en-US" sz="2400" spc="-72">
                  <a:solidFill>
                    <a:srgbClr val="000000"/>
                  </a:solidFill>
                  <a:latin typeface="Times New Roman"/>
                  <a:ea typeface="Times New Roman"/>
                  <a:cs typeface="Times New Roman"/>
                  <a:sym typeface="Times New Roman"/>
                </a:rPr>
                <a:t>“Value returned to users”</a:t>
              </a:r>
            </a:p>
          </p:txBody>
        </p:sp>
        <p:sp>
          <p:nvSpPr>
            <p:cNvPr name="TextBox 7" id="7"/>
            <p:cNvSpPr txBox="true"/>
            <p:nvPr/>
          </p:nvSpPr>
          <p:spPr>
            <a:xfrm rot="0">
              <a:off x="0" y="395820"/>
              <a:ext cx="8891389" cy="1875366"/>
            </a:xfrm>
            <a:prstGeom prst="rect">
              <a:avLst/>
            </a:prstGeom>
          </p:spPr>
          <p:txBody>
            <a:bodyPr anchor="t" rtlCol="false" tIns="0" lIns="0" bIns="0" rIns="0">
              <a:spAutoFit/>
            </a:bodyPr>
            <a:lstStyle/>
            <a:p>
              <a:pPr algn="ctr">
                <a:lnSpc>
                  <a:spcPts val="9999"/>
                </a:lnSpc>
              </a:pPr>
              <a:r>
                <a:rPr lang="en-US" b="true" sz="9999" spc="-399">
                  <a:solidFill>
                    <a:srgbClr val="000000"/>
                  </a:solidFill>
                  <a:latin typeface="Times New Roman Bold"/>
                  <a:ea typeface="Times New Roman Bold"/>
                  <a:cs typeface="Times New Roman Bold"/>
                  <a:sym typeface="Times New Roman Bold"/>
                </a:rPr>
                <a:t>reward token</a:t>
              </a:r>
            </a:p>
          </p:txBody>
        </p:sp>
        <p:grpSp>
          <p:nvGrpSpPr>
            <p:cNvPr name="Group 8" id="8"/>
            <p:cNvGrpSpPr/>
            <p:nvPr/>
          </p:nvGrpSpPr>
          <p:grpSpPr>
            <a:xfrm rot="0">
              <a:off x="8703722" y="0"/>
              <a:ext cx="1088584" cy="108858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ln w="66675" cap="sq">
                <a:solidFill>
                  <a:srgbClr val="000000"/>
                </a:solidFill>
                <a:prstDash val="solid"/>
                <a:miter/>
              </a:ln>
            </p:spPr>
          </p:sp>
          <p:sp>
            <p:nvSpPr>
              <p:cNvPr name="TextBox 10" id="10"/>
              <p:cNvSpPr txBox="true"/>
              <p:nvPr/>
            </p:nvSpPr>
            <p:spPr>
              <a:xfrm>
                <a:off x="127000" y="136525"/>
                <a:ext cx="558800" cy="549275"/>
              </a:xfrm>
              <a:prstGeom prst="rect">
                <a:avLst/>
              </a:prstGeom>
            </p:spPr>
            <p:txBody>
              <a:bodyPr anchor="ctr" rtlCol="false" tIns="50800" lIns="50800" bIns="50800" rIns="50800"/>
              <a:lstStyle/>
              <a:p>
                <a:pPr algn="ctr">
                  <a:lnSpc>
                    <a:spcPts val="1800"/>
                  </a:lnSpc>
                </a:pPr>
              </a:p>
            </p:txBody>
          </p:sp>
        </p:grpSp>
      </p:grpSp>
      <p:grpSp>
        <p:nvGrpSpPr>
          <p:cNvPr name="Group 11" id="11"/>
          <p:cNvGrpSpPr/>
          <p:nvPr/>
        </p:nvGrpSpPr>
        <p:grpSpPr>
          <a:xfrm rot="0">
            <a:off x="1028700" y="1028700"/>
            <a:ext cx="8082343" cy="2685707"/>
            <a:chOff x="0" y="0"/>
            <a:chExt cx="10776457" cy="3580942"/>
          </a:xfrm>
        </p:grpSpPr>
        <p:grpSp>
          <p:nvGrpSpPr>
            <p:cNvPr name="Group 12" id="12"/>
            <p:cNvGrpSpPr/>
            <p:nvPr/>
          </p:nvGrpSpPr>
          <p:grpSpPr>
            <a:xfrm rot="0">
              <a:off x="9173516" y="0"/>
              <a:ext cx="1602940" cy="1671814"/>
              <a:chOff x="0" y="0"/>
              <a:chExt cx="584874" cy="610004"/>
            </a:xfrm>
          </p:grpSpPr>
          <p:sp>
            <p:nvSpPr>
              <p:cNvPr name="Freeform 13" id="13"/>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alpha val="19608"/>
                </a:srgbClr>
              </a:solidFill>
            </p:spPr>
          </p:sp>
          <p:sp>
            <p:nvSpPr>
              <p:cNvPr name="TextBox 14" id="14"/>
              <p:cNvSpPr txBox="true"/>
              <p:nvPr/>
            </p:nvSpPr>
            <p:spPr>
              <a:xfrm>
                <a:off x="137617" y="172105"/>
                <a:ext cx="309639" cy="294368"/>
              </a:xfrm>
              <a:prstGeom prst="rect">
                <a:avLst/>
              </a:prstGeom>
            </p:spPr>
            <p:txBody>
              <a:bodyPr anchor="ctr" rtlCol="false" tIns="50800" lIns="50800" bIns="50800" rIns="50800"/>
              <a:lstStyle/>
              <a:p>
                <a:pPr algn="ctr">
                  <a:lnSpc>
                    <a:spcPts val="1599"/>
                  </a:lnSpc>
                </a:pPr>
              </a:p>
            </p:txBody>
          </p:sp>
        </p:grpSp>
        <p:sp>
          <p:nvSpPr>
            <p:cNvPr name="TextBox 15" id="15"/>
            <p:cNvSpPr txBox="true"/>
            <p:nvPr/>
          </p:nvSpPr>
          <p:spPr>
            <a:xfrm rot="0">
              <a:off x="0" y="943940"/>
              <a:ext cx="9601895" cy="2637003"/>
            </a:xfrm>
            <a:prstGeom prst="rect">
              <a:avLst/>
            </a:prstGeom>
          </p:spPr>
          <p:txBody>
            <a:bodyPr anchor="t" rtlCol="false" tIns="0" lIns="0" bIns="0" rIns="0">
              <a:spAutoFit/>
            </a:bodyPr>
            <a:lstStyle/>
            <a:p>
              <a:pPr algn="ctr">
                <a:lnSpc>
                  <a:spcPts val="14020"/>
                </a:lnSpc>
              </a:pPr>
              <a:r>
                <a:rPr lang="en-US" b="true" sz="14020" spc="-560">
                  <a:solidFill>
                    <a:srgbClr val="000000">
                      <a:alpha val="19608"/>
                    </a:srgbClr>
                  </a:solidFill>
                  <a:latin typeface="Times New Roman Bold"/>
                  <a:ea typeface="Times New Roman Bold"/>
                  <a:cs typeface="Times New Roman Bold"/>
                  <a:sym typeface="Times New Roman Bold"/>
                </a:rPr>
                <a:t>tokentrust</a:t>
              </a:r>
            </a:p>
          </p:txBody>
        </p:sp>
      </p:grpSp>
      <p:sp>
        <p:nvSpPr>
          <p:cNvPr name="AutoShape 16" id="16"/>
          <p:cNvSpPr/>
          <p:nvPr/>
        </p:nvSpPr>
        <p:spPr>
          <a:xfrm>
            <a:off x="1028700" y="5996331"/>
            <a:ext cx="16230600" cy="0"/>
          </a:xfrm>
          <a:prstGeom prst="line">
            <a:avLst/>
          </a:prstGeom>
          <a:ln cap="flat" w="9525">
            <a:solidFill>
              <a:srgbClr val="000000">
                <a:alpha val="49804"/>
              </a:srgbClr>
            </a:solidFill>
            <a:prstDash val="solid"/>
            <a:headEnd type="none" len="sm" w="sm"/>
            <a:tailEnd type="none" len="sm" w="sm"/>
          </a:ln>
        </p:spPr>
      </p:sp>
      <p:sp>
        <p:nvSpPr>
          <p:cNvPr name="TextBox 17" id="17"/>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28</a:t>
            </a: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175470" y="2604754"/>
            <a:ext cx="1755874" cy="1257300"/>
          </a:xfrm>
          <a:prstGeom prst="rect">
            <a:avLst/>
          </a:prstGeom>
        </p:spPr>
        <p:txBody>
          <a:bodyPr anchor="t" rtlCol="false" tIns="0" lIns="0" bIns="0" rIns="0">
            <a:spAutoFit/>
          </a:bodyPr>
          <a:lstStyle/>
          <a:p>
            <a:pPr algn="just">
              <a:lnSpc>
                <a:spcPts val="9600"/>
              </a:lnSpc>
            </a:pPr>
            <a:r>
              <a:rPr lang="en-US" sz="8000" spc="-320">
                <a:solidFill>
                  <a:srgbClr val="000000"/>
                </a:solidFill>
                <a:latin typeface="Times New Roman"/>
                <a:ea typeface="Times New Roman"/>
                <a:cs typeface="Times New Roman"/>
                <a:sym typeface="Times New Roman"/>
              </a:rPr>
              <a:t>User</a:t>
            </a:r>
          </a:p>
        </p:txBody>
      </p:sp>
      <p:sp>
        <p:nvSpPr>
          <p:cNvPr name="TextBox 5" id="5"/>
          <p:cNvSpPr txBox="true"/>
          <p:nvPr/>
        </p:nvSpPr>
        <p:spPr>
          <a:xfrm rot="0">
            <a:off x="1028700" y="2604754"/>
            <a:ext cx="4972794" cy="1257300"/>
          </a:xfrm>
          <a:prstGeom prst="rect">
            <a:avLst/>
          </a:prstGeom>
        </p:spPr>
        <p:txBody>
          <a:bodyPr anchor="t" rtlCol="false" tIns="0" lIns="0" bIns="0" rIns="0">
            <a:spAutoFit/>
          </a:bodyPr>
          <a:lstStyle/>
          <a:p>
            <a:pPr algn="l">
              <a:lnSpc>
                <a:spcPts val="9600"/>
              </a:lnSpc>
            </a:pPr>
            <a:r>
              <a:rPr lang="en-US" sz="8000" spc="-320">
                <a:solidFill>
                  <a:srgbClr val="000000"/>
                </a:solidFill>
                <a:latin typeface="Times New Roman"/>
                <a:ea typeface="Times New Roman"/>
                <a:cs typeface="Times New Roman"/>
                <a:sym typeface="Times New Roman"/>
              </a:rPr>
              <a:t>AI Enterprise</a:t>
            </a:r>
          </a:p>
        </p:txBody>
      </p:sp>
      <p:sp>
        <p:nvSpPr>
          <p:cNvPr name="TextBox 6" id="6"/>
          <p:cNvSpPr txBox="true"/>
          <p:nvPr/>
        </p:nvSpPr>
        <p:spPr>
          <a:xfrm rot="0">
            <a:off x="1033462" y="5714428"/>
            <a:ext cx="7083830" cy="733425"/>
          </a:xfrm>
          <a:prstGeom prst="rect">
            <a:avLst/>
          </a:prstGeom>
        </p:spPr>
        <p:txBody>
          <a:bodyPr anchor="t" rtlCol="false" tIns="0" lIns="0" bIns="0" rIns="0">
            <a:spAutoFit/>
          </a:bodyPr>
          <a:lstStyle/>
          <a:p>
            <a:pPr algn="l">
              <a:lnSpc>
                <a:spcPts val="2879"/>
              </a:lnSpc>
            </a:pPr>
            <a:r>
              <a:rPr lang="en-US" sz="2400" spc="-72">
                <a:solidFill>
                  <a:srgbClr val="000000"/>
                </a:solidFill>
                <a:latin typeface="Times New Roman"/>
                <a:ea typeface="Times New Roman"/>
                <a:cs typeface="Times New Roman"/>
                <a:sym typeface="Times New Roman"/>
              </a:rPr>
              <a:t>Validating the quality of information and enabling high-quality data to be trained into future models.</a:t>
            </a:r>
          </a:p>
        </p:txBody>
      </p:sp>
      <p:sp>
        <p:nvSpPr>
          <p:cNvPr name="TextBox 7" id="7"/>
          <p:cNvSpPr txBox="true"/>
          <p:nvPr/>
        </p:nvSpPr>
        <p:spPr>
          <a:xfrm rot="0">
            <a:off x="10180232" y="5714428"/>
            <a:ext cx="7083830" cy="733425"/>
          </a:xfrm>
          <a:prstGeom prst="rect">
            <a:avLst/>
          </a:prstGeom>
        </p:spPr>
        <p:txBody>
          <a:bodyPr anchor="t" rtlCol="false" tIns="0" lIns="0" bIns="0" rIns="0">
            <a:spAutoFit/>
          </a:bodyPr>
          <a:lstStyle/>
          <a:p>
            <a:pPr algn="l">
              <a:lnSpc>
                <a:spcPts val="2879"/>
              </a:lnSpc>
            </a:pPr>
            <a:r>
              <a:rPr lang="en-US" sz="2400" spc="-72">
                <a:solidFill>
                  <a:srgbClr val="000000"/>
                </a:solidFill>
                <a:latin typeface="Times New Roman"/>
                <a:ea typeface="Times New Roman"/>
                <a:cs typeface="Times New Roman"/>
                <a:sym typeface="Times New Roman"/>
              </a:rPr>
              <a:t>Through the token refund process, it can be utilized for service use and applied as a new form of value.</a:t>
            </a:r>
          </a:p>
        </p:txBody>
      </p:sp>
      <p:sp>
        <p:nvSpPr>
          <p:cNvPr name="TextBox 8" id="8"/>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Service Component II</a:t>
            </a:r>
          </a:p>
        </p:txBody>
      </p:sp>
      <p:sp>
        <p:nvSpPr>
          <p:cNvPr name="TextBox 9" id="9"/>
          <p:cNvSpPr txBox="true"/>
          <p:nvPr/>
        </p:nvSpPr>
        <p:spPr>
          <a:xfrm rot="0">
            <a:off x="7554710" y="2680954"/>
            <a:ext cx="1067544" cy="510540"/>
          </a:xfrm>
          <a:prstGeom prst="rect">
            <a:avLst/>
          </a:prstGeom>
        </p:spPr>
        <p:txBody>
          <a:bodyPr anchor="t" rtlCol="false" tIns="0" lIns="0" bIns="0" rIns="0">
            <a:spAutoFit/>
          </a:bodyPr>
          <a:lstStyle/>
          <a:p>
            <a:pPr algn="l">
              <a:lnSpc>
                <a:spcPts val="3600"/>
              </a:lnSpc>
            </a:pPr>
            <a:r>
              <a:rPr lang="en-US" sz="3600" spc="-107">
                <a:solidFill>
                  <a:srgbClr val="000000"/>
                </a:solidFill>
                <a:latin typeface="Times New Roman"/>
                <a:ea typeface="Times New Roman"/>
                <a:cs typeface="Times New Roman"/>
                <a:sym typeface="Times New Roman"/>
              </a:rPr>
              <a:t>Token</a:t>
            </a:r>
          </a:p>
        </p:txBody>
      </p:sp>
      <p:sp>
        <p:nvSpPr>
          <p:cNvPr name="TextBox 10" id="10"/>
          <p:cNvSpPr txBox="true"/>
          <p:nvPr/>
        </p:nvSpPr>
        <p:spPr>
          <a:xfrm rot="0">
            <a:off x="16451089" y="2680954"/>
            <a:ext cx="808211" cy="510540"/>
          </a:xfrm>
          <a:prstGeom prst="rect">
            <a:avLst/>
          </a:prstGeom>
        </p:spPr>
        <p:txBody>
          <a:bodyPr anchor="t" rtlCol="false" tIns="0" lIns="0" bIns="0" rIns="0">
            <a:spAutoFit/>
          </a:bodyPr>
          <a:lstStyle/>
          <a:p>
            <a:pPr algn="r">
              <a:lnSpc>
                <a:spcPts val="3600"/>
              </a:lnSpc>
            </a:pPr>
            <a:r>
              <a:rPr lang="en-US" sz="3600" spc="-107">
                <a:solidFill>
                  <a:srgbClr val="000000"/>
                </a:solidFill>
                <a:latin typeface="Times New Roman"/>
                <a:ea typeface="Times New Roman"/>
                <a:cs typeface="Times New Roman"/>
                <a:sym typeface="Times New Roman"/>
              </a:rPr>
              <a:t>Data</a:t>
            </a:r>
          </a:p>
        </p:txBody>
      </p:sp>
      <p:sp>
        <p:nvSpPr>
          <p:cNvPr name="AutoShape 11" id="11"/>
          <p:cNvSpPr/>
          <p:nvPr/>
        </p:nvSpPr>
        <p:spPr>
          <a:xfrm>
            <a:off x="9148763" y="2642854"/>
            <a:ext cx="0" cy="3804999"/>
          </a:xfrm>
          <a:prstGeom prst="line">
            <a:avLst/>
          </a:prstGeom>
          <a:ln cap="flat" w="9525">
            <a:solidFill>
              <a:srgbClr val="000000">
                <a:alpha val="49804"/>
              </a:srgbClr>
            </a:solidFill>
            <a:prstDash val="solid"/>
            <a:headEnd type="none" len="sm" w="sm"/>
            <a:tailEnd type="none" len="sm" w="sm"/>
          </a:ln>
        </p:spPr>
      </p:sp>
      <p:sp>
        <p:nvSpPr>
          <p:cNvPr name="TextBox 12" id="12"/>
          <p:cNvSpPr txBox="true"/>
          <p:nvPr/>
        </p:nvSpPr>
        <p:spPr>
          <a:xfrm rot="0">
            <a:off x="5317639" y="7903987"/>
            <a:ext cx="11941661" cy="628650"/>
          </a:xfrm>
          <a:prstGeom prst="rect">
            <a:avLst/>
          </a:prstGeom>
        </p:spPr>
        <p:txBody>
          <a:bodyPr anchor="t" rtlCol="false" tIns="0" lIns="0" bIns="0" rIns="0">
            <a:spAutoFit/>
          </a:bodyPr>
          <a:lstStyle/>
          <a:p>
            <a:pPr algn="r">
              <a:lnSpc>
                <a:spcPts val="2400"/>
              </a:lnSpc>
            </a:pPr>
            <a:r>
              <a:rPr lang="en-US" sz="2000" spc="-60">
                <a:solidFill>
                  <a:srgbClr val="000000"/>
                </a:solidFill>
                <a:latin typeface="Times New Roman"/>
                <a:ea typeface="Times New Roman"/>
                <a:cs typeface="Times New Roman"/>
                <a:sym typeface="Times New Roman"/>
              </a:rPr>
              <a:t>Constitutes a data circulation structure that benefits both the company and its users, a structure fundamentally grounded in consent and exchange, forming a new economic system built on mutual benefit.</a:t>
            </a:r>
          </a:p>
        </p:txBody>
      </p:sp>
      <p:sp>
        <p:nvSpPr>
          <p:cNvPr name="TextBox 13" id="13"/>
          <p:cNvSpPr txBox="true"/>
          <p:nvPr/>
        </p:nvSpPr>
        <p:spPr>
          <a:xfrm rot="0">
            <a:off x="1028700" y="7903987"/>
            <a:ext cx="3978056"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AI Token Ecosystem</a:t>
            </a:r>
          </a:p>
        </p:txBody>
      </p:sp>
      <p:sp>
        <p:nvSpPr>
          <p:cNvPr name="TextBox 14" id="1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29</a:t>
            </a: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grpSp>
        <p:nvGrpSpPr>
          <p:cNvPr name="Group 4" id="4"/>
          <p:cNvGrpSpPr/>
          <p:nvPr/>
        </p:nvGrpSpPr>
        <p:grpSpPr>
          <a:xfrm rot="0">
            <a:off x="10833183" y="6631087"/>
            <a:ext cx="6426117" cy="1997220"/>
            <a:chOff x="0" y="0"/>
            <a:chExt cx="8568156" cy="2662960"/>
          </a:xfrm>
        </p:grpSpPr>
        <p:sp>
          <p:nvSpPr>
            <p:cNvPr name="TextBox 5" id="5"/>
            <p:cNvSpPr txBox="true"/>
            <p:nvPr/>
          </p:nvSpPr>
          <p:spPr>
            <a:xfrm rot="0">
              <a:off x="0" y="299914"/>
              <a:ext cx="7358459" cy="1875366"/>
            </a:xfrm>
            <a:prstGeom prst="rect">
              <a:avLst/>
            </a:prstGeom>
          </p:spPr>
          <p:txBody>
            <a:bodyPr anchor="t" rtlCol="false" tIns="0" lIns="0" bIns="0" rIns="0">
              <a:spAutoFit/>
            </a:bodyPr>
            <a:lstStyle/>
            <a:p>
              <a:pPr algn="ctr">
                <a:lnSpc>
                  <a:spcPts val="9999"/>
                </a:lnSpc>
              </a:pPr>
              <a:r>
                <a:rPr lang="en-US" b="true" sz="9999" spc="-399">
                  <a:solidFill>
                    <a:srgbClr val="000000"/>
                  </a:solidFill>
                  <a:latin typeface="Times New Roman Bold"/>
                  <a:ea typeface="Times New Roman Bold"/>
                  <a:cs typeface="Times New Roman Bold"/>
                  <a:sym typeface="Times New Roman Bold"/>
                </a:rPr>
                <a:t>data credit</a:t>
              </a:r>
            </a:p>
          </p:txBody>
        </p:sp>
        <p:grpSp>
          <p:nvGrpSpPr>
            <p:cNvPr name="Group 6" id="6"/>
            <p:cNvGrpSpPr/>
            <p:nvPr/>
          </p:nvGrpSpPr>
          <p:grpSpPr>
            <a:xfrm rot="0">
              <a:off x="7524639" y="0"/>
              <a:ext cx="1043517" cy="896772"/>
              <a:chOff x="0" y="0"/>
              <a:chExt cx="812800" cy="698500"/>
            </a:xfrm>
          </p:grpSpPr>
          <p:sp>
            <p:nvSpPr>
              <p:cNvPr name="Freeform 7" id="7"/>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ln w="66675" cap="sq">
                <a:solidFill>
                  <a:srgbClr val="000000"/>
                </a:solidFill>
                <a:prstDash val="solid"/>
                <a:miter/>
              </a:ln>
            </p:spPr>
          </p:sp>
          <p:sp>
            <p:nvSpPr>
              <p:cNvPr name="TextBox 8" id="8"/>
              <p:cNvSpPr txBox="true"/>
              <p:nvPr/>
            </p:nvSpPr>
            <p:spPr>
              <a:xfrm>
                <a:off x="114300" y="28575"/>
                <a:ext cx="584200" cy="669925"/>
              </a:xfrm>
              <a:prstGeom prst="rect">
                <a:avLst/>
              </a:prstGeom>
            </p:spPr>
            <p:txBody>
              <a:bodyPr anchor="ctr" rtlCol="false" tIns="50800" lIns="50800" bIns="50800" rIns="50800"/>
              <a:lstStyle/>
              <a:p>
                <a:pPr algn="ctr">
                  <a:lnSpc>
                    <a:spcPts val="1599"/>
                  </a:lnSpc>
                </a:pPr>
              </a:p>
            </p:txBody>
          </p:sp>
        </p:grpSp>
        <p:sp>
          <p:nvSpPr>
            <p:cNvPr name="TextBox 9" id="9"/>
            <p:cNvSpPr txBox="true"/>
            <p:nvPr/>
          </p:nvSpPr>
          <p:spPr>
            <a:xfrm rot="0">
              <a:off x="4674713" y="2203855"/>
              <a:ext cx="3893443" cy="459105"/>
            </a:xfrm>
            <a:prstGeom prst="rect">
              <a:avLst/>
            </a:prstGeom>
          </p:spPr>
          <p:txBody>
            <a:bodyPr anchor="t" rtlCol="false" tIns="0" lIns="0" bIns="0" rIns="0">
              <a:spAutoFit/>
            </a:bodyPr>
            <a:lstStyle/>
            <a:p>
              <a:pPr algn="ctr">
                <a:lnSpc>
                  <a:spcPts val="2400"/>
                </a:lnSpc>
                <a:spcBef>
                  <a:spcPct val="0"/>
                </a:spcBef>
              </a:pPr>
              <a:r>
                <a:rPr lang="en-US" sz="2400" spc="-72">
                  <a:solidFill>
                    <a:srgbClr val="000000"/>
                  </a:solidFill>
                  <a:latin typeface="Times New Roman"/>
                  <a:ea typeface="Times New Roman"/>
                  <a:cs typeface="Times New Roman"/>
                  <a:sym typeface="Times New Roman"/>
                </a:rPr>
                <a:t>“Compliance trust rating”</a:t>
              </a:r>
            </a:p>
          </p:txBody>
        </p:sp>
      </p:grpSp>
      <p:sp>
        <p:nvSpPr>
          <p:cNvPr name="TextBox 10" id="10"/>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Service Component III</a:t>
            </a:r>
          </a:p>
        </p:txBody>
      </p:sp>
      <p:grpSp>
        <p:nvGrpSpPr>
          <p:cNvPr name="Group 11" id="11"/>
          <p:cNvGrpSpPr/>
          <p:nvPr/>
        </p:nvGrpSpPr>
        <p:grpSpPr>
          <a:xfrm rot="0">
            <a:off x="1028700" y="1028700"/>
            <a:ext cx="8082343" cy="2685707"/>
            <a:chOff x="0" y="0"/>
            <a:chExt cx="10776457" cy="3580942"/>
          </a:xfrm>
        </p:grpSpPr>
        <p:grpSp>
          <p:nvGrpSpPr>
            <p:cNvPr name="Group 12" id="12"/>
            <p:cNvGrpSpPr/>
            <p:nvPr/>
          </p:nvGrpSpPr>
          <p:grpSpPr>
            <a:xfrm rot="0">
              <a:off x="9173516" y="0"/>
              <a:ext cx="1602940" cy="1671814"/>
              <a:chOff x="0" y="0"/>
              <a:chExt cx="584874" cy="610004"/>
            </a:xfrm>
          </p:grpSpPr>
          <p:sp>
            <p:nvSpPr>
              <p:cNvPr name="Freeform 13" id="13"/>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alpha val="19608"/>
                </a:srgbClr>
              </a:solidFill>
            </p:spPr>
          </p:sp>
          <p:sp>
            <p:nvSpPr>
              <p:cNvPr name="TextBox 14" id="14"/>
              <p:cNvSpPr txBox="true"/>
              <p:nvPr/>
            </p:nvSpPr>
            <p:spPr>
              <a:xfrm>
                <a:off x="137617" y="172105"/>
                <a:ext cx="309639" cy="294368"/>
              </a:xfrm>
              <a:prstGeom prst="rect">
                <a:avLst/>
              </a:prstGeom>
            </p:spPr>
            <p:txBody>
              <a:bodyPr anchor="ctr" rtlCol="false" tIns="50800" lIns="50800" bIns="50800" rIns="50800"/>
              <a:lstStyle/>
              <a:p>
                <a:pPr algn="ctr">
                  <a:lnSpc>
                    <a:spcPts val="1599"/>
                  </a:lnSpc>
                </a:pPr>
              </a:p>
            </p:txBody>
          </p:sp>
        </p:grpSp>
        <p:sp>
          <p:nvSpPr>
            <p:cNvPr name="TextBox 15" id="15"/>
            <p:cNvSpPr txBox="true"/>
            <p:nvPr/>
          </p:nvSpPr>
          <p:spPr>
            <a:xfrm rot="0">
              <a:off x="0" y="943940"/>
              <a:ext cx="9601895" cy="2637003"/>
            </a:xfrm>
            <a:prstGeom prst="rect">
              <a:avLst/>
            </a:prstGeom>
          </p:spPr>
          <p:txBody>
            <a:bodyPr anchor="t" rtlCol="false" tIns="0" lIns="0" bIns="0" rIns="0">
              <a:spAutoFit/>
            </a:bodyPr>
            <a:lstStyle/>
            <a:p>
              <a:pPr algn="ctr">
                <a:lnSpc>
                  <a:spcPts val="14020"/>
                </a:lnSpc>
              </a:pPr>
              <a:r>
                <a:rPr lang="en-US" b="true" sz="14020" spc="-560">
                  <a:solidFill>
                    <a:srgbClr val="000000">
                      <a:alpha val="19608"/>
                    </a:srgbClr>
                  </a:solidFill>
                  <a:latin typeface="Times New Roman Bold"/>
                  <a:ea typeface="Times New Roman Bold"/>
                  <a:cs typeface="Times New Roman Bold"/>
                  <a:sym typeface="Times New Roman Bold"/>
                </a:rPr>
                <a:t>tokentrust</a:t>
              </a:r>
            </a:p>
          </p:txBody>
        </p:sp>
      </p:grpSp>
      <p:sp>
        <p:nvSpPr>
          <p:cNvPr name="AutoShape 16" id="16"/>
          <p:cNvSpPr/>
          <p:nvPr/>
        </p:nvSpPr>
        <p:spPr>
          <a:xfrm>
            <a:off x="1028700" y="5996331"/>
            <a:ext cx="16230600" cy="0"/>
          </a:xfrm>
          <a:prstGeom prst="line">
            <a:avLst/>
          </a:prstGeom>
          <a:ln cap="flat" w="9525">
            <a:solidFill>
              <a:srgbClr val="000000">
                <a:alpha val="49804"/>
              </a:srgbClr>
            </a:solidFill>
            <a:prstDash val="solid"/>
            <a:headEnd type="none" len="sm" w="sm"/>
            <a:tailEnd type="none" len="sm" w="sm"/>
          </a:ln>
        </p:spPr>
      </p:sp>
      <p:sp>
        <p:nvSpPr>
          <p:cNvPr name="TextBox 17" id="17"/>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30</a:t>
            </a: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Service Component III</a:t>
            </a:r>
          </a:p>
        </p:txBody>
      </p:sp>
      <p:sp>
        <p:nvSpPr>
          <p:cNvPr name="TextBox 5" id="5"/>
          <p:cNvSpPr txBox="true"/>
          <p:nvPr/>
        </p:nvSpPr>
        <p:spPr>
          <a:xfrm rot="0">
            <a:off x="5260097" y="5124450"/>
            <a:ext cx="3505062" cy="1543050"/>
          </a:xfrm>
          <a:prstGeom prst="rect">
            <a:avLst/>
          </a:prstGeom>
        </p:spPr>
        <p:txBody>
          <a:bodyPr anchor="t" rtlCol="false" tIns="0" lIns="0" bIns="0" rIns="0">
            <a:spAutoFit/>
          </a:bodyPr>
          <a:lstStyle/>
          <a:p>
            <a:pPr algn="l">
              <a:lnSpc>
                <a:spcPts val="2400"/>
              </a:lnSpc>
            </a:pPr>
            <a:r>
              <a:rPr lang="en-US" sz="2000" spc="-60">
                <a:solidFill>
                  <a:srgbClr val="000000"/>
                </a:solidFill>
                <a:latin typeface="Times New Roman"/>
                <a:ea typeface="Times New Roman"/>
                <a:cs typeface="Times New Roman"/>
                <a:sym typeface="Times New Roman"/>
              </a:rPr>
              <a:t>Whether the data value was assessed fairly, with objective metrics in place to ensure that all factors involved in the data valuation process were applied equitably.</a:t>
            </a:r>
          </a:p>
        </p:txBody>
      </p:sp>
      <p:sp>
        <p:nvSpPr>
          <p:cNvPr name="TextBox 6" id="6"/>
          <p:cNvSpPr txBox="true"/>
          <p:nvPr/>
        </p:nvSpPr>
        <p:spPr>
          <a:xfrm rot="0">
            <a:off x="9495327" y="5124450"/>
            <a:ext cx="3505062" cy="1543050"/>
          </a:xfrm>
          <a:prstGeom prst="rect">
            <a:avLst/>
          </a:prstGeom>
        </p:spPr>
        <p:txBody>
          <a:bodyPr anchor="t" rtlCol="false" tIns="0" lIns="0" bIns="0" rIns="0">
            <a:spAutoFit/>
          </a:bodyPr>
          <a:lstStyle/>
          <a:p>
            <a:pPr algn="l">
              <a:lnSpc>
                <a:spcPts val="2400"/>
              </a:lnSpc>
            </a:pPr>
            <a:r>
              <a:rPr lang="en-US" sz="2000" spc="-60">
                <a:solidFill>
                  <a:srgbClr val="000000"/>
                </a:solidFill>
                <a:latin typeface="Times New Roman"/>
                <a:ea typeface="Times New Roman"/>
                <a:cs typeface="Times New Roman"/>
                <a:sym typeface="Times New Roman"/>
              </a:rPr>
              <a:t>Whether the promised tokens for data collection were actually distributed, and how effectively those distributed tokens can be utilized within the service.</a:t>
            </a:r>
          </a:p>
        </p:txBody>
      </p:sp>
      <p:sp>
        <p:nvSpPr>
          <p:cNvPr name="TextBox 7" id="7"/>
          <p:cNvSpPr txBox="true"/>
          <p:nvPr/>
        </p:nvSpPr>
        <p:spPr>
          <a:xfrm rot="0">
            <a:off x="1028700" y="5124450"/>
            <a:ext cx="3505062" cy="1543050"/>
          </a:xfrm>
          <a:prstGeom prst="rect">
            <a:avLst/>
          </a:prstGeom>
        </p:spPr>
        <p:txBody>
          <a:bodyPr anchor="t" rtlCol="false" tIns="0" lIns="0" bIns="0" rIns="0">
            <a:spAutoFit/>
          </a:bodyPr>
          <a:lstStyle/>
          <a:p>
            <a:pPr algn="l">
              <a:lnSpc>
                <a:spcPts val="2400"/>
              </a:lnSpc>
            </a:pPr>
            <a:r>
              <a:rPr lang="en-US" sz="2000" spc="-60">
                <a:solidFill>
                  <a:srgbClr val="000000"/>
                </a:solidFill>
                <a:latin typeface="Times New Roman"/>
                <a:ea typeface="Times New Roman"/>
                <a:cs typeface="Times New Roman"/>
                <a:sym typeface="Times New Roman"/>
              </a:rPr>
              <a:t>The extent to which user consent boundaries were respected was verified through both internal and external audit-based validation procedures.</a:t>
            </a:r>
          </a:p>
        </p:txBody>
      </p:sp>
      <p:sp>
        <p:nvSpPr>
          <p:cNvPr name="TextBox 8" id="8"/>
          <p:cNvSpPr txBox="true"/>
          <p:nvPr/>
        </p:nvSpPr>
        <p:spPr>
          <a:xfrm rot="0">
            <a:off x="13722890" y="5124450"/>
            <a:ext cx="3505062" cy="1543050"/>
          </a:xfrm>
          <a:prstGeom prst="rect">
            <a:avLst/>
          </a:prstGeom>
        </p:spPr>
        <p:txBody>
          <a:bodyPr anchor="t" rtlCol="false" tIns="0" lIns="0" bIns="0" rIns="0">
            <a:spAutoFit/>
          </a:bodyPr>
          <a:lstStyle/>
          <a:p>
            <a:pPr algn="l">
              <a:lnSpc>
                <a:spcPts val="2400"/>
              </a:lnSpc>
            </a:pPr>
            <a:r>
              <a:rPr lang="en-US" sz="2000" spc="-60">
                <a:solidFill>
                  <a:srgbClr val="000000"/>
                </a:solidFill>
                <a:latin typeface="Times New Roman"/>
                <a:ea typeface="Times New Roman"/>
                <a:cs typeface="Times New Roman"/>
                <a:sym typeface="Times New Roman"/>
              </a:rPr>
              <a:t>Whether the company transparently disclosed how user data was utilized, and whether users were properly informed of how their data is processed and retained when in use.</a:t>
            </a:r>
          </a:p>
        </p:txBody>
      </p:sp>
      <p:sp>
        <p:nvSpPr>
          <p:cNvPr name="AutoShape 9" id="9"/>
          <p:cNvSpPr/>
          <p:nvPr/>
        </p:nvSpPr>
        <p:spPr>
          <a:xfrm>
            <a:off x="1028700" y="7445629"/>
            <a:ext cx="16230600" cy="0"/>
          </a:xfrm>
          <a:prstGeom prst="line">
            <a:avLst/>
          </a:prstGeom>
          <a:ln cap="flat" w="9525">
            <a:solidFill>
              <a:srgbClr val="000000">
                <a:alpha val="49804"/>
              </a:srgbClr>
            </a:solidFill>
            <a:prstDash val="solid"/>
            <a:headEnd type="none" len="sm" w="sm"/>
            <a:tailEnd type="none" len="sm" w="sm"/>
          </a:ln>
        </p:spPr>
      </p:sp>
      <p:sp>
        <p:nvSpPr>
          <p:cNvPr name="TextBox 10" id="10"/>
          <p:cNvSpPr txBox="true"/>
          <p:nvPr/>
        </p:nvSpPr>
        <p:spPr>
          <a:xfrm rot="0">
            <a:off x="5317639" y="7903987"/>
            <a:ext cx="11941661" cy="628650"/>
          </a:xfrm>
          <a:prstGeom prst="rect">
            <a:avLst/>
          </a:prstGeom>
        </p:spPr>
        <p:txBody>
          <a:bodyPr anchor="t" rtlCol="false" tIns="0" lIns="0" bIns="0" rIns="0">
            <a:spAutoFit/>
          </a:bodyPr>
          <a:lstStyle/>
          <a:p>
            <a:pPr algn="r">
              <a:lnSpc>
                <a:spcPts val="2400"/>
              </a:lnSpc>
            </a:pPr>
            <a:r>
              <a:rPr lang="en-US" sz="2000" spc="-60">
                <a:solidFill>
                  <a:srgbClr val="000000"/>
                </a:solidFill>
                <a:latin typeface="Times New Roman"/>
                <a:ea typeface="Times New Roman"/>
                <a:cs typeface="Times New Roman"/>
                <a:sym typeface="Times New Roman"/>
              </a:rPr>
              <a:t>This metric can function as a tool for measuring corporate data utilization credibility, much like a technical benchmark, and directly ties into data sovereignty.</a:t>
            </a:r>
          </a:p>
        </p:txBody>
      </p:sp>
      <p:sp>
        <p:nvSpPr>
          <p:cNvPr name="TextBox 11" id="11"/>
          <p:cNvSpPr txBox="true"/>
          <p:nvPr/>
        </p:nvSpPr>
        <p:spPr>
          <a:xfrm rot="0">
            <a:off x="1028700" y="7903987"/>
            <a:ext cx="3978056"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Corporate credibility</a:t>
            </a:r>
          </a:p>
        </p:txBody>
      </p:sp>
      <p:sp>
        <p:nvSpPr>
          <p:cNvPr name="TextBox 12" id="12"/>
          <p:cNvSpPr txBox="true"/>
          <p:nvPr/>
        </p:nvSpPr>
        <p:spPr>
          <a:xfrm rot="0">
            <a:off x="13722890" y="3365500"/>
            <a:ext cx="3505062" cy="1054100"/>
          </a:xfrm>
          <a:prstGeom prst="rect">
            <a:avLst/>
          </a:prstGeom>
        </p:spPr>
        <p:txBody>
          <a:bodyPr anchor="t" rtlCol="false" tIns="0" lIns="0" bIns="0" rIns="0">
            <a:spAutoFit/>
          </a:bodyPr>
          <a:lstStyle/>
          <a:p>
            <a:pPr algn="l">
              <a:lnSpc>
                <a:spcPts val="3999"/>
              </a:lnSpc>
            </a:pPr>
            <a:r>
              <a:rPr lang="en-US" sz="3999" spc="-159">
                <a:solidFill>
                  <a:srgbClr val="000000"/>
                </a:solidFill>
                <a:latin typeface="Times New Roman"/>
                <a:ea typeface="Times New Roman"/>
                <a:cs typeface="Times New Roman"/>
                <a:sym typeface="Times New Roman"/>
              </a:rPr>
              <a:t>Audit Transparency</a:t>
            </a:r>
          </a:p>
        </p:txBody>
      </p:sp>
      <p:sp>
        <p:nvSpPr>
          <p:cNvPr name="TextBox 13" id="13"/>
          <p:cNvSpPr txBox="true"/>
          <p:nvPr/>
        </p:nvSpPr>
        <p:spPr>
          <a:xfrm rot="0">
            <a:off x="9495327" y="3365500"/>
            <a:ext cx="3505062" cy="1054100"/>
          </a:xfrm>
          <a:prstGeom prst="rect">
            <a:avLst/>
          </a:prstGeom>
        </p:spPr>
        <p:txBody>
          <a:bodyPr anchor="t" rtlCol="false" tIns="0" lIns="0" bIns="0" rIns="0">
            <a:spAutoFit/>
          </a:bodyPr>
          <a:lstStyle/>
          <a:p>
            <a:pPr algn="l">
              <a:lnSpc>
                <a:spcPts val="3999"/>
              </a:lnSpc>
            </a:pPr>
            <a:r>
              <a:rPr lang="en-US" sz="3999" spc="-159">
                <a:solidFill>
                  <a:srgbClr val="000000"/>
                </a:solidFill>
                <a:latin typeface="Times New Roman"/>
                <a:ea typeface="Times New Roman"/>
                <a:cs typeface="Times New Roman"/>
                <a:sym typeface="Times New Roman"/>
              </a:rPr>
              <a:t>Reward Fulfillment Rate</a:t>
            </a:r>
          </a:p>
        </p:txBody>
      </p:sp>
      <p:sp>
        <p:nvSpPr>
          <p:cNvPr name="TextBox 14" id="14"/>
          <p:cNvSpPr txBox="true"/>
          <p:nvPr/>
        </p:nvSpPr>
        <p:spPr>
          <a:xfrm rot="0">
            <a:off x="5260097" y="3365500"/>
            <a:ext cx="3505062" cy="1054100"/>
          </a:xfrm>
          <a:prstGeom prst="rect">
            <a:avLst/>
          </a:prstGeom>
        </p:spPr>
        <p:txBody>
          <a:bodyPr anchor="t" rtlCol="false" tIns="0" lIns="0" bIns="0" rIns="0">
            <a:spAutoFit/>
          </a:bodyPr>
          <a:lstStyle/>
          <a:p>
            <a:pPr algn="l">
              <a:lnSpc>
                <a:spcPts val="3999"/>
              </a:lnSpc>
            </a:pPr>
            <a:r>
              <a:rPr lang="en-US" sz="3999" spc="-159">
                <a:solidFill>
                  <a:srgbClr val="000000"/>
                </a:solidFill>
                <a:latin typeface="Times New Roman"/>
                <a:ea typeface="Times New Roman"/>
                <a:cs typeface="Times New Roman"/>
                <a:sym typeface="Times New Roman"/>
              </a:rPr>
              <a:t>DQI </a:t>
            </a:r>
          </a:p>
          <a:p>
            <a:pPr algn="l">
              <a:lnSpc>
                <a:spcPts val="3999"/>
              </a:lnSpc>
            </a:pPr>
            <a:r>
              <a:rPr lang="en-US" sz="3999" spc="-159">
                <a:solidFill>
                  <a:srgbClr val="000000"/>
                </a:solidFill>
                <a:latin typeface="Times New Roman"/>
                <a:ea typeface="Times New Roman"/>
                <a:cs typeface="Times New Roman"/>
                <a:sym typeface="Times New Roman"/>
              </a:rPr>
              <a:t>Accuracy</a:t>
            </a:r>
          </a:p>
        </p:txBody>
      </p:sp>
      <p:sp>
        <p:nvSpPr>
          <p:cNvPr name="TextBox 15" id="15"/>
          <p:cNvSpPr txBox="true"/>
          <p:nvPr/>
        </p:nvSpPr>
        <p:spPr>
          <a:xfrm rot="0">
            <a:off x="1028700" y="3365500"/>
            <a:ext cx="3505062" cy="1054100"/>
          </a:xfrm>
          <a:prstGeom prst="rect">
            <a:avLst/>
          </a:prstGeom>
        </p:spPr>
        <p:txBody>
          <a:bodyPr anchor="t" rtlCol="false" tIns="0" lIns="0" bIns="0" rIns="0">
            <a:spAutoFit/>
          </a:bodyPr>
          <a:lstStyle/>
          <a:p>
            <a:pPr algn="l">
              <a:lnSpc>
                <a:spcPts val="3999"/>
              </a:lnSpc>
            </a:pPr>
            <a:r>
              <a:rPr lang="en-US" sz="3999" spc="-159">
                <a:solidFill>
                  <a:srgbClr val="000000"/>
                </a:solidFill>
                <a:latin typeface="Times New Roman"/>
                <a:ea typeface="Times New Roman"/>
                <a:cs typeface="Times New Roman"/>
                <a:sym typeface="Times New Roman"/>
              </a:rPr>
              <a:t>Consent Compliance Rate</a:t>
            </a:r>
          </a:p>
        </p:txBody>
      </p:sp>
      <p:sp>
        <p:nvSpPr>
          <p:cNvPr name="TextBox 16" id="16"/>
          <p:cNvSpPr txBox="true"/>
          <p:nvPr/>
        </p:nvSpPr>
        <p:spPr>
          <a:xfrm rot="0">
            <a:off x="1031135" y="2733675"/>
            <a:ext cx="3505062" cy="942975"/>
          </a:xfrm>
          <a:prstGeom prst="rect">
            <a:avLst/>
          </a:prstGeom>
        </p:spPr>
        <p:txBody>
          <a:bodyPr anchor="t" rtlCol="false" tIns="0" lIns="0" bIns="0" rIns="0">
            <a:spAutoFit/>
          </a:bodyPr>
          <a:lstStyle/>
          <a:p>
            <a:pPr algn="r">
              <a:lnSpc>
                <a:spcPts val="7199"/>
              </a:lnSpc>
            </a:pPr>
            <a:r>
              <a:rPr lang="en-US" sz="5999" spc="-239">
                <a:solidFill>
                  <a:srgbClr val="000000"/>
                </a:solidFill>
                <a:latin typeface="Times New Roman"/>
                <a:ea typeface="Times New Roman"/>
                <a:cs typeface="Times New Roman"/>
                <a:sym typeface="Times New Roman"/>
              </a:rPr>
              <a:t>.I</a:t>
            </a:r>
          </a:p>
        </p:txBody>
      </p:sp>
      <p:sp>
        <p:nvSpPr>
          <p:cNvPr name="TextBox 17" id="17"/>
          <p:cNvSpPr txBox="true"/>
          <p:nvPr/>
        </p:nvSpPr>
        <p:spPr>
          <a:xfrm rot="0">
            <a:off x="5260097" y="2733675"/>
            <a:ext cx="3505062" cy="942975"/>
          </a:xfrm>
          <a:prstGeom prst="rect">
            <a:avLst/>
          </a:prstGeom>
        </p:spPr>
        <p:txBody>
          <a:bodyPr anchor="t" rtlCol="false" tIns="0" lIns="0" bIns="0" rIns="0">
            <a:spAutoFit/>
          </a:bodyPr>
          <a:lstStyle/>
          <a:p>
            <a:pPr algn="r">
              <a:lnSpc>
                <a:spcPts val="7199"/>
              </a:lnSpc>
            </a:pPr>
            <a:r>
              <a:rPr lang="en-US" sz="5999" spc="-239">
                <a:solidFill>
                  <a:srgbClr val="000000"/>
                </a:solidFill>
                <a:latin typeface="Times New Roman"/>
                <a:ea typeface="Times New Roman"/>
                <a:cs typeface="Times New Roman"/>
                <a:sym typeface="Times New Roman"/>
              </a:rPr>
              <a:t>.II</a:t>
            </a:r>
          </a:p>
        </p:txBody>
      </p:sp>
      <p:sp>
        <p:nvSpPr>
          <p:cNvPr name="TextBox 18" id="18"/>
          <p:cNvSpPr txBox="true"/>
          <p:nvPr/>
        </p:nvSpPr>
        <p:spPr>
          <a:xfrm rot="0">
            <a:off x="9491493" y="2733675"/>
            <a:ext cx="3505062" cy="942975"/>
          </a:xfrm>
          <a:prstGeom prst="rect">
            <a:avLst/>
          </a:prstGeom>
        </p:spPr>
        <p:txBody>
          <a:bodyPr anchor="t" rtlCol="false" tIns="0" lIns="0" bIns="0" rIns="0">
            <a:spAutoFit/>
          </a:bodyPr>
          <a:lstStyle/>
          <a:p>
            <a:pPr algn="r">
              <a:lnSpc>
                <a:spcPts val="7199"/>
              </a:lnSpc>
            </a:pPr>
            <a:r>
              <a:rPr lang="en-US" sz="5999" spc="-239">
                <a:solidFill>
                  <a:srgbClr val="000000"/>
                </a:solidFill>
                <a:latin typeface="Times New Roman"/>
                <a:ea typeface="Times New Roman"/>
                <a:cs typeface="Times New Roman"/>
                <a:sym typeface="Times New Roman"/>
              </a:rPr>
              <a:t>.III</a:t>
            </a:r>
          </a:p>
        </p:txBody>
      </p:sp>
      <p:sp>
        <p:nvSpPr>
          <p:cNvPr name="TextBox 19" id="19"/>
          <p:cNvSpPr txBox="true"/>
          <p:nvPr/>
        </p:nvSpPr>
        <p:spPr>
          <a:xfrm rot="0">
            <a:off x="13722890" y="2733675"/>
            <a:ext cx="3505062" cy="942975"/>
          </a:xfrm>
          <a:prstGeom prst="rect">
            <a:avLst/>
          </a:prstGeom>
        </p:spPr>
        <p:txBody>
          <a:bodyPr anchor="t" rtlCol="false" tIns="0" lIns="0" bIns="0" rIns="0">
            <a:spAutoFit/>
          </a:bodyPr>
          <a:lstStyle/>
          <a:p>
            <a:pPr algn="r">
              <a:lnSpc>
                <a:spcPts val="7199"/>
              </a:lnSpc>
            </a:pPr>
            <a:r>
              <a:rPr lang="en-US" sz="5999" spc="-239">
                <a:solidFill>
                  <a:srgbClr val="000000"/>
                </a:solidFill>
                <a:latin typeface="Times New Roman"/>
                <a:ea typeface="Times New Roman"/>
                <a:cs typeface="Times New Roman"/>
                <a:sym typeface="Times New Roman"/>
              </a:rPr>
              <a:t>.IV</a:t>
            </a:r>
          </a:p>
        </p:txBody>
      </p:sp>
      <p:sp>
        <p:nvSpPr>
          <p:cNvPr name="TextBox 20" id="20"/>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31</a:t>
            </a: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Service Overview</a:t>
            </a:r>
          </a:p>
        </p:txBody>
      </p:sp>
      <p:sp>
        <p:nvSpPr>
          <p:cNvPr name="TextBox 5" id="5"/>
          <p:cNvSpPr txBox="true"/>
          <p:nvPr/>
        </p:nvSpPr>
        <p:spPr>
          <a:xfrm rot="0">
            <a:off x="1028700" y="3899156"/>
            <a:ext cx="1506928" cy="323850"/>
          </a:xfrm>
          <a:prstGeom prst="rect">
            <a:avLst/>
          </a:prstGeom>
        </p:spPr>
        <p:txBody>
          <a:bodyPr anchor="t" rtlCol="false" tIns="0" lIns="0" bIns="0" rIns="0">
            <a:spAutoFit/>
          </a:bodyPr>
          <a:lstStyle/>
          <a:p>
            <a:pPr algn="l">
              <a:lnSpc>
                <a:spcPts val="2419"/>
              </a:lnSpc>
            </a:pPr>
            <a:r>
              <a:rPr lang="en-US" sz="2016" spc="-80" b="true">
                <a:solidFill>
                  <a:srgbClr val="000000">
                    <a:alpha val="55686"/>
                  </a:srgbClr>
                </a:solidFill>
                <a:latin typeface="Times New Roman Bold"/>
                <a:ea typeface="Times New Roman Bold"/>
                <a:cs typeface="Times New Roman Bold"/>
                <a:sym typeface="Times New Roman Bold"/>
              </a:rPr>
              <a:t>AI Enterprises</a:t>
            </a:r>
          </a:p>
        </p:txBody>
      </p:sp>
      <p:grpSp>
        <p:nvGrpSpPr>
          <p:cNvPr name="Group 6" id="6"/>
          <p:cNvGrpSpPr/>
          <p:nvPr/>
        </p:nvGrpSpPr>
        <p:grpSpPr>
          <a:xfrm rot="0">
            <a:off x="5270164" y="3662020"/>
            <a:ext cx="1688227" cy="560986"/>
            <a:chOff x="0" y="0"/>
            <a:chExt cx="2250970" cy="747982"/>
          </a:xfrm>
        </p:grpSpPr>
        <p:grpSp>
          <p:nvGrpSpPr>
            <p:cNvPr name="Group 7" id="7"/>
            <p:cNvGrpSpPr/>
            <p:nvPr/>
          </p:nvGrpSpPr>
          <p:grpSpPr>
            <a:xfrm rot="0">
              <a:off x="1916150" y="0"/>
              <a:ext cx="334820" cy="349206"/>
              <a:chOff x="0" y="0"/>
              <a:chExt cx="584874" cy="610004"/>
            </a:xfrm>
          </p:grpSpPr>
          <p:sp>
            <p:nvSpPr>
              <p:cNvPr name="Freeform 8" id="8"/>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solidFill>
            </p:spPr>
          </p:sp>
          <p:sp>
            <p:nvSpPr>
              <p:cNvPr name="TextBox 9" id="9"/>
              <p:cNvSpPr txBox="true"/>
              <p:nvPr/>
            </p:nvSpPr>
            <p:spPr>
              <a:xfrm>
                <a:off x="137617" y="172105"/>
                <a:ext cx="309639" cy="294368"/>
              </a:xfrm>
              <a:prstGeom prst="rect">
                <a:avLst/>
              </a:prstGeom>
            </p:spPr>
            <p:txBody>
              <a:bodyPr anchor="ctr" rtlCol="false" tIns="10611" lIns="10611" bIns="10611" rIns="10611"/>
              <a:lstStyle/>
              <a:p>
                <a:pPr algn="ctr">
                  <a:lnSpc>
                    <a:spcPts val="1599"/>
                  </a:lnSpc>
                </a:pPr>
              </a:p>
            </p:txBody>
          </p:sp>
        </p:grpSp>
        <p:sp>
          <p:nvSpPr>
            <p:cNvPr name="TextBox 10" id="10"/>
            <p:cNvSpPr txBox="true"/>
            <p:nvPr/>
          </p:nvSpPr>
          <p:spPr>
            <a:xfrm rot="0">
              <a:off x="0" y="193488"/>
              <a:ext cx="2005629" cy="554494"/>
            </a:xfrm>
            <a:prstGeom prst="rect">
              <a:avLst/>
            </a:prstGeom>
          </p:spPr>
          <p:txBody>
            <a:bodyPr anchor="t" rtlCol="false" tIns="0" lIns="0" bIns="0" rIns="0">
              <a:spAutoFit/>
            </a:bodyPr>
            <a:lstStyle/>
            <a:p>
              <a:pPr algn="ctr">
                <a:lnSpc>
                  <a:spcPts val="2928"/>
                </a:lnSpc>
              </a:pPr>
              <a:r>
                <a:rPr lang="en-US" b="true" sz="2928" spc="-117">
                  <a:solidFill>
                    <a:srgbClr val="000000"/>
                  </a:solidFill>
                  <a:latin typeface="Times New Roman Bold"/>
                  <a:ea typeface="Times New Roman Bold"/>
                  <a:cs typeface="Times New Roman Bold"/>
                  <a:sym typeface="Times New Roman Bold"/>
                </a:rPr>
                <a:t>tokentrust</a:t>
              </a:r>
            </a:p>
          </p:txBody>
        </p:sp>
      </p:grpSp>
      <p:sp>
        <p:nvSpPr>
          <p:cNvPr name="TextBox 11" id="11"/>
          <p:cNvSpPr txBox="true"/>
          <p:nvPr/>
        </p:nvSpPr>
        <p:spPr>
          <a:xfrm rot="0">
            <a:off x="5270164" y="4345147"/>
            <a:ext cx="2259592" cy="410869"/>
          </a:xfrm>
          <a:prstGeom prst="rect">
            <a:avLst/>
          </a:prstGeom>
        </p:spPr>
        <p:txBody>
          <a:bodyPr anchor="t" rtlCol="false" tIns="0" lIns="0" bIns="0" rIns="0">
            <a:spAutoFit/>
          </a:bodyPr>
          <a:lstStyle/>
          <a:p>
            <a:pPr algn="l">
              <a:lnSpc>
                <a:spcPts val="1550"/>
              </a:lnSpc>
            </a:pPr>
            <a:r>
              <a:rPr lang="en-US" sz="1550" spc="-46">
                <a:solidFill>
                  <a:srgbClr val="000000">
                    <a:alpha val="55686"/>
                  </a:srgbClr>
                </a:solidFill>
                <a:latin typeface="Times New Roman"/>
                <a:ea typeface="Times New Roman"/>
                <a:cs typeface="Times New Roman"/>
                <a:sym typeface="Times New Roman"/>
              </a:rPr>
              <a:t>Ensure copyrights </a:t>
            </a:r>
          </a:p>
          <a:p>
            <a:pPr algn="l">
              <a:lnSpc>
                <a:spcPts val="1550"/>
              </a:lnSpc>
            </a:pPr>
            <a:r>
              <a:rPr lang="en-US" sz="1550" spc="-46">
                <a:solidFill>
                  <a:srgbClr val="000000">
                    <a:alpha val="55686"/>
                  </a:srgbClr>
                </a:solidFill>
                <a:latin typeface="Times New Roman"/>
                <a:ea typeface="Times New Roman"/>
                <a:cs typeface="Times New Roman"/>
                <a:sym typeface="Times New Roman"/>
              </a:rPr>
              <a:t>Data Quality Assessment</a:t>
            </a:r>
          </a:p>
        </p:txBody>
      </p:sp>
      <p:sp>
        <p:nvSpPr>
          <p:cNvPr name="TextBox 12" id="12"/>
          <p:cNvSpPr txBox="true"/>
          <p:nvPr/>
        </p:nvSpPr>
        <p:spPr>
          <a:xfrm rot="0">
            <a:off x="15571073" y="4345147"/>
            <a:ext cx="1142863" cy="601369"/>
          </a:xfrm>
          <a:prstGeom prst="rect">
            <a:avLst/>
          </a:prstGeom>
        </p:spPr>
        <p:txBody>
          <a:bodyPr anchor="t" rtlCol="false" tIns="0" lIns="0" bIns="0" rIns="0">
            <a:spAutoFit/>
          </a:bodyPr>
          <a:lstStyle/>
          <a:p>
            <a:pPr algn="l">
              <a:lnSpc>
                <a:spcPts val="1550"/>
              </a:lnSpc>
            </a:pPr>
            <a:r>
              <a:rPr lang="en-US" sz="1550" spc="-46">
                <a:solidFill>
                  <a:srgbClr val="000000">
                    <a:alpha val="55686"/>
                  </a:srgbClr>
                </a:solidFill>
                <a:latin typeface="Times New Roman"/>
                <a:ea typeface="Times New Roman"/>
                <a:cs typeface="Times New Roman"/>
                <a:sym typeface="Times New Roman"/>
              </a:rPr>
              <a:t>Reward Engine</a:t>
            </a:r>
          </a:p>
          <a:p>
            <a:pPr algn="l">
              <a:lnSpc>
                <a:spcPts val="1550"/>
              </a:lnSpc>
            </a:pPr>
            <a:r>
              <a:rPr lang="en-US" sz="1550" spc="-46">
                <a:solidFill>
                  <a:srgbClr val="000000">
                    <a:alpha val="55686"/>
                  </a:srgbClr>
                </a:solidFill>
                <a:latin typeface="Times New Roman"/>
                <a:ea typeface="Times New Roman"/>
                <a:cs typeface="Times New Roman"/>
                <a:sym typeface="Times New Roman"/>
              </a:rPr>
              <a:t>Data Protection</a:t>
            </a:r>
          </a:p>
          <a:p>
            <a:pPr algn="l">
              <a:lnSpc>
                <a:spcPts val="1550"/>
              </a:lnSpc>
            </a:pPr>
            <a:r>
              <a:rPr lang="en-US" sz="1550" spc="-46">
                <a:solidFill>
                  <a:srgbClr val="000000">
                    <a:alpha val="55686"/>
                  </a:srgbClr>
                </a:solidFill>
                <a:latin typeface="Times New Roman"/>
                <a:ea typeface="Times New Roman"/>
                <a:cs typeface="Times New Roman"/>
                <a:sym typeface="Times New Roman"/>
              </a:rPr>
              <a:t>Intuitive UI</a:t>
            </a:r>
          </a:p>
        </p:txBody>
      </p:sp>
      <p:grpSp>
        <p:nvGrpSpPr>
          <p:cNvPr name="Group 13" id="13"/>
          <p:cNvGrpSpPr/>
          <p:nvPr/>
        </p:nvGrpSpPr>
        <p:grpSpPr>
          <a:xfrm rot="0">
            <a:off x="15571073" y="3662020"/>
            <a:ext cx="1688227" cy="560986"/>
            <a:chOff x="0" y="0"/>
            <a:chExt cx="2250970" cy="747982"/>
          </a:xfrm>
        </p:grpSpPr>
        <p:grpSp>
          <p:nvGrpSpPr>
            <p:cNvPr name="Group 14" id="14"/>
            <p:cNvGrpSpPr/>
            <p:nvPr/>
          </p:nvGrpSpPr>
          <p:grpSpPr>
            <a:xfrm rot="0">
              <a:off x="1916150" y="0"/>
              <a:ext cx="334820" cy="349206"/>
              <a:chOff x="0" y="0"/>
              <a:chExt cx="584874" cy="610004"/>
            </a:xfrm>
          </p:grpSpPr>
          <p:sp>
            <p:nvSpPr>
              <p:cNvPr name="Freeform 15" id="15"/>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solidFill>
            </p:spPr>
          </p:sp>
          <p:sp>
            <p:nvSpPr>
              <p:cNvPr name="TextBox 16" id="16"/>
              <p:cNvSpPr txBox="true"/>
              <p:nvPr/>
            </p:nvSpPr>
            <p:spPr>
              <a:xfrm>
                <a:off x="137617" y="172105"/>
                <a:ext cx="309639" cy="294368"/>
              </a:xfrm>
              <a:prstGeom prst="rect">
                <a:avLst/>
              </a:prstGeom>
            </p:spPr>
            <p:txBody>
              <a:bodyPr anchor="ctr" rtlCol="false" tIns="10611" lIns="10611" bIns="10611" rIns="10611"/>
              <a:lstStyle/>
              <a:p>
                <a:pPr algn="ctr">
                  <a:lnSpc>
                    <a:spcPts val="1599"/>
                  </a:lnSpc>
                </a:pPr>
              </a:p>
            </p:txBody>
          </p:sp>
        </p:grpSp>
        <p:sp>
          <p:nvSpPr>
            <p:cNvPr name="TextBox 17" id="17"/>
            <p:cNvSpPr txBox="true"/>
            <p:nvPr/>
          </p:nvSpPr>
          <p:spPr>
            <a:xfrm rot="0">
              <a:off x="0" y="193488"/>
              <a:ext cx="2005629" cy="554494"/>
            </a:xfrm>
            <a:prstGeom prst="rect">
              <a:avLst/>
            </a:prstGeom>
          </p:spPr>
          <p:txBody>
            <a:bodyPr anchor="t" rtlCol="false" tIns="0" lIns="0" bIns="0" rIns="0">
              <a:spAutoFit/>
            </a:bodyPr>
            <a:lstStyle/>
            <a:p>
              <a:pPr algn="ctr">
                <a:lnSpc>
                  <a:spcPts val="2928"/>
                </a:lnSpc>
              </a:pPr>
              <a:r>
                <a:rPr lang="en-US" b="true" sz="2928" spc="-117">
                  <a:solidFill>
                    <a:srgbClr val="000000"/>
                  </a:solidFill>
                  <a:latin typeface="Times New Roman Bold"/>
                  <a:ea typeface="Times New Roman Bold"/>
                  <a:cs typeface="Times New Roman Bold"/>
                  <a:sym typeface="Times New Roman Bold"/>
                </a:rPr>
                <a:t>tokentrust</a:t>
              </a:r>
            </a:p>
          </p:txBody>
        </p:sp>
      </p:grpSp>
      <p:sp>
        <p:nvSpPr>
          <p:cNvPr name="TextBox 18" id="18"/>
          <p:cNvSpPr txBox="true"/>
          <p:nvPr/>
        </p:nvSpPr>
        <p:spPr>
          <a:xfrm rot="0">
            <a:off x="10264291" y="3695544"/>
            <a:ext cx="1832735" cy="527462"/>
          </a:xfrm>
          <a:prstGeom prst="rect">
            <a:avLst/>
          </a:prstGeom>
        </p:spPr>
        <p:txBody>
          <a:bodyPr anchor="t" rtlCol="false" tIns="0" lIns="0" bIns="0" rIns="0">
            <a:spAutoFit/>
          </a:bodyPr>
          <a:lstStyle/>
          <a:p>
            <a:pPr algn="l">
              <a:lnSpc>
                <a:spcPts val="2016"/>
              </a:lnSpc>
            </a:pPr>
            <a:r>
              <a:rPr lang="en-US" sz="2016" spc="-80" b="true">
                <a:solidFill>
                  <a:srgbClr val="000000">
                    <a:alpha val="55686"/>
                  </a:srgbClr>
                </a:solidFill>
                <a:latin typeface="Times New Roman Bold"/>
                <a:ea typeface="Times New Roman Bold"/>
                <a:cs typeface="Times New Roman Bold"/>
                <a:sym typeface="Times New Roman Bold"/>
              </a:rPr>
              <a:t>Data-AI Token </a:t>
            </a:r>
          </a:p>
          <a:p>
            <a:pPr algn="l">
              <a:lnSpc>
                <a:spcPts val="2016"/>
              </a:lnSpc>
            </a:pPr>
            <a:r>
              <a:rPr lang="en-US" sz="2016" spc="-80" b="true">
                <a:solidFill>
                  <a:srgbClr val="000000">
                    <a:alpha val="55686"/>
                  </a:srgbClr>
                </a:solidFill>
                <a:latin typeface="Times New Roman Bold"/>
                <a:ea typeface="Times New Roman Bold"/>
                <a:cs typeface="Times New Roman Bold"/>
                <a:sym typeface="Times New Roman Bold"/>
              </a:rPr>
              <a:t>Exchange Process</a:t>
            </a:r>
          </a:p>
        </p:txBody>
      </p:sp>
      <p:sp>
        <p:nvSpPr>
          <p:cNvPr name="TextBox 19" id="19"/>
          <p:cNvSpPr txBox="true"/>
          <p:nvPr/>
        </p:nvSpPr>
        <p:spPr>
          <a:xfrm rot="0">
            <a:off x="10264291" y="4316572"/>
            <a:ext cx="2571715" cy="255413"/>
          </a:xfrm>
          <a:prstGeom prst="rect">
            <a:avLst/>
          </a:prstGeom>
        </p:spPr>
        <p:txBody>
          <a:bodyPr anchor="t" rtlCol="false" tIns="0" lIns="0" bIns="0" rIns="0">
            <a:spAutoFit/>
          </a:bodyPr>
          <a:lstStyle/>
          <a:p>
            <a:pPr algn="l">
              <a:lnSpc>
                <a:spcPts val="1861"/>
              </a:lnSpc>
            </a:pPr>
            <a:r>
              <a:rPr lang="en-US" sz="1550" spc="-46">
                <a:solidFill>
                  <a:srgbClr val="000000">
                    <a:alpha val="55686"/>
                  </a:srgbClr>
                </a:solidFill>
                <a:latin typeface="Times New Roman"/>
                <a:ea typeface="Times New Roman"/>
                <a:cs typeface="Times New Roman"/>
                <a:sym typeface="Times New Roman"/>
              </a:rPr>
              <a:t>(Interplatform - Unified Exchange)</a:t>
            </a:r>
          </a:p>
        </p:txBody>
      </p:sp>
      <p:sp>
        <p:nvSpPr>
          <p:cNvPr name="TextBox 20" id="20"/>
          <p:cNvSpPr txBox="true"/>
          <p:nvPr/>
        </p:nvSpPr>
        <p:spPr>
          <a:xfrm rot="0">
            <a:off x="10264291" y="5840191"/>
            <a:ext cx="1741156" cy="323850"/>
          </a:xfrm>
          <a:prstGeom prst="rect">
            <a:avLst/>
          </a:prstGeom>
        </p:spPr>
        <p:txBody>
          <a:bodyPr anchor="t" rtlCol="false" tIns="0" lIns="0" bIns="0" rIns="0">
            <a:spAutoFit/>
          </a:bodyPr>
          <a:lstStyle/>
          <a:p>
            <a:pPr algn="l">
              <a:lnSpc>
                <a:spcPts val="2419"/>
              </a:lnSpc>
            </a:pPr>
            <a:r>
              <a:rPr lang="en-US" sz="2016" spc="-80" b="true">
                <a:solidFill>
                  <a:srgbClr val="000000">
                    <a:alpha val="55686"/>
                  </a:srgbClr>
                </a:solidFill>
                <a:latin typeface="Times New Roman Bold"/>
                <a:ea typeface="Times New Roman Bold"/>
                <a:cs typeface="Times New Roman Bold"/>
                <a:sym typeface="Times New Roman Bold"/>
              </a:rPr>
              <a:t>Regulatory Body</a:t>
            </a:r>
          </a:p>
        </p:txBody>
      </p:sp>
      <p:sp>
        <p:nvSpPr>
          <p:cNvPr name="TextBox 21" id="21"/>
          <p:cNvSpPr txBox="true"/>
          <p:nvPr/>
        </p:nvSpPr>
        <p:spPr>
          <a:xfrm rot="0">
            <a:off x="10264291" y="6253766"/>
            <a:ext cx="1528395" cy="410869"/>
          </a:xfrm>
          <a:prstGeom prst="rect">
            <a:avLst/>
          </a:prstGeom>
        </p:spPr>
        <p:txBody>
          <a:bodyPr anchor="t" rtlCol="false" tIns="0" lIns="0" bIns="0" rIns="0">
            <a:spAutoFit/>
          </a:bodyPr>
          <a:lstStyle/>
          <a:p>
            <a:pPr algn="l">
              <a:lnSpc>
                <a:spcPts val="1550"/>
              </a:lnSpc>
            </a:pPr>
            <a:r>
              <a:rPr lang="en-US" sz="1550" spc="-46">
                <a:solidFill>
                  <a:srgbClr val="000000">
                    <a:alpha val="55686"/>
                  </a:srgbClr>
                </a:solidFill>
                <a:latin typeface="Times New Roman"/>
                <a:ea typeface="Times New Roman"/>
                <a:cs typeface="Times New Roman"/>
                <a:sym typeface="Times New Roman"/>
              </a:rPr>
              <a:t>Enforce the Program</a:t>
            </a:r>
          </a:p>
          <a:p>
            <a:pPr algn="l">
              <a:lnSpc>
                <a:spcPts val="1550"/>
              </a:lnSpc>
            </a:pPr>
            <a:r>
              <a:rPr lang="en-US" sz="1550" spc="-46">
                <a:solidFill>
                  <a:srgbClr val="000000">
                    <a:alpha val="55686"/>
                  </a:srgbClr>
                </a:solidFill>
                <a:latin typeface="Times New Roman"/>
                <a:ea typeface="Times New Roman"/>
                <a:cs typeface="Times New Roman"/>
                <a:sym typeface="Times New Roman"/>
              </a:rPr>
              <a:t>Data Usage Audit</a:t>
            </a:r>
          </a:p>
        </p:txBody>
      </p:sp>
      <p:sp>
        <p:nvSpPr>
          <p:cNvPr name="TextBox 22" id="22"/>
          <p:cNvSpPr txBox="true"/>
          <p:nvPr/>
        </p:nvSpPr>
        <p:spPr>
          <a:xfrm rot="0">
            <a:off x="15571073" y="5840191"/>
            <a:ext cx="481151" cy="323850"/>
          </a:xfrm>
          <a:prstGeom prst="rect">
            <a:avLst/>
          </a:prstGeom>
        </p:spPr>
        <p:txBody>
          <a:bodyPr anchor="t" rtlCol="false" tIns="0" lIns="0" bIns="0" rIns="0">
            <a:spAutoFit/>
          </a:bodyPr>
          <a:lstStyle/>
          <a:p>
            <a:pPr algn="l">
              <a:lnSpc>
                <a:spcPts val="2419"/>
              </a:lnSpc>
            </a:pPr>
            <a:r>
              <a:rPr lang="en-US" sz="2016" spc="-80" b="true">
                <a:solidFill>
                  <a:srgbClr val="000000">
                    <a:alpha val="55686"/>
                  </a:srgbClr>
                </a:solidFill>
                <a:latin typeface="Times New Roman Bold"/>
                <a:ea typeface="Times New Roman Bold"/>
                <a:cs typeface="Times New Roman Bold"/>
                <a:sym typeface="Times New Roman Bold"/>
              </a:rPr>
              <a:t>User</a:t>
            </a:r>
          </a:p>
        </p:txBody>
      </p:sp>
      <p:sp>
        <p:nvSpPr>
          <p:cNvPr name="TextBox 23" id="23"/>
          <p:cNvSpPr txBox="true"/>
          <p:nvPr/>
        </p:nvSpPr>
        <p:spPr>
          <a:xfrm rot="0">
            <a:off x="15571073" y="6253766"/>
            <a:ext cx="1202530" cy="410869"/>
          </a:xfrm>
          <a:prstGeom prst="rect">
            <a:avLst/>
          </a:prstGeom>
        </p:spPr>
        <p:txBody>
          <a:bodyPr anchor="t" rtlCol="false" tIns="0" lIns="0" bIns="0" rIns="0">
            <a:spAutoFit/>
          </a:bodyPr>
          <a:lstStyle/>
          <a:p>
            <a:pPr algn="l">
              <a:lnSpc>
                <a:spcPts val="1550"/>
              </a:lnSpc>
            </a:pPr>
            <a:r>
              <a:rPr lang="en-US" sz="1550" spc="-46">
                <a:solidFill>
                  <a:srgbClr val="000000">
                    <a:alpha val="55686"/>
                  </a:srgbClr>
                </a:solidFill>
                <a:latin typeface="Times New Roman"/>
                <a:ea typeface="Times New Roman"/>
                <a:cs typeface="Times New Roman"/>
                <a:sym typeface="Times New Roman"/>
              </a:rPr>
              <a:t>Provides data</a:t>
            </a:r>
          </a:p>
          <a:p>
            <a:pPr algn="l">
              <a:lnSpc>
                <a:spcPts val="1550"/>
              </a:lnSpc>
            </a:pPr>
            <a:r>
              <a:rPr lang="en-US" sz="1550" spc="-46">
                <a:solidFill>
                  <a:srgbClr val="000000">
                    <a:alpha val="55686"/>
                  </a:srgbClr>
                </a:solidFill>
                <a:latin typeface="Times New Roman"/>
                <a:ea typeface="Times New Roman"/>
                <a:cs typeface="Times New Roman"/>
                <a:sym typeface="Times New Roman"/>
              </a:rPr>
              <a:t>Rewarded token</a:t>
            </a:r>
          </a:p>
        </p:txBody>
      </p:sp>
      <p:sp>
        <p:nvSpPr>
          <p:cNvPr name="TextBox 24" id="24"/>
          <p:cNvSpPr txBox="true"/>
          <p:nvPr/>
        </p:nvSpPr>
        <p:spPr>
          <a:xfrm rot="0">
            <a:off x="15571073" y="2355714"/>
            <a:ext cx="1065422" cy="255413"/>
          </a:xfrm>
          <a:prstGeom prst="rect">
            <a:avLst/>
          </a:prstGeom>
        </p:spPr>
        <p:txBody>
          <a:bodyPr anchor="t" rtlCol="false" tIns="0" lIns="0" bIns="0" rIns="0">
            <a:spAutoFit/>
          </a:bodyPr>
          <a:lstStyle/>
          <a:p>
            <a:pPr algn="l">
              <a:lnSpc>
                <a:spcPts val="1861"/>
              </a:lnSpc>
            </a:pPr>
            <a:r>
              <a:rPr lang="en-US" sz="1550" spc="-46">
                <a:solidFill>
                  <a:srgbClr val="000000">
                    <a:alpha val="55686"/>
                  </a:srgbClr>
                </a:solidFill>
                <a:latin typeface="Times New Roman"/>
                <a:ea typeface="Times New Roman"/>
                <a:cs typeface="Times New Roman"/>
                <a:sym typeface="Times New Roman"/>
              </a:rPr>
              <a:t>(Third Parties)</a:t>
            </a:r>
          </a:p>
        </p:txBody>
      </p:sp>
      <p:sp>
        <p:nvSpPr>
          <p:cNvPr name="TextBox 25" id="25"/>
          <p:cNvSpPr txBox="true"/>
          <p:nvPr/>
        </p:nvSpPr>
        <p:spPr>
          <a:xfrm rot="0">
            <a:off x="15571073" y="1970714"/>
            <a:ext cx="1457475" cy="323850"/>
          </a:xfrm>
          <a:prstGeom prst="rect">
            <a:avLst/>
          </a:prstGeom>
        </p:spPr>
        <p:txBody>
          <a:bodyPr anchor="t" rtlCol="false" tIns="0" lIns="0" bIns="0" rIns="0">
            <a:spAutoFit/>
          </a:bodyPr>
          <a:lstStyle/>
          <a:p>
            <a:pPr algn="l">
              <a:lnSpc>
                <a:spcPts val="2419"/>
              </a:lnSpc>
            </a:pPr>
            <a:r>
              <a:rPr lang="en-US" sz="2016" spc="-80" b="true">
                <a:solidFill>
                  <a:srgbClr val="000000">
                    <a:alpha val="55686"/>
                  </a:srgbClr>
                </a:solidFill>
                <a:latin typeface="Times New Roman Bold"/>
                <a:ea typeface="Times New Roman Bold"/>
                <a:cs typeface="Times New Roman Bold"/>
                <a:sym typeface="Times New Roman Bold"/>
              </a:rPr>
              <a:t>Data Agencie</a:t>
            </a:r>
            <a:r>
              <a:rPr lang="en-US" sz="2016" spc="-80">
                <a:solidFill>
                  <a:srgbClr val="000000">
                    <a:alpha val="55686"/>
                  </a:srgbClr>
                </a:solidFill>
                <a:latin typeface="Times New Roman"/>
                <a:ea typeface="Times New Roman"/>
                <a:cs typeface="Times New Roman"/>
                <a:sym typeface="Times New Roman"/>
              </a:rPr>
              <a:t>s</a:t>
            </a:r>
          </a:p>
        </p:txBody>
      </p:sp>
      <p:sp>
        <p:nvSpPr>
          <p:cNvPr name="AutoShape 26" id="26"/>
          <p:cNvSpPr/>
          <p:nvPr/>
        </p:nvSpPr>
        <p:spPr>
          <a:xfrm>
            <a:off x="16138690" y="5308466"/>
            <a:ext cx="0" cy="324999"/>
          </a:xfrm>
          <a:prstGeom prst="line">
            <a:avLst/>
          </a:prstGeom>
          <a:ln cap="flat" w="9525">
            <a:solidFill>
              <a:srgbClr val="000000">
                <a:alpha val="27843"/>
              </a:srgbClr>
            </a:solidFill>
            <a:prstDash val="solid"/>
            <a:headEnd type="triangle" len="med" w="lg"/>
            <a:tailEnd type="none" len="sm" w="sm"/>
          </a:ln>
        </p:spPr>
      </p:sp>
      <p:sp>
        <p:nvSpPr>
          <p:cNvPr name="AutoShape 27" id="27"/>
          <p:cNvSpPr/>
          <p:nvPr/>
        </p:nvSpPr>
        <p:spPr>
          <a:xfrm>
            <a:off x="16460930" y="5308466"/>
            <a:ext cx="0" cy="324999"/>
          </a:xfrm>
          <a:prstGeom prst="line">
            <a:avLst/>
          </a:prstGeom>
          <a:ln cap="flat" w="9525">
            <a:solidFill>
              <a:srgbClr val="000000">
                <a:alpha val="27843"/>
              </a:srgbClr>
            </a:solidFill>
            <a:prstDash val="solid"/>
            <a:headEnd type="none" len="sm" w="sm"/>
            <a:tailEnd type="triangle" len="med" w="lg"/>
          </a:ln>
        </p:spPr>
      </p:sp>
      <p:sp>
        <p:nvSpPr>
          <p:cNvPr name="AutoShape 28" id="28"/>
          <p:cNvSpPr/>
          <p:nvPr/>
        </p:nvSpPr>
        <p:spPr>
          <a:xfrm>
            <a:off x="16138690" y="2974074"/>
            <a:ext cx="0" cy="324999"/>
          </a:xfrm>
          <a:prstGeom prst="line">
            <a:avLst/>
          </a:prstGeom>
          <a:ln cap="flat" w="9525">
            <a:solidFill>
              <a:srgbClr val="000000">
                <a:alpha val="27843"/>
              </a:srgbClr>
            </a:solidFill>
            <a:prstDash val="solid"/>
            <a:headEnd type="triangle" len="med" w="lg"/>
            <a:tailEnd type="none" len="sm" w="sm"/>
          </a:ln>
        </p:spPr>
      </p:sp>
      <p:sp>
        <p:nvSpPr>
          <p:cNvPr name="AutoShape 29" id="29"/>
          <p:cNvSpPr/>
          <p:nvPr/>
        </p:nvSpPr>
        <p:spPr>
          <a:xfrm>
            <a:off x="16460930" y="2974074"/>
            <a:ext cx="0" cy="324999"/>
          </a:xfrm>
          <a:prstGeom prst="line">
            <a:avLst/>
          </a:prstGeom>
          <a:ln cap="flat" w="9525">
            <a:solidFill>
              <a:srgbClr val="000000">
                <a:alpha val="27843"/>
              </a:srgbClr>
            </a:solidFill>
            <a:prstDash val="solid"/>
            <a:headEnd type="none" len="sm" w="sm"/>
            <a:tailEnd type="triangle" len="med" w="lg"/>
          </a:ln>
        </p:spPr>
      </p:sp>
      <p:sp>
        <p:nvSpPr>
          <p:cNvPr name="AutoShape 30" id="30"/>
          <p:cNvSpPr/>
          <p:nvPr/>
        </p:nvSpPr>
        <p:spPr>
          <a:xfrm>
            <a:off x="3371365" y="4016189"/>
            <a:ext cx="1063061" cy="0"/>
          </a:xfrm>
          <a:prstGeom prst="line">
            <a:avLst/>
          </a:prstGeom>
          <a:ln cap="flat" w="9525">
            <a:solidFill>
              <a:srgbClr val="000000">
                <a:alpha val="27843"/>
              </a:srgbClr>
            </a:solidFill>
            <a:prstDash val="solid"/>
            <a:headEnd type="triangle" len="med" w="lg"/>
            <a:tailEnd type="none" len="sm" w="sm"/>
          </a:ln>
        </p:spPr>
      </p:sp>
      <p:sp>
        <p:nvSpPr>
          <p:cNvPr name="AutoShape 31" id="31"/>
          <p:cNvSpPr/>
          <p:nvPr/>
        </p:nvSpPr>
        <p:spPr>
          <a:xfrm>
            <a:off x="3371365" y="4242570"/>
            <a:ext cx="1063061" cy="0"/>
          </a:xfrm>
          <a:prstGeom prst="line">
            <a:avLst/>
          </a:prstGeom>
          <a:ln cap="flat" w="9525">
            <a:solidFill>
              <a:srgbClr val="000000">
                <a:alpha val="27843"/>
              </a:srgbClr>
            </a:solidFill>
            <a:prstDash val="solid"/>
            <a:headEnd type="none" len="sm" w="sm"/>
            <a:tailEnd type="triangle" len="med" w="lg"/>
          </a:ln>
        </p:spPr>
      </p:sp>
      <p:sp>
        <p:nvSpPr>
          <p:cNvPr name="TextBox 32" id="32"/>
          <p:cNvSpPr txBox="true"/>
          <p:nvPr/>
        </p:nvSpPr>
        <p:spPr>
          <a:xfrm rot="0">
            <a:off x="3691119" y="3761649"/>
            <a:ext cx="373991" cy="194183"/>
          </a:xfrm>
          <a:prstGeom prst="rect">
            <a:avLst/>
          </a:prstGeom>
        </p:spPr>
        <p:txBody>
          <a:bodyPr anchor="t" rtlCol="false" tIns="0" lIns="0" bIns="0" rIns="0">
            <a:spAutoFit/>
          </a:bodyPr>
          <a:lstStyle/>
          <a:p>
            <a:pPr algn="l">
              <a:lnSpc>
                <a:spcPts val="1488"/>
              </a:lnSpc>
            </a:pPr>
            <a:r>
              <a:rPr lang="en-US" sz="1240" spc="-37">
                <a:solidFill>
                  <a:srgbClr val="000000">
                    <a:alpha val="27843"/>
                  </a:srgbClr>
                </a:solidFill>
                <a:latin typeface="Times New Roman"/>
                <a:ea typeface="Times New Roman"/>
                <a:cs typeface="Times New Roman"/>
                <a:sym typeface="Times New Roman"/>
              </a:rPr>
              <a:t>[Data]</a:t>
            </a:r>
          </a:p>
        </p:txBody>
      </p:sp>
      <p:sp>
        <p:nvSpPr>
          <p:cNvPr name="TextBox 33" id="33"/>
          <p:cNvSpPr txBox="true"/>
          <p:nvPr/>
        </p:nvSpPr>
        <p:spPr>
          <a:xfrm rot="0">
            <a:off x="3545210" y="4269977"/>
            <a:ext cx="665809" cy="194183"/>
          </a:xfrm>
          <a:prstGeom prst="rect">
            <a:avLst/>
          </a:prstGeom>
        </p:spPr>
        <p:txBody>
          <a:bodyPr anchor="t" rtlCol="false" tIns="0" lIns="0" bIns="0" rIns="0">
            <a:spAutoFit/>
          </a:bodyPr>
          <a:lstStyle/>
          <a:p>
            <a:pPr algn="l">
              <a:lnSpc>
                <a:spcPts val="1488"/>
              </a:lnSpc>
            </a:pPr>
            <a:r>
              <a:rPr lang="en-US" sz="1240" spc="-37">
                <a:solidFill>
                  <a:srgbClr val="000000">
                    <a:alpha val="27843"/>
                  </a:srgbClr>
                </a:solidFill>
                <a:latin typeface="Times New Roman"/>
                <a:ea typeface="Times New Roman"/>
                <a:cs typeface="Times New Roman"/>
                <a:sym typeface="Times New Roman"/>
              </a:rPr>
              <a:t>[AI Token]</a:t>
            </a:r>
          </a:p>
        </p:txBody>
      </p:sp>
      <p:sp>
        <p:nvSpPr>
          <p:cNvPr name="AutoShape 34" id="34"/>
          <p:cNvSpPr/>
          <p:nvPr/>
        </p:nvSpPr>
        <p:spPr>
          <a:xfrm>
            <a:off x="8365493" y="4016189"/>
            <a:ext cx="1063061" cy="0"/>
          </a:xfrm>
          <a:prstGeom prst="line">
            <a:avLst/>
          </a:prstGeom>
          <a:ln cap="flat" w="9525">
            <a:solidFill>
              <a:srgbClr val="000000">
                <a:alpha val="27843"/>
              </a:srgbClr>
            </a:solidFill>
            <a:prstDash val="solid"/>
            <a:headEnd type="triangle" len="med" w="lg"/>
            <a:tailEnd type="none" len="sm" w="sm"/>
          </a:ln>
        </p:spPr>
      </p:sp>
      <p:sp>
        <p:nvSpPr>
          <p:cNvPr name="AutoShape 35" id="35"/>
          <p:cNvSpPr/>
          <p:nvPr/>
        </p:nvSpPr>
        <p:spPr>
          <a:xfrm>
            <a:off x="8365493" y="4242570"/>
            <a:ext cx="1063061" cy="0"/>
          </a:xfrm>
          <a:prstGeom prst="line">
            <a:avLst/>
          </a:prstGeom>
          <a:ln cap="flat" w="9525">
            <a:solidFill>
              <a:srgbClr val="000000">
                <a:alpha val="27843"/>
              </a:srgbClr>
            </a:solidFill>
            <a:prstDash val="solid"/>
            <a:headEnd type="none" len="sm" w="sm"/>
            <a:tailEnd type="triangle" len="med" w="lg"/>
          </a:ln>
        </p:spPr>
      </p:sp>
      <p:sp>
        <p:nvSpPr>
          <p:cNvPr name="TextBox 36" id="36"/>
          <p:cNvSpPr txBox="true"/>
          <p:nvPr/>
        </p:nvSpPr>
        <p:spPr>
          <a:xfrm rot="0">
            <a:off x="8710028" y="3761649"/>
            <a:ext cx="373991" cy="194183"/>
          </a:xfrm>
          <a:prstGeom prst="rect">
            <a:avLst/>
          </a:prstGeom>
        </p:spPr>
        <p:txBody>
          <a:bodyPr anchor="t" rtlCol="false" tIns="0" lIns="0" bIns="0" rIns="0">
            <a:spAutoFit/>
          </a:bodyPr>
          <a:lstStyle/>
          <a:p>
            <a:pPr algn="l">
              <a:lnSpc>
                <a:spcPts val="1488"/>
              </a:lnSpc>
            </a:pPr>
            <a:r>
              <a:rPr lang="en-US" sz="1240" spc="-37">
                <a:solidFill>
                  <a:srgbClr val="000000">
                    <a:alpha val="27843"/>
                  </a:srgbClr>
                </a:solidFill>
                <a:latin typeface="Times New Roman"/>
                <a:ea typeface="Times New Roman"/>
                <a:cs typeface="Times New Roman"/>
                <a:sym typeface="Times New Roman"/>
              </a:rPr>
              <a:t>[Data]</a:t>
            </a:r>
          </a:p>
        </p:txBody>
      </p:sp>
      <p:sp>
        <p:nvSpPr>
          <p:cNvPr name="TextBox 37" id="37"/>
          <p:cNvSpPr txBox="true"/>
          <p:nvPr/>
        </p:nvSpPr>
        <p:spPr>
          <a:xfrm rot="0">
            <a:off x="8564119" y="4269977"/>
            <a:ext cx="665809" cy="194183"/>
          </a:xfrm>
          <a:prstGeom prst="rect">
            <a:avLst/>
          </a:prstGeom>
        </p:spPr>
        <p:txBody>
          <a:bodyPr anchor="t" rtlCol="false" tIns="0" lIns="0" bIns="0" rIns="0">
            <a:spAutoFit/>
          </a:bodyPr>
          <a:lstStyle/>
          <a:p>
            <a:pPr algn="l">
              <a:lnSpc>
                <a:spcPts val="1488"/>
              </a:lnSpc>
            </a:pPr>
            <a:r>
              <a:rPr lang="en-US" sz="1240" spc="-37">
                <a:solidFill>
                  <a:srgbClr val="000000">
                    <a:alpha val="27843"/>
                  </a:srgbClr>
                </a:solidFill>
                <a:latin typeface="Times New Roman"/>
                <a:ea typeface="Times New Roman"/>
                <a:cs typeface="Times New Roman"/>
                <a:sym typeface="Times New Roman"/>
              </a:rPr>
              <a:t>[AI Token]</a:t>
            </a:r>
          </a:p>
        </p:txBody>
      </p:sp>
      <p:sp>
        <p:nvSpPr>
          <p:cNvPr name="AutoShape 38" id="38"/>
          <p:cNvSpPr/>
          <p:nvPr/>
        </p:nvSpPr>
        <p:spPr>
          <a:xfrm>
            <a:off x="13671743" y="4016189"/>
            <a:ext cx="1063061" cy="0"/>
          </a:xfrm>
          <a:prstGeom prst="line">
            <a:avLst/>
          </a:prstGeom>
          <a:ln cap="flat" w="9525">
            <a:solidFill>
              <a:srgbClr val="000000">
                <a:alpha val="27843"/>
              </a:srgbClr>
            </a:solidFill>
            <a:prstDash val="solid"/>
            <a:headEnd type="triangle" len="med" w="lg"/>
            <a:tailEnd type="none" len="sm" w="sm"/>
          </a:ln>
        </p:spPr>
      </p:sp>
      <p:sp>
        <p:nvSpPr>
          <p:cNvPr name="AutoShape 39" id="39"/>
          <p:cNvSpPr/>
          <p:nvPr/>
        </p:nvSpPr>
        <p:spPr>
          <a:xfrm>
            <a:off x="13672274" y="4242570"/>
            <a:ext cx="1063061" cy="0"/>
          </a:xfrm>
          <a:prstGeom prst="line">
            <a:avLst/>
          </a:prstGeom>
          <a:ln cap="flat" w="9525">
            <a:solidFill>
              <a:srgbClr val="000000">
                <a:alpha val="27843"/>
              </a:srgbClr>
            </a:solidFill>
            <a:prstDash val="solid"/>
            <a:headEnd type="none" len="sm" w="sm"/>
            <a:tailEnd type="triangle" len="med" w="lg"/>
          </a:ln>
        </p:spPr>
      </p:sp>
      <p:sp>
        <p:nvSpPr>
          <p:cNvPr name="TextBox 40" id="40"/>
          <p:cNvSpPr txBox="true"/>
          <p:nvPr/>
        </p:nvSpPr>
        <p:spPr>
          <a:xfrm rot="0">
            <a:off x="14019432" y="3761649"/>
            <a:ext cx="373991" cy="194183"/>
          </a:xfrm>
          <a:prstGeom prst="rect">
            <a:avLst/>
          </a:prstGeom>
        </p:spPr>
        <p:txBody>
          <a:bodyPr anchor="t" rtlCol="false" tIns="0" lIns="0" bIns="0" rIns="0">
            <a:spAutoFit/>
          </a:bodyPr>
          <a:lstStyle/>
          <a:p>
            <a:pPr algn="l">
              <a:lnSpc>
                <a:spcPts val="1488"/>
              </a:lnSpc>
            </a:pPr>
            <a:r>
              <a:rPr lang="en-US" sz="1240" spc="-37">
                <a:solidFill>
                  <a:srgbClr val="000000">
                    <a:alpha val="27843"/>
                  </a:srgbClr>
                </a:solidFill>
                <a:latin typeface="Times New Roman"/>
                <a:ea typeface="Times New Roman"/>
                <a:cs typeface="Times New Roman"/>
                <a:sym typeface="Times New Roman"/>
              </a:rPr>
              <a:t>[Data]</a:t>
            </a:r>
          </a:p>
        </p:txBody>
      </p:sp>
      <p:sp>
        <p:nvSpPr>
          <p:cNvPr name="TextBox 41" id="41"/>
          <p:cNvSpPr txBox="true"/>
          <p:nvPr/>
        </p:nvSpPr>
        <p:spPr>
          <a:xfrm rot="0">
            <a:off x="13871706" y="4269977"/>
            <a:ext cx="665809" cy="194183"/>
          </a:xfrm>
          <a:prstGeom prst="rect">
            <a:avLst/>
          </a:prstGeom>
        </p:spPr>
        <p:txBody>
          <a:bodyPr anchor="t" rtlCol="false" tIns="0" lIns="0" bIns="0" rIns="0">
            <a:spAutoFit/>
          </a:bodyPr>
          <a:lstStyle/>
          <a:p>
            <a:pPr algn="l">
              <a:lnSpc>
                <a:spcPts val="1488"/>
              </a:lnSpc>
            </a:pPr>
            <a:r>
              <a:rPr lang="en-US" sz="1240" spc="-37">
                <a:solidFill>
                  <a:srgbClr val="000000">
                    <a:alpha val="27843"/>
                  </a:srgbClr>
                </a:solidFill>
                <a:latin typeface="Times New Roman"/>
                <a:ea typeface="Times New Roman"/>
                <a:cs typeface="Times New Roman"/>
                <a:sym typeface="Times New Roman"/>
              </a:rPr>
              <a:t>[AI Token]</a:t>
            </a:r>
          </a:p>
        </p:txBody>
      </p:sp>
      <p:sp>
        <p:nvSpPr>
          <p:cNvPr name="AutoShape 42" id="42"/>
          <p:cNvSpPr/>
          <p:nvPr/>
        </p:nvSpPr>
        <p:spPr>
          <a:xfrm>
            <a:off x="10973749" y="5171295"/>
            <a:ext cx="0" cy="324999"/>
          </a:xfrm>
          <a:prstGeom prst="line">
            <a:avLst/>
          </a:prstGeom>
          <a:ln cap="flat" w="9525">
            <a:solidFill>
              <a:srgbClr val="000000">
                <a:alpha val="27843"/>
              </a:srgbClr>
            </a:solidFill>
            <a:prstDash val="solid"/>
            <a:headEnd type="triangle" len="med" w="lg"/>
            <a:tailEnd type="none" len="sm" w="sm"/>
          </a:ln>
        </p:spPr>
      </p:sp>
      <p:sp>
        <p:nvSpPr>
          <p:cNvPr name="AutoShape 43" id="43"/>
          <p:cNvSpPr/>
          <p:nvPr/>
        </p:nvSpPr>
        <p:spPr>
          <a:xfrm>
            <a:off x="11295989" y="5171295"/>
            <a:ext cx="0" cy="324999"/>
          </a:xfrm>
          <a:prstGeom prst="line">
            <a:avLst/>
          </a:prstGeom>
          <a:ln cap="flat" w="9525">
            <a:solidFill>
              <a:srgbClr val="000000">
                <a:alpha val="27843"/>
              </a:srgbClr>
            </a:solidFill>
            <a:prstDash val="solid"/>
            <a:headEnd type="none" len="sm" w="sm"/>
            <a:tailEnd type="triangle" len="med" w="lg"/>
          </a:ln>
        </p:spPr>
      </p:sp>
      <p:sp>
        <p:nvSpPr>
          <p:cNvPr name="TextBox 44" id="44"/>
          <p:cNvSpPr txBox="true"/>
          <p:nvPr/>
        </p:nvSpPr>
        <p:spPr>
          <a:xfrm rot="0">
            <a:off x="10264291" y="5231940"/>
            <a:ext cx="561015" cy="194183"/>
          </a:xfrm>
          <a:prstGeom prst="rect">
            <a:avLst/>
          </a:prstGeom>
        </p:spPr>
        <p:txBody>
          <a:bodyPr anchor="t" rtlCol="false" tIns="0" lIns="0" bIns="0" rIns="0">
            <a:spAutoFit/>
          </a:bodyPr>
          <a:lstStyle/>
          <a:p>
            <a:pPr algn="l">
              <a:lnSpc>
                <a:spcPts val="1488"/>
              </a:lnSpc>
            </a:pPr>
            <a:r>
              <a:rPr lang="en-US" sz="1240" spc="-37">
                <a:solidFill>
                  <a:srgbClr val="000000">
                    <a:alpha val="27843"/>
                  </a:srgbClr>
                </a:solidFill>
                <a:latin typeface="Times New Roman"/>
                <a:ea typeface="Times New Roman"/>
                <a:cs typeface="Times New Roman"/>
                <a:sym typeface="Times New Roman"/>
              </a:rPr>
              <a:t>[Enforce]</a:t>
            </a:r>
          </a:p>
        </p:txBody>
      </p:sp>
      <p:sp>
        <p:nvSpPr>
          <p:cNvPr name="TextBox 45" id="45"/>
          <p:cNvSpPr txBox="true"/>
          <p:nvPr/>
        </p:nvSpPr>
        <p:spPr>
          <a:xfrm rot="0">
            <a:off x="11509524" y="5231940"/>
            <a:ext cx="495923" cy="194183"/>
          </a:xfrm>
          <a:prstGeom prst="rect">
            <a:avLst/>
          </a:prstGeom>
        </p:spPr>
        <p:txBody>
          <a:bodyPr anchor="t" rtlCol="false" tIns="0" lIns="0" bIns="0" rIns="0">
            <a:spAutoFit/>
          </a:bodyPr>
          <a:lstStyle/>
          <a:p>
            <a:pPr algn="l">
              <a:lnSpc>
                <a:spcPts val="1488"/>
              </a:lnSpc>
            </a:pPr>
            <a:r>
              <a:rPr lang="en-US" sz="1240" spc="-37">
                <a:solidFill>
                  <a:srgbClr val="000000">
                    <a:alpha val="27843"/>
                  </a:srgbClr>
                </a:solidFill>
                <a:latin typeface="Times New Roman"/>
                <a:ea typeface="Times New Roman"/>
                <a:cs typeface="Times New Roman"/>
                <a:sym typeface="Times New Roman"/>
              </a:rPr>
              <a:t>[Report]</a:t>
            </a:r>
          </a:p>
        </p:txBody>
      </p:sp>
      <p:sp>
        <p:nvSpPr>
          <p:cNvPr name="AutoShape 46" id="46"/>
          <p:cNvSpPr/>
          <p:nvPr/>
        </p:nvSpPr>
        <p:spPr>
          <a:xfrm flipH="true" flipV="true">
            <a:off x="8906671" y="4571985"/>
            <a:ext cx="0" cy="2092650"/>
          </a:xfrm>
          <a:prstGeom prst="line">
            <a:avLst/>
          </a:prstGeom>
          <a:ln cap="flat" w="19050">
            <a:solidFill>
              <a:srgbClr val="000000">
                <a:alpha val="16471"/>
              </a:srgbClr>
            </a:solidFill>
            <a:prstDash val="lgDash"/>
            <a:headEnd type="none" len="sm" w="sm"/>
            <a:tailEnd type="none" len="sm" w="sm"/>
          </a:ln>
        </p:spPr>
      </p:sp>
      <p:sp>
        <p:nvSpPr>
          <p:cNvPr name="AutoShape 47" id="47"/>
          <p:cNvSpPr/>
          <p:nvPr/>
        </p:nvSpPr>
        <p:spPr>
          <a:xfrm flipV="true">
            <a:off x="8906671" y="1989764"/>
            <a:ext cx="0" cy="1672256"/>
          </a:xfrm>
          <a:prstGeom prst="line">
            <a:avLst/>
          </a:prstGeom>
          <a:ln cap="flat" w="19050">
            <a:solidFill>
              <a:srgbClr val="000000">
                <a:alpha val="16471"/>
              </a:srgbClr>
            </a:solidFill>
            <a:prstDash val="lgDash"/>
            <a:headEnd type="none" len="sm" w="sm"/>
            <a:tailEnd type="none" len="sm" w="sm"/>
          </a:ln>
        </p:spPr>
      </p:sp>
      <p:sp>
        <p:nvSpPr>
          <p:cNvPr name="TextBox 48" id="48"/>
          <p:cNvSpPr txBox="true"/>
          <p:nvPr/>
        </p:nvSpPr>
        <p:spPr>
          <a:xfrm rot="0">
            <a:off x="13281244" y="7903987"/>
            <a:ext cx="3978056" cy="619125"/>
          </a:xfrm>
          <a:prstGeom prst="rect">
            <a:avLst/>
          </a:prstGeom>
        </p:spPr>
        <p:txBody>
          <a:bodyPr anchor="t" rtlCol="false" tIns="0" lIns="0" bIns="0" rIns="0">
            <a:spAutoFit/>
          </a:bodyPr>
          <a:lstStyle/>
          <a:p>
            <a:pPr algn="r">
              <a:lnSpc>
                <a:spcPts val="4799"/>
              </a:lnSpc>
            </a:pPr>
            <a:r>
              <a:rPr lang="en-US" sz="3999" spc="-159">
                <a:solidFill>
                  <a:srgbClr val="000000"/>
                </a:solidFill>
                <a:latin typeface="Times New Roman"/>
                <a:ea typeface="Times New Roman"/>
                <a:cs typeface="Times New Roman"/>
                <a:sym typeface="Times New Roman"/>
              </a:rPr>
              <a:t>Ecosystem Mapping</a:t>
            </a:r>
          </a:p>
        </p:txBody>
      </p:sp>
      <p:sp>
        <p:nvSpPr>
          <p:cNvPr name="TextBox 49" id="49"/>
          <p:cNvSpPr txBox="true"/>
          <p:nvPr/>
        </p:nvSpPr>
        <p:spPr>
          <a:xfrm rot="0">
            <a:off x="1028700" y="7903987"/>
            <a:ext cx="11941661" cy="628650"/>
          </a:xfrm>
          <a:prstGeom prst="rect">
            <a:avLst/>
          </a:prstGeom>
        </p:spPr>
        <p:txBody>
          <a:bodyPr anchor="t" rtlCol="false" tIns="0" lIns="0" bIns="0" rIns="0">
            <a:spAutoFit/>
          </a:bodyPr>
          <a:lstStyle/>
          <a:p>
            <a:pPr algn="l">
              <a:lnSpc>
                <a:spcPts val="2400"/>
              </a:lnSpc>
            </a:pPr>
            <a:r>
              <a:rPr lang="en-US" sz="2000" spc="-60">
                <a:solidFill>
                  <a:srgbClr val="000000"/>
                </a:solidFill>
                <a:latin typeface="Times New Roman"/>
                <a:ea typeface="Times New Roman"/>
                <a:cs typeface="Times New Roman"/>
                <a:sym typeface="Times New Roman"/>
              </a:rPr>
              <a:t>The three service components bridge AI enterprises and users or data agencies, with regulatory oversight and audit mechanisms embedded directly within the enterprise infrastructure rather than imposed externally.</a:t>
            </a:r>
          </a:p>
        </p:txBody>
      </p:sp>
      <p:sp>
        <p:nvSpPr>
          <p:cNvPr name="AutoShape 50" id="50"/>
          <p:cNvSpPr/>
          <p:nvPr/>
        </p:nvSpPr>
        <p:spPr>
          <a:xfrm>
            <a:off x="1028700" y="7445629"/>
            <a:ext cx="16230600" cy="0"/>
          </a:xfrm>
          <a:prstGeom prst="line">
            <a:avLst/>
          </a:prstGeom>
          <a:ln cap="flat" w="9525">
            <a:solidFill>
              <a:srgbClr val="000000">
                <a:alpha val="49804"/>
              </a:srgbClr>
            </a:solidFill>
            <a:prstDash val="solid"/>
            <a:headEnd type="none" len="sm" w="sm"/>
            <a:tailEnd type="none" len="sm" w="sm"/>
          </a:ln>
        </p:spPr>
      </p:sp>
      <p:sp>
        <p:nvSpPr>
          <p:cNvPr name="TextBox 51" id="51"/>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4513898"/>
            <a:ext cx="16230600" cy="0"/>
          </a:xfrm>
          <a:prstGeom prst="line">
            <a:avLst/>
          </a:prstGeom>
          <a:ln cap="flat" w="9525">
            <a:solidFill>
              <a:srgbClr val="000000">
                <a:alpha val="49804"/>
              </a:srgbClr>
            </a:solidFill>
            <a:prstDash val="solid"/>
            <a:headEnd type="none" len="sm" w="sm"/>
            <a:tailEnd type="none" len="sm" w="sm"/>
          </a:ln>
        </p:spPr>
      </p:sp>
      <p:sp>
        <p:nvSpPr>
          <p:cNvPr name="Freeform 3" id="3"/>
          <p:cNvSpPr/>
          <p:nvPr/>
        </p:nvSpPr>
        <p:spPr>
          <a:xfrm flipH="false" flipV="false" rot="0">
            <a:off x="1028700" y="4890135"/>
            <a:ext cx="16230600" cy="4118229"/>
          </a:xfrm>
          <a:custGeom>
            <a:avLst/>
            <a:gdLst/>
            <a:ahLst/>
            <a:cxnLst/>
            <a:rect r="r" b="b" t="t" l="l"/>
            <a:pathLst>
              <a:path h="4118229" w="16230600">
                <a:moveTo>
                  <a:pt x="0" y="0"/>
                </a:moveTo>
                <a:lnTo>
                  <a:pt x="16230600" y="0"/>
                </a:lnTo>
                <a:lnTo>
                  <a:pt x="16230600" y="4118229"/>
                </a:lnTo>
                <a:lnTo>
                  <a:pt x="0" y="4118229"/>
                </a:lnTo>
                <a:lnTo>
                  <a:pt x="0" y="0"/>
                </a:lnTo>
                <a:close/>
              </a:path>
            </a:pathLst>
          </a:custGeom>
          <a:blipFill>
            <a:blip r:embed="rId2"/>
            <a:stretch>
              <a:fillRect l="0" t="-70425" r="0" b="-18750"/>
            </a:stretch>
          </a:blipFill>
        </p:spPr>
      </p:sp>
      <p:grpSp>
        <p:nvGrpSpPr>
          <p:cNvPr name="Group 4" id="4"/>
          <p:cNvGrpSpPr/>
          <p:nvPr/>
        </p:nvGrpSpPr>
        <p:grpSpPr>
          <a:xfrm rot="0">
            <a:off x="1028700" y="8116463"/>
            <a:ext cx="2684079" cy="891901"/>
            <a:chOff x="0" y="0"/>
            <a:chExt cx="3578772" cy="1189201"/>
          </a:xfrm>
        </p:grpSpPr>
        <p:grpSp>
          <p:nvGrpSpPr>
            <p:cNvPr name="Group 5" id="5"/>
            <p:cNvGrpSpPr/>
            <p:nvPr/>
          </p:nvGrpSpPr>
          <p:grpSpPr>
            <a:xfrm rot="0">
              <a:off x="3046449" y="0"/>
              <a:ext cx="532323" cy="555196"/>
              <a:chOff x="0" y="0"/>
              <a:chExt cx="584874" cy="610004"/>
            </a:xfrm>
          </p:grpSpPr>
          <p:sp>
            <p:nvSpPr>
              <p:cNvPr name="Freeform 6" id="6"/>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FFFFFF"/>
              </a:solidFill>
            </p:spPr>
          </p:sp>
          <p:sp>
            <p:nvSpPr>
              <p:cNvPr name="TextBox 7" id="7"/>
              <p:cNvSpPr txBox="true"/>
              <p:nvPr/>
            </p:nvSpPr>
            <p:spPr>
              <a:xfrm>
                <a:off x="137617" y="172105"/>
                <a:ext cx="309639" cy="294368"/>
              </a:xfrm>
              <a:prstGeom prst="rect">
                <a:avLst/>
              </a:prstGeom>
            </p:spPr>
            <p:txBody>
              <a:bodyPr anchor="ctr" rtlCol="false" tIns="31993" lIns="31993" bIns="31993" rIns="31993"/>
              <a:lstStyle/>
              <a:p>
                <a:pPr algn="ctr">
                  <a:lnSpc>
                    <a:spcPts val="1599"/>
                  </a:lnSpc>
                </a:pPr>
              </a:p>
            </p:txBody>
          </p:sp>
        </p:grpSp>
        <p:sp>
          <p:nvSpPr>
            <p:cNvPr name="TextBox 8" id="8"/>
            <p:cNvSpPr txBox="true"/>
            <p:nvPr/>
          </p:nvSpPr>
          <p:spPr>
            <a:xfrm rot="0">
              <a:off x="0" y="313723"/>
              <a:ext cx="3188709" cy="875478"/>
            </a:xfrm>
            <a:prstGeom prst="rect">
              <a:avLst/>
            </a:prstGeom>
          </p:spPr>
          <p:txBody>
            <a:bodyPr anchor="t" rtlCol="false" tIns="0" lIns="0" bIns="0" rIns="0">
              <a:spAutoFit/>
            </a:bodyPr>
            <a:lstStyle/>
            <a:p>
              <a:pPr algn="ctr">
                <a:lnSpc>
                  <a:spcPts val="4656"/>
                </a:lnSpc>
              </a:pPr>
              <a:r>
                <a:rPr lang="en-US" b="true" sz="4656" spc="-186">
                  <a:solidFill>
                    <a:srgbClr val="FFFFFF"/>
                  </a:solidFill>
                  <a:latin typeface="Times New Roman Bold"/>
                  <a:ea typeface="Times New Roman Bold"/>
                  <a:cs typeface="Times New Roman Bold"/>
                  <a:sym typeface="Times New Roman Bold"/>
                </a:rPr>
                <a:t>tokentrust</a:t>
              </a:r>
            </a:p>
          </p:txBody>
        </p:sp>
      </p:grpSp>
      <p:sp>
        <p:nvSpPr>
          <p:cNvPr name="TextBox 9" id="9"/>
          <p:cNvSpPr txBox="true"/>
          <p:nvPr/>
        </p:nvSpPr>
        <p:spPr>
          <a:xfrm rot="0">
            <a:off x="9144000" y="3202306"/>
            <a:ext cx="8115300" cy="527050"/>
          </a:xfrm>
          <a:prstGeom prst="rect">
            <a:avLst/>
          </a:prstGeom>
        </p:spPr>
        <p:txBody>
          <a:bodyPr anchor="t" rtlCol="false" tIns="0" lIns="0" bIns="0" rIns="0">
            <a:spAutoFit/>
          </a:bodyPr>
          <a:lstStyle/>
          <a:p>
            <a:pPr algn="r">
              <a:lnSpc>
                <a:spcPts val="2000"/>
              </a:lnSpc>
              <a:spcBef>
                <a:spcPct val="0"/>
              </a:spcBef>
            </a:pPr>
            <a:r>
              <a:rPr lang="en-US" sz="2000" spc="-60">
                <a:solidFill>
                  <a:srgbClr val="000000"/>
                </a:solidFill>
                <a:latin typeface="Times New Roman"/>
                <a:ea typeface="Times New Roman"/>
                <a:cs typeface="Times New Roman"/>
                <a:sym typeface="Times New Roman"/>
              </a:rPr>
              <a:t>Prior to market entry, the </a:t>
            </a:r>
            <a:r>
              <a:rPr lang="en-US" sz="2000" spc="-60">
                <a:solidFill>
                  <a:srgbClr val="000000"/>
                </a:solidFill>
                <a:latin typeface="Times New Roman"/>
                <a:ea typeface="Times New Roman"/>
                <a:cs typeface="Times New Roman"/>
                <a:sym typeface="Times New Roman"/>
              </a:rPr>
              <a:t>strategic priority is establishing foundational market trust and a stable infrastructure capable of sustaining long-term operations.</a:t>
            </a:r>
          </a:p>
        </p:txBody>
      </p:sp>
      <p:sp>
        <p:nvSpPr>
          <p:cNvPr name="TextBox 10" id="10"/>
          <p:cNvSpPr txBox="true"/>
          <p:nvPr/>
        </p:nvSpPr>
        <p:spPr>
          <a:xfrm rot="0">
            <a:off x="1028700" y="1733932"/>
            <a:ext cx="9973420" cy="2400299"/>
          </a:xfrm>
          <a:prstGeom prst="rect">
            <a:avLst/>
          </a:prstGeom>
        </p:spPr>
        <p:txBody>
          <a:bodyPr anchor="t" rtlCol="false" tIns="0" lIns="0" bIns="0" rIns="0">
            <a:spAutoFit/>
          </a:bodyPr>
          <a:lstStyle/>
          <a:p>
            <a:pPr algn="l">
              <a:lnSpc>
                <a:spcPts val="8999"/>
              </a:lnSpc>
            </a:pPr>
            <a:r>
              <a:rPr lang="en-US" sz="9999" spc="-299">
                <a:solidFill>
                  <a:srgbClr val="000000"/>
                </a:solidFill>
                <a:latin typeface="Times New Roman"/>
                <a:ea typeface="Times New Roman"/>
                <a:cs typeface="Times New Roman"/>
                <a:sym typeface="Times New Roman"/>
              </a:rPr>
              <a:t>Operational Structure</a:t>
            </a:r>
          </a:p>
        </p:txBody>
      </p:sp>
      <p:sp>
        <p:nvSpPr>
          <p:cNvPr name="TextBox 11" id="11"/>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12" id="12"/>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13" id="1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Strategic Foresight</a:t>
            </a:r>
          </a:p>
        </p:txBody>
      </p:sp>
      <p:sp>
        <p:nvSpPr>
          <p:cNvPr name="TextBox 14" id="1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33</a:t>
            </a:r>
          </a:p>
        </p:txBody>
      </p:sp>
    </p:spTree>
  </p:cSld>
  <p:clrMapOvr>
    <a:masterClrMapping/>
  </p:clrMapOvr>
</p:sld>
</file>

<file path=ppt/slides/slide3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Strategic Foresight - Business Model Canvas</a:t>
            </a:r>
          </a:p>
        </p:txBody>
      </p:sp>
      <p:grpSp>
        <p:nvGrpSpPr>
          <p:cNvPr name="Group 5" id="5"/>
          <p:cNvGrpSpPr/>
          <p:nvPr/>
        </p:nvGrpSpPr>
        <p:grpSpPr>
          <a:xfrm rot="0">
            <a:off x="1028667" y="2182235"/>
            <a:ext cx="16230633" cy="5922530"/>
            <a:chOff x="0" y="0"/>
            <a:chExt cx="21640845" cy="7896706"/>
          </a:xfrm>
        </p:grpSpPr>
        <p:sp>
          <p:nvSpPr>
            <p:cNvPr name="TextBox 6" id="6"/>
            <p:cNvSpPr txBox="true"/>
            <p:nvPr/>
          </p:nvSpPr>
          <p:spPr>
            <a:xfrm rot="0">
              <a:off x="75933" y="629190"/>
              <a:ext cx="3068793" cy="2682712"/>
            </a:xfrm>
            <a:prstGeom prst="rect">
              <a:avLst/>
            </a:prstGeom>
          </p:spPr>
          <p:txBody>
            <a:bodyPr anchor="t" rtlCol="false" tIns="0" lIns="0" bIns="0" rIns="0">
              <a:spAutoFit/>
            </a:bodyPr>
            <a:lstStyle/>
            <a:p>
              <a:pPr algn="l">
                <a:lnSpc>
                  <a:spcPts val="1558"/>
                </a:lnSpc>
              </a:pPr>
              <a:r>
                <a:rPr lang="en-US" sz="1558" spc="-23">
                  <a:solidFill>
                    <a:srgbClr val="000000">
                      <a:alpha val="69804"/>
                    </a:srgbClr>
                  </a:solidFill>
                  <a:latin typeface="Times New Roman"/>
                  <a:ea typeface="Times New Roman"/>
                  <a:cs typeface="Times New Roman"/>
                  <a:sym typeface="Times New Roman"/>
                </a:rPr>
                <a:t>AI model providers</a:t>
              </a:r>
            </a:p>
            <a:p>
              <a:pPr algn="l">
                <a:lnSpc>
                  <a:spcPts val="1558"/>
                </a:lnSpc>
              </a:pPr>
            </a:p>
            <a:p>
              <a:pPr algn="l">
                <a:lnSpc>
                  <a:spcPts val="1558"/>
                </a:lnSpc>
              </a:pPr>
              <a:r>
                <a:rPr lang="en-US" sz="1558" spc="-23">
                  <a:solidFill>
                    <a:srgbClr val="000000">
                      <a:alpha val="69804"/>
                    </a:srgbClr>
                  </a:solidFill>
                  <a:latin typeface="Times New Roman"/>
                  <a:ea typeface="Times New Roman"/>
                  <a:cs typeface="Times New Roman"/>
                  <a:sym typeface="Times New Roman"/>
                </a:rPr>
                <a:t>Id</a:t>
              </a:r>
              <a:r>
                <a:rPr lang="en-US" sz="1558" spc="-23">
                  <a:solidFill>
                    <a:srgbClr val="000000">
                      <a:alpha val="69804"/>
                    </a:srgbClr>
                  </a:solidFill>
                  <a:latin typeface="Times New Roman"/>
                  <a:ea typeface="Times New Roman"/>
                  <a:cs typeface="Times New Roman"/>
                  <a:sym typeface="Times New Roman"/>
                </a:rPr>
                <a:t>entity verification partners</a:t>
              </a:r>
            </a:p>
            <a:p>
              <a:pPr algn="l">
                <a:lnSpc>
                  <a:spcPts val="1558"/>
                </a:lnSpc>
              </a:pPr>
            </a:p>
            <a:p>
              <a:pPr algn="l">
                <a:lnSpc>
                  <a:spcPts val="1558"/>
                </a:lnSpc>
              </a:pPr>
              <a:r>
                <a:rPr lang="en-US" sz="1558" spc="-23">
                  <a:solidFill>
                    <a:srgbClr val="000000">
                      <a:alpha val="69804"/>
                    </a:srgbClr>
                  </a:solidFill>
                  <a:latin typeface="Times New Roman"/>
                  <a:ea typeface="Times New Roman"/>
                  <a:cs typeface="Times New Roman"/>
                  <a:sym typeface="Times New Roman"/>
                </a:rPr>
                <a:t>Privacy and compliance bodies</a:t>
              </a:r>
            </a:p>
            <a:p>
              <a:pPr algn="l">
                <a:lnSpc>
                  <a:spcPts val="1558"/>
                </a:lnSpc>
              </a:pPr>
            </a:p>
            <a:p>
              <a:pPr algn="l">
                <a:lnSpc>
                  <a:spcPts val="1558"/>
                </a:lnSpc>
              </a:pPr>
              <a:r>
                <a:rPr lang="en-US" sz="1558" spc="-23">
                  <a:solidFill>
                    <a:srgbClr val="000000">
                      <a:alpha val="69804"/>
                    </a:srgbClr>
                  </a:solidFill>
                  <a:latin typeface="Times New Roman"/>
                  <a:ea typeface="Times New Roman"/>
                  <a:cs typeface="Times New Roman"/>
                  <a:sym typeface="Times New Roman"/>
                </a:rPr>
                <a:t>Independent auditors / governance groups</a:t>
              </a:r>
            </a:p>
            <a:p>
              <a:pPr algn="l">
                <a:lnSpc>
                  <a:spcPts val="1558"/>
                </a:lnSpc>
              </a:pPr>
            </a:p>
          </p:txBody>
        </p:sp>
        <p:sp>
          <p:nvSpPr>
            <p:cNvPr name="TextBox 7" id="7"/>
            <p:cNvSpPr txBox="true"/>
            <p:nvPr/>
          </p:nvSpPr>
          <p:spPr>
            <a:xfrm rot="0">
              <a:off x="9165783" y="629190"/>
              <a:ext cx="3068793" cy="2946657"/>
            </a:xfrm>
            <a:prstGeom prst="rect">
              <a:avLst/>
            </a:prstGeom>
          </p:spPr>
          <p:txBody>
            <a:bodyPr anchor="t" rtlCol="false" tIns="0" lIns="0" bIns="0" rIns="0">
              <a:spAutoFit/>
            </a:bodyPr>
            <a:lstStyle/>
            <a:p>
              <a:pPr algn="l">
                <a:lnSpc>
                  <a:spcPts val="1558"/>
                </a:lnSpc>
              </a:pPr>
              <a:r>
                <a:rPr lang="en-US" sz="1558" spc="-23">
                  <a:solidFill>
                    <a:srgbClr val="000000">
                      <a:alpha val="69804"/>
                    </a:srgbClr>
                  </a:solidFill>
                  <a:latin typeface="Times New Roman"/>
                  <a:ea typeface="Times New Roman"/>
                  <a:cs typeface="Times New Roman"/>
                  <a:sym typeface="Times New Roman"/>
                </a:rPr>
                <a:t>Higher-quality, consent-based data sourcing</a:t>
              </a:r>
            </a:p>
            <a:p>
              <a:pPr algn="l">
                <a:lnSpc>
                  <a:spcPts val="1558"/>
                </a:lnSpc>
              </a:pPr>
            </a:p>
            <a:p>
              <a:pPr algn="l">
                <a:lnSpc>
                  <a:spcPts val="1558"/>
                </a:lnSpc>
              </a:pPr>
              <a:r>
                <a:rPr lang="en-US" sz="1558" spc="-23">
                  <a:solidFill>
                    <a:srgbClr val="000000">
                      <a:alpha val="69804"/>
                    </a:srgbClr>
                  </a:solidFill>
                  <a:latin typeface="Times New Roman"/>
                  <a:ea typeface="Times New Roman"/>
                  <a:cs typeface="Times New Roman"/>
                  <a:sym typeface="Times New Roman"/>
                </a:rPr>
                <a:t>Lower privacy, copyright, and compliance risk</a:t>
              </a:r>
            </a:p>
            <a:p>
              <a:pPr algn="l">
                <a:lnSpc>
                  <a:spcPts val="1558"/>
                </a:lnSpc>
              </a:pPr>
            </a:p>
            <a:p>
              <a:pPr algn="l">
                <a:lnSpc>
                  <a:spcPts val="1558"/>
                </a:lnSpc>
              </a:pPr>
              <a:r>
                <a:rPr lang="en-US" sz="1558" spc="-23">
                  <a:solidFill>
                    <a:srgbClr val="000000">
                      <a:alpha val="69804"/>
                    </a:srgbClr>
                  </a:solidFill>
                  <a:latin typeface="Times New Roman"/>
                  <a:ea typeface="Times New Roman"/>
                  <a:cs typeface="Times New Roman"/>
                  <a:sym typeface="Times New Roman"/>
                </a:rPr>
                <a:t>Auditable records of data use</a:t>
              </a:r>
            </a:p>
            <a:p>
              <a:pPr algn="l">
                <a:lnSpc>
                  <a:spcPts val="1558"/>
                </a:lnSpc>
              </a:pPr>
            </a:p>
            <a:p>
              <a:pPr algn="l">
                <a:lnSpc>
                  <a:spcPts val="1558"/>
                </a:lnSpc>
              </a:pPr>
              <a:r>
                <a:rPr lang="en-US" sz="1558" spc="-23">
                  <a:solidFill>
                    <a:srgbClr val="000000">
                      <a:alpha val="69804"/>
                    </a:srgbClr>
                  </a:solidFill>
                  <a:latin typeface="Times New Roman"/>
                  <a:ea typeface="Times New Roman"/>
                  <a:cs typeface="Times New Roman"/>
                  <a:sym typeface="Times New Roman"/>
                </a:rPr>
                <a:t>Visible and compensable user participation</a:t>
              </a:r>
            </a:p>
            <a:p>
              <a:pPr algn="l">
                <a:lnSpc>
                  <a:spcPts val="1558"/>
                </a:lnSpc>
              </a:pPr>
            </a:p>
          </p:txBody>
        </p:sp>
        <p:sp>
          <p:nvSpPr>
            <p:cNvPr name="TextBox 8" id="8"/>
            <p:cNvSpPr txBox="true"/>
            <p:nvPr/>
          </p:nvSpPr>
          <p:spPr>
            <a:xfrm rot="0">
              <a:off x="18572051" y="629190"/>
              <a:ext cx="3068793" cy="3210601"/>
            </a:xfrm>
            <a:prstGeom prst="rect">
              <a:avLst/>
            </a:prstGeom>
          </p:spPr>
          <p:txBody>
            <a:bodyPr anchor="t" rtlCol="false" tIns="0" lIns="0" bIns="0" rIns="0">
              <a:spAutoFit/>
            </a:bodyPr>
            <a:lstStyle/>
            <a:p>
              <a:pPr algn="l">
                <a:lnSpc>
                  <a:spcPts val="1558"/>
                </a:lnSpc>
              </a:pPr>
              <a:r>
                <a:rPr lang="en-US" sz="1558" spc="-23">
                  <a:solidFill>
                    <a:srgbClr val="000000">
                      <a:alpha val="69804"/>
                    </a:srgbClr>
                  </a:solidFill>
                  <a:latin typeface="Times New Roman"/>
                  <a:ea typeface="Times New Roman"/>
                  <a:cs typeface="Times New Roman"/>
                  <a:sym typeface="Times New Roman"/>
                </a:rPr>
                <a:t>Enterprise onboarding support</a:t>
              </a:r>
            </a:p>
            <a:p>
              <a:pPr algn="l">
                <a:lnSpc>
                  <a:spcPts val="1558"/>
                </a:lnSpc>
              </a:pPr>
            </a:p>
            <a:p>
              <a:pPr algn="l">
                <a:lnSpc>
                  <a:spcPts val="1558"/>
                </a:lnSpc>
              </a:pPr>
              <a:r>
                <a:rPr lang="en-US" sz="1558" spc="-23">
                  <a:solidFill>
                    <a:srgbClr val="000000">
                      <a:alpha val="69804"/>
                    </a:srgbClr>
                  </a:solidFill>
                  <a:latin typeface="Times New Roman"/>
                  <a:ea typeface="Times New Roman"/>
                  <a:cs typeface="Times New Roman"/>
                  <a:sym typeface="Times New Roman"/>
                </a:rPr>
                <a:t>Long-term compliance partnership</a:t>
              </a:r>
            </a:p>
            <a:p>
              <a:pPr algn="l">
                <a:lnSpc>
                  <a:spcPts val="1558"/>
                </a:lnSpc>
              </a:pPr>
            </a:p>
            <a:p>
              <a:pPr algn="l">
                <a:lnSpc>
                  <a:spcPts val="1558"/>
                </a:lnSpc>
              </a:pPr>
              <a:r>
                <a:rPr lang="en-US" sz="1558" spc="-23">
                  <a:solidFill>
                    <a:srgbClr val="000000">
                      <a:alpha val="69804"/>
                    </a:srgbClr>
                  </a:solidFill>
                  <a:latin typeface="Times New Roman"/>
                  <a:ea typeface="Times New Roman"/>
                  <a:cs typeface="Times New Roman"/>
                  <a:sym typeface="Times New Roman"/>
                </a:rPr>
                <a:t>Audit and reporting assistance</a:t>
              </a:r>
            </a:p>
            <a:p>
              <a:pPr algn="l">
                <a:lnSpc>
                  <a:spcPts val="1558"/>
                </a:lnSpc>
              </a:pPr>
            </a:p>
            <a:p>
              <a:pPr algn="l">
                <a:lnSpc>
                  <a:spcPts val="1558"/>
                </a:lnSpc>
              </a:pPr>
              <a:r>
                <a:rPr lang="en-US" sz="1558" spc="-23">
                  <a:solidFill>
                    <a:srgbClr val="000000">
                      <a:alpha val="69804"/>
                    </a:srgbClr>
                  </a:solidFill>
                  <a:latin typeface="Times New Roman"/>
                  <a:ea typeface="Times New Roman"/>
                  <a:cs typeface="Times New Roman"/>
                  <a:sym typeface="Times New Roman"/>
                </a:rPr>
                <a:t>Dedicated account management</a:t>
              </a:r>
            </a:p>
            <a:p>
              <a:pPr algn="l">
                <a:lnSpc>
                  <a:spcPts val="1558"/>
                </a:lnSpc>
              </a:pPr>
            </a:p>
          </p:txBody>
        </p:sp>
        <p:sp>
          <p:nvSpPr>
            <p:cNvPr name="TextBox 9" id="9"/>
            <p:cNvSpPr txBox="true"/>
            <p:nvPr/>
          </p:nvSpPr>
          <p:spPr>
            <a:xfrm rot="0">
              <a:off x="4685245" y="629190"/>
              <a:ext cx="2943838" cy="2418767"/>
            </a:xfrm>
            <a:prstGeom prst="rect">
              <a:avLst/>
            </a:prstGeom>
          </p:spPr>
          <p:txBody>
            <a:bodyPr anchor="t" rtlCol="false" tIns="0" lIns="0" bIns="0" rIns="0">
              <a:spAutoFit/>
            </a:bodyPr>
            <a:lstStyle/>
            <a:p>
              <a:pPr algn="l">
                <a:lnSpc>
                  <a:spcPts val="1558"/>
                </a:lnSpc>
              </a:pPr>
              <a:r>
                <a:rPr lang="en-US" sz="1558" spc="-46">
                  <a:solidFill>
                    <a:srgbClr val="000000">
                      <a:alpha val="69804"/>
                    </a:srgbClr>
                  </a:solidFill>
                  <a:latin typeface="Times New Roman"/>
                  <a:ea typeface="Times New Roman"/>
                  <a:cs typeface="Times New Roman"/>
                  <a:sym typeface="Times New Roman"/>
                </a:rPr>
                <a:t>Data Quality Index (DQI) scoring</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Consent logging and verification</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Interplatform Token Economy</a:t>
              </a:r>
            </a:p>
            <a:p>
              <a:pPr algn="l">
                <a:lnSpc>
                  <a:spcPts val="1558"/>
                </a:lnSpc>
              </a:pPr>
            </a:p>
          </p:txBody>
        </p:sp>
        <p:sp>
          <p:nvSpPr>
            <p:cNvPr name="TextBox 10" id="10"/>
            <p:cNvSpPr txBox="true"/>
            <p:nvPr/>
          </p:nvSpPr>
          <p:spPr>
            <a:xfrm rot="0">
              <a:off x="13775096" y="629190"/>
              <a:ext cx="2940019" cy="2154822"/>
            </a:xfrm>
            <a:prstGeom prst="rect">
              <a:avLst/>
            </a:prstGeom>
          </p:spPr>
          <p:txBody>
            <a:bodyPr anchor="t" rtlCol="false" tIns="0" lIns="0" bIns="0" rIns="0">
              <a:spAutoFit/>
            </a:bodyPr>
            <a:lstStyle/>
            <a:p>
              <a:pPr algn="l">
                <a:lnSpc>
                  <a:spcPts val="1558"/>
                </a:lnSpc>
              </a:pPr>
              <a:r>
                <a:rPr lang="en-US" sz="1558" spc="-46">
                  <a:solidFill>
                    <a:srgbClr val="000000">
                      <a:alpha val="69804"/>
                    </a:srgbClr>
                  </a:solidFill>
                  <a:latin typeface="Times New Roman"/>
                  <a:ea typeface="Times New Roman"/>
                  <a:cs typeface="Times New Roman"/>
                  <a:sym typeface="Times New Roman"/>
                </a:rPr>
                <a:t>En</a:t>
              </a:r>
              <a:r>
                <a:rPr lang="en-US" sz="1558" spc="-46">
                  <a:solidFill>
                    <a:srgbClr val="000000">
                      <a:alpha val="69804"/>
                    </a:srgbClr>
                  </a:solidFill>
                  <a:latin typeface="Times New Roman"/>
                  <a:ea typeface="Times New Roman"/>
                  <a:cs typeface="Times New Roman"/>
                  <a:sym typeface="Times New Roman"/>
                </a:rPr>
                <a:t>terprise onboarding support</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Long-term compliance partnership</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Audit and reporting assistance</a:t>
              </a:r>
            </a:p>
          </p:txBody>
        </p:sp>
        <p:sp>
          <p:nvSpPr>
            <p:cNvPr name="TextBox 11" id="11"/>
            <p:cNvSpPr txBox="true"/>
            <p:nvPr/>
          </p:nvSpPr>
          <p:spPr>
            <a:xfrm rot="0">
              <a:off x="0" y="6533718"/>
              <a:ext cx="3774666" cy="1362988"/>
            </a:xfrm>
            <a:prstGeom prst="rect">
              <a:avLst/>
            </a:prstGeom>
          </p:spPr>
          <p:txBody>
            <a:bodyPr anchor="t" rtlCol="false" tIns="0" lIns="0" bIns="0" rIns="0">
              <a:spAutoFit/>
            </a:bodyPr>
            <a:lstStyle/>
            <a:p>
              <a:pPr algn="l">
                <a:lnSpc>
                  <a:spcPts val="1558"/>
                </a:lnSpc>
              </a:pPr>
              <a:r>
                <a:rPr lang="en-US" sz="1558" spc="-46">
                  <a:solidFill>
                    <a:srgbClr val="000000">
                      <a:alpha val="69804"/>
                    </a:srgbClr>
                  </a:solidFill>
                  <a:latin typeface="Times New Roman"/>
                  <a:ea typeface="Times New Roman"/>
                  <a:cs typeface="Times New Roman"/>
                  <a:sym typeface="Times New Roman"/>
                </a:rPr>
                <a:t>Data</a:t>
              </a:r>
              <a:r>
                <a:rPr lang="en-US" sz="1558" spc="-46">
                  <a:solidFill>
                    <a:srgbClr val="000000">
                      <a:alpha val="69804"/>
                    </a:srgbClr>
                  </a:solidFill>
                  <a:latin typeface="Times New Roman"/>
                  <a:ea typeface="Times New Roman"/>
                  <a:cs typeface="Times New Roman"/>
                  <a:sym typeface="Times New Roman"/>
                </a:rPr>
                <a:t> scoring infrastructure</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Legal and compliance review</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Reward pool management</a:t>
              </a:r>
            </a:p>
          </p:txBody>
        </p:sp>
        <p:sp>
          <p:nvSpPr>
            <p:cNvPr name="TextBox 12" id="12"/>
            <p:cNvSpPr txBox="true"/>
            <p:nvPr/>
          </p:nvSpPr>
          <p:spPr>
            <a:xfrm rot="0">
              <a:off x="3774666" y="6533718"/>
              <a:ext cx="3774666" cy="1099043"/>
            </a:xfrm>
            <a:prstGeom prst="rect">
              <a:avLst/>
            </a:prstGeom>
          </p:spPr>
          <p:txBody>
            <a:bodyPr anchor="t" rtlCol="false" tIns="0" lIns="0" bIns="0" rIns="0">
              <a:spAutoFit/>
            </a:bodyPr>
            <a:lstStyle/>
            <a:p>
              <a:pPr algn="l">
                <a:lnSpc>
                  <a:spcPts val="1558"/>
                </a:lnSpc>
              </a:pPr>
              <a:r>
                <a:rPr lang="en-US" sz="1558" spc="-46">
                  <a:solidFill>
                    <a:srgbClr val="000000">
                      <a:alpha val="69804"/>
                    </a:srgbClr>
                  </a:solidFill>
                  <a:latin typeface="Times New Roman"/>
                  <a:ea typeface="Times New Roman"/>
                  <a:cs typeface="Times New Roman"/>
                  <a:sym typeface="Times New Roman"/>
                </a:rPr>
                <a:t>Security and system integrati</a:t>
              </a:r>
              <a:r>
                <a:rPr lang="en-US" sz="1558" spc="-46">
                  <a:solidFill>
                    <a:srgbClr val="000000">
                      <a:alpha val="69804"/>
                    </a:srgbClr>
                  </a:solidFill>
                  <a:latin typeface="Times New Roman"/>
                  <a:ea typeface="Times New Roman"/>
                  <a:cs typeface="Times New Roman"/>
                  <a:sym typeface="Times New Roman"/>
                </a:rPr>
                <a:t>on</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Sales and partnership operations</a:t>
              </a:r>
            </a:p>
            <a:p>
              <a:pPr algn="l">
                <a:lnSpc>
                  <a:spcPts val="1558"/>
                </a:lnSpc>
              </a:pPr>
            </a:p>
          </p:txBody>
        </p:sp>
        <p:sp>
          <p:nvSpPr>
            <p:cNvPr name="TextBox 13" id="13"/>
            <p:cNvSpPr txBox="true"/>
            <p:nvPr/>
          </p:nvSpPr>
          <p:spPr>
            <a:xfrm rot="0">
              <a:off x="13701874" y="6533718"/>
              <a:ext cx="3931519" cy="1362988"/>
            </a:xfrm>
            <a:prstGeom prst="rect">
              <a:avLst/>
            </a:prstGeom>
          </p:spPr>
          <p:txBody>
            <a:bodyPr anchor="t" rtlCol="false" tIns="0" lIns="0" bIns="0" rIns="0">
              <a:spAutoFit/>
            </a:bodyPr>
            <a:lstStyle/>
            <a:p>
              <a:pPr algn="l">
                <a:lnSpc>
                  <a:spcPts val="1558"/>
                </a:lnSpc>
              </a:pPr>
              <a:r>
                <a:rPr lang="en-US" sz="1558" spc="-46">
                  <a:solidFill>
                    <a:srgbClr val="000000">
                      <a:alpha val="69804"/>
                    </a:srgbClr>
                  </a:solidFill>
                  <a:latin typeface="Times New Roman"/>
                  <a:ea typeface="Times New Roman"/>
                  <a:cs typeface="Times New Roman"/>
                  <a:sym typeface="Times New Roman"/>
                </a:rPr>
                <a:t>B2B SaaS lice</a:t>
              </a:r>
              <a:r>
                <a:rPr lang="en-US" sz="1558" spc="-46">
                  <a:solidFill>
                    <a:srgbClr val="000000">
                      <a:alpha val="69804"/>
                    </a:srgbClr>
                  </a:solidFill>
                  <a:latin typeface="Times New Roman"/>
                  <a:ea typeface="Times New Roman"/>
                  <a:cs typeface="Times New Roman"/>
                  <a:sym typeface="Times New Roman"/>
                </a:rPr>
                <a:t>nsing</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API usage fees</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Token transaction fees</a:t>
              </a:r>
            </a:p>
          </p:txBody>
        </p:sp>
        <p:sp>
          <p:nvSpPr>
            <p:cNvPr name="TextBox 14" id="14"/>
            <p:cNvSpPr txBox="true"/>
            <p:nvPr/>
          </p:nvSpPr>
          <p:spPr>
            <a:xfrm rot="0">
              <a:off x="17633393" y="6533718"/>
              <a:ext cx="3931519" cy="835098"/>
            </a:xfrm>
            <a:prstGeom prst="rect">
              <a:avLst/>
            </a:prstGeom>
          </p:spPr>
          <p:txBody>
            <a:bodyPr anchor="t" rtlCol="false" tIns="0" lIns="0" bIns="0" rIns="0">
              <a:spAutoFit/>
            </a:bodyPr>
            <a:lstStyle/>
            <a:p>
              <a:pPr algn="l">
                <a:lnSpc>
                  <a:spcPts val="1558"/>
                </a:lnSpc>
              </a:pPr>
              <a:r>
                <a:rPr lang="en-US" sz="1558" spc="-46">
                  <a:solidFill>
                    <a:srgbClr val="000000">
                      <a:alpha val="69804"/>
                    </a:srgbClr>
                  </a:solidFill>
                  <a:latin typeface="Times New Roman"/>
                  <a:ea typeface="Times New Roman"/>
                  <a:cs typeface="Times New Roman"/>
                  <a:sym typeface="Times New Roman"/>
                </a:rPr>
                <a:t>Enterprise integration</a:t>
              </a:r>
              <a:r>
                <a:rPr lang="en-US" sz="1558" spc="-46">
                  <a:solidFill>
                    <a:srgbClr val="000000">
                      <a:alpha val="69804"/>
                    </a:srgbClr>
                  </a:solidFill>
                  <a:latin typeface="Times New Roman"/>
                  <a:ea typeface="Times New Roman"/>
                  <a:cs typeface="Times New Roman"/>
                  <a:sym typeface="Times New Roman"/>
                </a:rPr>
                <a:t> fees</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Audit and certification subscriptions</a:t>
              </a:r>
            </a:p>
          </p:txBody>
        </p:sp>
        <p:sp>
          <p:nvSpPr>
            <p:cNvPr name="TextBox 15" id="15"/>
            <p:cNvSpPr txBox="true"/>
            <p:nvPr/>
          </p:nvSpPr>
          <p:spPr>
            <a:xfrm rot="0">
              <a:off x="116506" y="28575"/>
              <a:ext cx="2548831" cy="384710"/>
            </a:xfrm>
            <a:prstGeom prst="rect">
              <a:avLst/>
            </a:prstGeom>
          </p:spPr>
          <p:txBody>
            <a:bodyPr anchor="t" rtlCol="false" tIns="0" lIns="0" bIns="0" rIns="0">
              <a:spAutoFit/>
            </a:bodyPr>
            <a:lstStyle/>
            <a:p>
              <a:pPr algn="l">
                <a:lnSpc>
                  <a:spcPts val="2078"/>
                </a:lnSpc>
              </a:pPr>
              <a:r>
                <a:rPr lang="en-US" sz="2078" spc="-31">
                  <a:solidFill>
                    <a:srgbClr val="000000"/>
                  </a:solidFill>
                  <a:latin typeface="Times New Roman"/>
                  <a:ea typeface="Times New Roman"/>
                  <a:cs typeface="Times New Roman"/>
                  <a:sym typeface="Times New Roman"/>
                </a:rPr>
                <a:t>Key Partnerships</a:t>
              </a:r>
            </a:p>
          </p:txBody>
        </p:sp>
        <p:sp>
          <p:nvSpPr>
            <p:cNvPr name="TextBox 16" id="16"/>
            <p:cNvSpPr txBox="true"/>
            <p:nvPr/>
          </p:nvSpPr>
          <p:spPr>
            <a:xfrm rot="0">
              <a:off x="9165783" y="28575"/>
              <a:ext cx="2711038" cy="384710"/>
            </a:xfrm>
            <a:prstGeom prst="rect">
              <a:avLst/>
            </a:prstGeom>
          </p:spPr>
          <p:txBody>
            <a:bodyPr anchor="t" rtlCol="false" tIns="0" lIns="0" bIns="0" rIns="0">
              <a:spAutoFit/>
            </a:bodyPr>
            <a:lstStyle/>
            <a:p>
              <a:pPr algn="l">
                <a:lnSpc>
                  <a:spcPts val="2078"/>
                </a:lnSpc>
              </a:pPr>
              <a:r>
                <a:rPr lang="en-US" sz="2078" spc="-31">
                  <a:solidFill>
                    <a:srgbClr val="000000"/>
                  </a:solidFill>
                  <a:latin typeface="Times New Roman"/>
                  <a:ea typeface="Times New Roman"/>
                  <a:cs typeface="Times New Roman"/>
                  <a:sym typeface="Times New Roman"/>
                </a:rPr>
                <a:t>Value Propositions</a:t>
              </a:r>
            </a:p>
          </p:txBody>
        </p:sp>
        <p:sp>
          <p:nvSpPr>
            <p:cNvPr name="TextBox 17" id="17"/>
            <p:cNvSpPr txBox="true"/>
            <p:nvPr/>
          </p:nvSpPr>
          <p:spPr>
            <a:xfrm rot="0">
              <a:off x="18572051" y="28575"/>
              <a:ext cx="2904231" cy="384710"/>
            </a:xfrm>
            <a:prstGeom prst="rect">
              <a:avLst/>
            </a:prstGeom>
          </p:spPr>
          <p:txBody>
            <a:bodyPr anchor="t" rtlCol="false" tIns="0" lIns="0" bIns="0" rIns="0">
              <a:spAutoFit/>
            </a:bodyPr>
            <a:lstStyle/>
            <a:p>
              <a:pPr algn="l">
                <a:lnSpc>
                  <a:spcPts val="2078"/>
                </a:lnSpc>
              </a:pPr>
              <a:r>
                <a:rPr lang="en-US" sz="2078" spc="-31">
                  <a:solidFill>
                    <a:srgbClr val="000000"/>
                  </a:solidFill>
                  <a:latin typeface="Times New Roman"/>
                  <a:ea typeface="Times New Roman"/>
                  <a:cs typeface="Times New Roman"/>
                  <a:sym typeface="Times New Roman"/>
                </a:rPr>
                <a:t>Customer Segments</a:t>
              </a:r>
            </a:p>
          </p:txBody>
        </p:sp>
        <p:sp>
          <p:nvSpPr>
            <p:cNvPr name="TextBox 18" id="18"/>
            <p:cNvSpPr txBox="true"/>
            <p:nvPr/>
          </p:nvSpPr>
          <p:spPr>
            <a:xfrm rot="0">
              <a:off x="4685245" y="28575"/>
              <a:ext cx="2007572" cy="384710"/>
            </a:xfrm>
            <a:prstGeom prst="rect">
              <a:avLst/>
            </a:prstGeom>
          </p:spPr>
          <p:txBody>
            <a:bodyPr anchor="t" rtlCol="false" tIns="0" lIns="0" bIns="0" rIns="0">
              <a:spAutoFit/>
            </a:bodyPr>
            <a:lstStyle/>
            <a:p>
              <a:pPr algn="l">
                <a:lnSpc>
                  <a:spcPts val="2078"/>
                </a:lnSpc>
              </a:pPr>
              <a:r>
                <a:rPr lang="en-US" sz="2078" spc="-31">
                  <a:solidFill>
                    <a:srgbClr val="000000"/>
                  </a:solidFill>
                  <a:latin typeface="Times New Roman"/>
                  <a:ea typeface="Times New Roman"/>
                  <a:cs typeface="Times New Roman"/>
                  <a:sym typeface="Times New Roman"/>
                </a:rPr>
                <a:t>Key Activities</a:t>
              </a:r>
            </a:p>
          </p:txBody>
        </p:sp>
        <p:sp>
          <p:nvSpPr>
            <p:cNvPr name="TextBox 19" id="19"/>
            <p:cNvSpPr txBox="true"/>
            <p:nvPr/>
          </p:nvSpPr>
          <p:spPr>
            <a:xfrm rot="0">
              <a:off x="13775096" y="28575"/>
              <a:ext cx="3484504" cy="384710"/>
            </a:xfrm>
            <a:prstGeom prst="rect">
              <a:avLst/>
            </a:prstGeom>
          </p:spPr>
          <p:txBody>
            <a:bodyPr anchor="t" rtlCol="false" tIns="0" lIns="0" bIns="0" rIns="0">
              <a:spAutoFit/>
            </a:bodyPr>
            <a:lstStyle/>
            <a:p>
              <a:pPr algn="l">
                <a:lnSpc>
                  <a:spcPts val="2078"/>
                </a:lnSpc>
              </a:pPr>
              <a:r>
                <a:rPr lang="en-US" sz="2078" spc="-31">
                  <a:solidFill>
                    <a:srgbClr val="000000"/>
                  </a:solidFill>
                  <a:latin typeface="Times New Roman"/>
                  <a:ea typeface="Times New Roman"/>
                  <a:cs typeface="Times New Roman"/>
                  <a:sym typeface="Times New Roman"/>
                </a:rPr>
                <a:t>Customer Relationships</a:t>
              </a:r>
            </a:p>
          </p:txBody>
        </p:sp>
        <p:sp>
          <p:nvSpPr>
            <p:cNvPr name="TextBox 20" id="20"/>
            <p:cNvSpPr txBox="true"/>
            <p:nvPr/>
          </p:nvSpPr>
          <p:spPr>
            <a:xfrm rot="0">
              <a:off x="13775096" y="3846821"/>
              <a:ext cx="2940019" cy="1626933"/>
            </a:xfrm>
            <a:prstGeom prst="rect">
              <a:avLst/>
            </a:prstGeom>
          </p:spPr>
          <p:txBody>
            <a:bodyPr anchor="t" rtlCol="false" tIns="0" lIns="0" bIns="0" rIns="0">
              <a:spAutoFit/>
            </a:bodyPr>
            <a:lstStyle/>
            <a:p>
              <a:pPr algn="l">
                <a:lnSpc>
                  <a:spcPts val="1558"/>
                </a:lnSpc>
              </a:pPr>
              <a:r>
                <a:rPr lang="en-US" sz="1558" spc="-46">
                  <a:solidFill>
                    <a:srgbClr val="000000">
                      <a:alpha val="69804"/>
                    </a:srgbClr>
                  </a:solidFill>
                  <a:latin typeface="Times New Roman"/>
                  <a:ea typeface="Times New Roman"/>
                  <a:cs typeface="Times New Roman"/>
                  <a:sym typeface="Times New Roman"/>
                </a:rPr>
                <a:t>Di</a:t>
              </a:r>
              <a:r>
                <a:rPr lang="en-US" sz="1558" spc="-46">
                  <a:solidFill>
                    <a:srgbClr val="000000">
                      <a:alpha val="69804"/>
                    </a:srgbClr>
                  </a:solidFill>
                  <a:latin typeface="Times New Roman"/>
                  <a:ea typeface="Times New Roman"/>
                  <a:cs typeface="Times New Roman"/>
                  <a:sym typeface="Times New Roman"/>
                </a:rPr>
                <a:t>rect B2B sales</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API integration</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Institutional partnerships</a:t>
              </a:r>
            </a:p>
            <a:p>
              <a:pPr algn="l">
                <a:lnSpc>
                  <a:spcPts val="1558"/>
                </a:lnSpc>
              </a:pPr>
            </a:p>
          </p:txBody>
        </p:sp>
        <p:sp>
          <p:nvSpPr>
            <p:cNvPr name="TextBox 21" id="21"/>
            <p:cNvSpPr txBox="true"/>
            <p:nvPr/>
          </p:nvSpPr>
          <p:spPr>
            <a:xfrm rot="0">
              <a:off x="13775096" y="3243362"/>
              <a:ext cx="1365900" cy="384710"/>
            </a:xfrm>
            <a:prstGeom prst="rect">
              <a:avLst/>
            </a:prstGeom>
          </p:spPr>
          <p:txBody>
            <a:bodyPr anchor="t" rtlCol="false" tIns="0" lIns="0" bIns="0" rIns="0">
              <a:spAutoFit/>
            </a:bodyPr>
            <a:lstStyle/>
            <a:p>
              <a:pPr algn="l">
                <a:lnSpc>
                  <a:spcPts val="2078"/>
                </a:lnSpc>
              </a:pPr>
              <a:r>
                <a:rPr lang="en-US" sz="2078" spc="-31">
                  <a:solidFill>
                    <a:srgbClr val="000000"/>
                  </a:solidFill>
                  <a:latin typeface="Times New Roman"/>
                  <a:ea typeface="Times New Roman"/>
                  <a:cs typeface="Times New Roman"/>
                  <a:sym typeface="Times New Roman"/>
                </a:rPr>
                <a:t>Channels</a:t>
              </a:r>
            </a:p>
          </p:txBody>
        </p:sp>
        <p:sp>
          <p:nvSpPr>
            <p:cNvPr name="TextBox 22" id="22"/>
            <p:cNvSpPr txBox="true"/>
            <p:nvPr/>
          </p:nvSpPr>
          <p:spPr>
            <a:xfrm rot="0">
              <a:off x="4685245" y="3846821"/>
              <a:ext cx="2940019" cy="1890877"/>
            </a:xfrm>
            <a:prstGeom prst="rect">
              <a:avLst/>
            </a:prstGeom>
          </p:spPr>
          <p:txBody>
            <a:bodyPr anchor="t" rtlCol="false" tIns="0" lIns="0" bIns="0" rIns="0">
              <a:spAutoFit/>
            </a:bodyPr>
            <a:lstStyle/>
            <a:p>
              <a:pPr algn="l">
                <a:lnSpc>
                  <a:spcPts val="1558"/>
                </a:lnSpc>
              </a:pPr>
              <a:r>
                <a:rPr lang="en-US" sz="1558" spc="-46">
                  <a:solidFill>
                    <a:srgbClr val="000000">
                      <a:alpha val="69804"/>
                    </a:srgbClr>
                  </a:solidFill>
                  <a:latin typeface="Times New Roman"/>
                  <a:ea typeface="Times New Roman"/>
                  <a:cs typeface="Times New Roman"/>
                  <a:sym typeface="Times New Roman"/>
                </a:rPr>
                <a:t>DQI scoring engine</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Consent and audit infrastructure</a:t>
              </a:r>
            </a:p>
            <a:p>
              <a:pPr algn="l">
                <a:lnSpc>
                  <a:spcPts val="1558"/>
                </a:lnSpc>
              </a:pPr>
            </a:p>
            <a:p>
              <a:pPr algn="l">
                <a:lnSpc>
                  <a:spcPts val="1558"/>
                </a:lnSpc>
              </a:pPr>
              <a:r>
                <a:rPr lang="en-US" sz="1558" spc="-46">
                  <a:solidFill>
                    <a:srgbClr val="000000">
                      <a:alpha val="69804"/>
                    </a:srgbClr>
                  </a:solidFill>
                  <a:latin typeface="Times New Roman"/>
                  <a:ea typeface="Times New Roman"/>
                  <a:cs typeface="Times New Roman"/>
                  <a:sym typeface="Times New Roman"/>
                </a:rPr>
                <a:t>Enterprise integration system</a:t>
              </a:r>
            </a:p>
            <a:p>
              <a:pPr algn="l">
                <a:lnSpc>
                  <a:spcPts val="1558"/>
                </a:lnSpc>
              </a:pPr>
            </a:p>
          </p:txBody>
        </p:sp>
        <p:sp>
          <p:nvSpPr>
            <p:cNvPr name="TextBox 23" id="23"/>
            <p:cNvSpPr txBox="true"/>
            <p:nvPr/>
          </p:nvSpPr>
          <p:spPr>
            <a:xfrm rot="0">
              <a:off x="4729177" y="3243362"/>
              <a:ext cx="2143223" cy="384710"/>
            </a:xfrm>
            <a:prstGeom prst="rect">
              <a:avLst/>
            </a:prstGeom>
          </p:spPr>
          <p:txBody>
            <a:bodyPr anchor="t" rtlCol="false" tIns="0" lIns="0" bIns="0" rIns="0">
              <a:spAutoFit/>
            </a:bodyPr>
            <a:lstStyle/>
            <a:p>
              <a:pPr algn="l">
                <a:lnSpc>
                  <a:spcPts val="2078"/>
                </a:lnSpc>
              </a:pPr>
              <a:r>
                <a:rPr lang="en-US" sz="2078" spc="-31">
                  <a:solidFill>
                    <a:srgbClr val="000000"/>
                  </a:solidFill>
                  <a:latin typeface="Times New Roman"/>
                  <a:ea typeface="Times New Roman"/>
                  <a:cs typeface="Times New Roman"/>
                  <a:sym typeface="Times New Roman"/>
                </a:rPr>
                <a:t>Key Resources</a:t>
              </a:r>
            </a:p>
          </p:txBody>
        </p:sp>
        <p:sp>
          <p:nvSpPr>
            <p:cNvPr name="TextBox 24" id="24"/>
            <p:cNvSpPr txBox="true"/>
            <p:nvPr/>
          </p:nvSpPr>
          <p:spPr>
            <a:xfrm rot="0">
              <a:off x="0" y="5933104"/>
              <a:ext cx="2192975" cy="384710"/>
            </a:xfrm>
            <a:prstGeom prst="rect">
              <a:avLst/>
            </a:prstGeom>
          </p:spPr>
          <p:txBody>
            <a:bodyPr anchor="t" rtlCol="false" tIns="0" lIns="0" bIns="0" rIns="0">
              <a:spAutoFit/>
            </a:bodyPr>
            <a:lstStyle/>
            <a:p>
              <a:pPr algn="l">
                <a:lnSpc>
                  <a:spcPts val="2078"/>
                </a:lnSpc>
              </a:pPr>
              <a:r>
                <a:rPr lang="en-US" sz="2078" spc="-31">
                  <a:solidFill>
                    <a:srgbClr val="000000"/>
                  </a:solidFill>
                  <a:latin typeface="Times New Roman"/>
                  <a:ea typeface="Times New Roman"/>
                  <a:cs typeface="Times New Roman"/>
                  <a:sym typeface="Times New Roman"/>
                </a:rPr>
                <a:t>Cost Structure</a:t>
              </a:r>
            </a:p>
          </p:txBody>
        </p:sp>
        <p:sp>
          <p:nvSpPr>
            <p:cNvPr name="TextBox 25" id="25"/>
            <p:cNvSpPr txBox="true"/>
            <p:nvPr/>
          </p:nvSpPr>
          <p:spPr>
            <a:xfrm rot="0">
              <a:off x="13699163" y="5933104"/>
              <a:ext cx="2781289" cy="384710"/>
            </a:xfrm>
            <a:prstGeom prst="rect">
              <a:avLst/>
            </a:prstGeom>
          </p:spPr>
          <p:txBody>
            <a:bodyPr anchor="t" rtlCol="false" tIns="0" lIns="0" bIns="0" rIns="0">
              <a:spAutoFit/>
            </a:bodyPr>
            <a:lstStyle/>
            <a:p>
              <a:pPr algn="l">
                <a:lnSpc>
                  <a:spcPts val="2078"/>
                </a:lnSpc>
              </a:pPr>
              <a:r>
                <a:rPr lang="en-US" sz="2078" spc="-31">
                  <a:solidFill>
                    <a:srgbClr val="000000"/>
                  </a:solidFill>
                  <a:latin typeface="Times New Roman"/>
                  <a:ea typeface="Times New Roman"/>
                  <a:cs typeface="Times New Roman"/>
                  <a:sym typeface="Times New Roman"/>
                </a:rPr>
                <a:t>Revenue Streams</a:t>
              </a:r>
            </a:p>
          </p:txBody>
        </p:sp>
        <p:sp>
          <p:nvSpPr>
            <p:cNvPr name="AutoShape 26" id="26"/>
            <p:cNvSpPr/>
            <p:nvPr/>
          </p:nvSpPr>
          <p:spPr>
            <a:xfrm flipV="true">
              <a:off x="4685245" y="3041607"/>
              <a:ext cx="2943838" cy="0"/>
            </a:xfrm>
            <a:prstGeom prst="line">
              <a:avLst/>
            </a:prstGeom>
            <a:ln cap="flat" w="12700">
              <a:solidFill>
                <a:srgbClr val="000000">
                  <a:alpha val="49804"/>
                </a:srgbClr>
              </a:solidFill>
              <a:prstDash val="solid"/>
              <a:headEnd type="none" len="sm" w="sm"/>
              <a:tailEnd type="none" len="sm" w="sm"/>
            </a:ln>
          </p:spPr>
        </p:sp>
        <p:sp>
          <p:nvSpPr>
            <p:cNvPr name="AutoShape 27" id="27"/>
            <p:cNvSpPr/>
            <p:nvPr/>
          </p:nvSpPr>
          <p:spPr>
            <a:xfrm flipV="true">
              <a:off x="13701874" y="3035257"/>
              <a:ext cx="2943838" cy="0"/>
            </a:xfrm>
            <a:prstGeom prst="line">
              <a:avLst/>
            </a:prstGeom>
            <a:ln cap="flat" w="12700">
              <a:solidFill>
                <a:srgbClr val="000000">
                  <a:alpha val="49804"/>
                </a:srgbClr>
              </a:solidFill>
              <a:prstDash val="solid"/>
              <a:headEnd type="none" len="sm" w="sm"/>
              <a:tailEnd type="none" len="sm" w="sm"/>
            </a:ln>
          </p:spPr>
        </p:sp>
        <p:sp>
          <p:nvSpPr>
            <p:cNvPr name="AutoShape 28" id="28"/>
            <p:cNvSpPr/>
            <p:nvPr/>
          </p:nvSpPr>
          <p:spPr>
            <a:xfrm>
              <a:off x="13701874" y="5689141"/>
              <a:ext cx="7938971" cy="0"/>
            </a:xfrm>
            <a:prstGeom prst="line">
              <a:avLst/>
            </a:prstGeom>
            <a:ln cap="flat" w="12700">
              <a:solidFill>
                <a:srgbClr val="000000">
                  <a:alpha val="49804"/>
                </a:srgbClr>
              </a:solidFill>
              <a:prstDash val="solid"/>
              <a:headEnd type="none" len="sm" w="sm"/>
              <a:tailEnd type="none" len="sm" w="sm"/>
            </a:ln>
          </p:spPr>
        </p:sp>
        <p:sp>
          <p:nvSpPr>
            <p:cNvPr name="AutoShape 29" id="29"/>
            <p:cNvSpPr/>
            <p:nvPr/>
          </p:nvSpPr>
          <p:spPr>
            <a:xfrm flipV="true">
              <a:off x="75933" y="5689141"/>
              <a:ext cx="7553151" cy="0"/>
            </a:xfrm>
            <a:prstGeom prst="line">
              <a:avLst/>
            </a:prstGeom>
            <a:ln cap="flat" w="12700">
              <a:solidFill>
                <a:srgbClr val="000000">
                  <a:alpha val="49804"/>
                </a:srgbClr>
              </a:solidFill>
              <a:prstDash val="solid"/>
              <a:headEnd type="none" len="sm" w="sm"/>
              <a:tailEnd type="none" len="sm" w="sm"/>
            </a:ln>
          </p:spPr>
        </p:sp>
      </p:grpSp>
      <p:sp>
        <p:nvSpPr>
          <p:cNvPr name="AutoShape 30" id="30"/>
          <p:cNvSpPr/>
          <p:nvPr/>
        </p:nvSpPr>
        <p:spPr>
          <a:xfrm>
            <a:off x="1028700" y="8681532"/>
            <a:ext cx="16230600" cy="0"/>
          </a:xfrm>
          <a:prstGeom prst="line">
            <a:avLst/>
          </a:prstGeom>
          <a:ln cap="flat" w="9525">
            <a:solidFill>
              <a:srgbClr val="000000">
                <a:alpha val="49804"/>
              </a:srgbClr>
            </a:solidFill>
            <a:prstDash val="solid"/>
            <a:headEnd type="none" len="sm" w="sm"/>
            <a:tailEnd type="none" len="sm" w="sm"/>
          </a:ln>
        </p:spPr>
      </p:sp>
      <p:sp>
        <p:nvSpPr>
          <p:cNvPr name="TextBox 31" id="31"/>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34</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847794"/>
            <a:ext cx="16230600" cy="4872314"/>
          </a:xfrm>
          <a:custGeom>
            <a:avLst/>
            <a:gdLst/>
            <a:ahLst/>
            <a:cxnLst/>
            <a:rect r="r" b="b" t="t" l="l"/>
            <a:pathLst>
              <a:path h="4872314" w="16230600">
                <a:moveTo>
                  <a:pt x="0" y="0"/>
                </a:moveTo>
                <a:lnTo>
                  <a:pt x="16230600" y="0"/>
                </a:lnTo>
                <a:lnTo>
                  <a:pt x="16230600" y="4872314"/>
                </a:lnTo>
                <a:lnTo>
                  <a:pt x="0" y="4872314"/>
                </a:lnTo>
                <a:lnTo>
                  <a:pt x="0" y="0"/>
                </a:lnTo>
                <a:close/>
              </a:path>
            </a:pathLst>
          </a:custGeom>
          <a:blipFill>
            <a:blip r:embed="rId2"/>
            <a:stretch>
              <a:fillRect l="0" t="-5765" r="0" b="0"/>
            </a:stretch>
          </a:blipFill>
        </p:spPr>
      </p:sp>
      <p:grpSp>
        <p:nvGrpSpPr>
          <p:cNvPr name="Group 3" id="3"/>
          <p:cNvGrpSpPr/>
          <p:nvPr/>
        </p:nvGrpSpPr>
        <p:grpSpPr>
          <a:xfrm rot="0">
            <a:off x="13437442" y="2979071"/>
            <a:ext cx="1688227" cy="716330"/>
            <a:chOff x="0" y="0"/>
            <a:chExt cx="2250970" cy="955107"/>
          </a:xfrm>
        </p:grpSpPr>
        <p:grpSp>
          <p:nvGrpSpPr>
            <p:cNvPr name="Group 4" id="4"/>
            <p:cNvGrpSpPr/>
            <p:nvPr/>
          </p:nvGrpSpPr>
          <p:grpSpPr>
            <a:xfrm rot="0">
              <a:off x="1021922" y="747982"/>
              <a:ext cx="207125" cy="20712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6" id="6"/>
              <p:cNvSpPr txBox="true"/>
              <p:nvPr/>
            </p:nvSpPr>
            <p:spPr>
              <a:xfrm>
                <a:off x="76200" y="104775"/>
                <a:ext cx="660400" cy="631825"/>
              </a:xfrm>
              <a:prstGeom prst="rect">
                <a:avLst/>
              </a:prstGeom>
            </p:spPr>
            <p:txBody>
              <a:bodyPr anchor="ctr" rtlCol="false" tIns="50800" lIns="50800" bIns="50800" rIns="50800"/>
              <a:lstStyle/>
              <a:p>
                <a:pPr algn="ctr">
                  <a:lnSpc>
                    <a:spcPts val="1599"/>
                  </a:lnSpc>
                </a:pPr>
              </a:p>
            </p:txBody>
          </p:sp>
        </p:grpSp>
        <p:grpSp>
          <p:nvGrpSpPr>
            <p:cNvPr name="Group 7" id="7"/>
            <p:cNvGrpSpPr/>
            <p:nvPr/>
          </p:nvGrpSpPr>
          <p:grpSpPr>
            <a:xfrm rot="0">
              <a:off x="1916150" y="0"/>
              <a:ext cx="334820" cy="349206"/>
              <a:chOff x="0" y="0"/>
              <a:chExt cx="584874" cy="610004"/>
            </a:xfrm>
          </p:grpSpPr>
          <p:sp>
            <p:nvSpPr>
              <p:cNvPr name="Freeform 8" id="8"/>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solidFill>
            </p:spPr>
          </p:sp>
          <p:sp>
            <p:nvSpPr>
              <p:cNvPr name="TextBox 9" id="9"/>
              <p:cNvSpPr txBox="true"/>
              <p:nvPr/>
            </p:nvSpPr>
            <p:spPr>
              <a:xfrm>
                <a:off x="137617" y="172105"/>
                <a:ext cx="309639" cy="294368"/>
              </a:xfrm>
              <a:prstGeom prst="rect">
                <a:avLst/>
              </a:prstGeom>
            </p:spPr>
            <p:txBody>
              <a:bodyPr anchor="ctr" rtlCol="false" tIns="10611" lIns="10611" bIns="10611" rIns="10611"/>
              <a:lstStyle/>
              <a:p>
                <a:pPr algn="ctr">
                  <a:lnSpc>
                    <a:spcPts val="1599"/>
                  </a:lnSpc>
                </a:pPr>
              </a:p>
            </p:txBody>
          </p:sp>
        </p:grpSp>
        <p:sp>
          <p:nvSpPr>
            <p:cNvPr name="TextBox 10" id="10"/>
            <p:cNvSpPr txBox="true"/>
            <p:nvPr/>
          </p:nvSpPr>
          <p:spPr>
            <a:xfrm rot="0">
              <a:off x="0" y="193488"/>
              <a:ext cx="2005629" cy="554494"/>
            </a:xfrm>
            <a:prstGeom prst="rect">
              <a:avLst/>
            </a:prstGeom>
          </p:spPr>
          <p:txBody>
            <a:bodyPr anchor="t" rtlCol="false" tIns="0" lIns="0" bIns="0" rIns="0">
              <a:spAutoFit/>
            </a:bodyPr>
            <a:lstStyle/>
            <a:p>
              <a:pPr algn="ctr">
                <a:lnSpc>
                  <a:spcPts val="2928"/>
                </a:lnSpc>
              </a:pPr>
              <a:r>
                <a:rPr lang="en-US" b="true" sz="2928" spc="-117">
                  <a:solidFill>
                    <a:srgbClr val="000000"/>
                  </a:solidFill>
                  <a:latin typeface="Times New Roman Bold"/>
                  <a:ea typeface="Times New Roman Bold"/>
                  <a:cs typeface="Times New Roman Bold"/>
                  <a:sym typeface="Times New Roman Bold"/>
                </a:rPr>
                <a:t>tokentrust</a:t>
              </a:r>
            </a:p>
          </p:txBody>
        </p:sp>
      </p:grpSp>
      <p:sp>
        <p:nvSpPr>
          <p:cNvPr name="TextBox 11" id="11"/>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12" id="12"/>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13" id="1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Market Matrix - I</a:t>
            </a:r>
          </a:p>
        </p:txBody>
      </p:sp>
      <p:sp>
        <p:nvSpPr>
          <p:cNvPr name="TextBox 14" id="14"/>
          <p:cNvSpPr txBox="true"/>
          <p:nvPr/>
        </p:nvSpPr>
        <p:spPr>
          <a:xfrm rot="0">
            <a:off x="1028700" y="2121987"/>
            <a:ext cx="4121944"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Ai Token Market</a:t>
            </a:r>
          </a:p>
        </p:txBody>
      </p:sp>
      <p:sp>
        <p:nvSpPr>
          <p:cNvPr name="TextBox 15" id="15"/>
          <p:cNvSpPr txBox="true"/>
          <p:nvPr/>
        </p:nvSpPr>
        <p:spPr>
          <a:xfrm rot="0">
            <a:off x="13779665" y="2121987"/>
            <a:ext cx="3479635" cy="257175"/>
          </a:xfrm>
          <a:prstGeom prst="rect">
            <a:avLst/>
          </a:prstGeom>
        </p:spPr>
        <p:txBody>
          <a:bodyPr anchor="t" rtlCol="false" tIns="0" lIns="0" bIns="0" rIns="0">
            <a:spAutoFit/>
          </a:bodyPr>
          <a:lstStyle/>
          <a:p>
            <a:pPr algn="r">
              <a:lnSpc>
                <a:spcPts val="1919"/>
              </a:lnSpc>
            </a:pPr>
            <a:r>
              <a:rPr lang="en-US" sz="1599" spc="-63">
                <a:solidFill>
                  <a:srgbClr val="000000">
                    <a:alpha val="49804"/>
                  </a:srgbClr>
                </a:solidFill>
                <a:latin typeface="Times New Roman"/>
                <a:ea typeface="Times New Roman"/>
                <a:cs typeface="Times New Roman"/>
                <a:sym typeface="Times New Roman"/>
              </a:rPr>
              <a:t>Total Addressable Market | ~$30B+ (2026)</a:t>
            </a:r>
          </a:p>
        </p:txBody>
      </p:sp>
      <p:sp>
        <p:nvSpPr>
          <p:cNvPr name="TextBox 16" id="16"/>
          <p:cNvSpPr txBox="true"/>
          <p:nvPr/>
        </p:nvSpPr>
        <p:spPr>
          <a:xfrm rot="0">
            <a:off x="1028700" y="7701058"/>
            <a:ext cx="1568500"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Positioning</a:t>
            </a:r>
          </a:p>
        </p:txBody>
      </p:sp>
      <p:sp>
        <p:nvSpPr>
          <p:cNvPr name="TextBox 17" id="17"/>
          <p:cNvSpPr txBox="true"/>
          <p:nvPr/>
        </p:nvSpPr>
        <p:spPr>
          <a:xfrm rot="0">
            <a:off x="7083028" y="7701058"/>
            <a:ext cx="1513210"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Advantage</a:t>
            </a:r>
          </a:p>
        </p:txBody>
      </p:sp>
      <p:sp>
        <p:nvSpPr>
          <p:cNvPr name="TextBox 18" id="18"/>
          <p:cNvSpPr txBox="true"/>
          <p:nvPr/>
        </p:nvSpPr>
        <p:spPr>
          <a:xfrm rot="0">
            <a:off x="13137356" y="7701058"/>
            <a:ext cx="1677888"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Market Gap</a:t>
            </a:r>
          </a:p>
        </p:txBody>
      </p:sp>
      <p:sp>
        <p:nvSpPr>
          <p:cNvPr name="TextBox 19" id="19"/>
          <p:cNvSpPr txBox="true"/>
          <p:nvPr/>
        </p:nvSpPr>
        <p:spPr>
          <a:xfrm rot="0">
            <a:off x="1028700" y="8161162"/>
            <a:ext cx="4121944" cy="540385"/>
          </a:xfrm>
          <a:prstGeom prst="rect">
            <a:avLst/>
          </a:prstGeom>
        </p:spPr>
        <p:txBody>
          <a:bodyPr anchor="t" rtlCol="false" tIns="0" lIns="0" bIns="0" rIns="0">
            <a:spAutoFit/>
          </a:bodyPr>
          <a:lstStyle/>
          <a:p>
            <a:pPr algn="l">
              <a:lnSpc>
                <a:spcPts val="1400"/>
              </a:lnSpc>
            </a:pPr>
            <a:r>
              <a:rPr lang="en-US" sz="1400" spc="-42">
                <a:solidFill>
                  <a:srgbClr val="000000"/>
                </a:solidFill>
                <a:latin typeface="Times New Roman"/>
                <a:ea typeface="Times New Roman"/>
                <a:cs typeface="Times New Roman"/>
                <a:sym typeface="Times New Roman"/>
              </a:rPr>
              <a:t>Existing AI tokens focus solely on utility within their own ecosystems. Inter-platform token refund and conversion remains a complete blue ocean.</a:t>
            </a:r>
          </a:p>
        </p:txBody>
      </p:sp>
      <p:sp>
        <p:nvSpPr>
          <p:cNvPr name="TextBox 20" id="20"/>
          <p:cNvSpPr txBox="true"/>
          <p:nvPr/>
        </p:nvSpPr>
        <p:spPr>
          <a:xfrm rot="0">
            <a:off x="7083028" y="8161162"/>
            <a:ext cx="4121944" cy="540385"/>
          </a:xfrm>
          <a:prstGeom prst="rect">
            <a:avLst/>
          </a:prstGeom>
        </p:spPr>
        <p:txBody>
          <a:bodyPr anchor="t" rtlCol="false" tIns="0" lIns="0" bIns="0" rIns="0">
            <a:spAutoFit/>
          </a:bodyPr>
          <a:lstStyle/>
          <a:p>
            <a:pPr algn="l">
              <a:lnSpc>
                <a:spcPts val="1400"/>
              </a:lnSpc>
            </a:pPr>
            <a:r>
              <a:rPr lang="en-US" sz="1400" spc="-42">
                <a:solidFill>
                  <a:srgbClr val="000000"/>
                </a:solidFill>
                <a:latin typeface="Times New Roman"/>
                <a:ea typeface="Times New Roman"/>
                <a:cs typeface="Times New Roman"/>
                <a:sym typeface="Times New Roman"/>
              </a:rPr>
              <a:t>Occupies the highest position on both token fungibility (x) and user value return (y). The only platform with a "refund" mechanism.</a:t>
            </a:r>
          </a:p>
        </p:txBody>
      </p:sp>
      <p:sp>
        <p:nvSpPr>
          <p:cNvPr name="TextBox 21" id="21"/>
          <p:cNvSpPr txBox="true"/>
          <p:nvPr/>
        </p:nvSpPr>
        <p:spPr>
          <a:xfrm rot="0">
            <a:off x="13137356" y="8161162"/>
            <a:ext cx="4121944" cy="368935"/>
          </a:xfrm>
          <a:prstGeom prst="rect">
            <a:avLst/>
          </a:prstGeom>
        </p:spPr>
        <p:txBody>
          <a:bodyPr anchor="t" rtlCol="false" tIns="0" lIns="0" bIns="0" rIns="0">
            <a:spAutoFit/>
          </a:bodyPr>
          <a:lstStyle/>
          <a:p>
            <a:pPr algn="l">
              <a:lnSpc>
                <a:spcPts val="1400"/>
              </a:lnSpc>
            </a:pPr>
            <a:r>
              <a:rPr lang="en-US" sz="1400" spc="-42">
                <a:solidFill>
                  <a:srgbClr val="000000"/>
                </a:solidFill>
                <a:latin typeface="Times New Roman"/>
                <a:ea typeface="Times New Roman"/>
                <a:cs typeface="Times New Roman"/>
                <a:sym typeface="Times New Roman"/>
              </a:rPr>
              <a:t>Competitors operate on a "use → deplete" model, whereas this platform enables a "use → refund → recirculate" loop.</a:t>
            </a:r>
          </a:p>
        </p:txBody>
      </p:sp>
      <p:sp>
        <p:nvSpPr>
          <p:cNvPr name="TextBox 22" id="22"/>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35</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822637"/>
            <a:ext cx="16230600" cy="4897471"/>
          </a:xfrm>
          <a:custGeom>
            <a:avLst/>
            <a:gdLst/>
            <a:ahLst/>
            <a:cxnLst/>
            <a:rect r="r" b="b" t="t" l="l"/>
            <a:pathLst>
              <a:path h="4897471" w="16230600">
                <a:moveTo>
                  <a:pt x="0" y="0"/>
                </a:moveTo>
                <a:lnTo>
                  <a:pt x="16230600" y="0"/>
                </a:lnTo>
                <a:lnTo>
                  <a:pt x="16230600" y="4897471"/>
                </a:lnTo>
                <a:lnTo>
                  <a:pt x="0" y="4897471"/>
                </a:lnTo>
                <a:lnTo>
                  <a:pt x="0" y="0"/>
                </a:lnTo>
                <a:close/>
              </a:path>
            </a:pathLst>
          </a:custGeom>
          <a:blipFill>
            <a:blip r:embed="rId2"/>
            <a:stretch>
              <a:fillRect l="0" t="-5221" r="0" b="0"/>
            </a:stretch>
          </a:blipFill>
        </p:spPr>
      </p:sp>
      <p:grpSp>
        <p:nvGrpSpPr>
          <p:cNvPr name="Group 3" id="3"/>
          <p:cNvGrpSpPr/>
          <p:nvPr/>
        </p:nvGrpSpPr>
        <p:grpSpPr>
          <a:xfrm rot="0">
            <a:off x="13013223" y="2674021"/>
            <a:ext cx="1688227" cy="716330"/>
            <a:chOff x="0" y="0"/>
            <a:chExt cx="2250970" cy="955107"/>
          </a:xfrm>
        </p:grpSpPr>
        <p:grpSp>
          <p:nvGrpSpPr>
            <p:cNvPr name="Group 4" id="4"/>
            <p:cNvGrpSpPr/>
            <p:nvPr/>
          </p:nvGrpSpPr>
          <p:grpSpPr>
            <a:xfrm rot="0">
              <a:off x="1021922" y="747982"/>
              <a:ext cx="207125" cy="20712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6" id="6"/>
              <p:cNvSpPr txBox="true"/>
              <p:nvPr/>
            </p:nvSpPr>
            <p:spPr>
              <a:xfrm>
                <a:off x="76200" y="104775"/>
                <a:ext cx="660400" cy="631825"/>
              </a:xfrm>
              <a:prstGeom prst="rect">
                <a:avLst/>
              </a:prstGeom>
            </p:spPr>
            <p:txBody>
              <a:bodyPr anchor="ctr" rtlCol="false" tIns="50800" lIns="50800" bIns="50800" rIns="50800"/>
              <a:lstStyle/>
              <a:p>
                <a:pPr algn="ctr">
                  <a:lnSpc>
                    <a:spcPts val="1599"/>
                  </a:lnSpc>
                </a:pPr>
              </a:p>
            </p:txBody>
          </p:sp>
        </p:grpSp>
        <p:grpSp>
          <p:nvGrpSpPr>
            <p:cNvPr name="Group 7" id="7"/>
            <p:cNvGrpSpPr/>
            <p:nvPr/>
          </p:nvGrpSpPr>
          <p:grpSpPr>
            <a:xfrm rot="0">
              <a:off x="1916150" y="0"/>
              <a:ext cx="334820" cy="349206"/>
              <a:chOff x="0" y="0"/>
              <a:chExt cx="584874" cy="610004"/>
            </a:xfrm>
          </p:grpSpPr>
          <p:sp>
            <p:nvSpPr>
              <p:cNvPr name="Freeform 8" id="8"/>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solidFill>
            </p:spPr>
          </p:sp>
          <p:sp>
            <p:nvSpPr>
              <p:cNvPr name="TextBox 9" id="9"/>
              <p:cNvSpPr txBox="true"/>
              <p:nvPr/>
            </p:nvSpPr>
            <p:spPr>
              <a:xfrm>
                <a:off x="137617" y="172105"/>
                <a:ext cx="309639" cy="294368"/>
              </a:xfrm>
              <a:prstGeom prst="rect">
                <a:avLst/>
              </a:prstGeom>
            </p:spPr>
            <p:txBody>
              <a:bodyPr anchor="ctr" rtlCol="false" tIns="10611" lIns="10611" bIns="10611" rIns="10611"/>
              <a:lstStyle/>
              <a:p>
                <a:pPr algn="ctr">
                  <a:lnSpc>
                    <a:spcPts val="1599"/>
                  </a:lnSpc>
                </a:pPr>
              </a:p>
            </p:txBody>
          </p:sp>
        </p:grpSp>
        <p:sp>
          <p:nvSpPr>
            <p:cNvPr name="TextBox 10" id="10"/>
            <p:cNvSpPr txBox="true"/>
            <p:nvPr/>
          </p:nvSpPr>
          <p:spPr>
            <a:xfrm rot="0">
              <a:off x="0" y="193488"/>
              <a:ext cx="2005629" cy="554494"/>
            </a:xfrm>
            <a:prstGeom prst="rect">
              <a:avLst/>
            </a:prstGeom>
          </p:spPr>
          <p:txBody>
            <a:bodyPr anchor="t" rtlCol="false" tIns="0" lIns="0" bIns="0" rIns="0">
              <a:spAutoFit/>
            </a:bodyPr>
            <a:lstStyle/>
            <a:p>
              <a:pPr algn="ctr">
                <a:lnSpc>
                  <a:spcPts val="2928"/>
                </a:lnSpc>
              </a:pPr>
              <a:r>
                <a:rPr lang="en-US" b="true" sz="2928" spc="-117">
                  <a:solidFill>
                    <a:srgbClr val="000000"/>
                  </a:solidFill>
                  <a:latin typeface="Times New Roman Bold"/>
                  <a:ea typeface="Times New Roman Bold"/>
                  <a:cs typeface="Times New Roman Bold"/>
                  <a:sym typeface="Times New Roman Bold"/>
                </a:rPr>
                <a:t>tokentrust</a:t>
              </a:r>
            </a:p>
          </p:txBody>
        </p:sp>
      </p:grpSp>
      <p:sp>
        <p:nvSpPr>
          <p:cNvPr name="TextBox 11" id="11"/>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12" id="12"/>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13" id="1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Market Matrix - II</a:t>
            </a:r>
          </a:p>
        </p:txBody>
      </p:sp>
      <p:sp>
        <p:nvSpPr>
          <p:cNvPr name="TextBox 14" id="14"/>
          <p:cNvSpPr txBox="true"/>
          <p:nvPr/>
        </p:nvSpPr>
        <p:spPr>
          <a:xfrm rot="0">
            <a:off x="13779665" y="2121987"/>
            <a:ext cx="3479635" cy="257175"/>
          </a:xfrm>
          <a:prstGeom prst="rect">
            <a:avLst/>
          </a:prstGeom>
        </p:spPr>
        <p:txBody>
          <a:bodyPr anchor="t" rtlCol="false" tIns="0" lIns="0" bIns="0" rIns="0">
            <a:spAutoFit/>
          </a:bodyPr>
          <a:lstStyle/>
          <a:p>
            <a:pPr algn="r">
              <a:lnSpc>
                <a:spcPts val="1919"/>
              </a:lnSpc>
            </a:pPr>
            <a:r>
              <a:rPr lang="en-US" sz="1599" spc="-63">
                <a:solidFill>
                  <a:srgbClr val="000000">
                    <a:alpha val="49804"/>
                  </a:srgbClr>
                </a:solidFill>
                <a:latin typeface="Times New Roman"/>
                <a:ea typeface="Times New Roman"/>
                <a:cs typeface="Times New Roman"/>
                <a:sym typeface="Times New Roman"/>
              </a:rPr>
              <a:t>Total Addressable Market | ~$15B+ (2026)</a:t>
            </a:r>
          </a:p>
        </p:txBody>
      </p:sp>
      <p:sp>
        <p:nvSpPr>
          <p:cNvPr name="TextBox 15" id="15"/>
          <p:cNvSpPr txBox="true"/>
          <p:nvPr/>
        </p:nvSpPr>
        <p:spPr>
          <a:xfrm rot="0">
            <a:off x="1028700" y="7701058"/>
            <a:ext cx="1568500"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Positioning</a:t>
            </a:r>
          </a:p>
        </p:txBody>
      </p:sp>
      <p:sp>
        <p:nvSpPr>
          <p:cNvPr name="TextBox 16" id="16"/>
          <p:cNvSpPr txBox="true"/>
          <p:nvPr/>
        </p:nvSpPr>
        <p:spPr>
          <a:xfrm rot="0">
            <a:off x="7083028" y="7701058"/>
            <a:ext cx="1513210"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Advantage</a:t>
            </a:r>
          </a:p>
        </p:txBody>
      </p:sp>
      <p:sp>
        <p:nvSpPr>
          <p:cNvPr name="TextBox 17" id="17"/>
          <p:cNvSpPr txBox="true"/>
          <p:nvPr/>
        </p:nvSpPr>
        <p:spPr>
          <a:xfrm rot="0">
            <a:off x="13137356" y="7701058"/>
            <a:ext cx="1677888"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Market Gap</a:t>
            </a:r>
          </a:p>
        </p:txBody>
      </p:sp>
      <p:sp>
        <p:nvSpPr>
          <p:cNvPr name="TextBox 18" id="18"/>
          <p:cNvSpPr txBox="true"/>
          <p:nvPr/>
        </p:nvSpPr>
        <p:spPr>
          <a:xfrm rot="0">
            <a:off x="1028700" y="8161162"/>
            <a:ext cx="4121944" cy="540385"/>
          </a:xfrm>
          <a:prstGeom prst="rect">
            <a:avLst/>
          </a:prstGeom>
        </p:spPr>
        <p:txBody>
          <a:bodyPr anchor="t" rtlCol="false" tIns="0" lIns="0" bIns="0" rIns="0">
            <a:spAutoFit/>
          </a:bodyPr>
          <a:lstStyle/>
          <a:p>
            <a:pPr algn="l">
              <a:lnSpc>
                <a:spcPts val="1400"/>
              </a:lnSpc>
            </a:pPr>
            <a:r>
              <a:rPr lang="en-US" sz="1400" spc="-42">
                <a:solidFill>
                  <a:srgbClr val="000000"/>
                </a:solidFill>
                <a:latin typeface="Times New Roman"/>
                <a:ea typeface="Times New Roman"/>
                <a:cs typeface="Times New Roman"/>
                <a:sym typeface="Times New Roman"/>
              </a:rPr>
              <a:t>Existing integration platforms focus exclusively on "data movement." The space for "value (token) movement" remains entirely unoccupied.</a:t>
            </a:r>
          </a:p>
        </p:txBody>
      </p:sp>
      <p:sp>
        <p:nvSpPr>
          <p:cNvPr name="TextBox 19" id="19"/>
          <p:cNvSpPr txBox="true"/>
          <p:nvPr/>
        </p:nvSpPr>
        <p:spPr>
          <a:xfrm rot="0">
            <a:off x="7083028" y="8161162"/>
            <a:ext cx="4121944" cy="540385"/>
          </a:xfrm>
          <a:prstGeom prst="rect">
            <a:avLst/>
          </a:prstGeom>
        </p:spPr>
        <p:txBody>
          <a:bodyPr anchor="t" rtlCol="false" tIns="0" lIns="0" bIns="0" rIns="0">
            <a:spAutoFit/>
          </a:bodyPr>
          <a:lstStyle/>
          <a:p>
            <a:pPr algn="l">
              <a:lnSpc>
                <a:spcPts val="1400"/>
              </a:lnSpc>
            </a:pPr>
            <a:r>
              <a:rPr lang="en-US" sz="1400" spc="-42">
                <a:solidFill>
                  <a:srgbClr val="000000"/>
                </a:solidFill>
                <a:latin typeface="Times New Roman"/>
                <a:ea typeface="Times New Roman"/>
                <a:cs typeface="Times New Roman"/>
                <a:sym typeface="Times New Roman"/>
              </a:rPr>
              <a:t>Dominant advantage on token/value portability (y). The only player combining AI-native integration with token conversion.</a:t>
            </a:r>
          </a:p>
        </p:txBody>
      </p:sp>
      <p:sp>
        <p:nvSpPr>
          <p:cNvPr name="TextBox 20" id="20"/>
          <p:cNvSpPr txBox="true"/>
          <p:nvPr/>
        </p:nvSpPr>
        <p:spPr>
          <a:xfrm rot="0">
            <a:off x="13137356" y="8161162"/>
            <a:ext cx="4121944" cy="368935"/>
          </a:xfrm>
          <a:prstGeom prst="rect">
            <a:avLst/>
          </a:prstGeom>
        </p:spPr>
        <p:txBody>
          <a:bodyPr anchor="t" rtlCol="false" tIns="0" lIns="0" bIns="0" rIns="0">
            <a:spAutoFit/>
          </a:bodyPr>
          <a:lstStyle/>
          <a:p>
            <a:pPr algn="l">
              <a:lnSpc>
                <a:spcPts val="1400"/>
              </a:lnSpc>
            </a:pPr>
            <a:r>
              <a:rPr lang="en-US" sz="1400" spc="-42">
                <a:solidFill>
                  <a:srgbClr val="000000"/>
                </a:solidFill>
                <a:latin typeface="Times New Roman"/>
                <a:ea typeface="Times New Roman"/>
                <a:cs typeface="Times New Roman"/>
                <a:sym typeface="Times New Roman"/>
              </a:rPr>
              <a:t>Precisely positioned at the inflection point where iPaaS evolves from "data pipes" to "value pipes."</a:t>
            </a:r>
          </a:p>
        </p:txBody>
      </p:sp>
      <p:sp>
        <p:nvSpPr>
          <p:cNvPr name="TextBox 21" id="21"/>
          <p:cNvSpPr txBox="true"/>
          <p:nvPr/>
        </p:nvSpPr>
        <p:spPr>
          <a:xfrm rot="0">
            <a:off x="1028700" y="2121987"/>
            <a:ext cx="7099176"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Cross-platform interoperability market</a:t>
            </a:r>
          </a:p>
        </p:txBody>
      </p:sp>
      <p:sp>
        <p:nvSpPr>
          <p:cNvPr name="TextBox 22" id="22"/>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36</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850629"/>
            <a:ext cx="16230600" cy="4869479"/>
          </a:xfrm>
          <a:custGeom>
            <a:avLst/>
            <a:gdLst/>
            <a:ahLst/>
            <a:cxnLst/>
            <a:rect r="r" b="b" t="t" l="l"/>
            <a:pathLst>
              <a:path h="4869479" w="16230600">
                <a:moveTo>
                  <a:pt x="0" y="0"/>
                </a:moveTo>
                <a:lnTo>
                  <a:pt x="16230600" y="0"/>
                </a:lnTo>
                <a:lnTo>
                  <a:pt x="16230600" y="4869479"/>
                </a:lnTo>
                <a:lnTo>
                  <a:pt x="0" y="4869479"/>
                </a:lnTo>
                <a:lnTo>
                  <a:pt x="0" y="0"/>
                </a:lnTo>
                <a:close/>
              </a:path>
            </a:pathLst>
          </a:custGeom>
          <a:blipFill>
            <a:blip r:embed="rId2"/>
            <a:stretch>
              <a:fillRect l="0" t="-5826" r="0" b="0"/>
            </a:stretch>
          </a:blipFill>
        </p:spPr>
      </p:sp>
      <p:grpSp>
        <p:nvGrpSpPr>
          <p:cNvPr name="Group 3" id="3"/>
          <p:cNvGrpSpPr/>
          <p:nvPr/>
        </p:nvGrpSpPr>
        <p:grpSpPr>
          <a:xfrm rot="0">
            <a:off x="13971131" y="2850629"/>
            <a:ext cx="1688227" cy="716330"/>
            <a:chOff x="0" y="0"/>
            <a:chExt cx="2250970" cy="955107"/>
          </a:xfrm>
        </p:grpSpPr>
        <p:grpSp>
          <p:nvGrpSpPr>
            <p:cNvPr name="Group 4" id="4"/>
            <p:cNvGrpSpPr/>
            <p:nvPr/>
          </p:nvGrpSpPr>
          <p:grpSpPr>
            <a:xfrm rot="0">
              <a:off x="1021922" y="747982"/>
              <a:ext cx="207125" cy="20712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6" id="6"/>
              <p:cNvSpPr txBox="true"/>
              <p:nvPr/>
            </p:nvSpPr>
            <p:spPr>
              <a:xfrm>
                <a:off x="76200" y="104775"/>
                <a:ext cx="660400" cy="631825"/>
              </a:xfrm>
              <a:prstGeom prst="rect">
                <a:avLst/>
              </a:prstGeom>
            </p:spPr>
            <p:txBody>
              <a:bodyPr anchor="ctr" rtlCol="false" tIns="50800" lIns="50800" bIns="50800" rIns="50800"/>
              <a:lstStyle/>
              <a:p>
                <a:pPr algn="ctr">
                  <a:lnSpc>
                    <a:spcPts val="1599"/>
                  </a:lnSpc>
                </a:pPr>
              </a:p>
            </p:txBody>
          </p:sp>
        </p:grpSp>
        <p:grpSp>
          <p:nvGrpSpPr>
            <p:cNvPr name="Group 7" id="7"/>
            <p:cNvGrpSpPr/>
            <p:nvPr/>
          </p:nvGrpSpPr>
          <p:grpSpPr>
            <a:xfrm rot="0">
              <a:off x="1916150" y="0"/>
              <a:ext cx="334820" cy="349206"/>
              <a:chOff x="0" y="0"/>
              <a:chExt cx="584874" cy="610004"/>
            </a:xfrm>
          </p:grpSpPr>
          <p:sp>
            <p:nvSpPr>
              <p:cNvPr name="Freeform 8" id="8"/>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solidFill>
            </p:spPr>
          </p:sp>
          <p:sp>
            <p:nvSpPr>
              <p:cNvPr name="TextBox 9" id="9"/>
              <p:cNvSpPr txBox="true"/>
              <p:nvPr/>
            </p:nvSpPr>
            <p:spPr>
              <a:xfrm>
                <a:off x="137617" y="172105"/>
                <a:ext cx="309639" cy="294368"/>
              </a:xfrm>
              <a:prstGeom prst="rect">
                <a:avLst/>
              </a:prstGeom>
            </p:spPr>
            <p:txBody>
              <a:bodyPr anchor="ctr" rtlCol="false" tIns="10611" lIns="10611" bIns="10611" rIns="10611"/>
              <a:lstStyle/>
              <a:p>
                <a:pPr algn="ctr">
                  <a:lnSpc>
                    <a:spcPts val="1599"/>
                  </a:lnSpc>
                </a:pPr>
              </a:p>
            </p:txBody>
          </p:sp>
        </p:grpSp>
        <p:sp>
          <p:nvSpPr>
            <p:cNvPr name="TextBox 10" id="10"/>
            <p:cNvSpPr txBox="true"/>
            <p:nvPr/>
          </p:nvSpPr>
          <p:spPr>
            <a:xfrm rot="0">
              <a:off x="0" y="193488"/>
              <a:ext cx="2005629" cy="554494"/>
            </a:xfrm>
            <a:prstGeom prst="rect">
              <a:avLst/>
            </a:prstGeom>
          </p:spPr>
          <p:txBody>
            <a:bodyPr anchor="t" rtlCol="false" tIns="0" lIns="0" bIns="0" rIns="0">
              <a:spAutoFit/>
            </a:bodyPr>
            <a:lstStyle/>
            <a:p>
              <a:pPr algn="ctr">
                <a:lnSpc>
                  <a:spcPts val="2928"/>
                </a:lnSpc>
              </a:pPr>
              <a:r>
                <a:rPr lang="en-US" b="true" sz="2928" spc="-117">
                  <a:solidFill>
                    <a:srgbClr val="000000"/>
                  </a:solidFill>
                  <a:latin typeface="Times New Roman Bold"/>
                  <a:ea typeface="Times New Roman Bold"/>
                  <a:cs typeface="Times New Roman Bold"/>
                  <a:sym typeface="Times New Roman Bold"/>
                </a:rPr>
                <a:t>tokentrust</a:t>
              </a:r>
            </a:p>
          </p:txBody>
        </p:sp>
      </p:grpSp>
      <p:sp>
        <p:nvSpPr>
          <p:cNvPr name="TextBox 11" id="11"/>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12" id="12"/>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13" id="1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Market Matrix - III</a:t>
            </a:r>
          </a:p>
        </p:txBody>
      </p:sp>
      <p:sp>
        <p:nvSpPr>
          <p:cNvPr name="TextBox 14" id="14"/>
          <p:cNvSpPr txBox="true"/>
          <p:nvPr/>
        </p:nvSpPr>
        <p:spPr>
          <a:xfrm rot="0">
            <a:off x="13779665" y="2121987"/>
            <a:ext cx="3479635" cy="257175"/>
          </a:xfrm>
          <a:prstGeom prst="rect">
            <a:avLst/>
          </a:prstGeom>
        </p:spPr>
        <p:txBody>
          <a:bodyPr anchor="t" rtlCol="false" tIns="0" lIns="0" bIns="0" rIns="0">
            <a:spAutoFit/>
          </a:bodyPr>
          <a:lstStyle/>
          <a:p>
            <a:pPr algn="r">
              <a:lnSpc>
                <a:spcPts val="1919"/>
              </a:lnSpc>
            </a:pPr>
            <a:r>
              <a:rPr lang="en-US" sz="1599" spc="-63">
                <a:solidFill>
                  <a:srgbClr val="000000">
                    <a:alpha val="49804"/>
                  </a:srgbClr>
                </a:solidFill>
                <a:latin typeface="Times New Roman"/>
                <a:ea typeface="Times New Roman"/>
                <a:cs typeface="Times New Roman"/>
                <a:sym typeface="Times New Roman"/>
              </a:rPr>
              <a:t>Total Addressable Market | ~$12B+ (2026)</a:t>
            </a:r>
          </a:p>
        </p:txBody>
      </p:sp>
      <p:sp>
        <p:nvSpPr>
          <p:cNvPr name="TextBox 15" id="15"/>
          <p:cNvSpPr txBox="true"/>
          <p:nvPr/>
        </p:nvSpPr>
        <p:spPr>
          <a:xfrm rot="0">
            <a:off x="1028700" y="7701058"/>
            <a:ext cx="1568500"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Positioning</a:t>
            </a:r>
          </a:p>
        </p:txBody>
      </p:sp>
      <p:sp>
        <p:nvSpPr>
          <p:cNvPr name="TextBox 16" id="16"/>
          <p:cNvSpPr txBox="true"/>
          <p:nvPr/>
        </p:nvSpPr>
        <p:spPr>
          <a:xfrm rot="0">
            <a:off x="7083028" y="7701058"/>
            <a:ext cx="1513210"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Advantage</a:t>
            </a:r>
          </a:p>
        </p:txBody>
      </p:sp>
      <p:sp>
        <p:nvSpPr>
          <p:cNvPr name="TextBox 17" id="17"/>
          <p:cNvSpPr txBox="true"/>
          <p:nvPr/>
        </p:nvSpPr>
        <p:spPr>
          <a:xfrm rot="0">
            <a:off x="13137356" y="7701058"/>
            <a:ext cx="1677888"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Market Gap</a:t>
            </a:r>
          </a:p>
        </p:txBody>
      </p:sp>
      <p:sp>
        <p:nvSpPr>
          <p:cNvPr name="TextBox 18" id="18"/>
          <p:cNvSpPr txBox="true"/>
          <p:nvPr/>
        </p:nvSpPr>
        <p:spPr>
          <a:xfrm rot="0">
            <a:off x="1028700" y="8161162"/>
            <a:ext cx="4121944" cy="368935"/>
          </a:xfrm>
          <a:prstGeom prst="rect">
            <a:avLst/>
          </a:prstGeom>
        </p:spPr>
        <p:txBody>
          <a:bodyPr anchor="t" rtlCol="false" tIns="0" lIns="0" bIns="0" rIns="0">
            <a:spAutoFit/>
          </a:bodyPr>
          <a:lstStyle/>
          <a:p>
            <a:pPr algn="l">
              <a:lnSpc>
                <a:spcPts val="1400"/>
              </a:lnSpc>
            </a:pPr>
            <a:r>
              <a:rPr lang="en-US" sz="1400" spc="-42">
                <a:solidFill>
                  <a:srgbClr val="000000"/>
                </a:solidFill>
                <a:latin typeface="Times New Roman"/>
                <a:ea typeface="Times New Roman"/>
                <a:cs typeface="Times New Roman"/>
                <a:sym typeface="Times New Roman"/>
              </a:rPr>
              <a:t>Existing DaaS platforms operate on a "companies buy and sell data" model. A user value return model is entirely absent.</a:t>
            </a:r>
          </a:p>
        </p:txBody>
      </p:sp>
      <p:sp>
        <p:nvSpPr>
          <p:cNvPr name="TextBox 19" id="19"/>
          <p:cNvSpPr txBox="true"/>
          <p:nvPr/>
        </p:nvSpPr>
        <p:spPr>
          <a:xfrm rot="0">
            <a:off x="7083028" y="8161162"/>
            <a:ext cx="4121944" cy="540385"/>
          </a:xfrm>
          <a:prstGeom prst="rect">
            <a:avLst/>
          </a:prstGeom>
        </p:spPr>
        <p:txBody>
          <a:bodyPr anchor="t" rtlCol="false" tIns="0" lIns="0" bIns="0" rIns="0">
            <a:spAutoFit/>
          </a:bodyPr>
          <a:lstStyle/>
          <a:p>
            <a:pPr algn="l">
              <a:lnSpc>
                <a:spcPts val="1400"/>
              </a:lnSpc>
            </a:pPr>
            <a:r>
              <a:rPr lang="en-US" sz="1400" spc="-42">
                <a:solidFill>
                  <a:srgbClr val="000000"/>
                </a:solidFill>
                <a:latin typeface="Times New Roman"/>
                <a:ea typeface="Times New Roman"/>
                <a:cs typeface="Times New Roman"/>
                <a:sym typeface="Times New Roman"/>
              </a:rPr>
              <a:t>Highest position on both data sovereignty (x) and value redistribution (y). Consent-based compensation is the core differentiator.</a:t>
            </a:r>
          </a:p>
        </p:txBody>
      </p:sp>
      <p:sp>
        <p:nvSpPr>
          <p:cNvPr name="TextBox 20" id="20"/>
          <p:cNvSpPr txBox="true"/>
          <p:nvPr/>
        </p:nvSpPr>
        <p:spPr>
          <a:xfrm rot="0">
            <a:off x="13137356" y="8161162"/>
            <a:ext cx="4121944" cy="368935"/>
          </a:xfrm>
          <a:prstGeom prst="rect">
            <a:avLst/>
          </a:prstGeom>
        </p:spPr>
        <p:txBody>
          <a:bodyPr anchor="t" rtlCol="false" tIns="0" lIns="0" bIns="0" rIns="0">
            <a:spAutoFit/>
          </a:bodyPr>
          <a:lstStyle/>
          <a:p>
            <a:pPr algn="l">
              <a:lnSpc>
                <a:spcPts val="1400"/>
              </a:lnSpc>
            </a:pPr>
            <a:r>
              <a:rPr lang="en-US" sz="1400" spc="-42">
                <a:solidFill>
                  <a:srgbClr val="000000"/>
                </a:solidFill>
                <a:latin typeface="Times New Roman"/>
                <a:ea typeface="Times New Roman"/>
                <a:cs typeface="Times New Roman"/>
                <a:sym typeface="Times New Roman"/>
              </a:rPr>
              <a:t>Aligned with the surge in user data sovereignty demands driven by EU AI Act and GDPR enforcement.</a:t>
            </a:r>
          </a:p>
        </p:txBody>
      </p:sp>
      <p:sp>
        <p:nvSpPr>
          <p:cNvPr name="TextBox 21" id="21"/>
          <p:cNvSpPr txBox="true"/>
          <p:nvPr/>
        </p:nvSpPr>
        <p:spPr>
          <a:xfrm rot="0">
            <a:off x="1028700" y="2121987"/>
            <a:ext cx="4602956"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Data-as-a-service market</a:t>
            </a:r>
          </a:p>
        </p:txBody>
      </p:sp>
      <p:sp>
        <p:nvSpPr>
          <p:cNvPr name="TextBox 22" id="22"/>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37</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833803"/>
            <a:ext cx="16230600" cy="4886305"/>
          </a:xfrm>
          <a:custGeom>
            <a:avLst/>
            <a:gdLst/>
            <a:ahLst/>
            <a:cxnLst/>
            <a:rect r="r" b="b" t="t" l="l"/>
            <a:pathLst>
              <a:path h="4886305" w="16230600">
                <a:moveTo>
                  <a:pt x="0" y="0"/>
                </a:moveTo>
                <a:lnTo>
                  <a:pt x="16230600" y="0"/>
                </a:lnTo>
                <a:lnTo>
                  <a:pt x="16230600" y="4886305"/>
                </a:lnTo>
                <a:lnTo>
                  <a:pt x="0" y="4886305"/>
                </a:lnTo>
                <a:lnTo>
                  <a:pt x="0" y="0"/>
                </a:lnTo>
                <a:close/>
              </a:path>
            </a:pathLst>
          </a:custGeom>
          <a:blipFill>
            <a:blip r:embed="rId2"/>
            <a:stretch>
              <a:fillRect l="0" t="-5462" r="0" b="0"/>
            </a:stretch>
          </a:blipFill>
        </p:spPr>
      </p:sp>
      <p:grpSp>
        <p:nvGrpSpPr>
          <p:cNvPr name="Group 3" id="3"/>
          <p:cNvGrpSpPr/>
          <p:nvPr/>
        </p:nvGrpSpPr>
        <p:grpSpPr>
          <a:xfrm rot="0">
            <a:off x="13731108" y="2786408"/>
            <a:ext cx="1688227" cy="716330"/>
            <a:chOff x="0" y="0"/>
            <a:chExt cx="2250970" cy="955107"/>
          </a:xfrm>
        </p:grpSpPr>
        <p:grpSp>
          <p:nvGrpSpPr>
            <p:cNvPr name="Group 4" id="4"/>
            <p:cNvGrpSpPr/>
            <p:nvPr/>
          </p:nvGrpSpPr>
          <p:grpSpPr>
            <a:xfrm rot="0">
              <a:off x="1021922" y="747982"/>
              <a:ext cx="207125" cy="20712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6" id="6"/>
              <p:cNvSpPr txBox="true"/>
              <p:nvPr/>
            </p:nvSpPr>
            <p:spPr>
              <a:xfrm>
                <a:off x="76200" y="104775"/>
                <a:ext cx="660400" cy="631825"/>
              </a:xfrm>
              <a:prstGeom prst="rect">
                <a:avLst/>
              </a:prstGeom>
            </p:spPr>
            <p:txBody>
              <a:bodyPr anchor="ctr" rtlCol="false" tIns="50800" lIns="50800" bIns="50800" rIns="50800"/>
              <a:lstStyle/>
              <a:p>
                <a:pPr algn="ctr">
                  <a:lnSpc>
                    <a:spcPts val="1599"/>
                  </a:lnSpc>
                </a:pPr>
              </a:p>
            </p:txBody>
          </p:sp>
        </p:grpSp>
        <p:grpSp>
          <p:nvGrpSpPr>
            <p:cNvPr name="Group 7" id="7"/>
            <p:cNvGrpSpPr/>
            <p:nvPr/>
          </p:nvGrpSpPr>
          <p:grpSpPr>
            <a:xfrm rot="0">
              <a:off x="1916150" y="0"/>
              <a:ext cx="334820" cy="349206"/>
              <a:chOff x="0" y="0"/>
              <a:chExt cx="584874" cy="610004"/>
            </a:xfrm>
          </p:grpSpPr>
          <p:sp>
            <p:nvSpPr>
              <p:cNvPr name="Freeform 8" id="8"/>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solidFill>
            </p:spPr>
          </p:sp>
          <p:sp>
            <p:nvSpPr>
              <p:cNvPr name="TextBox 9" id="9"/>
              <p:cNvSpPr txBox="true"/>
              <p:nvPr/>
            </p:nvSpPr>
            <p:spPr>
              <a:xfrm>
                <a:off x="137617" y="172105"/>
                <a:ext cx="309639" cy="294368"/>
              </a:xfrm>
              <a:prstGeom prst="rect">
                <a:avLst/>
              </a:prstGeom>
            </p:spPr>
            <p:txBody>
              <a:bodyPr anchor="ctr" rtlCol="false" tIns="10611" lIns="10611" bIns="10611" rIns="10611"/>
              <a:lstStyle/>
              <a:p>
                <a:pPr algn="ctr">
                  <a:lnSpc>
                    <a:spcPts val="1599"/>
                  </a:lnSpc>
                </a:pPr>
              </a:p>
            </p:txBody>
          </p:sp>
        </p:grpSp>
        <p:sp>
          <p:nvSpPr>
            <p:cNvPr name="TextBox 10" id="10"/>
            <p:cNvSpPr txBox="true"/>
            <p:nvPr/>
          </p:nvSpPr>
          <p:spPr>
            <a:xfrm rot="0">
              <a:off x="0" y="193488"/>
              <a:ext cx="2005629" cy="554494"/>
            </a:xfrm>
            <a:prstGeom prst="rect">
              <a:avLst/>
            </a:prstGeom>
          </p:spPr>
          <p:txBody>
            <a:bodyPr anchor="t" rtlCol="false" tIns="0" lIns="0" bIns="0" rIns="0">
              <a:spAutoFit/>
            </a:bodyPr>
            <a:lstStyle/>
            <a:p>
              <a:pPr algn="ctr">
                <a:lnSpc>
                  <a:spcPts val="2928"/>
                </a:lnSpc>
              </a:pPr>
              <a:r>
                <a:rPr lang="en-US" b="true" sz="2928" spc="-117">
                  <a:solidFill>
                    <a:srgbClr val="000000"/>
                  </a:solidFill>
                  <a:latin typeface="Times New Roman Bold"/>
                  <a:ea typeface="Times New Roman Bold"/>
                  <a:cs typeface="Times New Roman Bold"/>
                  <a:sym typeface="Times New Roman Bold"/>
                </a:rPr>
                <a:t>tokentrust</a:t>
              </a:r>
            </a:p>
          </p:txBody>
        </p:sp>
      </p:grpSp>
      <p:sp>
        <p:nvSpPr>
          <p:cNvPr name="TextBox 11" id="11"/>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12" id="12"/>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13" id="1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Market Matrix - IV</a:t>
            </a:r>
          </a:p>
        </p:txBody>
      </p:sp>
      <p:sp>
        <p:nvSpPr>
          <p:cNvPr name="TextBox 14" id="14"/>
          <p:cNvSpPr txBox="true"/>
          <p:nvPr/>
        </p:nvSpPr>
        <p:spPr>
          <a:xfrm rot="0">
            <a:off x="13779665" y="2121987"/>
            <a:ext cx="3479635" cy="257175"/>
          </a:xfrm>
          <a:prstGeom prst="rect">
            <a:avLst/>
          </a:prstGeom>
        </p:spPr>
        <p:txBody>
          <a:bodyPr anchor="t" rtlCol="false" tIns="0" lIns="0" bIns="0" rIns="0">
            <a:spAutoFit/>
          </a:bodyPr>
          <a:lstStyle/>
          <a:p>
            <a:pPr algn="r">
              <a:lnSpc>
                <a:spcPts val="1919"/>
              </a:lnSpc>
            </a:pPr>
            <a:r>
              <a:rPr lang="en-US" sz="1599" spc="-63">
                <a:solidFill>
                  <a:srgbClr val="000000">
                    <a:alpha val="49804"/>
                  </a:srgbClr>
                </a:solidFill>
                <a:latin typeface="Times New Roman"/>
                <a:ea typeface="Times New Roman"/>
                <a:cs typeface="Times New Roman"/>
                <a:sym typeface="Times New Roman"/>
              </a:rPr>
              <a:t>Total Addressable Market | ~$5B+ (2026)</a:t>
            </a:r>
          </a:p>
        </p:txBody>
      </p:sp>
      <p:sp>
        <p:nvSpPr>
          <p:cNvPr name="TextBox 15" id="15"/>
          <p:cNvSpPr txBox="true"/>
          <p:nvPr/>
        </p:nvSpPr>
        <p:spPr>
          <a:xfrm rot="0">
            <a:off x="1028700" y="7701058"/>
            <a:ext cx="1568500"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Positioning</a:t>
            </a:r>
          </a:p>
        </p:txBody>
      </p:sp>
      <p:sp>
        <p:nvSpPr>
          <p:cNvPr name="TextBox 16" id="16"/>
          <p:cNvSpPr txBox="true"/>
          <p:nvPr/>
        </p:nvSpPr>
        <p:spPr>
          <a:xfrm rot="0">
            <a:off x="7083028" y="7701058"/>
            <a:ext cx="1513210"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Advantage</a:t>
            </a:r>
          </a:p>
        </p:txBody>
      </p:sp>
      <p:sp>
        <p:nvSpPr>
          <p:cNvPr name="TextBox 17" id="17"/>
          <p:cNvSpPr txBox="true"/>
          <p:nvPr/>
        </p:nvSpPr>
        <p:spPr>
          <a:xfrm rot="0">
            <a:off x="13137356" y="7701058"/>
            <a:ext cx="1677888"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Market Gap</a:t>
            </a:r>
          </a:p>
        </p:txBody>
      </p:sp>
      <p:sp>
        <p:nvSpPr>
          <p:cNvPr name="TextBox 18" id="18"/>
          <p:cNvSpPr txBox="true"/>
          <p:nvPr/>
        </p:nvSpPr>
        <p:spPr>
          <a:xfrm rot="0">
            <a:off x="1028700" y="8161162"/>
            <a:ext cx="4121944" cy="540385"/>
          </a:xfrm>
          <a:prstGeom prst="rect">
            <a:avLst/>
          </a:prstGeom>
        </p:spPr>
        <p:txBody>
          <a:bodyPr anchor="t" rtlCol="false" tIns="0" lIns="0" bIns="0" rIns="0">
            <a:spAutoFit/>
          </a:bodyPr>
          <a:lstStyle/>
          <a:p>
            <a:pPr algn="l">
              <a:lnSpc>
                <a:spcPts val="1400"/>
              </a:lnSpc>
            </a:pPr>
            <a:r>
              <a:rPr lang="en-US" sz="1400" spc="-42">
                <a:solidFill>
                  <a:srgbClr val="000000"/>
                </a:solidFill>
                <a:latin typeface="Times New Roman"/>
                <a:ea typeface="Times New Roman"/>
                <a:cs typeface="Times New Roman"/>
                <a:sym typeface="Times New Roman"/>
              </a:rPr>
              <a:t>Every competitor approaches compliance from a "penalty avoidance" perspective. The "compliance = user reward" framing is a unique position.</a:t>
            </a:r>
          </a:p>
        </p:txBody>
      </p:sp>
      <p:sp>
        <p:nvSpPr>
          <p:cNvPr name="TextBox 19" id="19"/>
          <p:cNvSpPr txBox="true"/>
          <p:nvPr/>
        </p:nvSpPr>
        <p:spPr>
          <a:xfrm rot="0">
            <a:off x="7083028" y="8161162"/>
            <a:ext cx="4121944" cy="540385"/>
          </a:xfrm>
          <a:prstGeom prst="rect">
            <a:avLst/>
          </a:prstGeom>
        </p:spPr>
        <p:txBody>
          <a:bodyPr anchor="t" rtlCol="false" tIns="0" lIns="0" bIns="0" rIns="0">
            <a:spAutoFit/>
          </a:bodyPr>
          <a:lstStyle/>
          <a:p>
            <a:pPr algn="l">
              <a:lnSpc>
                <a:spcPts val="1400"/>
              </a:lnSpc>
            </a:pPr>
            <a:r>
              <a:rPr lang="en-US" sz="1400" spc="-42">
                <a:solidFill>
                  <a:srgbClr val="000000"/>
                </a:solidFill>
                <a:latin typeface="Times New Roman"/>
                <a:ea typeface="Times New Roman"/>
                <a:cs typeface="Times New Roman"/>
                <a:sym typeface="Times New Roman"/>
              </a:rPr>
              <a:t>Proprietary benchmarks such as consent compliance rate, reward fulfillment rate, and valuation fairness serve directly as regulatory evidence.</a:t>
            </a:r>
          </a:p>
        </p:txBody>
      </p:sp>
      <p:sp>
        <p:nvSpPr>
          <p:cNvPr name="TextBox 20" id="20"/>
          <p:cNvSpPr txBox="true"/>
          <p:nvPr/>
        </p:nvSpPr>
        <p:spPr>
          <a:xfrm rot="0">
            <a:off x="13137356" y="8161162"/>
            <a:ext cx="4121944" cy="368935"/>
          </a:xfrm>
          <a:prstGeom prst="rect">
            <a:avLst/>
          </a:prstGeom>
        </p:spPr>
        <p:txBody>
          <a:bodyPr anchor="t" rtlCol="false" tIns="0" lIns="0" bIns="0" rIns="0">
            <a:spAutoFit/>
          </a:bodyPr>
          <a:lstStyle/>
          <a:p>
            <a:pPr algn="l">
              <a:lnSpc>
                <a:spcPts val="1400"/>
              </a:lnSpc>
            </a:pPr>
            <a:r>
              <a:rPr lang="en-US" sz="1400" spc="-42">
                <a:solidFill>
                  <a:srgbClr val="000000"/>
                </a:solidFill>
                <a:latin typeface="Times New Roman"/>
                <a:ea typeface="Times New Roman"/>
                <a:cs typeface="Times New Roman"/>
                <a:sym typeface="Times New Roman"/>
              </a:rPr>
              <a:t>Resolves data sovereignty and regulatory compliance simultaneously through a corporate credibility index.</a:t>
            </a:r>
          </a:p>
        </p:txBody>
      </p:sp>
      <p:sp>
        <p:nvSpPr>
          <p:cNvPr name="TextBox 21" id="21"/>
          <p:cNvSpPr txBox="true"/>
          <p:nvPr/>
        </p:nvSpPr>
        <p:spPr>
          <a:xfrm rot="0">
            <a:off x="1028700" y="2121987"/>
            <a:ext cx="6097935"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Ai regulatory compliance market</a:t>
            </a:r>
          </a:p>
        </p:txBody>
      </p:sp>
      <p:sp>
        <p:nvSpPr>
          <p:cNvPr name="TextBox 22" id="22"/>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38</a:t>
            </a:r>
          </a:p>
        </p:txBody>
      </p:sp>
    </p:spTree>
  </p:cSld>
  <p:clrMapOvr>
    <a:masterClrMapping/>
  </p:clrMapOvr>
</p:sld>
</file>

<file path=ppt/slides/slide3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Strategic Foresight - Market Strategy</a:t>
            </a:r>
          </a:p>
        </p:txBody>
      </p:sp>
      <p:sp>
        <p:nvSpPr>
          <p:cNvPr name="TextBox 5" id="5"/>
          <p:cNvSpPr txBox="true"/>
          <p:nvPr/>
        </p:nvSpPr>
        <p:spPr>
          <a:xfrm rot="0">
            <a:off x="12834523" y="5945647"/>
            <a:ext cx="4424777" cy="226060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Scaling the system through standardization and institutional adoption.</a:t>
            </a:r>
          </a:p>
          <a:p>
            <a:pPr algn="l">
              <a:lnSpc>
                <a:spcPts val="2000"/>
              </a:lnSpc>
            </a:pPr>
          </a:p>
          <a:p>
            <a:pPr algn="l">
              <a:lnSpc>
                <a:spcPts val="2000"/>
              </a:lnSpc>
            </a:pPr>
            <a:r>
              <a:rPr lang="en-US" sz="2000" spc="-60">
                <a:solidFill>
                  <a:srgbClr val="000000"/>
                </a:solidFill>
                <a:latin typeface="Times New Roman"/>
                <a:ea typeface="Times New Roman"/>
                <a:cs typeface="Times New Roman"/>
                <a:sym typeface="Times New Roman"/>
              </a:rPr>
              <a:t>Expanding audit partnerships, introducing certification and reporting structures, and building a broader governance framework</a:t>
            </a:r>
          </a:p>
          <a:p>
            <a:pPr algn="l">
              <a:lnSpc>
                <a:spcPts val="2000"/>
              </a:lnSpc>
            </a:pPr>
          </a:p>
          <a:p>
            <a:pPr algn="l">
              <a:lnSpc>
                <a:spcPts val="2000"/>
              </a:lnSpc>
            </a:pPr>
            <a:r>
              <a:rPr lang="en-US" sz="2000" spc="-60">
                <a:solidFill>
                  <a:srgbClr val="000000"/>
                </a:solidFill>
                <a:latin typeface="Times New Roman"/>
                <a:ea typeface="Times New Roman"/>
                <a:cs typeface="Times New Roman"/>
                <a:sym typeface="Times New Roman"/>
              </a:rPr>
              <a:t>A trusted infrastructure for data quality, accountability, and compensation.</a:t>
            </a:r>
          </a:p>
        </p:txBody>
      </p:sp>
      <p:sp>
        <p:nvSpPr>
          <p:cNvPr name="TextBox 6" id="6"/>
          <p:cNvSpPr txBox="true"/>
          <p:nvPr/>
        </p:nvSpPr>
        <p:spPr>
          <a:xfrm rot="0">
            <a:off x="1028700" y="5945647"/>
            <a:ext cx="3926960" cy="250825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Building the core governance infrastructure of the system.</a:t>
            </a:r>
          </a:p>
          <a:p>
            <a:pPr algn="l">
              <a:lnSpc>
                <a:spcPts val="2000"/>
              </a:lnSpc>
            </a:pPr>
          </a:p>
          <a:p>
            <a:pPr algn="l">
              <a:lnSpc>
                <a:spcPts val="2000"/>
              </a:lnSpc>
            </a:pPr>
            <a:r>
              <a:rPr lang="en-US" sz="2000" spc="-60">
                <a:solidFill>
                  <a:srgbClr val="000000"/>
                </a:solidFill>
                <a:latin typeface="Times New Roman"/>
                <a:ea typeface="Times New Roman"/>
                <a:cs typeface="Times New Roman"/>
                <a:sym typeface="Times New Roman"/>
              </a:rPr>
              <a:t>Data Quality Index (DQI), establishing a consent logging mechanism</a:t>
            </a:r>
          </a:p>
          <a:p>
            <a:pPr algn="l">
              <a:lnSpc>
                <a:spcPts val="2000"/>
              </a:lnSpc>
            </a:pPr>
            <a:r>
              <a:rPr lang="en-US" sz="2000" spc="-60">
                <a:solidFill>
                  <a:srgbClr val="000000"/>
                </a:solidFill>
                <a:latin typeface="Times New Roman"/>
                <a:ea typeface="Times New Roman"/>
                <a:cs typeface="Times New Roman"/>
                <a:sym typeface="Times New Roman"/>
              </a:rPr>
              <a:t>Audit-ready record of data Collection </a:t>
            </a:r>
          </a:p>
          <a:p>
            <a:pPr algn="l">
              <a:lnSpc>
                <a:spcPts val="2000"/>
              </a:lnSpc>
            </a:pPr>
          </a:p>
          <a:p>
            <a:pPr algn="l">
              <a:lnSpc>
                <a:spcPts val="2000"/>
              </a:lnSpc>
            </a:pPr>
            <a:r>
              <a:rPr lang="en-US" sz="2000" spc="-60">
                <a:solidFill>
                  <a:srgbClr val="000000"/>
                </a:solidFill>
                <a:latin typeface="Times New Roman"/>
                <a:ea typeface="Times New Roman"/>
                <a:cs typeface="Times New Roman"/>
                <a:sym typeface="Times New Roman"/>
              </a:rPr>
              <a:t>Rewards - limited to internal credits </a:t>
            </a:r>
          </a:p>
          <a:p>
            <a:pPr algn="l">
              <a:lnSpc>
                <a:spcPts val="2000"/>
              </a:lnSpc>
            </a:pPr>
            <a:r>
              <a:rPr lang="en-US" sz="2000" spc="-60">
                <a:solidFill>
                  <a:srgbClr val="000000"/>
                </a:solidFill>
                <a:latin typeface="Times New Roman"/>
                <a:ea typeface="Times New Roman"/>
                <a:cs typeface="Times New Roman"/>
                <a:sym typeface="Times New Roman"/>
              </a:rPr>
              <a:t>Controlled pilot incentives rather than open token circulation.</a:t>
            </a:r>
          </a:p>
        </p:txBody>
      </p:sp>
      <p:sp>
        <p:nvSpPr>
          <p:cNvPr name="AutoShape 7" id="7"/>
          <p:cNvSpPr/>
          <p:nvPr/>
        </p:nvSpPr>
        <p:spPr>
          <a:xfrm flipH="true">
            <a:off x="6041128" y="2291005"/>
            <a:ext cx="0" cy="6410542"/>
          </a:xfrm>
          <a:prstGeom prst="line">
            <a:avLst/>
          </a:prstGeom>
          <a:ln cap="flat" w="9525">
            <a:solidFill>
              <a:srgbClr val="000000">
                <a:alpha val="49804"/>
              </a:srgbClr>
            </a:solidFill>
            <a:prstDash val="solid"/>
            <a:headEnd type="none" len="sm" w="sm"/>
            <a:tailEnd type="none" len="sm" w="sm"/>
          </a:ln>
        </p:spPr>
      </p:sp>
      <p:sp>
        <p:nvSpPr>
          <p:cNvPr name="AutoShape 8" id="8"/>
          <p:cNvSpPr/>
          <p:nvPr/>
        </p:nvSpPr>
        <p:spPr>
          <a:xfrm flipH="true">
            <a:off x="12095456" y="2291005"/>
            <a:ext cx="0" cy="6410542"/>
          </a:xfrm>
          <a:prstGeom prst="line">
            <a:avLst/>
          </a:prstGeom>
          <a:ln cap="flat" w="9525">
            <a:solidFill>
              <a:srgbClr val="000000">
                <a:alpha val="49804"/>
              </a:srgbClr>
            </a:solidFill>
            <a:prstDash val="solid"/>
            <a:headEnd type="none" len="sm" w="sm"/>
            <a:tailEnd type="none" len="sm" w="sm"/>
          </a:ln>
        </p:spPr>
      </p:sp>
      <p:sp>
        <p:nvSpPr>
          <p:cNvPr name="TextBox 9" id="9"/>
          <p:cNvSpPr txBox="true"/>
          <p:nvPr/>
        </p:nvSpPr>
        <p:spPr>
          <a:xfrm rot="0">
            <a:off x="1028700" y="2722062"/>
            <a:ext cx="643235"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H - I</a:t>
            </a:r>
          </a:p>
        </p:txBody>
      </p:sp>
      <p:sp>
        <p:nvSpPr>
          <p:cNvPr name="TextBox 10" id="10"/>
          <p:cNvSpPr txBox="true"/>
          <p:nvPr/>
        </p:nvSpPr>
        <p:spPr>
          <a:xfrm rot="0">
            <a:off x="1028700" y="2121987"/>
            <a:ext cx="4121944"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Immediate Milestones</a:t>
            </a:r>
          </a:p>
        </p:txBody>
      </p:sp>
      <p:sp>
        <p:nvSpPr>
          <p:cNvPr name="TextBox 11" id="11"/>
          <p:cNvSpPr txBox="true"/>
          <p:nvPr/>
        </p:nvSpPr>
        <p:spPr>
          <a:xfrm rot="0">
            <a:off x="6931611" y="5945647"/>
            <a:ext cx="4424777" cy="275590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Pilot partnerships with selected AI Enterprises </a:t>
            </a:r>
          </a:p>
          <a:p>
            <a:pPr algn="l">
              <a:lnSpc>
                <a:spcPts val="2000"/>
              </a:lnSpc>
            </a:pPr>
          </a:p>
          <a:p>
            <a:pPr algn="l">
              <a:lnSpc>
                <a:spcPts val="2000"/>
              </a:lnSpc>
            </a:pPr>
            <a:r>
              <a:rPr lang="en-US" sz="2000" spc="-60">
                <a:solidFill>
                  <a:srgbClr val="000000"/>
                </a:solidFill>
                <a:latin typeface="Times New Roman"/>
                <a:ea typeface="Times New Roman"/>
                <a:cs typeface="Times New Roman"/>
                <a:sym typeface="Times New Roman"/>
              </a:rPr>
              <a:t>Adapting the DQI model to sector-specific needs, validating consent, and reporting workflows. </a:t>
            </a:r>
          </a:p>
          <a:p>
            <a:pPr algn="l">
              <a:lnSpc>
                <a:spcPts val="2000"/>
              </a:lnSpc>
            </a:pPr>
          </a:p>
          <a:p>
            <a:pPr algn="l">
              <a:lnSpc>
                <a:spcPts val="2000"/>
              </a:lnSpc>
            </a:pPr>
            <a:r>
              <a:rPr lang="en-US" sz="2000" spc="-60">
                <a:solidFill>
                  <a:srgbClr val="000000"/>
                </a:solidFill>
                <a:latin typeface="Times New Roman"/>
                <a:ea typeface="Times New Roman"/>
                <a:cs typeface="Times New Roman"/>
                <a:sym typeface="Times New Roman"/>
              </a:rPr>
              <a:t>Internal audit whether user reward structures can operate measurably and reliably.</a:t>
            </a:r>
          </a:p>
          <a:p>
            <a:pPr algn="l">
              <a:lnSpc>
                <a:spcPts val="2000"/>
              </a:lnSpc>
            </a:pPr>
          </a:p>
          <a:p>
            <a:pPr algn="l">
              <a:lnSpc>
                <a:spcPts val="2000"/>
              </a:lnSpc>
            </a:pPr>
            <a:r>
              <a:rPr lang="en-US" sz="2000" spc="-60">
                <a:solidFill>
                  <a:srgbClr val="000000"/>
                </a:solidFill>
                <a:latin typeface="Times New Roman"/>
                <a:ea typeface="Times New Roman"/>
                <a:cs typeface="Times New Roman"/>
                <a:sym typeface="Times New Roman"/>
              </a:rPr>
              <a:t>Evaluation of the model can be run in real business settings</a:t>
            </a:r>
          </a:p>
        </p:txBody>
      </p:sp>
      <p:sp>
        <p:nvSpPr>
          <p:cNvPr name="TextBox 12" id="12"/>
          <p:cNvSpPr txBox="true"/>
          <p:nvPr/>
        </p:nvSpPr>
        <p:spPr>
          <a:xfrm rot="0">
            <a:off x="6931611" y="2722062"/>
            <a:ext cx="754856"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H - II</a:t>
            </a:r>
          </a:p>
        </p:txBody>
      </p:sp>
      <p:sp>
        <p:nvSpPr>
          <p:cNvPr name="TextBox 13" id="13"/>
          <p:cNvSpPr txBox="true"/>
          <p:nvPr/>
        </p:nvSpPr>
        <p:spPr>
          <a:xfrm rot="0">
            <a:off x="6931611" y="2121987"/>
            <a:ext cx="2863825"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Growth Targets</a:t>
            </a:r>
          </a:p>
        </p:txBody>
      </p:sp>
      <p:sp>
        <p:nvSpPr>
          <p:cNvPr name="TextBox 14" id="14"/>
          <p:cNvSpPr txBox="true"/>
          <p:nvPr/>
        </p:nvSpPr>
        <p:spPr>
          <a:xfrm rot="0">
            <a:off x="9260293" y="4038229"/>
            <a:ext cx="2096095" cy="323850"/>
          </a:xfrm>
          <a:prstGeom prst="rect">
            <a:avLst/>
          </a:prstGeom>
        </p:spPr>
        <p:txBody>
          <a:bodyPr anchor="t" rtlCol="false" tIns="0" lIns="0" bIns="0" rIns="0">
            <a:spAutoFit/>
          </a:bodyPr>
          <a:lstStyle/>
          <a:p>
            <a:pPr algn="r">
              <a:lnSpc>
                <a:spcPts val="2400"/>
              </a:lnSpc>
            </a:pPr>
            <a:r>
              <a:rPr lang="en-US" sz="2000" spc="-80">
                <a:solidFill>
                  <a:srgbClr val="000000">
                    <a:alpha val="49804"/>
                  </a:srgbClr>
                </a:solidFill>
                <a:latin typeface="Times New Roman"/>
                <a:ea typeface="Times New Roman"/>
                <a:cs typeface="Times New Roman"/>
                <a:sym typeface="Times New Roman"/>
              </a:rPr>
              <a:t>Market Entry [Y1-Y3]</a:t>
            </a:r>
          </a:p>
        </p:txBody>
      </p:sp>
      <p:sp>
        <p:nvSpPr>
          <p:cNvPr name="TextBox 15" id="15"/>
          <p:cNvSpPr txBox="true"/>
          <p:nvPr/>
        </p:nvSpPr>
        <p:spPr>
          <a:xfrm rot="0">
            <a:off x="12834523" y="2722062"/>
            <a:ext cx="866477" cy="476250"/>
          </a:xfrm>
          <a:prstGeom prst="rect">
            <a:avLst/>
          </a:prstGeom>
        </p:spPr>
        <p:txBody>
          <a:bodyPr anchor="t" rtlCol="false" tIns="0" lIns="0" bIns="0" rIns="0">
            <a:spAutoFit/>
          </a:bodyPr>
          <a:lstStyle/>
          <a:p>
            <a:pPr algn="l">
              <a:lnSpc>
                <a:spcPts val="3599"/>
              </a:lnSpc>
            </a:pPr>
            <a:r>
              <a:rPr lang="en-US" sz="2999" spc="-119">
                <a:solidFill>
                  <a:srgbClr val="000000"/>
                </a:solidFill>
                <a:latin typeface="Times New Roman"/>
                <a:ea typeface="Times New Roman"/>
                <a:cs typeface="Times New Roman"/>
                <a:sym typeface="Times New Roman"/>
              </a:rPr>
              <a:t>H - III</a:t>
            </a:r>
          </a:p>
        </p:txBody>
      </p:sp>
      <p:sp>
        <p:nvSpPr>
          <p:cNvPr name="TextBox 16" id="16"/>
          <p:cNvSpPr txBox="true"/>
          <p:nvPr/>
        </p:nvSpPr>
        <p:spPr>
          <a:xfrm rot="0">
            <a:off x="12834523" y="2121987"/>
            <a:ext cx="3289250"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Long-term Vision</a:t>
            </a:r>
          </a:p>
        </p:txBody>
      </p:sp>
      <p:sp>
        <p:nvSpPr>
          <p:cNvPr name="TextBox 17" id="17"/>
          <p:cNvSpPr txBox="true"/>
          <p:nvPr/>
        </p:nvSpPr>
        <p:spPr>
          <a:xfrm rot="0">
            <a:off x="3054548" y="4038229"/>
            <a:ext cx="2096095" cy="323850"/>
          </a:xfrm>
          <a:prstGeom prst="rect">
            <a:avLst/>
          </a:prstGeom>
        </p:spPr>
        <p:txBody>
          <a:bodyPr anchor="t" rtlCol="false" tIns="0" lIns="0" bIns="0" rIns="0">
            <a:spAutoFit/>
          </a:bodyPr>
          <a:lstStyle/>
          <a:p>
            <a:pPr algn="r">
              <a:lnSpc>
                <a:spcPts val="2400"/>
              </a:lnSpc>
            </a:pPr>
            <a:r>
              <a:rPr lang="en-US" sz="2000" spc="-80">
                <a:solidFill>
                  <a:srgbClr val="000000">
                    <a:alpha val="49804"/>
                  </a:srgbClr>
                </a:solidFill>
                <a:latin typeface="Times New Roman"/>
                <a:ea typeface="Times New Roman"/>
                <a:cs typeface="Times New Roman"/>
                <a:sym typeface="Times New Roman"/>
              </a:rPr>
              <a:t>Market Entry [Y0-Y1]</a:t>
            </a:r>
          </a:p>
        </p:txBody>
      </p:sp>
      <p:sp>
        <p:nvSpPr>
          <p:cNvPr name="TextBox 18" id="18"/>
          <p:cNvSpPr txBox="true"/>
          <p:nvPr/>
        </p:nvSpPr>
        <p:spPr>
          <a:xfrm rot="0">
            <a:off x="15394632" y="4038229"/>
            <a:ext cx="1864668" cy="323850"/>
          </a:xfrm>
          <a:prstGeom prst="rect">
            <a:avLst/>
          </a:prstGeom>
        </p:spPr>
        <p:txBody>
          <a:bodyPr anchor="t" rtlCol="false" tIns="0" lIns="0" bIns="0" rIns="0">
            <a:spAutoFit/>
          </a:bodyPr>
          <a:lstStyle/>
          <a:p>
            <a:pPr algn="r">
              <a:lnSpc>
                <a:spcPts val="2400"/>
              </a:lnSpc>
            </a:pPr>
            <a:r>
              <a:rPr lang="en-US" sz="2000" spc="-80">
                <a:solidFill>
                  <a:srgbClr val="000000">
                    <a:alpha val="49804"/>
                  </a:srgbClr>
                </a:solidFill>
                <a:latin typeface="Times New Roman"/>
                <a:ea typeface="Times New Roman"/>
                <a:cs typeface="Times New Roman"/>
                <a:sym typeface="Times New Roman"/>
              </a:rPr>
              <a:t>Market Entry [Y3+]</a:t>
            </a:r>
          </a:p>
        </p:txBody>
      </p:sp>
      <p:sp>
        <p:nvSpPr>
          <p:cNvPr name="TextBox 19" id="19"/>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39</a:t>
            </a:r>
          </a:p>
        </p:txBody>
      </p:sp>
    </p:spTree>
  </p:cSld>
  <p:clrMapOvr>
    <a:masterClrMapping/>
  </p:clrMapOvr>
</p:sld>
</file>

<file path=ppt/slides/slide4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Conclusion</a:t>
            </a:r>
          </a:p>
        </p:txBody>
      </p:sp>
      <p:sp>
        <p:nvSpPr>
          <p:cNvPr name="TextBox 5" id="5"/>
          <p:cNvSpPr txBox="true"/>
          <p:nvPr/>
        </p:nvSpPr>
        <p:spPr>
          <a:xfrm rot="0">
            <a:off x="4557250" y="7743599"/>
            <a:ext cx="12702050" cy="809625"/>
          </a:xfrm>
          <a:prstGeom prst="rect">
            <a:avLst/>
          </a:prstGeom>
        </p:spPr>
        <p:txBody>
          <a:bodyPr anchor="t" rtlCol="false" tIns="0" lIns="0" bIns="0" rIns="0">
            <a:spAutoFit/>
          </a:bodyPr>
          <a:lstStyle/>
          <a:p>
            <a:pPr algn="r">
              <a:lnSpc>
                <a:spcPts val="3000"/>
              </a:lnSpc>
              <a:spcBef>
                <a:spcPct val="0"/>
              </a:spcBef>
            </a:pPr>
            <a:r>
              <a:rPr lang="en-US" sz="3000" spc="-89">
                <a:solidFill>
                  <a:srgbClr val="000000"/>
                </a:solidFill>
                <a:latin typeface="Times New Roman"/>
                <a:ea typeface="Times New Roman"/>
                <a:cs typeface="Times New Roman"/>
                <a:sym typeface="Times New Roman"/>
              </a:rPr>
              <a:t> </a:t>
            </a:r>
            <a:r>
              <a:rPr lang="en-US" sz="3000" spc="-89">
                <a:solidFill>
                  <a:srgbClr val="000000"/>
                </a:solidFill>
                <a:latin typeface="Times New Roman"/>
                <a:ea typeface="Times New Roman"/>
                <a:cs typeface="Times New Roman"/>
                <a:sym typeface="Times New Roman"/>
              </a:rPr>
              <a:t>Thi</a:t>
            </a:r>
            <a:r>
              <a:rPr lang="en-US" sz="3000" spc="-89">
                <a:solidFill>
                  <a:srgbClr val="000000"/>
                </a:solidFill>
                <a:latin typeface="Times New Roman"/>
                <a:ea typeface="Times New Roman"/>
                <a:cs typeface="Times New Roman"/>
                <a:sym typeface="Times New Roman"/>
              </a:rPr>
              <a:t>s po</a:t>
            </a:r>
            <a:r>
              <a:rPr lang="en-US" sz="3000" spc="-89">
                <a:solidFill>
                  <a:srgbClr val="000000"/>
                </a:solidFill>
                <a:latin typeface="Times New Roman"/>
                <a:ea typeface="Times New Roman"/>
                <a:cs typeface="Times New Roman"/>
                <a:sym typeface="Times New Roman"/>
              </a:rPr>
              <a:t>s</a:t>
            </a:r>
            <a:r>
              <a:rPr lang="en-US" sz="3000" spc="-89">
                <a:solidFill>
                  <a:srgbClr val="000000"/>
                </a:solidFill>
                <a:latin typeface="Times New Roman"/>
                <a:ea typeface="Times New Roman"/>
                <a:cs typeface="Times New Roman"/>
                <a:sym typeface="Times New Roman"/>
              </a:rPr>
              <a:t>i</a:t>
            </a:r>
            <a:r>
              <a:rPr lang="en-US" sz="3000" spc="-89">
                <a:solidFill>
                  <a:srgbClr val="000000"/>
                </a:solidFill>
                <a:latin typeface="Times New Roman"/>
                <a:ea typeface="Times New Roman"/>
                <a:cs typeface="Times New Roman"/>
                <a:sym typeface="Times New Roman"/>
              </a:rPr>
              <a:t>t</a:t>
            </a:r>
            <a:r>
              <a:rPr lang="en-US" sz="3000" spc="-89">
                <a:solidFill>
                  <a:srgbClr val="000000"/>
                </a:solidFill>
                <a:latin typeface="Times New Roman"/>
                <a:ea typeface="Times New Roman"/>
                <a:cs typeface="Times New Roman"/>
                <a:sym typeface="Times New Roman"/>
              </a:rPr>
              <a:t>i</a:t>
            </a:r>
            <a:r>
              <a:rPr lang="en-US" sz="3000" spc="-89">
                <a:solidFill>
                  <a:srgbClr val="000000"/>
                </a:solidFill>
                <a:latin typeface="Times New Roman"/>
                <a:ea typeface="Times New Roman"/>
                <a:cs typeface="Times New Roman"/>
                <a:sym typeface="Times New Roman"/>
              </a:rPr>
              <a:t>o</a:t>
            </a:r>
            <a:r>
              <a:rPr lang="en-US" sz="3000" spc="-89">
                <a:solidFill>
                  <a:srgbClr val="000000"/>
                </a:solidFill>
                <a:latin typeface="Times New Roman"/>
                <a:ea typeface="Times New Roman"/>
                <a:cs typeface="Times New Roman"/>
                <a:sym typeface="Times New Roman"/>
              </a:rPr>
              <a:t>ns</a:t>
            </a:r>
            <a:r>
              <a:rPr lang="en-US" sz="3000" spc="-89">
                <a:solidFill>
                  <a:srgbClr val="000000"/>
                </a:solidFill>
                <a:latin typeface="Times New Roman"/>
                <a:ea typeface="Times New Roman"/>
                <a:cs typeface="Times New Roman"/>
                <a:sym typeface="Times New Roman"/>
              </a:rPr>
              <a:t> AI </a:t>
            </a:r>
            <a:r>
              <a:rPr lang="en-US" sz="3000" spc="-89">
                <a:solidFill>
                  <a:srgbClr val="000000"/>
                </a:solidFill>
                <a:latin typeface="Times New Roman"/>
                <a:ea typeface="Times New Roman"/>
                <a:cs typeface="Times New Roman"/>
                <a:sym typeface="Times New Roman"/>
              </a:rPr>
              <a:t>tok</a:t>
            </a:r>
            <a:r>
              <a:rPr lang="en-US" sz="3000" spc="-89">
                <a:solidFill>
                  <a:srgbClr val="000000"/>
                </a:solidFill>
                <a:latin typeface="Times New Roman"/>
                <a:ea typeface="Times New Roman"/>
                <a:cs typeface="Times New Roman"/>
                <a:sym typeface="Times New Roman"/>
              </a:rPr>
              <a:t>e</a:t>
            </a:r>
            <a:r>
              <a:rPr lang="en-US" sz="3000" spc="-89">
                <a:solidFill>
                  <a:srgbClr val="000000"/>
                </a:solidFill>
                <a:latin typeface="Times New Roman"/>
                <a:ea typeface="Times New Roman"/>
                <a:cs typeface="Times New Roman"/>
                <a:sym typeface="Times New Roman"/>
              </a:rPr>
              <a:t>n comme</a:t>
            </a:r>
            <a:r>
              <a:rPr lang="en-US" sz="3000" spc="-89">
                <a:solidFill>
                  <a:srgbClr val="000000"/>
                </a:solidFill>
                <a:latin typeface="Times New Roman"/>
                <a:ea typeface="Times New Roman"/>
                <a:cs typeface="Times New Roman"/>
                <a:sym typeface="Times New Roman"/>
              </a:rPr>
              <a:t>r</a:t>
            </a:r>
            <a:r>
              <a:rPr lang="en-US" sz="3000" spc="-89">
                <a:solidFill>
                  <a:srgbClr val="000000"/>
                </a:solidFill>
                <a:latin typeface="Times New Roman"/>
                <a:ea typeface="Times New Roman"/>
                <a:cs typeface="Times New Roman"/>
                <a:sym typeface="Times New Roman"/>
              </a:rPr>
              <a:t>c</a:t>
            </a:r>
            <a:r>
              <a:rPr lang="en-US" sz="3000" spc="-89">
                <a:solidFill>
                  <a:srgbClr val="000000"/>
                </a:solidFill>
                <a:latin typeface="Times New Roman"/>
                <a:ea typeface="Times New Roman"/>
                <a:cs typeface="Times New Roman"/>
                <a:sym typeface="Times New Roman"/>
              </a:rPr>
              <a:t>e </a:t>
            </a:r>
            <a:r>
              <a:rPr lang="en-US" sz="3000" spc="-89">
                <a:solidFill>
                  <a:srgbClr val="000000"/>
                </a:solidFill>
                <a:latin typeface="Times New Roman"/>
                <a:ea typeface="Times New Roman"/>
                <a:cs typeface="Times New Roman"/>
                <a:sym typeface="Times New Roman"/>
              </a:rPr>
              <a:t>no</a:t>
            </a:r>
            <a:r>
              <a:rPr lang="en-US" sz="3000" spc="-89">
                <a:solidFill>
                  <a:srgbClr val="000000"/>
                </a:solidFill>
                <a:latin typeface="Times New Roman"/>
                <a:ea typeface="Times New Roman"/>
                <a:cs typeface="Times New Roman"/>
                <a:sym typeface="Times New Roman"/>
              </a:rPr>
              <a:t>t</a:t>
            </a:r>
            <a:r>
              <a:rPr lang="en-US" sz="3000" spc="-89">
                <a:solidFill>
                  <a:srgbClr val="000000"/>
                </a:solidFill>
                <a:latin typeface="Times New Roman"/>
                <a:ea typeface="Times New Roman"/>
                <a:cs typeface="Times New Roman"/>
                <a:sym typeface="Times New Roman"/>
              </a:rPr>
              <a:t> me</a:t>
            </a:r>
            <a:r>
              <a:rPr lang="en-US" sz="3000" spc="-89">
                <a:solidFill>
                  <a:srgbClr val="000000"/>
                </a:solidFill>
                <a:latin typeface="Times New Roman"/>
                <a:ea typeface="Times New Roman"/>
                <a:cs typeface="Times New Roman"/>
                <a:sym typeface="Times New Roman"/>
              </a:rPr>
              <a:t>r</a:t>
            </a:r>
            <a:r>
              <a:rPr lang="en-US" sz="3000" spc="-89">
                <a:solidFill>
                  <a:srgbClr val="000000"/>
                </a:solidFill>
                <a:latin typeface="Times New Roman"/>
                <a:ea typeface="Times New Roman"/>
                <a:cs typeface="Times New Roman"/>
                <a:sym typeface="Times New Roman"/>
              </a:rPr>
              <a:t>el</a:t>
            </a:r>
            <a:r>
              <a:rPr lang="en-US" sz="3000" spc="-89">
                <a:solidFill>
                  <a:srgbClr val="000000"/>
                </a:solidFill>
                <a:latin typeface="Times New Roman"/>
                <a:ea typeface="Times New Roman"/>
                <a:cs typeface="Times New Roman"/>
                <a:sym typeface="Times New Roman"/>
              </a:rPr>
              <a:t>y a</a:t>
            </a:r>
            <a:r>
              <a:rPr lang="en-US" sz="3000" spc="-89">
                <a:solidFill>
                  <a:srgbClr val="000000"/>
                </a:solidFill>
                <a:latin typeface="Times New Roman"/>
                <a:ea typeface="Times New Roman"/>
                <a:cs typeface="Times New Roman"/>
                <a:sym typeface="Times New Roman"/>
              </a:rPr>
              <a:t>s </a:t>
            </a:r>
            <a:r>
              <a:rPr lang="en-US" sz="3000" spc="-89">
                <a:solidFill>
                  <a:srgbClr val="000000"/>
                </a:solidFill>
                <a:latin typeface="Times New Roman"/>
                <a:ea typeface="Times New Roman"/>
                <a:cs typeface="Times New Roman"/>
                <a:sym typeface="Times New Roman"/>
              </a:rPr>
              <a:t>a</a:t>
            </a:r>
            <a:r>
              <a:rPr lang="en-US" sz="3000" spc="-89">
                <a:solidFill>
                  <a:srgbClr val="000000"/>
                </a:solidFill>
                <a:latin typeface="Times New Roman"/>
                <a:ea typeface="Times New Roman"/>
                <a:cs typeface="Times New Roman"/>
                <a:sym typeface="Times New Roman"/>
              </a:rPr>
              <a:t>n exchange mechanism, but as the infrastructure that enables fluid movement of </a:t>
            </a:r>
            <a:r>
              <a:rPr lang="en-US" b="true" sz="3000" spc="-89">
                <a:solidFill>
                  <a:srgbClr val="000000"/>
                </a:solidFill>
                <a:latin typeface="Times New Roman Bold"/>
                <a:ea typeface="Times New Roman Bold"/>
                <a:cs typeface="Times New Roman Bold"/>
                <a:sym typeface="Times New Roman Bold"/>
              </a:rPr>
              <a:t>value across platforms</a:t>
            </a:r>
            <a:r>
              <a:rPr lang="en-US" sz="3000" spc="-89">
                <a:solidFill>
                  <a:srgbClr val="000000"/>
                </a:solidFill>
                <a:latin typeface="Times New Roman"/>
                <a:ea typeface="Times New Roman"/>
                <a:cs typeface="Times New Roman"/>
                <a:sym typeface="Times New Roman"/>
              </a:rPr>
              <a:t> and participants.</a:t>
            </a:r>
          </a:p>
        </p:txBody>
      </p:sp>
      <p:sp>
        <p:nvSpPr>
          <p:cNvPr name="TextBox 6" id="6"/>
          <p:cNvSpPr txBox="true"/>
          <p:nvPr/>
        </p:nvSpPr>
        <p:spPr>
          <a:xfrm rot="0">
            <a:off x="1028700" y="6354219"/>
            <a:ext cx="13546521" cy="809625"/>
          </a:xfrm>
          <a:prstGeom prst="rect">
            <a:avLst/>
          </a:prstGeom>
        </p:spPr>
        <p:txBody>
          <a:bodyPr anchor="t" rtlCol="false" tIns="0" lIns="0" bIns="0" rIns="0">
            <a:spAutoFit/>
          </a:bodyPr>
          <a:lstStyle/>
          <a:p>
            <a:pPr algn="l">
              <a:lnSpc>
                <a:spcPts val="3000"/>
              </a:lnSpc>
              <a:spcBef>
                <a:spcPct val="0"/>
              </a:spcBef>
            </a:pPr>
            <a:r>
              <a:rPr lang="en-US" sz="3000" spc="-89">
                <a:solidFill>
                  <a:srgbClr val="000000"/>
                </a:solidFill>
                <a:latin typeface="Times New Roman"/>
                <a:ea typeface="Times New Roman"/>
                <a:cs typeface="Times New Roman"/>
                <a:sym typeface="Times New Roman"/>
              </a:rPr>
              <a:t>"B</a:t>
            </a:r>
            <a:r>
              <a:rPr lang="en-US" sz="3000" spc="-89">
                <a:solidFill>
                  <a:srgbClr val="000000"/>
                </a:solidFill>
                <a:latin typeface="Times New Roman"/>
                <a:ea typeface="Times New Roman"/>
                <a:cs typeface="Times New Roman"/>
                <a:sym typeface="Times New Roman"/>
              </a:rPr>
              <a:t>e</a:t>
            </a:r>
            <a:r>
              <a:rPr lang="en-US" sz="3000" spc="-89">
                <a:solidFill>
                  <a:srgbClr val="000000"/>
                </a:solidFill>
                <a:latin typeface="Times New Roman"/>
                <a:ea typeface="Times New Roman"/>
                <a:cs typeface="Times New Roman"/>
                <a:sym typeface="Times New Roman"/>
              </a:rPr>
              <a:t>yo</a:t>
            </a:r>
            <a:r>
              <a:rPr lang="en-US" sz="3000" spc="-89">
                <a:solidFill>
                  <a:srgbClr val="000000"/>
                </a:solidFill>
                <a:latin typeface="Times New Roman"/>
                <a:ea typeface="Times New Roman"/>
                <a:cs typeface="Times New Roman"/>
                <a:sym typeface="Times New Roman"/>
              </a:rPr>
              <a:t>n</a:t>
            </a:r>
            <a:r>
              <a:rPr lang="en-US" sz="3000" spc="-89">
                <a:solidFill>
                  <a:srgbClr val="000000"/>
                </a:solidFill>
                <a:latin typeface="Times New Roman"/>
                <a:ea typeface="Times New Roman"/>
                <a:cs typeface="Times New Roman"/>
                <a:sym typeface="Times New Roman"/>
              </a:rPr>
              <a:t>d simpl</a:t>
            </a:r>
            <a:r>
              <a:rPr lang="en-US" sz="3000" spc="-89">
                <a:solidFill>
                  <a:srgbClr val="000000"/>
                </a:solidFill>
                <a:latin typeface="Times New Roman"/>
                <a:ea typeface="Times New Roman"/>
                <a:cs typeface="Times New Roman"/>
                <a:sym typeface="Times New Roman"/>
              </a:rPr>
              <a:t>e</a:t>
            </a:r>
            <a:r>
              <a:rPr lang="en-US" sz="3000" spc="-89">
                <a:solidFill>
                  <a:srgbClr val="000000"/>
                </a:solidFill>
                <a:latin typeface="Times New Roman"/>
                <a:ea typeface="Times New Roman"/>
                <a:cs typeface="Times New Roman"/>
                <a:sym typeface="Times New Roman"/>
              </a:rPr>
              <a:t> </a:t>
            </a:r>
            <a:r>
              <a:rPr lang="en-US" sz="3000" spc="-89">
                <a:solidFill>
                  <a:srgbClr val="000000"/>
                </a:solidFill>
                <a:latin typeface="Times New Roman"/>
                <a:ea typeface="Times New Roman"/>
                <a:cs typeface="Times New Roman"/>
                <a:sym typeface="Times New Roman"/>
              </a:rPr>
              <a:t>rede</a:t>
            </a:r>
            <a:r>
              <a:rPr lang="en-US" sz="3000" spc="-89">
                <a:solidFill>
                  <a:srgbClr val="000000"/>
                </a:solidFill>
                <a:latin typeface="Times New Roman"/>
                <a:ea typeface="Times New Roman"/>
                <a:cs typeface="Times New Roman"/>
                <a:sym typeface="Times New Roman"/>
              </a:rPr>
              <a:t>mp</a:t>
            </a:r>
            <a:r>
              <a:rPr lang="en-US" sz="3000" spc="-89">
                <a:solidFill>
                  <a:srgbClr val="000000"/>
                </a:solidFill>
                <a:latin typeface="Times New Roman"/>
                <a:ea typeface="Times New Roman"/>
                <a:cs typeface="Times New Roman"/>
                <a:sym typeface="Times New Roman"/>
              </a:rPr>
              <a:t>t</a:t>
            </a:r>
            <a:r>
              <a:rPr lang="en-US" sz="3000" spc="-89">
                <a:solidFill>
                  <a:srgbClr val="000000"/>
                </a:solidFill>
                <a:latin typeface="Times New Roman"/>
                <a:ea typeface="Times New Roman"/>
                <a:cs typeface="Times New Roman"/>
                <a:sym typeface="Times New Roman"/>
              </a:rPr>
              <a:t>ion or transactional utility, Tokentrust carries an</a:t>
            </a:r>
            <a:r>
              <a:rPr lang="en-US" b="true" sz="3000" spc="-89">
                <a:solidFill>
                  <a:srgbClr val="000000"/>
                </a:solidFill>
                <a:latin typeface="Times New Roman Bold"/>
                <a:ea typeface="Times New Roman Bold"/>
                <a:cs typeface="Times New Roman Bold"/>
                <a:sym typeface="Times New Roman Bold"/>
              </a:rPr>
              <a:t> inter-platform</a:t>
            </a:r>
            <a:r>
              <a:rPr lang="en-US" sz="3000" spc="-89">
                <a:solidFill>
                  <a:srgbClr val="000000"/>
                </a:solidFill>
                <a:latin typeface="Times New Roman"/>
                <a:ea typeface="Times New Roman"/>
                <a:cs typeface="Times New Roman"/>
                <a:sym typeface="Times New Roman"/>
              </a:rPr>
              <a:t> character that guarantees </a:t>
            </a:r>
            <a:r>
              <a:rPr lang="en-US" b="true" sz="3000" spc="-89">
                <a:solidFill>
                  <a:srgbClr val="000000"/>
                </a:solidFill>
                <a:latin typeface="Times New Roman Bold"/>
                <a:ea typeface="Times New Roman Bold"/>
                <a:cs typeface="Times New Roman Bold"/>
                <a:sym typeface="Times New Roman Bold"/>
              </a:rPr>
              <a:t>user autonomy</a:t>
            </a:r>
            <a:r>
              <a:rPr lang="en-US" sz="3000" spc="-89">
                <a:solidFill>
                  <a:srgbClr val="000000"/>
                </a:solidFill>
                <a:latin typeface="Times New Roman"/>
                <a:ea typeface="Times New Roman"/>
                <a:cs typeface="Times New Roman"/>
                <a:sym typeface="Times New Roman"/>
              </a:rPr>
              <a:t> and expands service accessibility for AI enterprises.”</a:t>
            </a:r>
          </a:p>
        </p:txBody>
      </p:sp>
      <p:sp>
        <p:nvSpPr>
          <p:cNvPr name="AutoShape 7" id="7"/>
          <p:cNvSpPr/>
          <p:nvPr/>
        </p:nvSpPr>
        <p:spPr>
          <a:xfrm>
            <a:off x="1028700" y="5616032"/>
            <a:ext cx="16230600" cy="0"/>
          </a:xfrm>
          <a:prstGeom prst="line">
            <a:avLst/>
          </a:prstGeom>
          <a:ln cap="flat" w="9525">
            <a:solidFill>
              <a:srgbClr val="000000">
                <a:alpha val="49804"/>
              </a:srgbClr>
            </a:solidFill>
            <a:prstDash val="solid"/>
            <a:headEnd type="none" len="sm" w="sm"/>
            <a:tailEnd type="none" len="sm" w="sm"/>
          </a:ln>
        </p:spPr>
      </p:sp>
      <p:sp>
        <p:nvSpPr>
          <p:cNvPr name="TextBox 8" id="8"/>
          <p:cNvSpPr txBox="true"/>
          <p:nvPr/>
        </p:nvSpPr>
        <p:spPr>
          <a:xfrm rot="0">
            <a:off x="1028700" y="2617145"/>
            <a:ext cx="9973420" cy="2400299"/>
          </a:xfrm>
          <a:prstGeom prst="rect">
            <a:avLst/>
          </a:prstGeom>
        </p:spPr>
        <p:txBody>
          <a:bodyPr anchor="t" rtlCol="false" tIns="0" lIns="0" bIns="0" rIns="0">
            <a:spAutoFit/>
          </a:bodyPr>
          <a:lstStyle/>
          <a:p>
            <a:pPr algn="l">
              <a:lnSpc>
                <a:spcPts val="8999"/>
              </a:lnSpc>
            </a:pPr>
            <a:r>
              <a:rPr lang="en-US" sz="9999" spc="-299">
                <a:solidFill>
                  <a:srgbClr val="000000"/>
                </a:solidFill>
                <a:latin typeface="Times New Roman"/>
                <a:ea typeface="Times New Roman"/>
                <a:cs typeface="Times New Roman"/>
                <a:sym typeface="Times New Roman"/>
              </a:rPr>
              <a:t>AI Data Governance Society</a:t>
            </a:r>
          </a:p>
        </p:txBody>
      </p:sp>
      <p:sp>
        <p:nvSpPr>
          <p:cNvPr name="TextBox 9" id="9"/>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40</a:t>
            </a:r>
          </a:p>
        </p:txBody>
      </p:sp>
    </p:spTree>
  </p:cSld>
  <p:clrMapOvr>
    <a:masterClrMapping/>
  </p:clrMapOvr>
</p:sld>
</file>

<file path=ppt/slides/slide4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44000" y="2321747"/>
            <a:ext cx="8115300" cy="2696658"/>
            <a:chOff x="0" y="0"/>
            <a:chExt cx="10820400" cy="3595544"/>
          </a:xfrm>
        </p:grpSpPr>
        <p:grpSp>
          <p:nvGrpSpPr>
            <p:cNvPr name="Group 3" id="3"/>
            <p:cNvGrpSpPr/>
            <p:nvPr/>
          </p:nvGrpSpPr>
          <p:grpSpPr>
            <a:xfrm rot="0">
              <a:off x="9210923" y="0"/>
              <a:ext cx="1609477" cy="1678632"/>
              <a:chOff x="0" y="0"/>
              <a:chExt cx="584874" cy="610004"/>
            </a:xfrm>
          </p:grpSpPr>
          <p:sp>
            <p:nvSpPr>
              <p:cNvPr name="Freeform 4" id="4"/>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alpha val="9804"/>
                </a:srgbClr>
              </a:solidFill>
            </p:spPr>
          </p:sp>
          <p:sp>
            <p:nvSpPr>
              <p:cNvPr name="TextBox 5" id="5"/>
              <p:cNvSpPr txBox="true"/>
              <p:nvPr/>
            </p:nvSpPr>
            <p:spPr>
              <a:xfrm>
                <a:off x="137617" y="162580"/>
                <a:ext cx="309639" cy="303893"/>
              </a:xfrm>
              <a:prstGeom prst="rect">
                <a:avLst/>
              </a:prstGeom>
            </p:spPr>
            <p:txBody>
              <a:bodyPr anchor="ctr" rtlCol="false" tIns="31993" lIns="31993" bIns="31993" rIns="31993"/>
              <a:lstStyle/>
              <a:p>
                <a:pPr algn="ctr">
                  <a:lnSpc>
                    <a:spcPts val="1600"/>
                  </a:lnSpc>
                </a:pPr>
              </a:p>
            </p:txBody>
          </p:sp>
        </p:grpSp>
        <p:sp>
          <p:nvSpPr>
            <p:cNvPr name="TextBox 6" id="6"/>
            <p:cNvSpPr txBox="true"/>
            <p:nvPr/>
          </p:nvSpPr>
          <p:spPr>
            <a:xfrm rot="0">
              <a:off x="0" y="956498"/>
              <a:ext cx="9641048" cy="2639046"/>
            </a:xfrm>
            <a:prstGeom prst="rect">
              <a:avLst/>
            </a:prstGeom>
          </p:spPr>
          <p:txBody>
            <a:bodyPr anchor="t" rtlCol="false" tIns="0" lIns="0" bIns="0" rIns="0">
              <a:spAutoFit/>
            </a:bodyPr>
            <a:lstStyle/>
            <a:p>
              <a:pPr algn="ctr">
                <a:lnSpc>
                  <a:spcPts val="14077"/>
                </a:lnSpc>
              </a:pPr>
              <a:r>
                <a:rPr lang="en-US" b="true" sz="14077" spc="-563">
                  <a:solidFill>
                    <a:srgbClr val="000000">
                      <a:alpha val="9804"/>
                    </a:srgbClr>
                  </a:solidFill>
                  <a:latin typeface="Times New Roman Bold"/>
                  <a:ea typeface="Times New Roman Bold"/>
                  <a:cs typeface="Times New Roman Bold"/>
                  <a:sym typeface="Times New Roman Bold"/>
                </a:rPr>
                <a:t>tokentrust</a:t>
              </a:r>
            </a:p>
          </p:txBody>
        </p:sp>
      </p:grpSp>
      <p:sp>
        <p:nvSpPr>
          <p:cNvPr name="TextBox 7" id="7"/>
          <p:cNvSpPr txBox="true"/>
          <p:nvPr/>
        </p:nvSpPr>
        <p:spPr>
          <a:xfrm rot="0">
            <a:off x="1028700" y="5162550"/>
            <a:ext cx="16230600" cy="3622040"/>
          </a:xfrm>
          <a:prstGeom prst="rect">
            <a:avLst/>
          </a:prstGeom>
        </p:spPr>
        <p:txBody>
          <a:bodyPr anchor="t" rtlCol="false" tIns="0" lIns="0" bIns="0" rIns="0">
            <a:spAutoFit/>
          </a:bodyPr>
          <a:lstStyle/>
          <a:p>
            <a:pPr algn="l">
              <a:lnSpc>
                <a:spcPts val="1599"/>
              </a:lnSpc>
              <a:spcBef>
                <a:spcPct val="0"/>
              </a:spcBef>
            </a:pPr>
            <a:r>
              <a:rPr lang="en-US" sz="1599" spc="-47">
                <a:solidFill>
                  <a:srgbClr val="000000"/>
                </a:solidFill>
                <a:latin typeface="Times New Roman"/>
                <a:ea typeface="Times New Roman"/>
                <a:cs typeface="Times New Roman"/>
                <a:sym typeface="Times New Roman"/>
              </a:rPr>
              <a:t>Cisco. (2024). New Cisco survey shows strong relationship between privacy awareness and trust in AI. Cisco Investor Relations. https://investor.cisco.com/news/news-det</a:t>
            </a:r>
            <a:r>
              <a:rPr lang="en-US" sz="1599" spc="-47">
                <a:solidFill>
                  <a:srgbClr val="000000"/>
                </a:solidFill>
                <a:latin typeface="Times New Roman"/>
                <a:ea typeface="Times New Roman"/>
                <a:cs typeface="Times New Roman"/>
                <a:sym typeface="Times New Roman"/>
              </a:rPr>
              <a:t>ails/2024/New-Cisco-Survey-Shows-Strong-Relationship-Between-Privacy-Awareness-and-Trust-in-AI/default.aspx</a:t>
            </a:r>
          </a:p>
          <a:p>
            <a:pPr algn="l">
              <a:lnSpc>
                <a:spcPts val="1599"/>
              </a:lnSpc>
              <a:spcBef>
                <a:spcPct val="0"/>
              </a:spcBef>
            </a:pPr>
          </a:p>
          <a:p>
            <a:pPr algn="l">
              <a:lnSpc>
                <a:spcPts val="1599"/>
              </a:lnSpc>
              <a:spcBef>
                <a:spcPct val="0"/>
              </a:spcBef>
            </a:pPr>
            <a:r>
              <a:rPr lang="en-US" sz="1599" spc="-47">
                <a:solidFill>
                  <a:srgbClr val="000000"/>
                </a:solidFill>
                <a:latin typeface="Times New Roman"/>
                <a:ea typeface="Times New Roman"/>
                <a:cs typeface="Times New Roman"/>
                <a:sym typeface="Times New Roman"/>
              </a:rPr>
              <a:t>European Parliament &amp; Council of the European Union. (2024). Regulation (EU) 2024/1689 of the European Parliament and of the Council of 13 June 2024 laying down harmonised rules on artificial intelligence (Artificial Intelligence Act). Official Journal of the European Union, L 2024/1689. https://eur-lex.europa.eu/legal-content/EN/TXT/?uri=CELEX:32024R1689</a:t>
            </a:r>
          </a:p>
          <a:p>
            <a:pPr algn="l">
              <a:lnSpc>
                <a:spcPts val="1599"/>
              </a:lnSpc>
              <a:spcBef>
                <a:spcPct val="0"/>
              </a:spcBef>
            </a:pPr>
          </a:p>
          <a:p>
            <a:pPr algn="l">
              <a:lnSpc>
                <a:spcPts val="1599"/>
              </a:lnSpc>
              <a:spcBef>
                <a:spcPct val="0"/>
              </a:spcBef>
            </a:pPr>
            <a:r>
              <a:rPr lang="en-US" sz="1599" spc="-47">
                <a:solidFill>
                  <a:srgbClr val="000000"/>
                </a:solidFill>
                <a:latin typeface="Times New Roman"/>
                <a:ea typeface="Times New Roman"/>
                <a:cs typeface="Times New Roman"/>
                <a:sym typeface="Times New Roman"/>
              </a:rPr>
              <a:t>European Parliament &amp; Council of the European Union. (2016). Regulation (EU) 2016/679 of the European Parliament and of the Council of 27 April 2016 on the protection of natural persons with regard to the processing of personal data and on the free movement of such data (General Data Protection Regulation). Official Journal of the European Union, L 119, 1– 88. https://eur-lex.europa.eu/eli/reg/2016/679/oj</a:t>
            </a:r>
          </a:p>
          <a:p>
            <a:pPr algn="l">
              <a:lnSpc>
                <a:spcPts val="1599"/>
              </a:lnSpc>
              <a:spcBef>
                <a:spcPct val="0"/>
              </a:spcBef>
            </a:pPr>
          </a:p>
          <a:p>
            <a:pPr algn="l">
              <a:lnSpc>
                <a:spcPts val="1599"/>
              </a:lnSpc>
              <a:spcBef>
                <a:spcPct val="0"/>
              </a:spcBef>
            </a:pPr>
            <a:r>
              <a:rPr lang="en-US" sz="1599" spc="-47">
                <a:solidFill>
                  <a:srgbClr val="000000"/>
                </a:solidFill>
                <a:latin typeface="Times New Roman"/>
                <a:ea typeface="Times New Roman"/>
                <a:cs typeface="Times New Roman"/>
                <a:sym typeface="Times New Roman"/>
              </a:rPr>
              <a:t>Kyndryl. (2026, March 10). [Press release]. PR Newswire. https://www.prnewswire.com</a:t>
            </a:r>
          </a:p>
          <a:p>
            <a:pPr algn="l">
              <a:lnSpc>
                <a:spcPts val="1599"/>
              </a:lnSpc>
              <a:spcBef>
                <a:spcPct val="0"/>
              </a:spcBef>
            </a:pPr>
          </a:p>
          <a:p>
            <a:pPr algn="l">
              <a:lnSpc>
                <a:spcPts val="1599"/>
              </a:lnSpc>
              <a:spcBef>
                <a:spcPct val="0"/>
              </a:spcBef>
            </a:pPr>
            <a:r>
              <a:rPr lang="en-US" sz="1599" spc="-47">
                <a:solidFill>
                  <a:srgbClr val="000000"/>
                </a:solidFill>
                <a:latin typeface="Times New Roman"/>
                <a:ea typeface="Times New Roman"/>
                <a:cs typeface="Times New Roman"/>
                <a:sym typeface="Times New Roman"/>
              </a:rPr>
              <a:t>MarkNtel Advisors. (2026, March 16). [Press release]. PR Newswire. https://www.prnewswire.com</a:t>
            </a:r>
          </a:p>
          <a:p>
            <a:pPr algn="l">
              <a:lnSpc>
                <a:spcPts val="1599"/>
              </a:lnSpc>
              <a:spcBef>
                <a:spcPct val="0"/>
              </a:spcBef>
            </a:pPr>
          </a:p>
          <a:p>
            <a:pPr algn="l">
              <a:lnSpc>
                <a:spcPts val="1599"/>
              </a:lnSpc>
              <a:spcBef>
                <a:spcPct val="0"/>
              </a:spcBef>
            </a:pPr>
            <a:r>
              <a:rPr lang="en-US" sz="1599" spc="-47">
                <a:solidFill>
                  <a:srgbClr val="000000"/>
                </a:solidFill>
                <a:latin typeface="Times New Roman"/>
                <a:ea typeface="Times New Roman"/>
                <a:cs typeface="Times New Roman"/>
                <a:sym typeface="Times New Roman"/>
              </a:rPr>
              <a:t>National Institute of Standards and Technology. (2023, January 26). Artificial intelligence risk management framework (AI RMF 1.0) (NIST AI 100-1). U.S. Department of Commerce. https://nvlpubs.nist.gov/nistpubs/ai/NIST.AI.100-1.pdf</a:t>
            </a:r>
          </a:p>
          <a:p>
            <a:pPr algn="l">
              <a:lnSpc>
                <a:spcPts val="1599"/>
              </a:lnSpc>
              <a:spcBef>
                <a:spcPct val="0"/>
              </a:spcBef>
            </a:pPr>
          </a:p>
          <a:p>
            <a:pPr algn="l">
              <a:lnSpc>
                <a:spcPts val="1599"/>
              </a:lnSpc>
            </a:pPr>
            <a:r>
              <a:rPr lang="en-US" sz="1599" spc="-47">
                <a:solidFill>
                  <a:srgbClr val="000000"/>
                </a:solidFill>
                <a:latin typeface="Times New Roman"/>
                <a:ea typeface="Times New Roman"/>
                <a:cs typeface="Times New Roman"/>
                <a:sym typeface="Times New Roman"/>
              </a:rPr>
              <a:t>Organisation for Economic Co-operation and Development. (n.d.). AI, data governance and privacy: Synergies and areas of international co-operation. OECD Artificial Intelligence Papers, No. 22. https://www.oecd.org/en/publications/ai-data-governance-and-privacy_2476b1a4-en.html</a:t>
            </a:r>
          </a:p>
        </p:txBody>
      </p:sp>
      <p:sp>
        <p:nvSpPr>
          <p:cNvPr name="TextBox 8" id="8"/>
          <p:cNvSpPr txBox="true"/>
          <p:nvPr/>
        </p:nvSpPr>
        <p:spPr>
          <a:xfrm rot="0">
            <a:off x="1028700" y="4069559"/>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Reference</a:t>
            </a:r>
          </a:p>
        </p:txBody>
      </p:sp>
      <p:sp>
        <p:nvSpPr>
          <p:cNvPr name="TextBox 9" id="9"/>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11" id="11"/>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Works Cited</a:t>
            </a:r>
          </a:p>
        </p:txBody>
      </p:sp>
      <p:sp>
        <p:nvSpPr>
          <p:cNvPr name="TextBox 12" id="12"/>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DAHEQfPa1i8</dc:identifier>
  <dcterms:modified xsi:type="dcterms:W3CDTF">2011-08-01T06:04:30Z</dcterms:modified>
  <cp:revision>1</cp:revision>
  <dc:title>tokentrust*report</dc:title>
</cp:coreProperties>
</file>
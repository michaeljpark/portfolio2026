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x="18288000" cy="10287000"/>
  <p:notesSz cx="6858000" cy="9144000"/>
  <p:embeddedFontLst>
    <p:embeddedFont>
      <p:font typeface="Helvetica World" charset="1" panose="020B0500040000020004"/>
      <p:regular r:id="rId82"/>
    </p:embeddedFont>
    <p:embeddedFont>
      <p:font typeface="Helvetica World Italics" charset="1" panose="020B0500040000090004"/>
      <p:regular r:id="rId83"/>
    </p:embeddedFont>
    <p:embeddedFont>
      <p:font typeface="Helvetica World Bold" charset="1" panose="020B0800040000020004"/>
      <p:regular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tatista.com/topics/846/amazon/" TargetMode="External" Type="http://schemas.openxmlformats.org/officeDocument/2006/relationships/hyperlink"/><Relationship Id="rId3" Target="https://www.statista.com/topics/846/amazon/" TargetMode="External" Type="http://schemas.openxmlformats.org/officeDocument/2006/relationships/hyperlink"/><Relationship Id="rId4" Target="https://www.statista.com/topics/846/amazon/" TargetMode="External" Type="http://schemas.openxmlformats.org/officeDocument/2006/relationships/hyperlink"/><Relationship Id="rId5" Target="https://aws.amazon.com/blogs/apn/say-hello-to-103-new-aws-competency-service-delivery-service-ready-and-msp-partners-added-in-february/" TargetMode="External" Type="http://schemas.openxmlformats.org/officeDocument/2006/relationships/hyperlink"/><Relationship Id="rId6" Target="https://www.statista.com/statistics/259782/third-party-seller-share-of-amazon-platform/" TargetMode="External" Type="http://schemas.openxmlformats.org/officeDocument/2006/relationships/hyperlink"/><Relationship Id="rId7" Target="https://www.statista.com/statistics/259782/third-party-seller-share-of-amazon-platform/" TargetMode="External" Type="http://schemas.openxmlformats.org/officeDocument/2006/relationships/hyperlink"/><Relationship Id="rId8" Target="https://www.statista.com/statistics/259782/third-party-seller-share-of-amazon-platform/" TargetMode="External" Type="http://schemas.openxmlformats.org/officeDocument/2006/relationships/hyperlink"/><Relationship Id="rId9"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rgresearch.com/articles/cloud-market-share-trends-big-three-together-hold-63-while-oracle-and-the-neoclouds-inch-higher" TargetMode="External" Type="http://schemas.openxmlformats.org/officeDocument/2006/relationships/hyperlink"/><Relationship Id="rId3" Target="https://www.srgresearch.com/articles/cloud-market-share-trends-big-three-together-hold-63-while-oracle-and-the-neoclouds-inch-higher" TargetMode="External" Type="http://schemas.openxmlformats.org/officeDocument/2006/relationships/hyperlink"/><Relationship Id="rId4" Target="https://www.srgresearch.com/articles/cloud-market-share-trends-big-three-together-hold-63-while-oracle-and-the-neoclouds-inch-higher" TargetMode="External" Type="http://schemas.openxmlformats.org/officeDocument/2006/relationships/hyperlink"/><Relationship Id="rId5" Target="https://www.srgresearch.com/articles/cloud-market-share-trends-big-three-together-hold-63-while-oracle-and-the-neoclouds-inch-higher"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rgresearch.com/articles/cloud-market-share-trends-big-three-together-hold-63-while-oracle-and-the-neoclouds-inch-higher" TargetMode="External" Type="http://schemas.openxmlformats.org/officeDocument/2006/relationships/hyperlink"/><Relationship Id="rId3" Target="https://www.srgresearch.com/articles/cloud-market-share-trends-big-three-together-hold-63-while-oracle-and-the-neoclouds-inch-higher" TargetMode="External" Type="http://schemas.openxmlformats.org/officeDocument/2006/relationships/hyperlink"/><Relationship Id="rId4" Target="https://www.srgresearch.com/articles/cloud-market-share-trends-big-three-together-hold-63-while-oracle-and-the-neoclouds-inch-higher" TargetMode="External" Type="http://schemas.openxmlformats.org/officeDocument/2006/relationships/hyperlink"/><Relationship Id="rId5" Target="https://www.srgresearch.com/articles/cloud-market-share-trends-big-three-together-hold-63-while-oracle-and-the-neoclouds-inch-higher"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rgresearch.com/articles/cloud-market-share-trends-big-three-together-hold-63-while-oracle-and-the-neoclouds-inch-higher" TargetMode="External" Type="http://schemas.openxmlformats.org/officeDocument/2006/relationships/hyperlink"/><Relationship Id="rId3" Target="https://www.srgresearch.com/articles/cloud-market-share-trends-big-three-together-hold-63-while-oracle-and-the-neoclouds-inch-higher" TargetMode="External" Type="http://schemas.openxmlformats.org/officeDocument/2006/relationships/hyperlink"/><Relationship Id="rId4" Target="https://www.srgresearch.com/articles/cloud-market-share-trends-big-three-together-hold-63-while-oracle-and-the-neoclouds-inch-higher" TargetMode="External" Type="http://schemas.openxmlformats.org/officeDocument/2006/relationships/hyperlink"/><Relationship Id="rId5" Target="https://aws.amazon.com/blogs/apn/say-hello-to-103-new-aws-competency-service-delivery-service-ready-and-msp-partners-added-in-february/" TargetMode="External" Type="http://schemas.openxmlformats.org/officeDocument/2006/relationships/hyperlink"/><Relationship Id="rId6" Target="https://aws.amazon.com/blogs/apn/say-hello-to-103-new-aws-competency-service-delivery-service-ready-and-msp-partners-added-in-february/" TargetMode="External" Type="http://schemas.openxmlformats.org/officeDocument/2006/relationships/hyperlink"/><Relationship Id="rId7" Target="https://aws.amazon.com/blogs/apn/say-hello-to-103-new-aws-competency-service-delivery-service-ready-and-msp-partners-added-in-february/" TargetMode="External" Type="http://schemas.openxmlformats.org/officeDocument/2006/relationships/hyperlink"/><Relationship Id="rId8" Target="../media/image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3.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3.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rgresearch.com/articles/cloud-market-share-trends-big-three-together-hold-63-while-oracle-and-the-neoclouds-inch-higher" TargetMode="External" Type="http://schemas.openxmlformats.org/officeDocument/2006/relationships/hyperlink"/><Relationship Id="rId3" Target="https://www.srgresearch.com/articles/cloud-market-share-trends-big-three-together-hold-63-while-oracle-and-the-neoclouds-inch-higher" TargetMode="External" Type="http://schemas.openxmlformats.org/officeDocument/2006/relationships/hyperlink"/><Relationship Id="rId4" Target="https://www.srgresearch.com/articles/cloud-market-share-trends-big-three-together-hold-63-while-oracle-and-the-neoclouds-inch-higher" TargetMode="External" Type="http://schemas.openxmlformats.org/officeDocument/2006/relationships/hyperlink"/><Relationship Id="rId5" Target="https://www.srgresearch.com/articles/cloud-market-share-trends-big-three-together-hold-63-while-oracle-and-the-neoclouds-inch-higher" TargetMode="External" Type="http://schemas.openxmlformats.org/officeDocument/2006/relationships/hyperlink"/></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rgresearch.com/articles/cloud-market-share-trends-big-three-together-hold-63-while-oracle-and-the-neoclouds-inch-higher" TargetMode="External" Type="http://schemas.openxmlformats.org/officeDocument/2006/relationships/hyperlink"/><Relationship Id="rId3" Target="https://www.srgresearch.com/articles/cloud-market-share-trends-big-three-together-hold-63-while-oracle-and-the-neoclouds-inch-higher" TargetMode="External" Type="http://schemas.openxmlformats.org/officeDocument/2006/relationships/hyperlink"/><Relationship Id="rId4" Target="https://www.srgresearch.com/articles/cloud-market-share-trends-big-three-together-hold-63-while-oracle-and-the-neoclouds-inch-higher" TargetMode="External" Type="http://schemas.openxmlformats.org/officeDocument/2006/relationships/hyperlink"/><Relationship Id="rId5" Target="https://www.srgresearch.com/articles/cloud-market-share-trends-big-three-together-hold-63-while-oracle-and-the-neoclouds-inch-higher" TargetMode="External" Type="http://schemas.openxmlformats.org/officeDocument/2006/relationships/hyperlink"/></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2" Target="https://www.statista.com/topics/7527/video-streaming-worldwide/" TargetMode="External" Type="http://schemas.openxmlformats.org/officeDocument/2006/relationships/hyperlink"/><Relationship Id="rId3" Target="https://www.statista.com/topics/7527/video-streaming-worldwide/" TargetMode="External" Type="http://schemas.openxmlformats.org/officeDocument/2006/relationships/hyperlink"/><Relationship Id="rId4" Target="https://www.statista.com/topics/7527/video-streaming-worldwide/" TargetMode="External" Type="http://schemas.openxmlformats.org/officeDocument/2006/relationships/hyperlink"/><Relationship Id="rId5" Target="https://aws.amazon.com/blogs/apn/say-hello-to-103-new-aws-competency-service-delivery-service-ready-and-msp-partners-added-in-february/" TargetMode="External" Type="http://schemas.openxmlformats.org/officeDocument/2006/relationships/hyperlink"/><Relationship Id="rId6" Target="https://aws.amazon.com/blogs/apn/say-hello-to-103-new-aws-competency-service-delivery-service-ready-and-msp-partners-added-in-february/" TargetMode="External" Type="http://schemas.openxmlformats.org/officeDocument/2006/relationships/hyperlink"/><Relationship Id="rId7" Target="https://www.statista.com/topics/7527/video-streaming-worldwide/" TargetMode="External" Type="http://schemas.openxmlformats.org/officeDocument/2006/relationships/hyperlink"/><Relationship Id="rId8" Target="https://www.statista.com/topics/7527/video-streaming-worldwide/" TargetMode="External" Type="http://schemas.openxmlformats.org/officeDocument/2006/relationships/hyperlink"/><Relationship Id="rId9" Target="https://www.statista.com/topics/7527/video-streaming-worldwide/" TargetMode="External" Type="http://schemas.openxmlformats.org/officeDocument/2006/relationships/hyperlink"/></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4.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4.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4.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4.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rgresearch.com/articles/cloud-market-share-trends-big-three-together-hold-63-while-oracle-and-the-neoclouds-inch-higher" TargetMode="External" Type="http://schemas.openxmlformats.org/officeDocument/2006/relationships/hyperlink"/><Relationship Id="rId3" Target="https://www.srgresearch.com/articles/cloud-market-share-trends-big-three-together-hold-63-while-oracle-and-the-neoclouds-inch-higher" TargetMode="External" Type="http://schemas.openxmlformats.org/officeDocument/2006/relationships/hyperlink"/><Relationship Id="rId4" Target="https://www.srgresearch.com/articles/cloud-market-share-trends-big-three-together-hold-63-while-oracle-and-the-neoclouds-inch-higher" TargetMode="External" Type="http://schemas.openxmlformats.org/officeDocument/2006/relationships/hyperlink"/><Relationship Id="rId5" Target="https://www.srgresearch.com/articles/cloud-market-share-trends-big-three-together-hold-63-while-oracle-and-the-neoclouds-inch-higher" TargetMode="External" Type="http://schemas.openxmlformats.org/officeDocument/2006/relationships/hyperlink"/></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rgresearch.com/articles/cloud-market-share-trends-big-three-together-hold-63-while-oracle-and-the-neoclouds-inch-higher" TargetMode="External" Type="http://schemas.openxmlformats.org/officeDocument/2006/relationships/hyperlink"/><Relationship Id="rId3" Target="https://www.srgresearch.com/articles/cloud-market-share-trends-big-three-together-hold-63-while-oracle-and-the-neoclouds-inch-higher" TargetMode="External" Type="http://schemas.openxmlformats.org/officeDocument/2006/relationships/hyperlink"/><Relationship Id="rId4" Target="https://www.srgresearch.com/articles/cloud-market-share-trends-big-three-together-hold-63-while-oracle-and-the-neoclouds-inch-higher" TargetMode="External" Type="http://schemas.openxmlformats.org/officeDocument/2006/relationships/hyperlink"/><Relationship Id="rId5" Target="https://www.srgresearch.com/articles/cloud-market-share-trends-big-three-together-hold-63-while-oracle-and-the-neoclouds-inch-higher" TargetMode="External" Type="http://schemas.openxmlformats.org/officeDocument/2006/relationships/hyperlink"/></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png" Type="http://schemas.openxmlformats.org/officeDocument/2006/relationships/image"/><Relationship Id="rId4" Target="../media/image3.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png" Type="http://schemas.openxmlformats.org/officeDocument/2006/relationships/image"/><Relationship Id="rId4" Target="../media/image3.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aboutamazon.com/news/aws/aws-re-invent-2025-ai-news-updates" TargetMode="External" Type="http://schemas.openxmlformats.org/officeDocument/2006/relationships/hyperlink"/><Relationship Id="rId11" Target="https://aws.amazon.com/blogs/apn/say-hello-to-103-new-aws-competency-service-delivery-service-ready-and-msp-partners-added-in-february/" TargetMode="External" Type="http://schemas.openxmlformats.org/officeDocument/2006/relationships/hyperlink"/><Relationship Id="rId12" Target="https://www.statista.com/topics/846/amazon/" TargetMode="External" Type="http://schemas.openxmlformats.org/officeDocument/2006/relationships/hyperlink"/><Relationship Id="rId13" Target="https://www.statista.com/statistics/259782/third-party-seller-share-of-amazon-platform/" TargetMode="External" Type="http://schemas.openxmlformats.org/officeDocument/2006/relationships/hyperlink"/><Relationship Id="rId14" Target="https://www.nielsen.com/insights/2025/the-gauge/" TargetMode="External" Type="http://schemas.openxmlformats.org/officeDocument/2006/relationships/hyperlink"/><Relationship Id="rId15" Target="https://www.spglobal.com/marketintelligence/" TargetMode="External" Type="http://schemas.openxmlformats.org/officeDocument/2006/relationships/hyperlink"/><Relationship Id="rId16" Target="https://www.statista.com/statistics/" TargetMode="External" Type="http://schemas.openxmlformats.org/officeDocument/2006/relationships/hyperlink"/><Relationship Id="rId17" Target="https://www.statista.com/topics/7527/video-streaming-worldwide/" TargetMode="External" Type="http://schemas.openxmlformats.org/officeDocument/2006/relationships/hyperlink"/><Relationship Id="rId18" Target="https://www.srgresearch.com/articles/cloud-market-share-trends-big-three-together-hold-63-while-oracle-and-the-neoclouds-inch-higher" TargetMode="External" Type="http://schemas.openxmlformats.org/officeDocument/2006/relationships/hyperlink"/><Relationship Id="rId19" Target="https://www.fool.com/earnings/call-transcripts/2026/02/05/amazon-amzn-q4-2025-earnings-call-transcript/" TargetMode="External" Type="http://schemas.openxmlformats.org/officeDocument/2006/relationships/hyperlink"/><Relationship Id="rId2" Target="https://sustainability.aboutamazon.com" TargetMode="External" Type="http://schemas.openxmlformats.org/officeDocument/2006/relationships/hyperlink"/><Relationship Id="rId20" Target="https://variety.com" TargetMode="External" Type="http://schemas.openxmlformats.org/officeDocument/2006/relationships/hyperlink"/><Relationship Id="rId21" Target="https://variety.com" TargetMode="External" Type="http://schemas.openxmlformats.org/officeDocument/2006/relationships/hyperlink"/><Relationship Id="rId3" Target="https://ir.aboutamazon.com/news-release/news-release-details/2025/Amazon.com-Announces-First-Quarter-Results/" TargetMode="External" Type="http://schemas.openxmlformats.org/officeDocument/2006/relationships/hyperlink"/><Relationship Id="rId4" Target="https://ir.aboutamazon.com/news-release/news-release-details/2025/Amazon.com-Announces-Second-Quarter-Results/" TargetMode="External" Type="http://schemas.openxmlformats.org/officeDocument/2006/relationships/hyperlink"/><Relationship Id="rId5" Target="https://ir.aboutamazon.com/news-release/news-release-details/2025/Amazon.com-Announces-Third-Quarter-Results/" TargetMode="External" Type="http://schemas.openxmlformats.org/officeDocument/2006/relationships/hyperlink"/><Relationship Id="rId6" Target="https://ir.aboutamazon.com/news-release/news-release-details/2026/Amazon.com-Announces-Fourth-Quarter-Results/" TargetMode="External" Type="http://schemas.openxmlformats.org/officeDocument/2006/relationships/hyperlink"/><Relationship Id="rId7" Target="https://www.sec.gov/edgar/" TargetMode="External" Type="http://schemas.openxmlformats.org/officeDocument/2006/relationships/hyperlink"/><Relationship Id="rId8" Target="https://www.aboutamazon.com/news/aws/trainium-3-ultraserver-faster-ai-training-lower-cost" TargetMode="External" Type="http://schemas.openxmlformats.org/officeDocument/2006/relationships/hyperlink"/><Relationship Id="rId9" Target="https://www.aboutamazon.com/news/aws/aws-graviton-5-cpu-amazon-ec2"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265229"/>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11264318" y="7963754"/>
            <a:ext cx="5994982" cy="490855"/>
          </a:xfrm>
          <a:prstGeom prst="rect">
            <a:avLst/>
          </a:prstGeom>
        </p:spPr>
        <p:txBody>
          <a:bodyPr anchor="t" rtlCol="false" tIns="0" lIns="0" bIns="0" rIns="0">
            <a:spAutoFit/>
          </a:bodyPr>
          <a:lstStyle/>
          <a:p>
            <a:pPr algn="r">
              <a:lnSpc>
                <a:spcPts val="3919"/>
              </a:lnSpc>
            </a:pPr>
            <a:r>
              <a:rPr lang="en-US" sz="2799" spc="-27">
                <a:solidFill>
                  <a:srgbClr val="FFFFFF"/>
                </a:solidFill>
                <a:latin typeface="Helvetica World"/>
                <a:ea typeface="Helvetica World"/>
                <a:cs typeface="Helvetica World"/>
                <a:sym typeface="Helvetica World"/>
              </a:rPr>
              <a:t>I                               Group 5</a:t>
            </a:r>
          </a:p>
        </p:txBody>
      </p:sp>
      <p:sp>
        <p:nvSpPr>
          <p:cNvPr name="TextBox 4" id="4"/>
          <p:cNvSpPr txBox="true"/>
          <p:nvPr/>
        </p:nvSpPr>
        <p:spPr>
          <a:xfrm rot="0">
            <a:off x="1019175" y="2183924"/>
            <a:ext cx="8430102" cy="1466215"/>
          </a:xfrm>
          <a:prstGeom prst="rect">
            <a:avLst/>
          </a:prstGeom>
        </p:spPr>
        <p:txBody>
          <a:bodyPr anchor="t" rtlCol="false" tIns="0" lIns="0" bIns="0" rIns="0">
            <a:spAutoFit/>
          </a:bodyPr>
          <a:lstStyle/>
          <a:p>
            <a:pPr algn="l">
              <a:lnSpc>
                <a:spcPts val="5600"/>
              </a:lnSpc>
            </a:pPr>
            <a:r>
              <a:rPr lang="en-US" sz="5600" spc="-84">
                <a:solidFill>
                  <a:srgbClr val="FFFFFF"/>
                </a:solidFill>
                <a:latin typeface="Helvetica World"/>
                <a:ea typeface="Helvetica World"/>
                <a:cs typeface="Helvetica World"/>
                <a:sym typeface="Helvetica World"/>
              </a:rPr>
              <a:t>Redesigning Con</a:t>
            </a:r>
            <a:r>
              <a:rPr lang="en-US" sz="5600" spc="-84">
                <a:solidFill>
                  <a:srgbClr val="FFFFFF"/>
                </a:solidFill>
                <a:latin typeface="Helvetica World"/>
                <a:ea typeface="Helvetica World"/>
                <a:cs typeface="Helvetica World"/>
                <a:sym typeface="Helvetica World"/>
              </a:rPr>
              <a:t>venience:</a:t>
            </a:r>
          </a:p>
          <a:p>
            <a:pPr algn="l">
              <a:lnSpc>
                <a:spcPts val="5600"/>
              </a:lnSpc>
            </a:pPr>
            <a:r>
              <a:rPr lang="en-US" sz="5600" spc="-84">
                <a:solidFill>
                  <a:srgbClr val="FFFFFF"/>
                </a:solidFill>
                <a:latin typeface="Helvetica World"/>
                <a:ea typeface="Helvetica World"/>
                <a:cs typeface="Helvetica World"/>
                <a:sym typeface="Helvetica World"/>
              </a:rPr>
              <a:t>A Social Responsibility </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solidFill>
                  <a:latin typeface="Helvetica World"/>
                  <a:ea typeface="Helvetica World"/>
                  <a:cs typeface="Helvetica World"/>
                  <a:sym typeface="Helvetica World"/>
                </a:rPr>
                <a:t>February 9th, 2026 </a:t>
              </a:r>
            </a:p>
          </p:txBody>
        </p:sp>
      </p:grpSp>
      <p:sp>
        <p:nvSpPr>
          <p:cNvPr name="TextBox 8" id="8"/>
          <p:cNvSpPr txBox="true"/>
          <p:nvPr/>
        </p:nvSpPr>
        <p:spPr>
          <a:xfrm rot="0">
            <a:off x="1019175" y="7963754"/>
            <a:ext cx="4885879" cy="490855"/>
          </a:xfrm>
          <a:prstGeom prst="rect">
            <a:avLst/>
          </a:prstGeom>
        </p:spPr>
        <p:txBody>
          <a:bodyPr anchor="t" rtlCol="false" tIns="0" lIns="0" bIns="0" rIns="0">
            <a:spAutoFit/>
          </a:bodyPr>
          <a:lstStyle/>
          <a:p>
            <a:pPr algn="l">
              <a:lnSpc>
                <a:spcPts val="3919"/>
              </a:lnSpc>
            </a:pPr>
            <a:r>
              <a:rPr lang="en-US" sz="2799" spc="-27">
                <a:solidFill>
                  <a:srgbClr val="FFFFFF"/>
                </a:solidFill>
                <a:latin typeface="Helvetica World"/>
                <a:ea typeface="Helvetica World"/>
                <a:cs typeface="Helvetica World"/>
                <a:sym typeface="Helvetica World"/>
              </a:rPr>
              <a:t>Amazon |</a:t>
            </a:r>
            <a:r>
              <a:rPr lang="en-US" sz="2799" spc="-27">
                <a:solidFill>
                  <a:srgbClr val="FFFFFF"/>
                </a:solidFill>
                <a:latin typeface="Helvetica World"/>
                <a:ea typeface="Helvetica World"/>
                <a:cs typeface="Helvetica World"/>
                <a:sym typeface="Helvetica World"/>
              </a:rPr>
              <a:t> Design Audit Report 1</a:t>
            </a:r>
          </a:p>
        </p:txBody>
      </p:sp>
      <p:sp>
        <p:nvSpPr>
          <p:cNvPr name="TextBox 9" id="9"/>
          <p:cNvSpPr txBox="true"/>
          <p:nvPr/>
        </p:nvSpPr>
        <p:spPr>
          <a:xfrm rot="0">
            <a:off x="7430156" y="2079149"/>
            <a:ext cx="9829144" cy="561975"/>
          </a:xfrm>
          <a:prstGeom prst="rect">
            <a:avLst/>
          </a:prstGeom>
        </p:spPr>
        <p:txBody>
          <a:bodyPr anchor="t" rtlCol="false" tIns="0" lIns="0" bIns="0" rIns="0">
            <a:spAutoFit/>
          </a:bodyPr>
          <a:lstStyle/>
          <a:p>
            <a:pPr algn="r">
              <a:lnSpc>
                <a:spcPts val="4320"/>
              </a:lnSpc>
              <a:spcBef>
                <a:spcPct val="0"/>
              </a:spcBef>
            </a:pPr>
            <a:r>
              <a:rPr lang="en-US" sz="3600" spc="-53">
                <a:solidFill>
                  <a:srgbClr val="FFFFFF"/>
                </a:solidFill>
                <a:latin typeface="Helvetica World"/>
                <a:ea typeface="Helvetica World"/>
                <a:cs typeface="Helvetica World"/>
                <a:sym typeface="Helvetica World"/>
              </a:rPr>
              <a:t>Framework for Amazon</a:t>
            </a:r>
          </a:p>
        </p:txBody>
      </p:sp>
      <p:sp>
        <p:nvSpPr>
          <p:cNvPr name="TextBox 10" id="10"/>
          <p:cNvSpPr txBox="true"/>
          <p:nvPr/>
        </p:nvSpPr>
        <p:spPr>
          <a:xfrm rot="0">
            <a:off x="5846134" y="8534400"/>
            <a:ext cx="2322792" cy="723900"/>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Jaehong Hwang</a:t>
            </a:r>
          </a:p>
          <a:p>
            <a:pPr algn="l">
              <a:lnSpc>
                <a:spcPts val="1919"/>
              </a:lnSpc>
            </a:pPr>
            <a:r>
              <a:rPr lang="en-US" sz="1599" spc="-15">
                <a:solidFill>
                  <a:srgbClr val="FFFFFF">
                    <a:alpha val="49804"/>
                  </a:srgbClr>
                </a:solidFill>
                <a:latin typeface="Helvetica World"/>
                <a:ea typeface="Helvetica World"/>
                <a:cs typeface="Helvetica World"/>
                <a:sym typeface="Helvetica World"/>
              </a:rPr>
              <a:t>[Research]</a:t>
            </a:r>
          </a:p>
          <a:p>
            <a:pPr algn="l">
              <a:lnSpc>
                <a:spcPts val="1919"/>
              </a:lnSpc>
            </a:pPr>
            <a:r>
              <a:rPr lang="en-US" sz="1599" spc="-15" u="sng">
                <a:solidFill>
                  <a:srgbClr val="FFFFFF">
                    <a:alpha val="49804"/>
                  </a:srgbClr>
                </a:solidFill>
                <a:latin typeface="Helvetica World"/>
                <a:ea typeface="Helvetica World"/>
                <a:cs typeface="Helvetica World"/>
                <a:sym typeface="Helvetica World"/>
              </a:rPr>
              <a:t>jaehonghwang@ocadu.ca</a:t>
            </a:r>
          </a:p>
        </p:txBody>
      </p:sp>
      <p:sp>
        <p:nvSpPr>
          <p:cNvPr name="TextBox 11" id="11"/>
          <p:cNvSpPr txBox="true"/>
          <p:nvPr/>
        </p:nvSpPr>
        <p:spPr>
          <a:xfrm rot="0">
            <a:off x="1028700" y="8534400"/>
            <a:ext cx="2340721" cy="723900"/>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Michael Joongmin Park</a:t>
            </a:r>
          </a:p>
          <a:p>
            <a:pPr algn="l">
              <a:lnSpc>
                <a:spcPts val="1919"/>
              </a:lnSpc>
            </a:pPr>
            <a:r>
              <a:rPr lang="en-US" sz="1599" spc="-15">
                <a:solidFill>
                  <a:srgbClr val="FFFFFF">
                    <a:alpha val="49804"/>
                  </a:srgbClr>
                </a:solidFill>
                <a:latin typeface="Helvetica World"/>
                <a:ea typeface="Helvetica World"/>
                <a:cs typeface="Helvetica World"/>
                <a:sym typeface="Helvetica World"/>
              </a:rPr>
              <a:t>[Team Lead/Data Analyst]</a:t>
            </a:r>
          </a:p>
          <a:p>
            <a:pPr algn="l">
              <a:lnSpc>
                <a:spcPts val="1919"/>
              </a:lnSpc>
            </a:pPr>
            <a:r>
              <a:rPr lang="en-US" sz="1599" spc="-15" u="sng">
                <a:solidFill>
                  <a:srgbClr val="FFFFFF">
                    <a:alpha val="49804"/>
                  </a:srgbClr>
                </a:solidFill>
                <a:latin typeface="Helvetica World"/>
                <a:ea typeface="Helvetica World"/>
                <a:cs typeface="Helvetica World"/>
                <a:sym typeface="Helvetica World"/>
              </a:rPr>
              <a:t>michael.park@ocadu.ca</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5" id="5"/>
          <p:cNvGrpSpPr/>
          <p:nvPr/>
        </p:nvGrpSpPr>
        <p:grpSpPr>
          <a:xfrm rot="0">
            <a:off x="1028700" y="9258300"/>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Table of Contents</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01</a:t>
              </a:r>
            </a:p>
          </p:txBody>
        </p:sp>
      </p:grpSp>
      <p:sp>
        <p:nvSpPr>
          <p:cNvPr name="AutoShape 8" id="8"/>
          <p:cNvSpPr/>
          <p:nvPr/>
        </p:nvSpPr>
        <p:spPr>
          <a:xfrm flipH="true">
            <a:off x="1028700" y="5500526"/>
            <a:ext cx="16230600" cy="0"/>
          </a:xfrm>
          <a:prstGeom prst="line">
            <a:avLst/>
          </a:prstGeom>
          <a:ln cap="rnd" w="19050">
            <a:solidFill>
              <a:srgbClr val="FFFFFF">
                <a:alpha val="29804"/>
              </a:srgbClr>
            </a:solidFill>
            <a:prstDash val="sysDash"/>
            <a:headEnd type="none" len="sm" w="sm"/>
            <a:tailEnd type="none" len="sm" w="sm"/>
          </a:ln>
        </p:spPr>
      </p:sp>
      <p:sp>
        <p:nvSpPr>
          <p:cNvPr name="AutoShape 9" id="9"/>
          <p:cNvSpPr/>
          <p:nvPr/>
        </p:nvSpPr>
        <p:spPr>
          <a:xfrm flipH="true">
            <a:off x="1028700" y="8225199"/>
            <a:ext cx="16230600" cy="0"/>
          </a:xfrm>
          <a:prstGeom prst="line">
            <a:avLst/>
          </a:prstGeom>
          <a:ln cap="rnd" w="19050">
            <a:solidFill>
              <a:srgbClr val="FFFFFF">
                <a:alpha val="29804"/>
              </a:srgbClr>
            </a:solidFill>
            <a:prstDash val="sysDash"/>
            <a:headEnd type="none" len="sm" w="sm"/>
            <a:tailEnd type="none" len="sm" w="sm"/>
          </a:ln>
        </p:spPr>
      </p:sp>
      <p:sp>
        <p:nvSpPr>
          <p:cNvPr name="AutoShape 10" id="10"/>
          <p:cNvSpPr/>
          <p:nvPr/>
        </p:nvSpPr>
        <p:spPr>
          <a:xfrm flipH="true">
            <a:off x="1028700" y="2421211"/>
            <a:ext cx="16230600" cy="0"/>
          </a:xfrm>
          <a:prstGeom prst="line">
            <a:avLst/>
          </a:prstGeom>
          <a:ln cap="rnd" w="19050">
            <a:solidFill>
              <a:srgbClr val="FFFFFF">
                <a:alpha val="29804"/>
              </a:srgbClr>
            </a:solidFill>
            <a:prstDash val="sysDash"/>
            <a:headEnd type="none" len="sm" w="sm"/>
            <a:tailEnd type="none" len="sm" w="sm"/>
          </a:ln>
        </p:spPr>
      </p:sp>
      <p:sp>
        <p:nvSpPr>
          <p:cNvPr name="TextBox 11" id="11"/>
          <p:cNvSpPr txBox="true"/>
          <p:nvPr/>
        </p:nvSpPr>
        <p:spPr>
          <a:xfrm rot="0">
            <a:off x="1028700" y="1409859"/>
            <a:ext cx="2634956" cy="523875"/>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Introduction</a:t>
            </a:r>
          </a:p>
        </p:txBody>
      </p:sp>
      <p:sp>
        <p:nvSpPr>
          <p:cNvPr name="TextBox 12" id="12"/>
          <p:cNvSpPr txBox="true"/>
          <p:nvPr/>
        </p:nvSpPr>
        <p:spPr>
          <a:xfrm rot="0">
            <a:off x="1028700" y="2028984"/>
            <a:ext cx="5221952" cy="273685"/>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Introductory Questions - About Brand</a:t>
            </a:r>
          </a:p>
        </p:txBody>
      </p:sp>
      <p:sp>
        <p:nvSpPr>
          <p:cNvPr name="TextBox 13" id="13"/>
          <p:cNvSpPr txBox="true"/>
          <p:nvPr/>
        </p:nvSpPr>
        <p:spPr>
          <a:xfrm rot="0">
            <a:off x="16238711" y="1409859"/>
            <a:ext cx="1020589" cy="523875"/>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02-07</a:t>
            </a:r>
          </a:p>
        </p:txBody>
      </p:sp>
      <p:sp>
        <p:nvSpPr>
          <p:cNvPr name="TextBox 14" id="14"/>
          <p:cNvSpPr txBox="true"/>
          <p:nvPr/>
        </p:nvSpPr>
        <p:spPr>
          <a:xfrm rot="0">
            <a:off x="1028700" y="2473077"/>
            <a:ext cx="7176864" cy="523875"/>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Service Component I - e-commerce Service</a:t>
            </a:r>
          </a:p>
        </p:txBody>
      </p:sp>
      <p:sp>
        <p:nvSpPr>
          <p:cNvPr name="TextBox 15" id="15"/>
          <p:cNvSpPr txBox="true"/>
          <p:nvPr/>
        </p:nvSpPr>
        <p:spPr>
          <a:xfrm rot="0">
            <a:off x="1028700" y="3442076"/>
            <a:ext cx="8067973" cy="523875"/>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Service Component II - Cloud Computing Service</a:t>
            </a:r>
          </a:p>
        </p:txBody>
      </p:sp>
      <p:sp>
        <p:nvSpPr>
          <p:cNvPr name="TextBox 16" id="16"/>
          <p:cNvSpPr txBox="true"/>
          <p:nvPr/>
        </p:nvSpPr>
        <p:spPr>
          <a:xfrm rot="0">
            <a:off x="1028700" y="4411075"/>
            <a:ext cx="6974532" cy="523875"/>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Service Component III - Streaming Service</a:t>
            </a:r>
          </a:p>
        </p:txBody>
      </p:sp>
      <p:sp>
        <p:nvSpPr>
          <p:cNvPr name="TextBox 17" id="17"/>
          <p:cNvSpPr txBox="true"/>
          <p:nvPr/>
        </p:nvSpPr>
        <p:spPr>
          <a:xfrm rot="0">
            <a:off x="1028700" y="3096959"/>
            <a:ext cx="11986822" cy="273685"/>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Background - Roadmap - Service Detail - Shift - Stakeholder Mapping - Business Model -  Market Matrix - Brand Identity - Impact</a:t>
            </a:r>
          </a:p>
        </p:txBody>
      </p:sp>
      <p:sp>
        <p:nvSpPr>
          <p:cNvPr name="TextBox 18" id="18"/>
          <p:cNvSpPr txBox="true"/>
          <p:nvPr/>
        </p:nvSpPr>
        <p:spPr>
          <a:xfrm rot="0">
            <a:off x="1028700" y="4061201"/>
            <a:ext cx="11986822" cy="273685"/>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Background - Roadmap - Service Detail - Shift - Stakeholder Mapping - Business Model -  Market Matrix - Brand Identity - Impact</a:t>
            </a:r>
          </a:p>
        </p:txBody>
      </p:sp>
      <p:sp>
        <p:nvSpPr>
          <p:cNvPr name="TextBox 19" id="19"/>
          <p:cNvSpPr txBox="true"/>
          <p:nvPr/>
        </p:nvSpPr>
        <p:spPr>
          <a:xfrm rot="0">
            <a:off x="1028700" y="5025432"/>
            <a:ext cx="11986822" cy="273685"/>
          </a:xfrm>
          <a:prstGeom prst="rect">
            <a:avLst/>
          </a:prstGeom>
        </p:spPr>
        <p:txBody>
          <a:bodyPr anchor="t" rtlCol="false" tIns="0" lIns="0" bIns="0" rIns="0">
            <a:spAutoFit/>
          </a:bodyPr>
          <a:lstStyle/>
          <a:p>
            <a:pPr algn="l">
              <a:lnSpc>
                <a:spcPts val="2239"/>
              </a:lnSpc>
            </a:pPr>
            <a:r>
              <a:rPr lang="en-US" sz="1599" spc="-15">
                <a:solidFill>
                  <a:srgbClr val="FFFFFF">
                    <a:alpha val="49804"/>
                  </a:srgbClr>
                </a:solidFill>
                <a:latin typeface="Helvetica World"/>
                <a:ea typeface="Helvetica World"/>
                <a:cs typeface="Helvetica World"/>
                <a:sym typeface="Helvetica World"/>
              </a:rPr>
              <a:t>Background - Roadmap - Service Detail - Shift - Stakeholder Mapping - Business Model -  Market Matrix - Brand Identity - Impact</a:t>
            </a:r>
          </a:p>
        </p:txBody>
      </p:sp>
      <p:sp>
        <p:nvSpPr>
          <p:cNvPr name="TextBox 20" id="20"/>
          <p:cNvSpPr txBox="true"/>
          <p:nvPr/>
        </p:nvSpPr>
        <p:spPr>
          <a:xfrm rot="0">
            <a:off x="16173599" y="2473077"/>
            <a:ext cx="1085701" cy="523875"/>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08-26</a:t>
            </a:r>
          </a:p>
        </p:txBody>
      </p:sp>
      <p:sp>
        <p:nvSpPr>
          <p:cNvPr name="TextBox 21" id="21"/>
          <p:cNvSpPr txBox="true"/>
          <p:nvPr/>
        </p:nvSpPr>
        <p:spPr>
          <a:xfrm rot="0">
            <a:off x="16172706" y="3444627"/>
            <a:ext cx="1085701" cy="523875"/>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27-44</a:t>
            </a:r>
          </a:p>
        </p:txBody>
      </p:sp>
      <p:sp>
        <p:nvSpPr>
          <p:cNvPr name="TextBox 22" id="22"/>
          <p:cNvSpPr txBox="true"/>
          <p:nvPr/>
        </p:nvSpPr>
        <p:spPr>
          <a:xfrm rot="0">
            <a:off x="16171813" y="4416177"/>
            <a:ext cx="1085701" cy="523875"/>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45-62</a:t>
            </a:r>
          </a:p>
        </p:txBody>
      </p:sp>
      <p:sp>
        <p:nvSpPr>
          <p:cNvPr name="TextBox 23" id="23"/>
          <p:cNvSpPr txBox="true"/>
          <p:nvPr/>
        </p:nvSpPr>
        <p:spPr>
          <a:xfrm rot="0">
            <a:off x="14377467" y="5644785"/>
            <a:ext cx="2881833" cy="523875"/>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Future of  Service</a:t>
            </a:r>
          </a:p>
        </p:txBody>
      </p:sp>
      <p:sp>
        <p:nvSpPr>
          <p:cNvPr name="TextBox 24" id="24"/>
          <p:cNvSpPr txBox="true"/>
          <p:nvPr/>
        </p:nvSpPr>
        <p:spPr>
          <a:xfrm rot="0">
            <a:off x="14547428" y="6613784"/>
            <a:ext cx="2711872" cy="523875"/>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Posibile Solution</a:t>
            </a:r>
          </a:p>
        </p:txBody>
      </p:sp>
      <p:sp>
        <p:nvSpPr>
          <p:cNvPr name="TextBox 25" id="25"/>
          <p:cNvSpPr txBox="true"/>
          <p:nvPr/>
        </p:nvSpPr>
        <p:spPr>
          <a:xfrm rot="0">
            <a:off x="15413013" y="7582783"/>
            <a:ext cx="1846287" cy="523875"/>
          </a:xfrm>
          <a:prstGeom prst="rect">
            <a:avLst/>
          </a:prstGeom>
        </p:spPr>
        <p:txBody>
          <a:bodyPr anchor="t" rtlCol="false" tIns="0" lIns="0" bIns="0" rIns="0">
            <a:spAutoFit/>
          </a:bodyPr>
          <a:lstStyle/>
          <a:p>
            <a:pPr algn="r">
              <a:lnSpc>
                <a:spcPts val="4200"/>
              </a:lnSpc>
            </a:pPr>
            <a:r>
              <a:rPr lang="en-US" sz="3000" spc="-30">
                <a:solidFill>
                  <a:srgbClr val="FFFFFF"/>
                </a:solidFill>
                <a:latin typeface="Helvetica World"/>
                <a:ea typeface="Helvetica World"/>
                <a:cs typeface="Helvetica World"/>
                <a:sym typeface="Helvetica World"/>
              </a:rPr>
              <a:t>Conclusion</a:t>
            </a:r>
          </a:p>
        </p:txBody>
      </p:sp>
      <p:sp>
        <p:nvSpPr>
          <p:cNvPr name="TextBox 26" id="26"/>
          <p:cNvSpPr txBox="true"/>
          <p:nvPr/>
        </p:nvSpPr>
        <p:spPr>
          <a:xfrm rot="0">
            <a:off x="13378458" y="6268667"/>
            <a:ext cx="3880842" cy="273685"/>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Hypothesis - Opportunity</a:t>
            </a:r>
          </a:p>
        </p:txBody>
      </p:sp>
      <p:sp>
        <p:nvSpPr>
          <p:cNvPr name="TextBox 27" id="27"/>
          <p:cNvSpPr txBox="true"/>
          <p:nvPr/>
        </p:nvSpPr>
        <p:spPr>
          <a:xfrm rot="0">
            <a:off x="12171983" y="7232909"/>
            <a:ext cx="5087317" cy="273685"/>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Model Proposition - Limit</a:t>
            </a:r>
          </a:p>
        </p:txBody>
      </p:sp>
      <p:sp>
        <p:nvSpPr>
          <p:cNvPr name="TextBox 28" id="28"/>
          <p:cNvSpPr txBox="true"/>
          <p:nvPr/>
        </p:nvSpPr>
        <p:spPr>
          <a:xfrm rot="0">
            <a:off x="1030486" y="5635260"/>
            <a:ext cx="1085701" cy="523875"/>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63-65</a:t>
            </a:r>
          </a:p>
        </p:txBody>
      </p:sp>
      <p:sp>
        <p:nvSpPr>
          <p:cNvPr name="TextBox 29" id="29"/>
          <p:cNvSpPr txBox="true"/>
          <p:nvPr/>
        </p:nvSpPr>
        <p:spPr>
          <a:xfrm rot="0">
            <a:off x="1029593" y="6606810"/>
            <a:ext cx="1085701" cy="523875"/>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66-69</a:t>
            </a:r>
          </a:p>
        </p:txBody>
      </p:sp>
      <p:sp>
        <p:nvSpPr>
          <p:cNvPr name="TextBox 30" id="30"/>
          <p:cNvSpPr txBox="true"/>
          <p:nvPr/>
        </p:nvSpPr>
        <p:spPr>
          <a:xfrm rot="0">
            <a:off x="1030486" y="7578360"/>
            <a:ext cx="1085701" cy="523875"/>
          </a:xfrm>
          <a:prstGeom prst="rect">
            <a:avLst/>
          </a:prstGeom>
        </p:spPr>
        <p:txBody>
          <a:bodyPr anchor="t" rtlCol="false" tIns="0" lIns="0" bIns="0" rIns="0">
            <a:spAutoFit/>
          </a:bodyPr>
          <a:lstStyle/>
          <a:p>
            <a:pPr algn="l">
              <a:lnSpc>
                <a:spcPts val="4200"/>
              </a:lnSpc>
            </a:pPr>
            <a:r>
              <a:rPr lang="en-US" sz="3000" spc="-30">
                <a:solidFill>
                  <a:srgbClr val="FFFFFF">
                    <a:alpha val="49804"/>
                  </a:srgbClr>
                </a:solidFill>
                <a:latin typeface="Helvetica World"/>
                <a:ea typeface="Helvetica World"/>
                <a:cs typeface="Helvetica World"/>
                <a:sym typeface="Helvetica World"/>
              </a:rPr>
              <a:t>70</a:t>
            </a:r>
          </a:p>
        </p:txBody>
      </p:sp>
      <p:sp>
        <p:nvSpPr>
          <p:cNvPr name="TextBox 31" id="31"/>
          <p:cNvSpPr txBox="true"/>
          <p:nvPr/>
        </p:nvSpPr>
        <p:spPr>
          <a:xfrm rot="0">
            <a:off x="1028700" y="8277066"/>
            <a:ext cx="2025551" cy="523875"/>
          </a:xfrm>
          <a:prstGeom prst="rect">
            <a:avLst/>
          </a:prstGeom>
        </p:spPr>
        <p:txBody>
          <a:bodyPr anchor="t" rtlCol="false" tIns="0" lIns="0" bIns="0" rIns="0">
            <a:spAutoFit/>
          </a:bodyPr>
          <a:lstStyle/>
          <a:p>
            <a:pPr algn="l">
              <a:lnSpc>
                <a:spcPts val="4200"/>
              </a:lnSpc>
            </a:pPr>
            <a:r>
              <a:rPr lang="en-US" sz="3000" spc="-30">
                <a:solidFill>
                  <a:srgbClr val="FFFFFF"/>
                </a:solidFill>
                <a:latin typeface="Helvetica World"/>
                <a:ea typeface="Helvetica World"/>
                <a:cs typeface="Helvetica World"/>
                <a:sym typeface="Helvetica World"/>
              </a:rPr>
              <a:t>Works Cited</a:t>
            </a:r>
          </a:p>
        </p:txBody>
      </p:sp>
      <p:sp>
        <p:nvSpPr>
          <p:cNvPr name="TextBox 32" id="32"/>
          <p:cNvSpPr txBox="true"/>
          <p:nvPr/>
        </p:nvSpPr>
        <p:spPr>
          <a:xfrm rot="0">
            <a:off x="16171813" y="8286591"/>
            <a:ext cx="1085701" cy="523875"/>
          </a:xfrm>
          <a:prstGeom prst="rect">
            <a:avLst/>
          </a:prstGeom>
        </p:spPr>
        <p:txBody>
          <a:bodyPr anchor="t" rtlCol="false" tIns="0" lIns="0" bIns="0" rIns="0">
            <a:spAutoFit/>
          </a:bodyPr>
          <a:lstStyle/>
          <a:p>
            <a:pPr algn="r">
              <a:lnSpc>
                <a:spcPts val="4200"/>
              </a:lnSpc>
            </a:pPr>
            <a:r>
              <a:rPr lang="en-US" sz="3000" spc="-30">
                <a:solidFill>
                  <a:srgbClr val="FFFFFF">
                    <a:alpha val="49804"/>
                  </a:srgbClr>
                </a:solidFill>
                <a:latin typeface="Helvetica World"/>
                <a:ea typeface="Helvetica World"/>
                <a:cs typeface="Helvetica World"/>
                <a:sym typeface="Helvetica World"/>
              </a:rPr>
              <a:t>72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2010801" y="4758214"/>
            <a:ext cx="14266397" cy="684847"/>
          </a:xfrm>
          <a:prstGeom prst="rect">
            <a:avLst/>
          </a:prstGeom>
        </p:spPr>
        <p:txBody>
          <a:bodyPr anchor="t" rtlCol="false" tIns="0" lIns="0" bIns="0" rIns="0">
            <a:spAutoFit/>
          </a:bodyPr>
          <a:lstStyle/>
          <a:p>
            <a:pPr algn="ctr">
              <a:lnSpc>
                <a:spcPts val="5040"/>
              </a:lnSpc>
            </a:pPr>
            <a:r>
              <a:rPr lang="en-US" sz="3600" i="true" spc="-36" u="sng">
                <a:solidFill>
                  <a:srgbClr val="FFFFFF"/>
                </a:solidFill>
                <a:latin typeface="Helvetica World Italics"/>
                <a:ea typeface="Helvetica World Italics"/>
                <a:cs typeface="Helvetica World Italics"/>
                <a:sym typeface="Helvetica World Italics"/>
              </a:rPr>
              <a:t>"When you need something in your daily life, where do you go first?"</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1028700" y="9258300"/>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Introduction - Introductory question</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02</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2010801" y="4758214"/>
            <a:ext cx="14266397" cy="684847"/>
          </a:xfrm>
          <a:prstGeom prst="rect">
            <a:avLst/>
          </a:prstGeom>
        </p:spPr>
        <p:txBody>
          <a:bodyPr anchor="t" rtlCol="false" tIns="0" lIns="0" bIns="0" rIns="0">
            <a:spAutoFit/>
          </a:bodyPr>
          <a:lstStyle/>
          <a:p>
            <a:pPr algn="ctr">
              <a:lnSpc>
                <a:spcPts val="5040"/>
              </a:lnSpc>
            </a:pPr>
            <a:r>
              <a:rPr lang="en-US" sz="3600" i="true" spc="-36" u="sng">
                <a:solidFill>
                  <a:srgbClr val="FFFFFF"/>
                </a:solidFill>
                <a:latin typeface="Helvetica World Italics"/>
                <a:ea typeface="Helvetica World Italics"/>
                <a:cs typeface="Helvetica World Italics"/>
                <a:sym typeface="Helvetica World Italics"/>
              </a:rPr>
              <a:t>“Which company delivered the package to your home?“</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1028700" y="9258300"/>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Introduction - Introductory question</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03</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2010801" y="4758214"/>
            <a:ext cx="14266397" cy="684847"/>
          </a:xfrm>
          <a:prstGeom prst="rect">
            <a:avLst/>
          </a:prstGeom>
        </p:spPr>
        <p:txBody>
          <a:bodyPr anchor="t" rtlCol="false" tIns="0" lIns="0" bIns="0" rIns="0">
            <a:spAutoFit/>
          </a:bodyPr>
          <a:lstStyle/>
          <a:p>
            <a:pPr algn="ctr">
              <a:lnSpc>
                <a:spcPts val="5040"/>
              </a:lnSpc>
            </a:pPr>
            <a:r>
              <a:rPr lang="en-US" sz="3600" i="true" spc="-36" u="sng">
                <a:solidFill>
                  <a:srgbClr val="FFFFFF"/>
                </a:solidFill>
                <a:latin typeface="Helvetica World Italics"/>
                <a:ea typeface="Helvetica World Italics"/>
                <a:cs typeface="Helvetica World Italics"/>
                <a:sym typeface="Helvetica World Italics"/>
              </a:rPr>
              <a:t>"Where can you watch the TV shows you want to see?"</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1028700" y="9258300"/>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Introduction - Introductory question</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04</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2010801" y="4758214"/>
            <a:ext cx="14266397" cy="684847"/>
          </a:xfrm>
          <a:prstGeom prst="rect">
            <a:avLst/>
          </a:prstGeom>
        </p:spPr>
        <p:txBody>
          <a:bodyPr anchor="t" rtlCol="false" tIns="0" lIns="0" bIns="0" rIns="0">
            <a:spAutoFit/>
          </a:bodyPr>
          <a:lstStyle/>
          <a:p>
            <a:pPr algn="ctr">
              <a:lnSpc>
                <a:spcPts val="5040"/>
              </a:lnSpc>
            </a:pPr>
            <a:r>
              <a:rPr lang="en-US" sz="3600" i="true" spc="-36" u="sng">
                <a:solidFill>
                  <a:srgbClr val="FFFFFF"/>
                </a:solidFill>
                <a:latin typeface="Helvetica World Italics"/>
                <a:ea typeface="Helvetica World Italics"/>
                <a:cs typeface="Helvetica World Italics"/>
                <a:sym typeface="Helvetica World Italics"/>
              </a:rPr>
              <a:t>“What powers the streaming behind your favorite shows?”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1028700" y="9258300"/>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Introduction - Introductory question</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05</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18506"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About Amazon</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1028700" y="2151866"/>
            <a:ext cx="15429309" cy="1308099"/>
          </a:xfrm>
          <a:prstGeom prst="rect">
            <a:avLst/>
          </a:prstGeom>
        </p:spPr>
        <p:txBody>
          <a:bodyPr anchor="t" rtlCol="false" tIns="0" lIns="0" bIns="0" rIns="0">
            <a:spAutoFit/>
          </a:bodyPr>
          <a:lstStyle/>
          <a:p>
            <a:pPr algn="l">
              <a:lnSpc>
                <a:spcPts val="3500"/>
              </a:lnSpc>
            </a:pPr>
            <a:r>
              <a:rPr lang="en-US" sz="2500" spc="-37">
                <a:solidFill>
                  <a:srgbClr val="FFFFFF"/>
                </a:solidFill>
                <a:latin typeface="Helvetica World"/>
                <a:ea typeface="Helvetica World"/>
                <a:cs typeface="Helvetica World"/>
                <a:sym typeface="Helvetica World"/>
              </a:rPr>
              <a:t>Amazon is not simply an online retailer.</a:t>
            </a:r>
          </a:p>
          <a:p>
            <a:pPr algn="l">
              <a:lnSpc>
                <a:spcPts val="3500"/>
              </a:lnSpc>
            </a:pPr>
            <a:r>
              <a:rPr lang="en-US" sz="2500" spc="-37">
                <a:solidFill>
                  <a:srgbClr val="FFFFFF"/>
                </a:solidFill>
                <a:latin typeface="Helvetica World"/>
                <a:ea typeface="Helvetica World"/>
                <a:cs typeface="Helvetica World"/>
                <a:sym typeface="Helvetica World"/>
              </a:rPr>
              <a:t>It operates as both a consumer-facing marketplace and a global infrastructure that shapes how consumption works.</a:t>
            </a:r>
          </a:p>
        </p:txBody>
      </p:sp>
      <p:sp>
        <p:nvSpPr>
          <p:cNvPr name="TextBox 7" id="7"/>
          <p:cNvSpPr txBox="true"/>
          <p:nvPr/>
        </p:nvSpPr>
        <p:spPr>
          <a:xfrm rot="0">
            <a:off x="1028700" y="7118509"/>
            <a:ext cx="16230600" cy="1416050"/>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Amazon can arguably be considered the most visible and dominant brand. From its highly advanced logistics and delivery system to its media platform, Amazon Prime Video, and its cloud infrastructure, Amazon Web Services (AWS), Amazon has built an enormous ecosystem that extends beyond individual consumers to include retailers, startups, and wholesale suppliers. For this reason, this analysis will focus on Amazon and its broader business and technological structure.</a:t>
            </a:r>
          </a:p>
        </p:txBody>
      </p:sp>
      <p:sp>
        <p:nvSpPr>
          <p:cNvPr name="TextBox 8" id="8"/>
          <p:cNvSpPr txBox="true"/>
          <p:nvPr/>
        </p:nvSpPr>
        <p:spPr>
          <a:xfrm rot="0">
            <a:off x="1028700" y="4743767"/>
            <a:ext cx="2909590" cy="1708151"/>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How</a:t>
            </a:r>
          </a:p>
        </p:txBody>
      </p:sp>
      <p:sp>
        <p:nvSpPr>
          <p:cNvPr name="TextBox 9" id="9"/>
          <p:cNvSpPr txBox="true"/>
          <p:nvPr/>
        </p:nvSpPr>
        <p:spPr>
          <a:xfrm rot="0">
            <a:off x="9693677" y="5010468"/>
            <a:ext cx="6764332" cy="1308099"/>
          </a:xfrm>
          <a:prstGeom prst="rect">
            <a:avLst/>
          </a:prstGeom>
        </p:spPr>
        <p:txBody>
          <a:bodyPr anchor="t" rtlCol="false" tIns="0" lIns="0" bIns="0" rIns="0">
            <a:spAutoFit/>
          </a:bodyPr>
          <a:lstStyle/>
          <a:p>
            <a:pPr algn="l">
              <a:lnSpc>
                <a:spcPts val="3500"/>
              </a:lnSpc>
            </a:pPr>
            <a:r>
              <a:rPr lang="en-US" sz="2500" spc="-25">
                <a:solidFill>
                  <a:srgbClr val="FFFFFF">
                    <a:alpha val="49804"/>
                  </a:srgbClr>
                </a:solidFill>
                <a:latin typeface="Helvetica World"/>
                <a:ea typeface="Helvetica World"/>
                <a:cs typeface="Helvetica World"/>
                <a:sym typeface="Helvetica World"/>
              </a:rPr>
              <a:t>product</a:t>
            </a:r>
            <a:r>
              <a:rPr lang="en-US" sz="2500" spc="-25">
                <a:solidFill>
                  <a:srgbClr val="FFFFFF">
                    <a:alpha val="49804"/>
                  </a:srgbClr>
                </a:solidFill>
                <a:latin typeface="Helvetica World"/>
                <a:ea typeface="Helvetica World"/>
                <a:cs typeface="Helvetica World"/>
                <a:sym typeface="Helvetica World"/>
              </a:rPr>
              <a:t>s reach customers and how</a:t>
            </a:r>
          </a:p>
          <a:p>
            <a:pPr algn="l">
              <a:lnSpc>
                <a:spcPts val="3500"/>
              </a:lnSpc>
            </a:pPr>
            <a:r>
              <a:rPr lang="en-US" sz="2500" spc="-25">
                <a:solidFill>
                  <a:srgbClr val="FFFFFF">
                    <a:alpha val="49804"/>
                  </a:srgbClr>
                </a:solidFill>
                <a:latin typeface="Helvetica World"/>
                <a:ea typeface="Helvetica World"/>
                <a:cs typeface="Helvetica World"/>
                <a:sym typeface="Helvetica World"/>
              </a:rPr>
              <a:t>emerging businesses and innovators can build on</a:t>
            </a:r>
          </a:p>
          <a:p>
            <a:pPr algn="l">
              <a:lnSpc>
                <a:spcPts val="3500"/>
              </a:lnSpc>
            </a:pPr>
            <a:r>
              <a:rPr lang="en-US" sz="2500" spc="-25">
                <a:solidFill>
                  <a:srgbClr val="FFFFFF">
                    <a:alpha val="49804"/>
                  </a:srgbClr>
                </a:solidFill>
                <a:latin typeface="Helvetica World"/>
                <a:ea typeface="Helvetica World"/>
                <a:cs typeface="Helvetica World"/>
                <a:sym typeface="Helvetica World"/>
              </a:rPr>
              <a:t>stories people watch and experience</a:t>
            </a:r>
          </a:p>
        </p:txBody>
      </p:sp>
      <p:sp>
        <p:nvSpPr>
          <p:cNvPr name="TextBox 10" id="10"/>
          <p:cNvSpPr txBox="true"/>
          <p:nvPr/>
        </p:nvSpPr>
        <p:spPr>
          <a:xfrm rot="0">
            <a:off x="1054336" y="4098607"/>
            <a:ext cx="3011463" cy="547370"/>
          </a:xfrm>
          <a:prstGeom prst="rect">
            <a:avLst/>
          </a:prstGeom>
        </p:spPr>
        <p:txBody>
          <a:bodyPr anchor="t" rtlCol="false" tIns="0" lIns="0" bIns="0" rIns="0">
            <a:spAutoFit/>
          </a:bodyPr>
          <a:lstStyle/>
          <a:p>
            <a:pPr algn="l">
              <a:lnSpc>
                <a:spcPts val="4480"/>
              </a:lnSpc>
            </a:pPr>
            <a:r>
              <a:rPr lang="en-US" sz="3200" spc="-48">
                <a:solidFill>
                  <a:srgbClr val="FFFFFF"/>
                </a:solidFill>
                <a:latin typeface="Helvetica World"/>
                <a:ea typeface="Helvetica World"/>
                <a:cs typeface="Helvetica World"/>
                <a:sym typeface="Helvetica World"/>
              </a:rPr>
              <a:t>Amazon decides:</a:t>
            </a:r>
          </a:p>
        </p:txBody>
      </p:sp>
      <p:sp>
        <p:nvSpPr>
          <p:cNvPr name="AutoShape 11" id="11"/>
          <p:cNvSpPr/>
          <p:nvPr/>
        </p:nvSpPr>
        <p:spPr>
          <a:xfrm flipH="true">
            <a:off x="1028700" y="3744698"/>
            <a:ext cx="16230600" cy="0"/>
          </a:xfrm>
          <a:prstGeom prst="line">
            <a:avLst/>
          </a:prstGeom>
          <a:ln cap="rnd" w="19050">
            <a:solidFill>
              <a:srgbClr val="FFFFFF">
                <a:alpha val="29804"/>
              </a:srgbClr>
            </a:solidFill>
            <a:prstDash val="sysDash"/>
            <a:headEnd type="none" len="sm" w="sm"/>
            <a:tailEnd type="none" len="sm" w="sm"/>
          </a:ln>
        </p:spPr>
      </p:sp>
      <p:sp>
        <p:nvSpPr>
          <p:cNvPr name="AutoShape 12" id="12"/>
          <p:cNvSpPr/>
          <p:nvPr/>
        </p:nvSpPr>
        <p:spPr>
          <a:xfrm flipH="true">
            <a:off x="1028700" y="6872501"/>
            <a:ext cx="16230600" cy="0"/>
          </a:xfrm>
          <a:prstGeom prst="line">
            <a:avLst/>
          </a:prstGeom>
          <a:ln cap="rnd" w="19050">
            <a:solidFill>
              <a:srgbClr val="FFFFFF">
                <a:alpha val="29804"/>
              </a:srgbClr>
            </a:solidFill>
            <a:prstDash val="sysDash"/>
            <a:headEnd type="none" len="sm" w="sm"/>
            <a:tailEnd type="none" len="sm" w="sm"/>
          </a:ln>
        </p:spPr>
      </p:sp>
      <p:grpSp>
        <p:nvGrpSpPr>
          <p:cNvPr name="Group 13" id="13"/>
          <p:cNvGrpSpPr/>
          <p:nvPr/>
        </p:nvGrpSpPr>
        <p:grpSpPr>
          <a:xfrm rot="0">
            <a:off x="1028700" y="9258300"/>
            <a:ext cx="16230600" cy="301625"/>
            <a:chOff x="0" y="0"/>
            <a:chExt cx="21640800" cy="402167"/>
          </a:xfrm>
        </p:grpSpPr>
        <p:sp>
          <p:nvSpPr>
            <p:cNvPr name="TextBox 14" id="1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Introduction - About amazon</a:t>
              </a:r>
            </a:p>
          </p:txBody>
        </p:sp>
        <p:sp>
          <p:nvSpPr>
            <p:cNvPr name="TextBox 15" id="1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06</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9134475" y="2209016"/>
            <a:ext cx="0" cy="6323479"/>
          </a:xfrm>
          <a:prstGeom prst="line">
            <a:avLst/>
          </a:prstGeom>
          <a:ln cap="rnd" w="19050">
            <a:solidFill>
              <a:srgbClr val="FFFFFF">
                <a:alpha val="29804"/>
              </a:srgbClr>
            </a:solidFill>
            <a:prstDash val="sysDash"/>
            <a:headEnd type="none" len="sm" w="sm"/>
            <a:tailEnd type="none" len="sm" w="sm"/>
          </a:ln>
        </p:spPr>
      </p:sp>
      <p:sp>
        <p:nvSpPr>
          <p:cNvPr name="Freeform 3" id="3"/>
          <p:cNvSpPr/>
          <p:nvPr/>
        </p:nvSpPr>
        <p:spPr>
          <a:xfrm flipH="false" flipV="false" rot="0">
            <a:off x="1028700" y="2209016"/>
            <a:ext cx="3532813" cy="1064260"/>
          </a:xfrm>
          <a:custGeom>
            <a:avLst/>
            <a:gdLst/>
            <a:ahLst/>
            <a:cxnLst/>
            <a:rect r="r" b="b" t="t" l="l"/>
            <a:pathLst>
              <a:path h="1064260" w="3532813">
                <a:moveTo>
                  <a:pt x="0" y="0"/>
                </a:moveTo>
                <a:lnTo>
                  <a:pt x="3532813" y="0"/>
                </a:lnTo>
                <a:lnTo>
                  <a:pt x="3532813" y="1064260"/>
                </a:lnTo>
                <a:lnTo>
                  <a:pt x="0" y="1064260"/>
                </a:lnTo>
                <a:lnTo>
                  <a:pt x="0" y="0"/>
                </a:lnTo>
                <a:close/>
              </a:path>
            </a:pathLst>
          </a:custGeom>
          <a:blipFill>
            <a:blip r:embed="rId2"/>
            <a:stretch>
              <a:fillRect l="0" t="0" r="0" b="0"/>
            </a:stretch>
          </a:blipFill>
        </p:spPr>
      </p:sp>
      <p:sp>
        <p:nvSpPr>
          <p:cNvPr name="Freeform 4" id="4"/>
          <p:cNvSpPr/>
          <p:nvPr/>
        </p:nvSpPr>
        <p:spPr>
          <a:xfrm flipH="false" flipV="false" rot="0">
            <a:off x="1028700" y="4508475"/>
            <a:ext cx="1839222" cy="1839222"/>
          </a:xfrm>
          <a:custGeom>
            <a:avLst/>
            <a:gdLst/>
            <a:ahLst/>
            <a:cxnLst/>
            <a:rect r="r" b="b" t="t" l="l"/>
            <a:pathLst>
              <a:path h="1839222" w="1839222">
                <a:moveTo>
                  <a:pt x="0" y="0"/>
                </a:moveTo>
                <a:lnTo>
                  <a:pt x="1839222" y="0"/>
                </a:lnTo>
                <a:lnTo>
                  <a:pt x="1839222" y="1839221"/>
                </a:lnTo>
                <a:lnTo>
                  <a:pt x="0" y="1839221"/>
                </a:lnTo>
                <a:lnTo>
                  <a:pt x="0" y="0"/>
                </a:lnTo>
                <a:close/>
              </a:path>
            </a:pathLst>
          </a:custGeom>
          <a:blipFill>
            <a:blip r:embed="rId3"/>
            <a:stretch>
              <a:fillRect l="0" t="0" r="0" b="0"/>
            </a:stretch>
          </a:blipFill>
        </p:spPr>
      </p:sp>
      <p:sp>
        <p:nvSpPr>
          <p:cNvPr name="Freeform 5" id="5"/>
          <p:cNvSpPr/>
          <p:nvPr/>
        </p:nvSpPr>
        <p:spPr>
          <a:xfrm flipH="false" flipV="false" rot="0">
            <a:off x="1028700" y="7445055"/>
            <a:ext cx="1839222" cy="1087440"/>
          </a:xfrm>
          <a:custGeom>
            <a:avLst/>
            <a:gdLst/>
            <a:ahLst/>
            <a:cxnLst/>
            <a:rect r="r" b="b" t="t" l="l"/>
            <a:pathLst>
              <a:path h="1087440" w="1839222">
                <a:moveTo>
                  <a:pt x="0" y="0"/>
                </a:moveTo>
                <a:lnTo>
                  <a:pt x="1839222" y="0"/>
                </a:lnTo>
                <a:lnTo>
                  <a:pt x="1839222" y="1087440"/>
                </a:lnTo>
                <a:lnTo>
                  <a:pt x="0" y="1087440"/>
                </a:lnTo>
                <a:lnTo>
                  <a:pt x="0" y="0"/>
                </a:lnTo>
                <a:close/>
              </a:path>
            </a:pathLst>
          </a:custGeom>
          <a:blipFill>
            <a:blip r:embed="rId4"/>
            <a:stretch>
              <a:fillRect l="0" t="0" r="0" b="0"/>
            </a:stretch>
          </a:blipFill>
        </p:spPr>
      </p:sp>
      <p:sp>
        <p:nvSpPr>
          <p:cNvPr name="TextBox 6" id="6"/>
          <p:cNvSpPr txBox="true"/>
          <p:nvPr/>
        </p:nvSpPr>
        <p:spPr>
          <a:xfrm rot="0">
            <a:off x="1028700" y="971550"/>
            <a:ext cx="1553319"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Core Services</a:t>
            </a:r>
          </a:p>
        </p:txBody>
      </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0" id="10"/>
          <p:cNvSpPr txBox="true"/>
          <p:nvPr/>
        </p:nvSpPr>
        <p:spPr>
          <a:xfrm rot="0">
            <a:off x="12925507" y="2151866"/>
            <a:ext cx="4333793" cy="1473200"/>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e-commerce Service</a:t>
            </a:r>
          </a:p>
          <a:p>
            <a:pPr algn="r">
              <a:lnSpc>
                <a:spcPts val="2800"/>
              </a:lnSpc>
            </a:pPr>
            <a:r>
              <a:rPr lang="en-US" sz="2000" spc="-20">
                <a:solidFill>
                  <a:srgbClr val="FFFFFF"/>
                </a:solidFill>
                <a:latin typeface="Helvetica World"/>
                <a:ea typeface="Helvetica World"/>
                <a:cs typeface="Helvetica World"/>
                <a:sym typeface="Helvetica World"/>
              </a:rPr>
              <a:t>B2C (Business-to-Consumer)</a:t>
            </a:r>
          </a:p>
          <a:p>
            <a:pPr algn="r">
              <a:lnSpc>
                <a:spcPts val="2800"/>
              </a:lnSpc>
            </a:pPr>
            <a:r>
              <a:rPr lang="en-US" sz="2000" spc="-20">
                <a:solidFill>
                  <a:srgbClr val="FFFFFF"/>
                </a:solidFill>
                <a:latin typeface="Helvetica World"/>
                <a:ea typeface="Helvetica World"/>
                <a:cs typeface="Helvetica World"/>
                <a:sym typeface="Helvetica World"/>
              </a:rPr>
              <a:t>B2B (Business-to-Business)</a:t>
            </a:r>
          </a:p>
          <a:p>
            <a:pPr algn="r">
              <a:lnSpc>
                <a:spcPts val="2800"/>
              </a:lnSpc>
            </a:pPr>
            <a:r>
              <a:rPr lang="en-US" sz="2000" spc="-20">
                <a:solidFill>
                  <a:srgbClr val="FFFFFF"/>
                </a:solidFill>
                <a:latin typeface="Helvetica World"/>
                <a:ea typeface="Helvetica World"/>
                <a:cs typeface="Helvetica World"/>
                <a:sym typeface="Helvetica World"/>
              </a:rPr>
              <a:t>Fulfillment-based Logistics Service</a:t>
            </a:r>
          </a:p>
        </p:txBody>
      </p:sp>
      <p:sp>
        <p:nvSpPr>
          <p:cNvPr name="TextBox 11" id="11"/>
          <p:cNvSpPr txBox="true"/>
          <p:nvPr/>
        </p:nvSpPr>
        <p:spPr>
          <a:xfrm rot="0">
            <a:off x="12925507" y="5123222"/>
            <a:ext cx="4333793" cy="1092200"/>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B2B Solution (Business-to-Business)</a:t>
            </a:r>
          </a:p>
          <a:p>
            <a:pPr algn="r">
              <a:lnSpc>
                <a:spcPts val="2800"/>
              </a:lnSpc>
            </a:pPr>
            <a:r>
              <a:rPr lang="en-US" sz="2000" spc="-20">
                <a:solidFill>
                  <a:srgbClr val="FFFFFF"/>
                </a:solidFill>
                <a:latin typeface="Helvetica World"/>
                <a:ea typeface="Helvetica World"/>
                <a:cs typeface="Helvetica World"/>
                <a:sym typeface="Helvetica World"/>
              </a:rPr>
              <a:t>Cloud Computing Service</a:t>
            </a:r>
          </a:p>
          <a:p>
            <a:pPr algn="r">
              <a:lnSpc>
                <a:spcPts val="2800"/>
              </a:lnSpc>
            </a:pPr>
            <a:r>
              <a:rPr lang="en-US" sz="2000" spc="-20">
                <a:solidFill>
                  <a:srgbClr val="FFFFFF"/>
                </a:solidFill>
                <a:latin typeface="Helvetica World"/>
                <a:ea typeface="Helvetica World"/>
                <a:cs typeface="Helvetica World"/>
                <a:sym typeface="Helvetica World"/>
              </a:rPr>
              <a:t>Database/AI Services</a:t>
            </a:r>
          </a:p>
        </p:txBody>
      </p:sp>
      <p:sp>
        <p:nvSpPr>
          <p:cNvPr name="TextBox 12" id="12"/>
          <p:cNvSpPr txBox="true"/>
          <p:nvPr/>
        </p:nvSpPr>
        <p:spPr>
          <a:xfrm rot="0">
            <a:off x="12925507" y="7468870"/>
            <a:ext cx="4333793" cy="1063625"/>
          </a:xfrm>
          <a:prstGeom prst="rect">
            <a:avLst/>
          </a:prstGeom>
        </p:spPr>
        <p:txBody>
          <a:bodyPr anchor="t" rtlCol="false" tIns="0" lIns="0" bIns="0" rIns="0">
            <a:spAutoFit/>
          </a:bodyPr>
          <a:lstStyle/>
          <a:p>
            <a:pPr algn="r">
              <a:lnSpc>
                <a:spcPts val="2800"/>
              </a:lnSpc>
            </a:pPr>
            <a:r>
              <a:rPr lang="en-US" sz="2000" spc="-20">
                <a:solidFill>
                  <a:srgbClr val="FFFFFF"/>
                </a:solidFill>
                <a:latin typeface="Helvetica World"/>
                <a:ea typeface="Helvetica World"/>
                <a:cs typeface="Helvetica World"/>
                <a:sym typeface="Helvetica World"/>
              </a:rPr>
              <a:t>Streaming Service (On-Demend)</a:t>
            </a:r>
          </a:p>
          <a:p>
            <a:pPr algn="r">
              <a:lnSpc>
                <a:spcPts val="2800"/>
              </a:lnSpc>
            </a:pPr>
            <a:r>
              <a:rPr lang="en-US" sz="2000" spc="-20">
                <a:solidFill>
                  <a:srgbClr val="FFFFFF"/>
                </a:solidFill>
                <a:latin typeface="Helvetica World"/>
                <a:ea typeface="Helvetica World"/>
                <a:cs typeface="Helvetica World"/>
                <a:sym typeface="Helvetica World"/>
              </a:rPr>
              <a:t>Streaming Service (Live Streaming)</a:t>
            </a:r>
          </a:p>
          <a:p>
            <a:pPr algn="r">
              <a:lnSpc>
                <a:spcPts val="2800"/>
              </a:lnSpc>
            </a:pPr>
            <a:r>
              <a:rPr lang="en-US" sz="2000" spc="-20">
                <a:solidFill>
                  <a:srgbClr val="FFFFFF"/>
                </a:solidFill>
                <a:latin typeface="Helvetica World"/>
                <a:ea typeface="Helvetica World"/>
                <a:cs typeface="Helvetica World"/>
                <a:sym typeface="Helvetica World"/>
              </a:rPr>
              <a:t>IP/Contents Services</a:t>
            </a:r>
          </a:p>
        </p:txBody>
      </p:sp>
      <p:grpSp>
        <p:nvGrpSpPr>
          <p:cNvPr name="Group 13" id="13"/>
          <p:cNvGrpSpPr/>
          <p:nvPr/>
        </p:nvGrpSpPr>
        <p:grpSpPr>
          <a:xfrm rot="0">
            <a:off x="1028700" y="9258300"/>
            <a:ext cx="16230600" cy="301625"/>
            <a:chOff x="0" y="0"/>
            <a:chExt cx="21640800" cy="402167"/>
          </a:xfrm>
        </p:grpSpPr>
        <p:sp>
          <p:nvSpPr>
            <p:cNvPr name="TextBox 14" id="1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Introduction - About amazon</a:t>
              </a:r>
            </a:p>
          </p:txBody>
        </p:sp>
        <p:sp>
          <p:nvSpPr>
            <p:cNvPr name="TextBox 15" id="1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07</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5" id="5"/>
          <p:cNvGrpSpPr/>
          <p:nvPr/>
        </p:nvGrpSpPr>
        <p:grpSpPr>
          <a:xfrm rot="0">
            <a:off x="1028700" y="9258300"/>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08</a:t>
              </a:r>
            </a:p>
          </p:txBody>
        </p:sp>
      </p:grpSp>
      <p:sp>
        <p:nvSpPr>
          <p:cNvPr name="TextBox 8" id="8"/>
          <p:cNvSpPr txBox="true"/>
          <p:nvPr/>
        </p:nvSpPr>
        <p:spPr>
          <a:xfrm rot="0">
            <a:off x="1028700" y="7468870"/>
            <a:ext cx="6151153" cy="1063625"/>
          </a:xfrm>
          <a:prstGeom prst="rect">
            <a:avLst/>
          </a:prstGeom>
        </p:spPr>
        <p:txBody>
          <a:bodyPr anchor="t" rtlCol="false" tIns="0" lIns="0" bIns="0" rIns="0">
            <a:spAutoFit/>
          </a:bodyPr>
          <a:lstStyle/>
          <a:p>
            <a:pPr algn="l">
              <a:lnSpc>
                <a:spcPts val="2800"/>
              </a:lnSpc>
            </a:pPr>
            <a:r>
              <a:rPr lang="en-US" sz="2000" spc="-20">
                <a:solidFill>
                  <a:srgbClr val="A6A6A6"/>
                </a:solidFill>
                <a:latin typeface="Helvetica World"/>
                <a:ea typeface="Helvetica World"/>
                <a:cs typeface="Helvetica World"/>
                <a:sym typeface="Helvetica World"/>
              </a:rPr>
              <a:t>Online + Physical Stores | ~40%</a:t>
            </a:r>
          </a:p>
          <a:p>
            <a:pPr algn="l">
              <a:lnSpc>
                <a:spcPts val="2800"/>
              </a:lnSpc>
            </a:pPr>
            <a:r>
              <a:rPr lang="en-US" sz="2000" spc="-20">
                <a:solidFill>
                  <a:srgbClr val="A6A6A6"/>
                </a:solidFill>
                <a:latin typeface="Helvetica World"/>
                <a:ea typeface="Helvetica World"/>
                <a:cs typeface="Helvetica World"/>
                <a:sym typeface="Helvetica World"/>
              </a:rPr>
              <a:t>Third-Party Seller Services | ~23%</a:t>
            </a:r>
          </a:p>
          <a:p>
            <a:pPr algn="l">
              <a:lnSpc>
                <a:spcPts val="2800"/>
              </a:lnSpc>
              <a:spcBef>
                <a:spcPct val="0"/>
              </a:spcBef>
            </a:pPr>
            <a:r>
              <a:rPr lang="en-US" sz="2000" spc="-20">
                <a:solidFill>
                  <a:srgbClr val="A6A6A6"/>
                </a:solidFill>
                <a:latin typeface="Helvetica World"/>
                <a:ea typeface="Helvetica World"/>
                <a:cs typeface="Helvetica World"/>
                <a:sym typeface="Helvetica World"/>
              </a:rPr>
              <a:t>Advertising Services | ~9%</a:t>
            </a:r>
          </a:p>
        </p:txBody>
      </p:sp>
      <p:sp>
        <p:nvSpPr>
          <p:cNvPr name="Freeform 9" id="9"/>
          <p:cNvSpPr/>
          <p:nvPr/>
        </p:nvSpPr>
        <p:spPr>
          <a:xfrm flipH="false" flipV="false" rot="0">
            <a:off x="1032835" y="2209016"/>
            <a:ext cx="7612278" cy="2293199"/>
          </a:xfrm>
          <a:custGeom>
            <a:avLst/>
            <a:gdLst/>
            <a:ahLst/>
            <a:cxnLst/>
            <a:rect r="r" b="b" t="t" l="l"/>
            <a:pathLst>
              <a:path h="2293199" w="7612278">
                <a:moveTo>
                  <a:pt x="0" y="0"/>
                </a:moveTo>
                <a:lnTo>
                  <a:pt x="7612278" y="0"/>
                </a:lnTo>
                <a:lnTo>
                  <a:pt x="7612278" y="2293199"/>
                </a:lnTo>
                <a:lnTo>
                  <a:pt x="0" y="2293199"/>
                </a:lnTo>
                <a:lnTo>
                  <a:pt x="0" y="0"/>
                </a:lnTo>
                <a:close/>
              </a:path>
            </a:pathLst>
          </a:custGeom>
          <a:blipFill>
            <a:blip r:embed="rId2"/>
            <a:stretch>
              <a:fillRect l="0" t="0" r="0" b="0"/>
            </a:stretch>
          </a:blipFill>
        </p:spPr>
      </p:sp>
      <p:sp>
        <p:nvSpPr>
          <p:cNvPr name="TextBox 10" id="10"/>
          <p:cNvSpPr txBox="true"/>
          <p:nvPr/>
        </p:nvSpPr>
        <p:spPr>
          <a:xfrm rot="0">
            <a:off x="6475889" y="-481965"/>
            <a:ext cx="10783411" cy="9277350"/>
          </a:xfrm>
          <a:prstGeom prst="rect">
            <a:avLst/>
          </a:prstGeom>
        </p:spPr>
        <p:txBody>
          <a:bodyPr anchor="t" rtlCol="false" tIns="0" lIns="0" bIns="0" rIns="0">
            <a:spAutoFit/>
          </a:bodyPr>
          <a:lstStyle/>
          <a:p>
            <a:pPr algn="r">
              <a:lnSpc>
                <a:spcPts val="75600"/>
              </a:lnSpc>
            </a:pPr>
            <a:r>
              <a:rPr lang="en-US" sz="54000" spc="-2700">
                <a:solidFill>
                  <a:srgbClr val="FFFFFF"/>
                </a:solidFill>
                <a:latin typeface="Helvetica World"/>
                <a:ea typeface="Helvetica World"/>
                <a:cs typeface="Helvetica World"/>
                <a:sym typeface="Helvetica World"/>
              </a:rPr>
              <a:t>82</a:t>
            </a:r>
          </a:p>
        </p:txBody>
      </p:sp>
      <p:sp>
        <p:nvSpPr>
          <p:cNvPr name="TextBox 11" id="11"/>
          <p:cNvSpPr txBox="true"/>
          <p:nvPr/>
        </p:nvSpPr>
        <p:spPr>
          <a:xfrm rot="0">
            <a:off x="10483491" y="6596381"/>
            <a:ext cx="6775809" cy="2199004"/>
          </a:xfrm>
          <a:prstGeom prst="rect">
            <a:avLst/>
          </a:prstGeom>
        </p:spPr>
        <p:txBody>
          <a:bodyPr anchor="t" rtlCol="false" tIns="0" lIns="0" bIns="0" rIns="0">
            <a:spAutoFit/>
          </a:bodyPr>
          <a:lstStyle/>
          <a:p>
            <a:pPr algn="r">
              <a:lnSpc>
                <a:spcPts val="17920"/>
              </a:lnSpc>
            </a:pPr>
            <a:r>
              <a:rPr lang="en-US" sz="12800" spc="-128">
                <a:solidFill>
                  <a:srgbClr val="FFFFFF"/>
                </a:solidFill>
                <a:latin typeface="Helvetica World"/>
                <a:ea typeface="Helvetica World"/>
                <a:cs typeface="Helvetica World"/>
                <a:sym typeface="Helvetica World"/>
              </a:rPr>
              <a:t>%</a:t>
            </a:r>
          </a:p>
        </p:txBody>
      </p:sp>
      <p:sp>
        <p:nvSpPr>
          <p:cNvPr name="TextBox 12" id="12"/>
          <p:cNvSpPr txBox="true"/>
          <p:nvPr/>
        </p:nvSpPr>
        <p:spPr>
          <a:xfrm rot="0">
            <a:off x="10483491" y="8427720"/>
            <a:ext cx="6775809" cy="830580"/>
          </a:xfrm>
          <a:prstGeom prst="rect">
            <a:avLst/>
          </a:prstGeom>
        </p:spPr>
        <p:txBody>
          <a:bodyPr anchor="t" rtlCol="false" tIns="0" lIns="0" bIns="0" rIns="0">
            <a:spAutoFit/>
          </a:bodyPr>
          <a:lstStyle/>
          <a:p>
            <a:pPr algn="r">
              <a:lnSpc>
                <a:spcPts val="6719"/>
              </a:lnSpc>
            </a:pPr>
            <a:r>
              <a:rPr lang="en-US" sz="4800" spc="-48">
                <a:solidFill>
                  <a:srgbClr val="FFFFFF">
                    <a:alpha val="49804"/>
                  </a:srgbClr>
                </a:solidFill>
                <a:latin typeface="Helvetica World"/>
                <a:ea typeface="Helvetica World"/>
                <a:cs typeface="Helvetica World"/>
                <a:sym typeface="Helvetica World"/>
              </a:rPr>
              <a:t>of total revenue</a:t>
            </a:r>
          </a:p>
        </p:txBody>
      </p:sp>
      <p:sp>
        <p:nvSpPr>
          <p:cNvPr name="TextBox 13" id="13"/>
          <p:cNvSpPr txBox="true"/>
          <p:nvPr/>
        </p:nvSpPr>
        <p:spPr>
          <a:xfrm rot="0">
            <a:off x="1028700" y="5245408"/>
            <a:ext cx="3880396" cy="972185"/>
          </a:xfrm>
          <a:prstGeom prst="rect">
            <a:avLst/>
          </a:prstGeom>
        </p:spPr>
        <p:txBody>
          <a:bodyPr anchor="t" rtlCol="false" tIns="0" lIns="0" bIns="0" rIns="0">
            <a:spAutoFit/>
          </a:bodyPr>
          <a:lstStyle/>
          <a:p>
            <a:pPr algn="l">
              <a:lnSpc>
                <a:spcPts val="7840"/>
              </a:lnSpc>
              <a:spcBef>
                <a:spcPct val="0"/>
              </a:spcBef>
            </a:pPr>
            <a:r>
              <a:rPr lang="en-US" sz="5600" spc="-56">
                <a:solidFill>
                  <a:srgbClr val="A6A6A6"/>
                </a:solidFill>
                <a:latin typeface="Helvetica World"/>
                <a:ea typeface="Helvetica World"/>
                <a:cs typeface="Helvetica World"/>
                <a:sym typeface="Helvetica World"/>
              </a:rPr>
              <a:t>e-commerce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sp>
        <p:nvSpPr>
          <p:cNvPr name="TextBox 3" id="3"/>
          <p:cNvSpPr txBox="true"/>
          <p:nvPr/>
        </p:nvSpPr>
        <p:spPr>
          <a:xfrm rot="0">
            <a:off x="1028700" y="4445065"/>
            <a:ext cx="6712998" cy="3883025"/>
          </a:xfrm>
          <a:prstGeom prst="rect">
            <a:avLst/>
          </a:prstGeom>
        </p:spPr>
        <p:txBody>
          <a:bodyPr anchor="t" rtlCol="false" tIns="0" lIns="0" bIns="0" rIns="0">
            <a:spAutoFit/>
          </a:bodyPr>
          <a:lstStyle/>
          <a:p>
            <a:pPr algn="l">
              <a:lnSpc>
                <a:spcPts val="2800"/>
              </a:lnSpc>
              <a:spcBef>
                <a:spcPct val="0"/>
              </a:spcBef>
            </a:pPr>
            <a:r>
              <a:rPr lang="en-US" sz="2000" spc="-20">
                <a:solidFill>
                  <a:srgbClr val="FFFFFF"/>
                </a:solidFill>
                <a:latin typeface="Helvetica World"/>
                <a:ea typeface="Helvetica World"/>
                <a:cs typeface="Helvetica World"/>
                <a:sym typeface="Helvetica World"/>
              </a:rPr>
              <a:t>Amazon began dominating the e-commerce market by leveraging its distribution infrastructure as a foundation. Through strategic positioning in both B2C retail and B2B marketplaces, the company optimized its supply chain and progressively increased market share. Various approaches in SEO optimization and digital publishing enabled Amazon to expand its d</a:t>
            </a:r>
            <a:r>
              <a:rPr lang="en-US" sz="2000" spc="-20">
                <a:solidFill>
                  <a:srgbClr val="FFFFFF"/>
                </a:solidFill>
                <a:latin typeface="Helvetica World"/>
                <a:ea typeface="Helvetica World"/>
                <a:cs typeface="Helvetica World"/>
                <a:sym typeface="Helvetica World"/>
              </a:rPr>
              <a:t>igital commerce footprint while deepening seller dependency on the platform. This integrated strategy transformed Amazon from a retailer into essential infrastructure for digital commerce, with sellers increasingly reliant on its ecosystem for visibility and fulfillment.</a:t>
            </a:r>
          </a:p>
        </p:txBody>
      </p:sp>
      <p:sp>
        <p:nvSpPr>
          <p:cNvPr name="AutoShape 4" id="4"/>
          <p:cNvSpPr/>
          <p:nvPr/>
        </p:nvSpPr>
        <p:spPr>
          <a:xfrm flipH="true">
            <a:off x="9134475" y="4502215"/>
            <a:ext cx="0" cy="4030280"/>
          </a:xfrm>
          <a:prstGeom prst="line">
            <a:avLst/>
          </a:prstGeom>
          <a:ln cap="rnd" w="19050">
            <a:solidFill>
              <a:srgbClr val="FFFFFF">
                <a:alpha val="29804"/>
              </a:srgbClr>
            </a:solidFill>
            <a:prstDash val="sysDash"/>
            <a:headEnd type="none" len="sm" w="sm"/>
            <a:tailEnd type="none" len="sm" w="sm"/>
          </a:ln>
        </p:spPr>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8" id="8"/>
          <p:cNvGrpSpPr/>
          <p:nvPr/>
        </p:nvGrpSpPr>
        <p:grpSpPr>
          <a:xfrm rot="0">
            <a:off x="9684898" y="4502215"/>
            <a:ext cx="7284917" cy="1845299"/>
            <a:chOff x="0" y="0"/>
            <a:chExt cx="9713223" cy="2460399"/>
          </a:xfrm>
        </p:grpSpPr>
        <p:sp>
          <p:nvSpPr>
            <p:cNvPr name="TextBox 9" id="9"/>
            <p:cNvSpPr txBox="true"/>
            <p:nvPr/>
          </p:nvSpPr>
          <p:spPr>
            <a:xfrm rot="0">
              <a:off x="0" y="0"/>
              <a:ext cx="3245722" cy="2019300"/>
            </a:xfrm>
            <a:prstGeom prst="rect">
              <a:avLst/>
            </a:prstGeom>
          </p:spPr>
          <p:txBody>
            <a:bodyPr anchor="t" rtlCol="false" tIns="0" lIns="0" bIns="0" rIns="0">
              <a:spAutoFit/>
            </a:bodyPr>
            <a:lstStyle/>
            <a:p>
              <a:pPr algn="l">
                <a:lnSpc>
                  <a:spcPts val="11999"/>
                </a:lnSpc>
                <a:spcBef>
                  <a:spcPct val="0"/>
                </a:spcBef>
              </a:pPr>
              <a:r>
                <a:rPr lang="en-US" sz="9999" spc="-99">
                  <a:solidFill>
                    <a:srgbClr val="A6A6A6"/>
                  </a:solidFill>
                  <a:latin typeface="Helvetica World"/>
                  <a:ea typeface="Helvetica World"/>
                  <a:cs typeface="Helvetica World"/>
                  <a:sym typeface="Helvetica World"/>
                </a:rPr>
                <a:t>37.6</a:t>
              </a:r>
            </a:p>
          </p:txBody>
        </p:sp>
        <p:sp>
          <p:nvSpPr>
            <p:cNvPr name="TextBox 10" id="10"/>
            <p:cNvSpPr txBox="true"/>
            <p:nvPr/>
          </p:nvSpPr>
          <p:spPr>
            <a:xfrm rot="0">
              <a:off x="3815622" y="644525"/>
              <a:ext cx="5897600" cy="720725"/>
            </a:xfrm>
            <a:prstGeom prst="rect">
              <a:avLst/>
            </a:prstGeom>
          </p:spPr>
          <p:txBody>
            <a:bodyPr anchor="t" rtlCol="false" tIns="0" lIns="0" bIns="0" rIns="0">
              <a:spAutoFit/>
            </a:bodyPr>
            <a:lstStyle/>
            <a:p>
              <a:pPr algn="r">
                <a:lnSpc>
                  <a:spcPts val="2160"/>
                </a:lnSpc>
                <a:spcBef>
                  <a:spcPct val="0"/>
                </a:spcBef>
              </a:pPr>
              <a:r>
                <a:rPr lang="en-US" sz="1800" spc="-18">
                  <a:solidFill>
                    <a:srgbClr val="A6A6A6"/>
                  </a:solidFill>
                  <a:latin typeface="Helvetica World"/>
                  <a:ea typeface="Helvetica World"/>
                  <a:cs typeface="Helvetica World"/>
                  <a:sym typeface="Helvetica World"/>
                </a:rPr>
                <a:t>of US e-commer</a:t>
              </a:r>
              <a:r>
                <a:rPr lang="en-US" sz="1800" spc="-18">
                  <a:solidFill>
                    <a:srgbClr val="A6A6A6"/>
                  </a:solidFill>
                  <a:latin typeface="Helvetica World"/>
                  <a:ea typeface="Helvetica World"/>
                  <a:cs typeface="Helvetica World"/>
                  <a:sym typeface="Helvetica World"/>
                </a:rPr>
                <a:t>ce market share</a:t>
              </a:r>
            </a:p>
            <a:p>
              <a:pPr algn="r">
                <a:lnSpc>
                  <a:spcPts val="2160"/>
                </a:lnSpc>
                <a:spcBef>
                  <a:spcPct val="0"/>
                </a:spcBef>
              </a:pPr>
              <a:r>
                <a:rPr lang="en-US" sz="1800" spc="-18">
                  <a:solidFill>
                    <a:srgbClr val="A6A6A6"/>
                  </a:solidFill>
                  <a:latin typeface="Helvetica World"/>
                  <a:ea typeface="Helvetica World"/>
                  <a:cs typeface="Helvetica World"/>
                  <a:sym typeface="Helvetica World"/>
                </a:rPr>
                <a:t>($576.6B - brand value in 2025)</a:t>
              </a:r>
            </a:p>
          </p:txBody>
        </p:sp>
        <p:sp>
          <p:nvSpPr>
            <p:cNvPr name="TextBox 11" id="11"/>
            <p:cNvSpPr txBox="true"/>
            <p:nvPr/>
          </p:nvSpPr>
          <p:spPr>
            <a:xfrm rot="0">
              <a:off x="3245722" y="492125"/>
              <a:ext cx="901175" cy="1025525"/>
            </a:xfrm>
            <a:prstGeom prst="rect">
              <a:avLst/>
            </a:prstGeom>
          </p:spPr>
          <p:txBody>
            <a:bodyPr anchor="t" rtlCol="false" tIns="0" lIns="0" bIns="0" rIns="0">
              <a:spAutoFit/>
            </a:bodyPr>
            <a:lstStyle/>
            <a:p>
              <a:pPr algn="l">
                <a:lnSpc>
                  <a:spcPts val="6000"/>
                </a:lnSpc>
                <a:spcBef>
                  <a:spcPct val="0"/>
                </a:spcBef>
              </a:pPr>
              <a:r>
                <a:rPr lang="en-US" sz="5000" spc="-50">
                  <a:solidFill>
                    <a:srgbClr val="A6A6A6"/>
                  </a:solidFill>
                  <a:latin typeface="Helvetica World"/>
                  <a:ea typeface="Helvetica World"/>
                  <a:cs typeface="Helvetica World"/>
                  <a:sym typeface="Helvetica World"/>
                </a:rPr>
                <a:t>%</a:t>
              </a:r>
            </a:p>
          </p:txBody>
        </p:sp>
        <p:sp>
          <p:nvSpPr>
            <p:cNvPr name="TextBox 12" id="12"/>
            <p:cNvSpPr txBox="true"/>
            <p:nvPr/>
          </p:nvSpPr>
          <p:spPr>
            <a:xfrm rot="0">
              <a:off x="0" y="1968274"/>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A6A6A6"/>
                  </a:solidFill>
                  <a:latin typeface="Helvetica World"/>
                  <a:ea typeface="Helvetica World"/>
                  <a:cs typeface="Helvetica World"/>
                  <a:sym typeface="Helvetica World"/>
                </a:rPr>
                <a:t>Source: Statista, </a:t>
              </a:r>
              <a:r>
                <a:rPr lang="en-US" sz="1200" spc="-12" u="sng">
                  <a:solidFill>
                    <a:srgbClr val="A6A6A6"/>
                  </a:solidFill>
                  <a:latin typeface="Helvetica World"/>
                  <a:ea typeface="Helvetica World"/>
                  <a:cs typeface="Helvetica World"/>
                  <a:sym typeface="Helvetica World"/>
                  <a:hlinkClick r:id="rId2" tooltip="https://www.statista.com/topics/846/amazon/"/>
                </a:rPr>
                <a:t>Source: Synergy Research Group (November 2025) of the global cloud infr</a:t>
              </a:r>
              <a:r>
                <a:rPr lang="en-US" sz="1200" spc="-12" u="sng">
                  <a:solidFill>
                    <a:srgbClr val="A6A6A6"/>
                  </a:solidFill>
                  <a:latin typeface="Helvetica World"/>
                  <a:ea typeface="Helvetica World"/>
                  <a:cs typeface="Helvetica World"/>
                  <a:sym typeface="Helvetica World"/>
                  <a:hlinkClick r:id="rId3" tooltip="https://www.statista.com/topics/846/amazon/"/>
                </a:rPr>
                <a:t>ast</a:t>
              </a:r>
              <a:r>
                <a:rPr lang="en-US" sz="1200" spc="-12" u="sng">
                  <a:solidFill>
                    <a:srgbClr val="A6A6A6"/>
                  </a:solidFill>
                  <a:latin typeface="Helvetica World"/>
                  <a:ea typeface="Helvetica World"/>
                  <a:cs typeface="Helvetica World"/>
                  <a:sym typeface="Helvetica World"/>
                  <a:hlinkClick r:id="rId4" tooltip="https://www.statista.com/topics/846/amazon/"/>
                </a:rPr>
                <a:t>ructure market in Q3 2025, maintaining its lead over Microsoft Azure (20%) and Google Cloud (13%)</a:t>
              </a:r>
            </a:p>
          </p:txBody>
        </p:sp>
      </p:grpSp>
      <p:grpSp>
        <p:nvGrpSpPr>
          <p:cNvPr name="Group 13" id="13"/>
          <p:cNvGrpSpPr/>
          <p:nvPr/>
        </p:nvGrpSpPr>
        <p:grpSpPr>
          <a:xfrm rot="0">
            <a:off x="9684898" y="6658271"/>
            <a:ext cx="7284917" cy="1874224"/>
            <a:chOff x="0" y="0"/>
            <a:chExt cx="9713223" cy="2498966"/>
          </a:xfrm>
        </p:grpSpPr>
        <p:sp>
          <p:nvSpPr>
            <p:cNvPr name="TextBox 14" id="14"/>
            <p:cNvSpPr txBox="true"/>
            <p:nvPr/>
          </p:nvSpPr>
          <p:spPr>
            <a:xfrm rot="0">
              <a:off x="161479" y="0"/>
              <a:ext cx="1849636" cy="2019300"/>
            </a:xfrm>
            <a:prstGeom prst="rect">
              <a:avLst/>
            </a:prstGeom>
          </p:spPr>
          <p:txBody>
            <a:bodyPr anchor="t" rtlCol="false" tIns="0" lIns="0" bIns="0" rIns="0">
              <a:spAutoFit/>
            </a:bodyPr>
            <a:lstStyle/>
            <a:p>
              <a:pPr algn="l">
                <a:lnSpc>
                  <a:spcPts val="11999"/>
                </a:lnSpc>
                <a:spcBef>
                  <a:spcPct val="0"/>
                </a:spcBef>
              </a:pPr>
              <a:r>
                <a:rPr lang="en-US" sz="9999" spc="-99">
                  <a:solidFill>
                    <a:srgbClr val="A6A6A6"/>
                  </a:solidFill>
                  <a:latin typeface="Helvetica World"/>
                  <a:ea typeface="Helvetica World"/>
                  <a:cs typeface="Helvetica World"/>
                  <a:sym typeface="Helvetica World"/>
                </a:rPr>
                <a:t>62</a:t>
              </a:r>
            </a:p>
          </p:txBody>
        </p:sp>
        <p:sp>
          <p:nvSpPr>
            <p:cNvPr name="TextBox 15" id="15"/>
            <p:cNvSpPr txBox="true"/>
            <p:nvPr/>
          </p:nvSpPr>
          <p:spPr>
            <a:xfrm rot="0">
              <a:off x="3815622" y="466725"/>
              <a:ext cx="5897600" cy="1076325"/>
            </a:xfrm>
            <a:prstGeom prst="rect">
              <a:avLst/>
            </a:prstGeom>
          </p:spPr>
          <p:txBody>
            <a:bodyPr anchor="t" rtlCol="false" tIns="0" lIns="0" bIns="0" rIns="0">
              <a:spAutoFit/>
            </a:bodyPr>
            <a:lstStyle/>
            <a:p>
              <a:pPr algn="r">
                <a:lnSpc>
                  <a:spcPts val="2160"/>
                </a:lnSpc>
                <a:spcBef>
                  <a:spcPct val="0"/>
                </a:spcBef>
              </a:pPr>
              <a:r>
                <a:rPr lang="en-US" sz="1800" spc="-18">
                  <a:solidFill>
                    <a:srgbClr val="A6A6A6"/>
                  </a:solidFill>
                  <a:latin typeface="Helvetica World"/>
                  <a:ea typeface="Helvetica World"/>
                  <a:cs typeface="Helvetica World"/>
                  <a:sym typeface="Helvetica World"/>
                </a:rPr>
                <a:t>of A</a:t>
              </a:r>
              <a:r>
                <a:rPr lang="en-US" sz="1800" spc="-18">
                  <a:solidFill>
                    <a:srgbClr val="A6A6A6"/>
                  </a:solidFill>
                  <a:latin typeface="Helvetica World"/>
                  <a:ea typeface="Helvetica World"/>
                  <a:cs typeface="Helvetica World"/>
                  <a:sym typeface="Helvetica World"/>
                </a:rPr>
                <a:t>mazon's unit sales from third-party sellers</a:t>
              </a:r>
            </a:p>
            <a:p>
              <a:pPr algn="r">
                <a:lnSpc>
                  <a:spcPts val="2160"/>
                </a:lnSpc>
                <a:spcBef>
                  <a:spcPct val="0"/>
                </a:spcBef>
              </a:pPr>
              <a:r>
                <a:rPr lang="en-US" sz="1800" spc="-18">
                  <a:solidFill>
                    <a:srgbClr val="A6A6A6"/>
                  </a:solidFill>
                  <a:latin typeface="Helvetica World"/>
                  <a:ea typeface="Helvetica World"/>
                  <a:cs typeface="Helvetica World"/>
                  <a:sym typeface="Helvetica World"/>
                </a:rPr>
                <a:t>($30.4B - Amazon net income in 2024)</a:t>
              </a:r>
            </a:p>
          </p:txBody>
        </p:sp>
        <p:sp>
          <p:nvSpPr>
            <p:cNvPr name="TextBox 16" id="16"/>
            <p:cNvSpPr txBox="true"/>
            <p:nvPr/>
          </p:nvSpPr>
          <p:spPr>
            <a:xfrm rot="0">
              <a:off x="2011114" y="492125"/>
              <a:ext cx="1231999" cy="1025525"/>
            </a:xfrm>
            <a:prstGeom prst="rect">
              <a:avLst/>
            </a:prstGeom>
          </p:spPr>
          <p:txBody>
            <a:bodyPr anchor="t" rtlCol="false" tIns="0" lIns="0" bIns="0" rIns="0">
              <a:spAutoFit/>
            </a:bodyPr>
            <a:lstStyle/>
            <a:p>
              <a:pPr algn="l">
                <a:lnSpc>
                  <a:spcPts val="6000"/>
                </a:lnSpc>
                <a:spcBef>
                  <a:spcPct val="0"/>
                </a:spcBef>
              </a:pPr>
              <a:r>
                <a:rPr lang="en-US" sz="5000" spc="-50">
                  <a:solidFill>
                    <a:srgbClr val="A6A6A6"/>
                  </a:solidFill>
                  <a:latin typeface="Helvetica World"/>
                  <a:ea typeface="Helvetica World"/>
                  <a:cs typeface="Helvetica World"/>
                  <a:sym typeface="Helvetica World"/>
                </a:rPr>
                <a:t>%</a:t>
              </a:r>
            </a:p>
          </p:txBody>
        </p:sp>
        <p:sp>
          <p:nvSpPr>
            <p:cNvPr name="TextBox 17" id="17"/>
            <p:cNvSpPr txBox="true"/>
            <p:nvPr/>
          </p:nvSpPr>
          <p:spPr>
            <a:xfrm rot="0">
              <a:off x="0" y="2006841"/>
              <a:ext cx="9713223" cy="492125"/>
            </a:xfrm>
            <a:prstGeom prst="rect">
              <a:avLst/>
            </a:prstGeom>
          </p:spPr>
          <p:txBody>
            <a:bodyPr anchor="t" rtlCol="false" tIns="0" lIns="0" bIns="0" rIns="0">
              <a:spAutoFit/>
            </a:bodyPr>
            <a:lstStyle/>
            <a:p>
              <a:pPr algn="r">
                <a:lnSpc>
                  <a:spcPts val="1439"/>
                </a:lnSpc>
                <a:spcBef>
                  <a:spcPct val="0"/>
                </a:spcBef>
              </a:pPr>
              <a:r>
                <a:rPr lang="en-US" sz="1200" spc="-12" u="sng">
                  <a:solidFill>
                    <a:srgbClr val="A6A6A6"/>
                  </a:solidFill>
                  <a:latin typeface="Helvetica World"/>
                  <a:ea typeface="Helvetica World"/>
                  <a:cs typeface="Helvetica World"/>
                  <a:sym typeface="Helvetica World"/>
                  <a:hlinkClick r:id="rId5" tooltip="https://aws.amazon.com/blogs/apn/say-hello-to-103-new-aws-competency-service-delivery-service-ready-and-msp-partners-added-in-february/"/>
                </a:rPr>
                <a:t>Source: Statista, </a:t>
              </a:r>
              <a:r>
                <a:rPr lang="en-US" sz="1200" spc="-12" u="sng">
                  <a:solidFill>
                    <a:srgbClr val="A6A6A6"/>
                  </a:solidFill>
                  <a:latin typeface="Helvetica World"/>
                  <a:ea typeface="Helvetica World"/>
                  <a:cs typeface="Helvetica World"/>
                  <a:sym typeface="Helvetica World"/>
                  <a:hlinkClick r:id="rId6" tooltip="https://www.statista.com/statistics/259782/third-party-seller-share-of-amazon-platform/"/>
                </a:rPr>
                <a:t>Source: Synergy Research Group (November 2025) of the global cloud infr</a:t>
              </a:r>
              <a:r>
                <a:rPr lang="en-US" sz="1200" spc="-12" u="sng">
                  <a:solidFill>
                    <a:srgbClr val="A6A6A6"/>
                  </a:solidFill>
                  <a:latin typeface="Helvetica World"/>
                  <a:ea typeface="Helvetica World"/>
                  <a:cs typeface="Helvetica World"/>
                  <a:sym typeface="Helvetica World"/>
                  <a:hlinkClick r:id="rId7" tooltip="https://www.statista.com/statistics/259782/third-party-seller-share-of-amazon-platform/"/>
                </a:rPr>
                <a:t>ast</a:t>
              </a:r>
              <a:r>
                <a:rPr lang="en-US" sz="1200" spc="-12" u="sng">
                  <a:solidFill>
                    <a:srgbClr val="A6A6A6"/>
                  </a:solidFill>
                  <a:latin typeface="Helvetica World"/>
                  <a:ea typeface="Helvetica World"/>
                  <a:cs typeface="Helvetica World"/>
                  <a:sym typeface="Helvetica World"/>
                  <a:hlinkClick r:id="rId8" tooltip="https://www.statista.com/statistics/259782/third-party-seller-share-of-amazon-platform/"/>
                </a:rPr>
                <a:t>ructure market in Q3 2025, maintaining its lead over Microsoft Azure (20%) and Google Cloud (13%)</a:t>
              </a:r>
            </a:p>
          </p:txBody>
        </p:sp>
      </p:gr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20" id="2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09</a:t>
              </a:r>
            </a:p>
          </p:txBody>
        </p:sp>
      </p:grpSp>
      <p:sp>
        <p:nvSpPr>
          <p:cNvPr name="Freeform 21" id="21"/>
          <p:cNvSpPr/>
          <p:nvPr/>
        </p:nvSpPr>
        <p:spPr>
          <a:xfrm flipH="false" flipV="false" rot="0">
            <a:off x="1032835" y="2209016"/>
            <a:ext cx="3532813" cy="1064260"/>
          </a:xfrm>
          <a:custGeom>
            <a:avLst/>
            <a:gdLst/>
            <a:ahLst/>
            <a:cxnLst/>
            <a:rect r="r" b="b" t="t" l="l"/>
            <a:pathLst>
              <a:path h="1064260" w="3532813">
                <a:moveTo>
                  <a:pt x="0" y="0"/>
                </a:moveTo>
                <a:lnTo>
                  <a:pt x="3532814" y="0"/>
                </a:lnTo>
                <a:lnTo>
                  <a:pt x="3532814" y="1064260"/>
                </a:lnTo>
                <a:lnTo>
                  <a:pt x="0" y="1064260"/>
                </a:lnTo>
                <a:lnTo>
                  <a:pt x="0" y="0"/>
                </a:lnTo>
                <a:close/>
              </a:path>
            </a:pathLst>
          </a:custGeom>
          <a:blipFill>
            <a:blip r:embed="rId9"/>
            <a:stretch>
              <a:fillRect l="0" t="0" r="0" b="0"/>
            </a:stretch>
          </a:blipFill>
        </p:spPr>
      </p:sp>
      <p:sp>
        <p:nvSpPr>
          <p:cNvPr name="TextBox 22" id="22"/>
          <p:cNvSpPr txBox="true"/>
          <p:nvPr/>
        </p:nvSpPr>
        <p:spPr>
          <a:xfrm rot="0">
            <a:off x="4848875" y="2151866"/>
            <a:ext cx="1663080" cy="415290"/>
          </a:xfrm>
          <a:prstGeom prst="rect">
            <a:avLst/>
          </a:prstGeom>
        </p:spPr>
        <p:txBody>
          <a:bodyPr anchor="t" rtlCol="false" tIns="0" lIns="0" bIns="0" rIns="0">
            <a:spAutoFit/>
          </a:bodyPr>
          <a:lstStyle/>
          <a:p>
            <a:pPr algn="ctr">
              <a:lnSpc>
                <a:spcPts val="3359"/>
              </a:lnSpc>
              <a:spcBef>
                <a:spcPct val="0"/>
              </a:spcBef>
            </a:pPr>
            <a:r>
              <a:rPr lang="en-US" sz="2400" spc="-24">
                <a:solidFill>
                  <a:srgbClr val="A6A6A6"/>
                </a:solidFill>
                <a:latin typeface="Helvetica World"/>
                <a:ea typeface="Helvetica World"/>
                <a:cs typeface="Helvetica World"/>
                <a:sym typeface="Helvetica World"/>
              </a:rPr>
              <a:t>e-commerce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2026</a:t>
            </a:r>
          </a:p>
        </p:txBody>
      </p:sp>
      <p:grpSp>
        <p:nvGrpSpPr>
          <p:cNvPr name="Group 3" id="3"/>
          <p:cNvGrpSpPr/>
          <p:nvPr/>
        </p:nvGrpSpPr>
        <p:grpSpPr>
          <a:xfrm rot="0">
            <a:off x="1028700" y="4502215"/>
            <a:ext cx="3048973" cy="1282571"/>
            <a:chOff x="0" y="0"/>
            <a:chExt cx="4065297" cy="1710094"/>
          </a:xfrm>
        </p:grpSpPr>
        <p:sp>
          <p:nvSpPr>
            <p:cNvPr name="TextBox 4" id="4"/>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Global Expansion</a:t>
              </a:r>
            </a:p>
          </p:txBody>
        </p:sp>
        <p:sp>
          <p:nvSpPr>
            <p:cNvPr name="TextBox 5" id="5"/>
            <p:cNvSpPr txBox="true"/>
            <p:nvPr/>
          </p:nvSpPr>
          <p:spPr>
            <a:xfrm rot="0">
              <a:off x="0" y="748069"/>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UK Launch (Darlington)</a:t>
              </a:r>
            </a:p>
            <a:p>
              <a:pPr algn="l">
                <a:lnSpc>
                  <a:spcPts val="1919"/>
                </a:lnSpc>
              </a:pPr>
              <a:r>
                <a:rPr lang="en-US" sz="1599" spc="-15">
                  <a:solidFill>
                    <a:srgbClr val="FFFFFF">
                      <a:alpha val="49804"/>
                    </a:srgbClr>
                  </a:solidFill>
                  <a:latin typeface="Helvetica World"/>
                  <a:ea typeface="Helvetica World"/>
                  <a:cs typeface="Helvetica World"/>
                  <a:sym typeface="Helvetica World"/>
                </a:rPr>
                <a:t>20+ Satellite Launches</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MK30 Drone: 12km range</a:t>
              </a:r>
            </a:p>
          </p:txBody>
        </p:sp>
      </p:grpSp>
      <p:grpSp>
        <p:nvGrpSpPr>
          <p:cNvPr name="Group 6" id="6"/>
          <p:cNvGrpSpPr/>
          <p:nvPr/>
        </p:nvGrpSpPr>
        <p:grpSpPr>
          <a:xfrm rot="0">
            <a:off x="1029402" y="6112542"/>
            <a:ext cx="3048973" cy="1284223"/>
            <a:chOff x="0" y="0"/>
            <a:chExt cx="4065297" cy="1712297"/>
          </a:xfrm>
        </p:grpSpPr>
        <p:sp>
          <p:nvSpPr>
            <p:cNvPr name="TextBox 7" id="7"/>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AI Integration</a:t>
              </a:r>
            </a:p>
          </p:txBody>
        </p:sp>
        <p:sp>
          <p:nvSpPr>
            <p:cNvPr name="TextBox 8" id="8"/>
            <p:cNvSpPr txBox="true"/>
            <p:nvPr/>
          </p:nvSpPr>
          <p:spPr>
            <a:xfrm rot="0">
              <a:off x="0" y="750272"/>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Account Memory Added</a:t>
              </a:r>
            </a:p>
            <a:p>
              <a:pPr algn="l">
                <a:lnSpc>
                  <a:spcPts val="1919"/>
                </a:lnSpc>
              </a:pPr>
              <a:r>
                <a:rPr lang="en-US" sz="1599" spc="-15">
                  <a:solidFill>
                    <a:srgbClr val="FFFFFF">
                      <a:alpha val="49804"/>
                    </a:srgbClr>
                  </a:solidFill>
                  <a:latin typeface="Helvetica World"/>
                  <a:ea typeface="Helvetica World"/>
                  <a:cs typeface="Helvetica World"/>
                  <a:sym typeface="Helvetica World"/>
                </a:rPr>
                <a:t>Kindle/Audible Integration</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AutoBuy Launch</a:t>
              </a:r>
            </a:p>
          </p:txBody>
        </p:sp>
      </p:grpSp>
      <p:sp>
        <p:nvSpPr>
          <p:cNvPr name="TextBox 9" id="9"/>
          <p:cNvSpPr txBox="true"/>
          <p:nvPr/>
        </p:nvSpPr>
        <p:spPr>
          <a:xfrm rot="0">
            <a:off x="5081588"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2027</a:t>
            </a:r>
          </a:p>
        </p:txBody>
      </p:sp>
      <p:grpSp>
        <p:nvGrpSpPr>
          <p:cNvPr name="Group 10" id="10"/>
          <p:cNvGrpSpPr/>
          <p:nvPr/>
        </p:nvGrpSpPr>
        <p:grpSpPr>
          <a:xfrm rot="0">
            <a:off x="5081588" y="4502215"/>
            <a:ext cx="3048973" cy="1044446"/>
            <a:chOff x="0" y="0"/>
            <a:chExt cx="4065297" cy="1392594"/>
          </a:xfrm>
        </p:grpSpPr>
        <p:sp>
          <p:nvSpPr>
            <p:cNvPr name="TextBox 11" id="11"/>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Scale &amp; Profit</a:t>
              </a:r>
            </a:p>
          </p:txBody>
        </p:sp>
        <p:sp>
          <p:nvSpPr>
            <p:cNvPr name="TextBox 12" id="12"/>
            <p:cNvSpPr txBox="true"/>
            <p:nvPr/>
          </p:nvSpPr>
          <p:spPr>
            <a:xfrm rot="0">
              <a:off x="0" y="748069"/>
              <a:ext cx="4065297" cy="6445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30+ Satellite Launches</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Rufus AI: .2B Op. Income</a:t>
              </a:r>
            </a:p>
          </p:txBody>
        </p:sp>
      </p:grpSp>
      <p:sp>
        <p:nvSpPr>
          <p:cNvPr name="TextBox 13" id="13"/>
          <p:cNvSpPr txBox="true"/>
          <p:nvPr/>
        </p:nvSpPr>
        <p:spPr>
          <a:xfrm rot="0">
            <a:off x="9498028"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2028</a:t>
            </a:r>
          </a:p>
        </p:txBody>
      </p:sp>
      <p:grpSp>
        <p:nvGrpSpPr>
          <p:cNvPr name="Group 14" id="14"/>
          <p:cNvGrpSpPr/>
          <p:nvPr/>
        </p:nvGrpSpPr>
        <p:grpSpPr>
          <a:xfrm rot="0">
            <a:off x="9498028" y="4502215"/>
            <a:ext cx="3049674" cy="1044446"/>
            <a:chOff x="0" y="0"/>
            <a:chExt cx="4066233" cy="1392594"/>
          </a:xfrm>
        </p:grpSpPr>
        <p:sp>
          <p:nvSpPr>
            <p:cNvPr name="TextBox 15" id="15"/>
            <p:cNvSpPr txBox="true"/>
            <p:nvPr/>
          </p:nvSpPr>
          <p:spPr>
            <a:xfrm rot="0">
              <a:off x="936"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Revenue Impact</a:t>
              </a:r>
            </a:p>
          </p:txBody>
        </p:sp>
        <p:sp>
          <p:nvSpPr>
            <p:cNvPr name="TextBox 16" id="16"/>
            <p:cNvSpPr txBox="true"/>
            <p:nvPr/>
          </p:nvSpPr>
          <p:spPr>
            <a:xfrm rot="0">
              <a:off x="0" y="748069"/>
              <a:ext cx="4065297" cy="6445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4.44% GMV Increase</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new Ad Revenue</a:t>
              </a:r>
            </a:p>
          </p:txBody>
        </p:sp>
      </p:grpSp>
      <p:sp>
        <p:nvSpPr>
          <p:cNvPr name="TextBox 17" id="17"/>
          <p:cNvSpPr txBox="true"/>
          <p:nvPr/>
        </p:nvSpPr>
        <p:spPr>
          <a:xfrm rot="0">
            <a:off x="13892137"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2030</a:t>
            </a:r>
          </a:p>
        </p:txBody>
      </p:sp>
      <p:grpSp>
        <p:nvGrpSpPr>
          <p:cNvPr name="Group 18" id="18"/>
          <p:cNvGrpSpPr/>
          <p:nvPr/>
        </p:nvGrpSpPr>
        <p:grpSpPr>
          <a:xfrm rot="0">
            <a:off x="13890727" y="4502215"/>
            <a:ext cx="3048973" cy="1282571"/>
            <a:chOff x="0" y="0"/>
            <a:chExt cx="4065297" cy="1710094"/>
          </a:xfrm>
        </p:grpSpPr>
        <p:sp>
          <p:nvSpPr>
            <p:cNvPr name="TextBox 19" id="19"/>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Long-term Goals</a:t>
              </a:r>
            </a:p>
          </p:txBody>
        </p:sp>
        <p:sp>
          <p:nvSpPr>
            <p:cNvPr name="TextBox 20" id="20"/>
            <p:cNvSpPr txBox="true"/>
            <p:nvPr/>
          </p:nvSpPr>
          <p:spPr>
            <a:xfrm rot="0">
              <a:off x="0" y="748069"/>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500M Drone Packages/yr</a:t>
              </a:r>
            </a:p>
            <a:p>
              <a:pPr algn="l">
                <a:lnSpc>
                  <a:spcPts val="1919"/>
                </a:lnSpc>
              </a:pPr>
              <a:r>
                <a:rPr lang="en-US" sz="1599" spc="-15">
                  <a:solidFill>
                    <a:srgbClr val="FFFFFF">
                      <a:alpha val="49804"/>
                    </a:srgbClr>
                  </a:solidFill>
                  <a:latin typeface="Helvetica World"/>
                  <a:ea typeface="Helvetica World"/>
                  <a:cs typeface="Helvetica World"/>
                  <a:sym typeface="Helvetica World"/>
                </a:rPr>
                <a:t>100k Electric Vans</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50% Food Waste Reduction</a:t>
              </a:r>
            </a:p>
          </p:txBody>
        </p:sp>
      </p:grpSp>
      <p:grpSp>
        <p:nvGrpSpPr>
          <p:cNvPr name="Group 21" id="21"/>
          <p:cNvGrpSpPr/>
          <p:nvPr/>
        </p:nvGrpSpPr>
        <p:grpSpPr>
          <a:xfrm rot="0">
            <a:off x="1028700" y="7724522"/>
            <a:ext cx="3048973" cy="807973"/>
            <a:chOff x="0" y="0"/>
            <a:chExt cx="4065297" cy="1077297"/>
          </a:xfrm>
        </p:grpSpPr>
        <p:sp>
          <p:nvSpPr>
            <p:cNvPr name="TextBox 22" id="22"/>
            <p:cNvSpPr txBox="true"/>
            <p:nvPr/>
          </p:nvSpPr>
          <p:spPr>
            <a:xfrm rot="0">
              <a:off x="0" y="750272"/>
              <a:ext cx="4065297" cy="327025"/>
            </a:xfrm>
            <a:prstGeom prst="rect">
              <a:avLst/>
            </a:prstGeom>
          </p:spPr>
          <p:txBody>
            <a:bodyPr anchor="t" rtlCol="false" tIns="0" lIns="0" bIns="0" rIns="0">
              <a:spAutoFit/>
            </a:bodyPr>
            <a:lstStyle/>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CapEx Billion (+60%)</a:t>
              </a:r>
            </a:p>
          </p:txBody>
        </p:sp>
        <p:sp>
          <p:nvSpPr>
            <p:cNvPr name="TextBox 23" id="23"/>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Infrastructure</a:t>
              </a:r>
            </a:p>
          </p:txBody>
        </p:sp>
      </p:grpSp>
      <p:sp>
        <p:nvSpPr>
          <p:cNvPr name="AutoShape 24" id="24"/>
          <p:cNvSpPr/>
          <p:nvPr/>
        </p:nvSpPr>
        <p:spPr>
          <a:xfrm>
            <a:off x="4750592" y="4502215"/>
            <a:ext cx="0" cy="4030280"/>
          </a:xfrm>
          <a:prstGeom prst="line">
            <a:avLst/>
          </a:prstGeom>
          <a:ln cap="rnd" w="19050">
            <a:solidFill>
              <a:srgbClr val="FFFFFF">
                <a:alpha val="29804"/>
              </a:srgbClr>
            </a:solidFill>
            <a:prstDash val="sysDash"/>
            <a:headEnd type="none" len="sm" w="sm"/>
            <a:tailEnd type="none" len="sm" w="sm"/>
          </a:ln>
        </p:spPr>
      </p:sp>
      <p:sp>
        <p:nvSpPr>
          <p:cNvPr name="AutoShape 25" id="25"/>
          <p:cNvSpPr/>
          <p:nvPr/>
        </p:nvSpPr>
        <p:spPr>
          <a:xfrm>
            <a:off x="9144000" y="4502215"/>
            <a:ext cx="0" cy="4030280"/>
          </a:xfrm>
          <a:prstGeom prst="line">
            <a:avLst/>
          </a:prstGeom>
          <a:ln cap="rnd" w="19050">
            <a:solidFill>
              <a:srgbClr val="FFFFFF">
                <a:alpha val="29804"/>
              </a:srgbClr>
            </a:solidFill>
            <a:prstDash val="sysDash"/>
            <a:headEnd type="none" len="sm" w="sm"/>
            <a:tailEnd type="none" len="sm" w="sm"/>
          </a:ln>
        </p:spPr>
      </p:sp>
      <p:sp>
        <p:nvSpPr>
          <p:cNvPr name="AutoShape 26" id="26"/>
          <p:cNvSpPr/>
          <p:nvPr/>
        </p:nvSpPr>
        <p:spPr>
          <a:xfrm>
            <a:off x="13537405" y="4502215"/>
            <a:ext cx="0" cy="4030280"/>
          </a:xfrm>
          <a:prstGeom prst="line">
            <a:avLst/>
          </a:prstGeom>
          <a:ln cap="rnd" w="19050">
            <a:solidFill>
              <a:srgbClr val="FFFFFF">
                <a:alpha val="29804"/>
              </a:srgbClr>
            </a:solidFill>
            <a:prstDash val="sysDash"/>
            <a:headEnd type="none" len="sm" w="sm"/>
            <a:tailEnd type="none" len="sm" w="sm"/>
          </a:ln>
        </p:spPr>
      </p:sp>
      <p:grpSp>
        <p:nvGrpSpPr>
          <p:cNvPr name="Group 27" id="27"/>
          <p:cNvGrpSpPr/>
          <p:nvPr/>
        </p:nvGrpSpPr>
        <p:grpSpPr>
          <a:xfrm rot="0">
            <a:off x="1028700" y="727075"/>
            <a:ext cx="16230600" cy="301625"/>
            <a:chOff x="0" y="0"/>
            <a:chExt cx="21640800" cy="402167"/>
          </a:xfrm>
        </p:grpSpPr>
        <p:sp>
          <p:nvSpPr>
            <p:cNvPr name="TextBox 28" id="2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29" id="2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30" id="3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Roadmap - Amazon (e-commerce)</a:t>
            </a:r>
          </a:p>
        </p:txBody>
      </p:sp>
      <p:grpSp>
        <p:nvGrpSpPr>
          <p:cNvPr name="Group 31" id="31"/>
          <p:cNvGrpSpPr/>
          <p:nvPr/>
        </p:nvGrpSpPr>
        <p:grpSpPr>
          <a:xfrm rot="0">
            <a:off x="1028700" y="9258300"/>
            <a:ext cx="16230600" cy="301625"/>
            <a:chOff x="0" y="0"/>
            <a:chExt cx="21640800" cy="402167"/>
          </a:xfrm>
        </p:grpSpPr>
        <p:sp>
          <p:nvSpPr>
            <p:cNvPr name="TextBox 32" id="3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33" id="3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10</a:t>
              </a:r>
            </a:p>
          </p:txBody>
        </p:sp>
      </p:grpSp>
      <p:sp>
        <p:nvSpPr>
          <p:cNvPr name="Freeform 34" id="34"/>
          <p:cNvSpPr/>
          <p:nvPr/>
        </p:nvSpPr>
        <p:spPr>
          <a:xfrm flipH="false" flipV="false" rot="0">
            <a:off x="1032835" y="2209016"/>
            <a:ext cx="3532813" cy="1064260"/>
          </a:xfrm>
          <a:custGeom>
            <a:avLst/>
            <a:gdLst/>
            <a:ahLst/>
            <a:cxnLst/>
            <a:rect r="r" b="b" t="t" l="l"/>
            <a:pathLst>
              <a:path h="1064260" w="3532813">
                <a:moveTo>
                  <a:pt x="0" y="0"/>
                </a:moveTo>
                <a:lnTo>
                  <a:pt x="3532814" y="0"/>
                </a:lnTo>
                <a:lnTo>
                  <a:pt x="3532814" y="1064260"/>
                </a:lnTo>
                <a:lnTo>
                  <a:pt x="0" y="1064260"/>
                </a:lnTo>
                <a:lnTo>
                  <a:pt x="0" y="0"/>
                </a:lnTo>
                <a:close/>
              </a:path>
            </a:pathLst>
          </a:custGeom>
          <a:blipFill>
            <a:blip r:embed="rId2"/>
            <a:stretch>
              <a:fillRect l="0" t="0" r="0" b="0"/>
            </a:stretch>
          </a:blipFill>
        </p:spPr>
      </p:sp>
      <p:sp>
        <p:nvSpPr>
          <p:cNvPr name="TextBox 35" id="35"/>
          <p:cNvSpPr txBox="true"/>
          <p:nvPr/>
        </p:nvSpPr>
        <p:spPr>
          <a:xfrm rot="0">
            <a:off x="4848875" y="2151866"/>
            <a:ext cx="1663080" cy="415290"/>
          </a:xfrm>
          <a:prstGeom prst="rect">
            <a:avLst/>
          </a:prstGeom>
        </p:spPr>
        <p:txBody>
          <a:bodyPr anchor="t" rtlCol="false" tIns="0" lIns="0" bIns="0" rIns="0">
            <a:spAutoFit/>
          </a:bodyPr>
          <a:lstStyle/>
          <a:p>
            <a:pPr algn="ctr">
              <a:lnSpc>
                <a:spcPts val="3359"/>
              </a:lnSpc>
              <a:spcBef>
                <a:spcPct val="0"/>
              </a:spcBef>
            </a:pPr>
            <a:r>
              <a:rPr lang="en-US" sz="2400" spc="-24">
                <a:solidFill>
                  <a:srgbClr val="A6A6A6"/>
                </a:solidFill>
                <a:latin typeface="Helvetica World"/>
                <a:ea typeface="Helvetica World"/>
                <a:cs typeface="Helvetica World"/>
                <a:sym typeface="Helvetica World"/>
              </a:rPr>
              <a:t>e-commerce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5979849" y="3825977"/>
            <a:ext cx="0" cy="3238766"/>
          </a:xfrm>
          <a:prstGeom prst="line">
            <a:avLst/>
          </a:prstGeom>
          <a:ln cap="rnd" w="19050">
            <a:solidFill>
              <a:srgbClr val="FFFFFF">
                <a:alpha val="29804"/>
              </a:srgbClr>
            </a:solidFill>
            <a:prstDash val="sysDash"/>
            <a:headEnd type="none" len="sm" w="sm"/>
            <a:tailEnd type="none" len="sm" w="sm"/>
          </a:ln>
        </p:spPr>
      </p:sp>
      <p:sp>
        <p:nvSpPr>
          <p:cNvPr name="AutoShape 3" id="3"/>
          <p:cNvSpPr/>
          <p:nvPr/>
        </p:nvSpPr>
        <p:spPr>
          <a:xfrm>
            <a:off x="12465397" y="3825977"/>
            <a:ext cx="0" cy="3238766"/>
          </a:xfrm>
          <a:prstGeom prst="line">
            <a:avLst/>
          </a:prstGeom>
          <a:ln cap="rnd" w="19050">
            <a:solidFill>
              <a:srgbClr val="FFFFFF">
                <a:alpha val="29804"/>
              </a:srgbClr>
            </a:solidFill>
            <a:prstDash val="sysDash"/>
            <a:headEnd type="none" len="sm" w="sm"/>
            <a:tailEnd type="none" len="sm" w="sm"/>
          </a:ln>
        </p:spPr>
      </p:sp>
      <p:sp>
        <p:nvSpPr>
          <p:cNvPr name="TextBox 4" id="4"/>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Details - Amazon e-commerce</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8" id="8"/>
          <p:cNvSpPr txBox="true"/>
          <p:nvPr/>
        </p:nvSpPr>
        <p:spPr>
          <a:xfrm rot="0">
            <a:off x="1028700" y="4445065"/>
            <a:ext cx="2963297"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Rufus</a:t>
            </a:r>
          </a:p>
        </p:txBody>
      </p:sp>
      <p:sp>
        <p:nvSpPr>
          <p:cNvPr name="TextBox 9" id="9"/>
          <p:cNvSpPr txBox="true"/>
          <p:nvPr/>
        </p:nvSpPr>
        <p:spPr>
          <a:xfrm rot="0">
            <a:off x="1028700" y="3768827"/>
            <a:ext cx="3433393" cy="448310"/>
          </a:xfrm>
          <a:prstGeom prst="rect">
            <a:avLst/>
          </a:prstGeom>
        </p:spPr>
        <p:txBody>
          <a:bodyPr anchor="t" rtlCol="false" tIns="0" lIns="0" bIns="0" rIns="0">
            <a:spAutoFit/>
          </a:bodyPr>
          <a:lstStyle/>
          <a:p>
            <a:pPr algn="l">
              <a:lnSpc>
                <a:spcPts val="3640"/>
              </a:lnSpc>
            </a:pPr>
            <a:r>
              <a:rPr lang="en-US" sz="2600" spc="-26">
                <a:solidFill>
                  <a:srgbClr val="FFFFFF"/>
                </a:solidFill>
                <a:latin typeface="Helvetica World"/>
                <a:ea typeface="Helvetica World"/>
                <a:cs typeface="Helvetica World"/>
                <a:sym typeface="Helvetica World"/>
              </a:rPr>
              <a:t>AI Shopping Agent</a:t>
            </a:r>
          </a:p>
        </p:txBody>
      </p:sp>
      <p:sp>
        <p:nvSpPr>
          <p:cNvPr name="TextBox 10" id="10"/>
          <p:cNvSpPr txBox="true"/>
          <p:nvPr/>
        </p:nvSpPr>
        <p:spPr>
          <a:xfrm rot="0">
            <a:off x="7497604" y="3768827"/>
            <a:ext cx="3433393" cy="448310"/>
          </a:xfrm>
          <a:prstGeom prst="rect">
            <a:avLst/>
          </a:prstGeom>
        </p:spPr>
        <p:txBody>
          <a:bodyPr anchor="t" rtlCol="false" tIns="0" lIns="0" bIns="0" rIns="0">
            <a:spAutoFit/>
          </a:bodyPr>
          <a:lstStyle/>
          <a:p>
            <a:pPr algn="l">
              <a:lnSpc>
                <a:spcPts val="3640"/>
              </a:lnSpc>
            </a:pPr>
            <a:r>
              <a:rPr lang="en-US" sz="2600" spc="-26">
                <a:solidFill>
                  <a:srgbClr val="FFFFFF"/>
                </a:solidFill>
                <a:latin typeface="Helvetica World"/>
                <a:ea typeface="Helvetica World"/>
                <a:cs typeface="Helvetica World"/>
                <a:sym typeface="Helvetica World"/>
              </a:rPr>
              <a:t>Autonomous Logistics</a:t>
            </a:r>
          </a:p>
        </p:txBody>
      </p:sp>
      <p:sp>
        <p:nvSpPr>
          <p:cNvPr name="TextBox 11" id="11"/>
          <p:cNvSpPr txBox="true"/>
          <p:nvPr/>
        </p:nvSpPr>
        <p:spPr>
          <a:xfrm rot="0">
            <a:off x="1028700" y="6705969"/>
            <a:ext cx="2963297"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Personalization</a:t>
            </a:r>
          </a:p>
        </p:txBody>
      </p:sp>
      <p:sp>
        <p:nvSpPr>
          <p:cNvPr name="TextBox 12" id="12"/>
          <p:cNvSpPr txBox="true"/>
          <p:nvPr/>
        </p:nvSpPr>
        <p:spPr>
          <a:xfrm rot="0">
            <a:off x="7497604" y="4445065"/>
            <a:ext cx="3259504" cy="358775"/>
          </a:xfrm>
          <a:prstGeom prst="rect">
            <a:avLst/>
          </a:prstGeom>
        </p:spPr>
        <p:txBody>
          <a:bodyPr anchor="t" rtlCol="false" tIns="0" lIns="0" bIns="0" rIns="0">
            <a:spAutoFit/>
          </a:bodyPr>
          <a:lstStyle/>
          <a:p>
            <a:pPr algn="ctr">
              <a:lnSpc>
                <a:spcPts val="2800"/>
              </a:lnSpc>
            </a:pPr>
            <a:r>
              <a:rPr lang="en-US" sz="2000" spc="-20">
                <a:solidFill>
                  <a:srgbClr val="FFFFFF">
                    <a:alpha val="49804"/>
                  </a:srgbClr>
                </a:solidFill>
                <a:latin typeface="Helvetica World"/>
                <a:ea typeface="Helvetica World"/>
                <a:cs typeface="Helvetica World"/>
                <a:sym typeface="Helvetica World"/>
              </a:rPr>
              <a:t>MK30 Drone (Prime Air)</a:t>
            </a:r>
          </a:p>
        </p:txBody>
      </p:sp>
      <p:sp>
        <p:nvSpPr>
          <p:cNvPr name="TextBox 13" id="13"/>
          <p:cNvSpPr txBox="true"/>
          <p:nvPr/>
        </p:nvSpPr>
        <p:spPr>
          <a:xfrm rot="0">
            <a:off x="13825907" y="3768827"/>
            <a:ext cx="3433393" cy="448310"/>
          </a:xfrm>
          <a:prstGeom prst="rect">
            <a:avLst/>
          </a:prstGeom>
        </p:spPr>
        <p:txBody>
          <a:bodyPr anchor="t" rtlCol="false" tIns="0" lIns="0" bIns="0" rIns="0">
            <a:spAutoFit/>
          </a:bodyPr>
          <a:lstStyle/>
          <a:p>
            <a:pPr algn="r">
              <a:lnSpc>
                <a:spcPts val="3640"/>
              </a:lnSpc>
            </a:pPr>
            <a:r>
              <a:rPr lang="en-US" sz="2600" spc="-26">
                <a:solidFill>
                  <a:srgbClr val="FFFFFF"/>
                </a:solidFill>
                <a:latin typeface="Helvetica World"/>
                <a:ea typeface="Helvetica World"/>
                <a:cs typeface="Helvetica World"/>
                <a:sym typeface="Helvetica World"/>
              </a:rPr>
              <a:t>Sustain Infrastructure</a:t>
            </a:r>
          </a:p>
        </p:txBody>
      </p:sp>
      <p:sp>
        <p:nvSpPr>
          <p:cNvPr name="TextBox 14" id="14"/>
          <p:cNvSpPr txBox="true"/>
          <p:nvPr/>
        </p:nvSpPr>
        <p:spPr>
          <a:xfrm rot="0">
            <a:off x="13999796" y="4445065"/>
            <a:ext cx="3259504" cy="35877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Energy Transition</a:t>
            </a:r>
          </a:p>
        </p:txBody>
      </p:sp>
      <p:sp>
        <p:nvSpPr>
          <p:cNvPr name="TextBox 15" id="15"/>
          <p:cNvSpPr txBox="true"/>
          <p:nvPr/>
        </p:nvSpPr>
        <p:spPr>
          <a:xfrm rot="0">
            <a:off x="7497604" y="6705969"/>
            <a:ext cx="3259504" cy="358775"/>
          </a:xfrm>
          <a:prstGeom prst="rect">
            <a:avLst/>
          </a:prstGeom>
        </p:spPr>
        <p:txBody>
          <a:bodyPr anchor="t" rtlCol="false" tIns="0" lIns="0" bIns="0" rIns="0">
            <a:spAutoFit/>
          </a:bodyPr>
          <a:lstStyle/>
          <a:p>
            <a:pPr algn="ctr">
              <a:lnSpc>
                <a:spcPts val="2800"/>
              </a:lnSpc>
            </a:pPr>
            <a:r>
              <a:rPr lang="en-US" sz="2000" spc="-20">
                <a:solidFill>
                  <a:srgbClr val="FFFFFF">
                    <a:alpha val="49804"/>
                  </a:srgbClr>
                </a:solidFill>
                <a:latin typeface="Helvetica World"/>
                <a:ea typeface="Helvetica World"/>
                <a:cs typeface="Helvetica World"/>
                <a:sym typeface="Helvetica World"/>
              </a:rPr>
              <a:t>Rapid Fulfillment</a:t>
            </a:r>
          </a:p>
        </p:txBody>
      </p:sp>
      <p:sp>
        <p:nvSpPr>
          <p:cNvPr name="TextBox 16" id="16"/>
          <p:cNvSpPr txBox="true"/>
          <p:nvPr/>
        </p:nvSpPr>
        <p:spPr>
          <a:xfrm rot="0">
            <a:off x="13999796" y="6705969"/>
            <a:ext cx="3259504" cy="35877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Resource Circularity</a:t>
            </a:r>
          </a:p>
        </p:txBody>
      </p:sp>
      <p:sp>
        <p:nvSpPr>
          <p:cNvPr name="TextBox 17" id="17"/>
          <p:cNvSpPr txBox="true"/>
          <p:nvPr/>
        </p:nvSpPr>
        <p:spPr>
          <a:xfrm rot="0">
            <a:off x="1032835" y="7153910"/>
            <a:ext cx="16226465" cy="1378585"/>
          </a:xfrm>
          <a:prstGeom prst="rect">
            <a:avLst/>
          </a:prstGeom>
        </p:spPr>
        <p:txBody>
          <a:bodyPr anchor="t" rtlCol="false" tIns="0" lIns="0" bIns="0" rIns="0">
            <a:spAutoFit/>
          </a:bodyPr>
          <a:lstStyle/>
          <a:p>
            <a:pPr algn="just">
              <a:lnSpc>
                <a:spcPts val="2239"/>
              </a:lnSpc>
            </a:pPr>
            <a:r>
              <a:rPr lang="en-US" sz="1599" spc="-15">
                <a:solidFill>
                  <a:srgbClr val="FFFFFF"/>
                </a:solidFill>
                <a:latin typeface="Helvetica World"/>
                <a:ea typeface="Helvetica World"/>
                <a:cs typeface="Helvetica World"/>
                <a:sym typeface="Helvetica World"/>
              </a:rPr>
              <a:t>Amazon is pursuing autonomous logistics through MK30 drones and warehouse automation to achieve sub-hour delivery and slash last-mile costs. This end-to-end automation creates an operational advantage competitors cannot replicate, reinforcing dominance in speed and convenience while reducing labor dependence. Simultaneously, Amazon is investing in energy transition and resource circularity across its operations, deploying renewable energy and closed-loop packaging systems. By controlling AI shopping interfaces, autonomous logistics infrastructure, and sustainable operations, Amazon is building a vertically integrated ecosystem that locks customers through superior experience while maintaining cost leadership for long-term retail dominance.</a:t>
            </a:r>
          </a:p>
        </p:txBody>
      </p:sp>
      <p:sp>
        <p:nvSpPr>
          <p:cNvPr name="TextBox 18" id="18"/>
          <p:cNvSpPr txBox="true"/>
          <p:nvPr/>
        </p:nvSpPr>
        <p:spPr>
          <a:xfrm rot="0">
            <a:off x="9558325" y="2170916"/>
            <a:ext cx="7700975" cy="1102360"/>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Amazon is transforming e-commerce through AI-powered shopping agents like Rufus that control the entire customer journey. Instead of search-based browsing, conversational AI mediates discovery and purchasing decisions, allowing Amazon to own the intelligent layer between consumer intent and product fulfillment.</a:t>
            </a:r>
          </a:p>
        </p:txBody>
      </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21" id="21"/>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11</a:t>
              </a:r>
            </a:p>
          </p:txBody>
        </p:sp>
      </p:grpSp>
      <p:grpSp>
        <p:nvGrpSpPr>
          <p:cNvPr name="Group 22" id="22"/>
          <p:cNvGrpSpPr/>
          <p:nvPr/>
        </p:nvGrpSpPr>
        <p:grpSpPr>
          <a:xfrm rot="0">
            <a:off x="1032835" y="2209016"/>
            <a:ext cx="5479119" cy="1064260"/>
            <a:chOff x="0" y="0"/>
            <a:chExt cx="7305493" cy="1419013"/>
          </a:xfrm>
        </p:grpSpPr>
        <p:sp>
          <p:nvSpPr>
            <p:cNvPr name="Freeform 23" id="23"/>
            <p:cNvSpPr/>
            <p:nvPr/>
          </p:nvSpPr>
          <p:spPr>
            <a:xfrm flipH="false" flipV="false" rot="0">
              <a:off x="0" y="0"/>
              <a:ext cx="4710418" cy="1419013"/>
            </a:xfrm>
            <a:custGeom>
              <a:avLst/>
              <a:gdLst/>
              <a:ahLst/>
              <a:cxnLst/>
              <a:rect r="r" b="b" t="t" l="l"/>
              <a:pathLst>
                <a:path h="1419013" w="4710418">
                  <a:moveTo>
                    <a:pt x="0" y="0"/>
                  </a:moveTo>
                  <a:lnTo>
                    <a:pt x="4710418" y="0"/>
                  </a:lnTo>
                  <a:lnTo>
                    <a:pt x="4710418" y="1419013"/>
                  </a:lnTo>
                  <a:lnTo>
                    <a:pt x="0" y="1419013"/>
                  </a:lnTo>
                  <a:lnTo>
                    <a:pt x="0" y="0"/>
                  </a:lnTo>
                  <a:close/>
                </a:path>
              </a:pathLst>
            </a:custGeom>
            <a:blipFill>
              <a:blip r:embed="rId2"/>
              <a:stretch>
                <a:fillRect l="0" t="0" r="0" b="0"/>
              </a:stretch>
            </a:blipFill>
          </p:spPr>
        </p:sp>
        <p:sp>
          <p:nvSpPr>
            <p:cNvPr name="TextBox 24" id="24"/>
            <p:cNvSpPr txBox="true"/>
            <p:nvPr/>
          </p:nvSpPr>
          <p:spPr>
            <a:xfrm rot="0">
              <a:off x="5088053" y="-57150"/>
              <a:ext cx="2217440" cy="534670"/>
            </a:xfrm>
            <a:prstGeom prst="rect">
              <a:avLst/>
            </a:prstGeom>
          </p:spPr>
          <p:txBody>
            <a:bodyPr anchor="t" rtlCol="false" tIns="0" lIns="0" bIns="0" rIns="0">
              <a:spAutoFit/>
            </a:bodyPr>
            <a:lstStyle/>
            <a:p>
              <a:pPr algn="ctr">
                <a:lnSpc>
                  <a:spcPts val="3359"/>
                </a:lnSpc>
                <a:spcBef>
                  <a:spcPct val="0"/>
                </a:spcBef>
              </a:pPr>
              <a:r>
                <a:rPr lang="en-US" sz="2400" spc="-24">
                  <a:solidFill>
                    <a:srgbClr val="A6A6A6"/>
                  </a:solidFill>
                  <a:latin typeface="Helvetica World"/>
                  <a:ea typeface="Helvetica World"/>
                  <a:cs typeface="Helvetica World"/>
                  <a:sym typeface="Helvetica World"/>
                </a:rPr>
                <a:t>e-commerce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1028700" y="4297045"/>
            <a:ext cx="7978823" cy="4235450"/>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Amazon’s e-commerce ecosystem is built to make shopping feel effortless. It’s not just a huge catalog—it’s a fast path from “I want it” to “it’s delivered,” supported by search, recommendations, reviews, quick checkout, tracking, and simple returns. The result is less thinking, more repeat purchasing.</a:t>
            </a:r>
          </a:p>
          <a:p>
            <a:pPr algn="l">
              <a:lnSpc>
                <a:spcPts val="2800"/>
              </a:lnSpc>
            </a:pPr>
          </a:p>
          <a:p>
            <a:pPr algn="l">
              <a:lnSpc>
                <a:spcPts val="2800"/>
              </a:lnSpc>
            </a:pPr>
            <a:r>
              <a:rPr lang="en-US" sz="2000" spc="-30">
                <a:solidFill>
                  <a:srgbClr val="FFFFFF"/>
                </a:solidFill>
                <a:latin typeface="Helvetica World"/>
                <a:ea typeface="Helvetica World"/>
                <a:cs typeface="Helvetica World"/>
                <a:sym typeface="Helvetica World"/>
              </a:rPr>
              <a:t>Behind that simplicity is a connected system of sellers, fulfillment, delivery, and data that forecasts demand and optimizes inventory and pricing. Prime strengthens loyalty and keeps customers inside the platform. But the same convenience can also increase volume and returns, pushing pressure across the ecosystem—so the impact matters beyond the screen.</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9354014" y="2209016"/>
            <a:ext cx="7905286" cy="1875791"/>
            <a:chOff x="0" y="0"/>
            <a:chExt cx="10540382" cy="2501054"/>
          </a:xfrm>
        </p:grpSpPr>
        <p:sp>
          <p:nvSpPr>
            <p:cNvPr name="TextBox 8" id="8"/>
            <p:cNvSpPr txBox="true"/>
            <p:nvPr/>
          </p:nvSpPr>
          <p:spPr>
            <a:xfrm rot="0">
              <a:off x="0" y="-190500"/>
              <a:ext cx="10540382" cy="2214034"/>
            </a:xfrm>
            <a:prstGeom prst="rect">
              <a:avLst/>
            </a:prstGeom>
          </p:spPr>
          <p:txBody>
            <a:bodyPr anchor="t" rtlCol="false" tIns="0" lIns="0" bIns="0" rIns="0">
              <a:spAutoFit/>
            </a:bodyPr>
            <a:lstStyle/>
            <a:p>
              <a:pPr algn="r">
                <a:lnSpc>
                  <a:spcPts val="13999"/>
                </a:lnSpc>
              </a:pPr>
              <a:r>
                <a:rPr lang="en-US" sz="9999" spc="-99">
                  <a:solidFill>
                    <a:srgbClr val="FFFFFF"/>
                  </a:solidFill>
                  <a:latin typeface="Helvetica World"/>
                  <a:ea typeface="Helvetica World"/>
                  <a:cs typeface="Helvetica World"/>
                  <a:sym typeface="Helvetica World"/>
                </a:rPr>
                <a:t>Convenience</a:t>
              </a:r>
            </a:p>
          </p:txBody>
        </p:sp>
        <p:sp>
          <p:nvSpPr>
            <p:cNvPr name="TextBox 9" id="9"/>
            <p:cNvSpPr txBox="true"/>
            <p:nvPr/>
          </p:nvSpPr>
          <p:spPr>
            <a:xfrm rot="0">
              <a:off x="4487181" y="1966384"/>
              <a:ext cx="6053200" cy="534670"/>
            </a:xfrm>
            <a:prstGeom prst="rect">
              <a:avLst/>
            </a:prstGeom>
          </p:spPr>
          <p:txBody>
            <a:bodyPr anchor="t" rtlCol="false" tIns="0" lIns="0" bIns="0" rIns="0">
              <a:spAutoFit/>
            </a:bodyPr>
            <a:lstStyle/>
            <a:p>
              <a:pPr algn="r">
                <a:lnSpc>
                  <a:spcPts val="3359"/>
                </a:lnSpc>
              </a:pPr>
              <a:r>
                <a:rPr lang="en-US" sz="2400" spc="-24">
                  <a:solidFill>
                    <a:srgbClr val="FFFFFF">
                      <a:alpha val="49804"/>
                    </a:srgbClr>
                  </a:solidFill>
                  <a:latin typeface="Helvetica World"/>
                  <a:ea typeface="Helvetica World"/>
                  <a:cs typeface="Helvetica World"/>
                  <a:sym typeface="Helvetica World"/>
                </a:rPr>
                <a:t>[Core Value - What People Want]</a:t>
              </a:r>
            </a:p>
          </p:txBody>
        </p:sp>
      </p:grpSp>
      <p:sp>
        <p:nvSpPr>
          <p:cNvPr name="TextBox 10" id="10"/>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sp>
        <p:nvSpPr>
          <p:cNvPr name="AutoShape 11" id="11"/>
          <p:cNvSpPr/>
          <p:nvPr/>
        </p:nvSpPr>
        <p:spPr>
          <a:xfrm>
            <a:off x="9144000" y="2209016"/>
            <a:ext cx="0" cy="6323479"/>
          </a:xfrm>
          <a:prstGeom prst="line">
            <a:avLst/>
          </a:prstGeom>
          <a:ln cap="rnd" w="19050">
            <a:solidFill>
              <a:srgbClr val="FFFFFF">
                <a:alpha val="29804"/>
              </a:srgbClr>
            </a:solidFill>
            <a:prstDash val="sysDash"/>
            <a:headEnd type="none" len="sm" w="sm"/>
            <a:tailEnd type="none" len="sm" w="sm"/>
          </a:ln>
        </p:spPr>
      </p:sp>
      <p:grpSp>
        <p:nvGrpSpPr>
          <p:cNvPr name="Group 12" id="12"/>
          <p:cNvGrpSpPr/>
          <p:nvPr/>
        </p:nvGrpSpPr>
        <p:grpSpPr>
          <a:xfrm rot="0">
            <a:off x="1028700" y="9258300"/>
            <a:ext cx="16230600" cy="301625"/>
            <a:chOff x="0" y="0"/>
            <a:chExt cx="21640800" cy="402167"/>
          </a:xfrm>
        </p:grpSpPr>
        <p:sp>
          <p:nvSpPr>
            <p:cNvPr name="TextBox 13" id="1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4" id="1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12</a:t>
              </a:r>
            </a:p>
          </p:txBody>
        </p:sp>
      </p:grpSp>
      <p:grpSp>
        <p:nvGrpSpPr>
          <p:cNvPr name="Group 15" id="15"/>
          <p:cNvGrpSpPr/>
          <p:nvPr/>
        </p:nvGrpSpPr>
        <p:grpSpPr>
          <a:xfrm rot="0">
            <a:off x="1032835" y="2209016"/>
            <a:ext cx="5479119" cy="1064260"/>
            <a:chOff x="0" y="0"/>
            <a:chExt cx="7305493" cy="1419013"/>
          </a:xfrm>
        </p:grpSpPr>
        <p:sp>
          <p:nvSpPr>
            <p:cNvPr name="Freeform 16" id="16"/>
            <p:cNvSpPr/>
            <p:nvPr/>
          </p:nvSpPr>
          <p:spPr>
            <a:xfrm flipH="false" flipV="false" rot="0">
              <a:off x="0" y="0"/>
              <a:ext cx="4710418" cy="1419013"/>
            </a:xfrm>
            <a:custGeom>
              <a:avLst/>
              <a:gdLst/>
              <a:ahLst/>
              <a:cxnLst/>
              <a:rect r="r" b="b" t="t" l="l"/>
              <a:pathLst>
                <a:path h="1419013" w="4710418">
                  <a:moveTo>
                    <a:pt x="0" y="0"/>
                  </a:moveTo>
                  <a:lnTo>
                    <a:pt x="4710418" y="0"/>
                  </a:lnTo>
                  <a:lnTo>
                    <a:pt x="4710418" y="1419013"/>
                  </a:lnTo>
                  <a:lnTo>
                    <a:pt x="0" y="1419013"/>
                  </a:lnTo>
                  <a:lnTo>
                    <a:pt x="0" y="0"/>
                  </a:lnTo>
                  <a:close/>
                </a:path>
              </a:pathLst>
            </a:custGeom>
            <a:blipFill>
              <a:blip r:embed="rId3"/>
              <a:stretch>
                <a:fillRect l="0" t="0" r="0" b="0"/>
              </a:stretch>
            </a:blipFill>
          </p:spPr>
        </p:sp>
        <p:sp>
          <p:nvSpPr>
            <p:cNvPr name="TextBox 17" id="17"/>
            <p:cNvSpPr txBox="true"/>
            <p:nvPr/>
          </p:nvSpPr>
          <p:spPr>
            <a:xfrm rot="0">
              <a:off x="5088053" y="-57150"/>
              <a:ext cx="2217440" cy="534670"/>
            </a:xfrm>
            <a:prstGeom prst="rect">
              <a:avLst/>
            </a:prstGeom>
          </p:spPr>
          <p:txBody>
            <a:bodyPr anchor="t" rtlCol="false" tIns="0" lIns="0" bIns="0" rIns="0">
              <a:spAutoFit/>
            </a:bodyPr>
            <a:lstStyle/>
            <a:p>
              <a:pPr algn="ctr">
                <a:lnSpc>
                  <a:spcPts val="3359"/>
                </a:lnSpc>
                <a:spcBef>
                  <a:spcPct val="0"/>
                </a:spcBef>
              </a:pPr>
              <a:r>
                <a:rPr lang="en-US" sz="2400" spc="-24">
                  <a:solidFill>
                    <a:srgbClr val="A6A6A6"/>
                  </a:solidFill>
                  <a:latin typeface="Helvetica World"/>
                  <a:ea typeface="Helvetica World"/>
                  <a:cs typeface="Helvetica World"/>
                  <a:sym typeface="Helvetica World"/>
                </a:rPr>
                <a:t>e-commerce</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2822212"/>
            <a:ext cx="16230600" cy="4642577"/>
            <a:chOff x="0" y="0"/>
            <a:chExt cx="21640800" cy="6190103"/>
          </a:xfrm>
        </p:grpSpPr>
        <p:sp>
          <p:nvSpPr>
            <p:cNvPr name="TextBox 3" id="3"/>
            <p:cNvSpPr txBox="true"/>
            <p:nvPr/>
          </p:nvSpPr>
          <p:spPr>
            <a:xfrm rot="0">
              <a:off x="0" y="775123"/>
              <a:ext cx="18494962" cy="45931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One-click flows, unified account/payment, and predictable delivery windows reduce decision and effort costs.</a:t>
              </a:r>
            </a:p>
          </p:txBody>
        </p:sp>
        <p:sp>
          <p:nvSpPr>
            <p:cNvPr name="TextBox 4" id="4"/>
            <p:cNvSpPr txBox="true"/>
            <p:nvPr/>
          </p:nvSpPr>
          <p:spPr>
            <a:xfrm rot="0">
              <a:off x="0" y="-66675"/>
              <a:ext cx="9627691" cy="632248"/>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Convenience</a:t>
              </a:r>
            </a:p>
          </p:txBody>
        </p:sp>
        <p:sp>
          <p:nvSpPr>
            <p:cNvPr name="TextBox 5" id="5"/>
            <p:cNvSpPr txBox="true"/>
            <p:nvPr/>
          </p:nvSpPr>
          <p:spPr>
            <a:xfrm rot="0">
              <a:off x="0" y="3252954"/>
              <a:ext cx="18494962" cy="45931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Recommendation and ranking systems shift shopping from search-heavy browsing to guided discovery.</a:t>
              </a:r>
            </a:p>
          </p:txBody>
        </p:sp>
        <p:sp>
          <p:nvSpPr>
            <p:cNvPr name="TextBox 6" id="6"/>
            <p:cNvSpPr txBox="true"/>
            <p:nvPr/>
          </p:nvSpPr>
          <p:spPr>
            <a:xfrm rot="0">
              <a:off x="0" y="2411157"/>
              <a:ext cx="11280279" cy="632248"/>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Personalization</a:t>
              </a:r>
            </a:p>
          </p:txBody>
        </p:sp>
        <p:sp>
          <p:nvSpPr>
            <p:cNvPr name="TextBox 7" id="7"/>
            <p:cNvSpPr txBox="true"/>
            <p:nvPr/>
          </p:nvSpPr>
          <p:spPr>
            <a:xfrm rot="0">
              <a:off x="0" y="5730786"/>
              <a:ext cx="18494962" cy="45931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Fulfillment standards and returns infrastructure lower the perceived risk of buying online.</a:t>
              </a:r>
            </a:p>
          </p:txBody>
        </p:sp>
        <p:sp>
          <p:nvSpPr>
            <p:cNvPr name="TextBox 8" id="8"/>
            <p:cNvSpPr txBox="true"/>
            <p:nvPr/>
          </p:nvSpPr>
          <p:spPr>
            <a:xfrm rot="0">
              <a:off x="0" y="4888988"/>
              <a:ext cx="9247481" cy="632248"/>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Trust &amp; reliability</a:t>
              </a:r>
            </a:p>
          </p:txBody>
        </p:sp>
        <p:sp>
          <p:nvSpPr>
            <p:cNvPr name="AutoShape 9" id="9"/>
            <p:cNvSpPr/>
            <p:nvPr/>
          </p:nvSpPr>
          <p:spPr>
            <a:xfrm flipH="true" flipV="true">
              <a:off x="0" y="1856135"/>
              <a:ext cx="21640800" cy="0"/>
            </a:xfrm>
            <a:prstGeom prst="line">
              <a:avLst/>
            </a:prstGeom>
            <a:ln cap="rnd" w="25400">
              <a:solidFill>
                <a:srgbClr val="FFFFFF">
                  <a:alpha val="29804"/>
                </a:srgbClr>
              </a:solidFill>
              <a:prstDash val="sysDash"/>
              <a:headEnd type="none" len="sm" w="sm"/>
              <a:tailEnd type="none" len="sm" w="sm"/>
            </a:ln>
          </p:spPr>
        </p:sp>
        <p:sp>
          <p:nvSpPr>
            <p:cNvPr name="AutoShape 10" id="10"/>
            <p:cNvSpPr/>
            <p:nvPr/>
          </p:nvSpPr>
          <p:spPr>
            <a:xfrm flipH="true" flipV="true">
              <a:off x="0" y="4333967"/>
              <a:ext cx="21640800" cy="0"/>
            </a:xfrm>
            <a:prstGeom prst="line">
              <a:avLst/>
            </a:prstGeom>
            <a:ln cap="rnd" w="25400">
              <a:solidFill>
                <a:srgbClr val="FFFFFF">
                  <a:alpha val="29804"/>
                </a:srgbClr>
              </a:solidFill>
              <a:prstDash val="sysDash"/>
              <a:headEnd type="none" len="sm" w="sm"/>
              <a:tailEnd type="none" len="sm" w="sm"/>
            </a:ln>
          </p:spPr>
        </p:sp>
      </p:grpSp>
      <p:grpSp>
        <p:nvGrpSpPr>
          <p:cNvPr name="Group 11" id="11"/>
          <p:cNvGrpSpPr/>
          <p:nvPr/>
        </p:nvGrpSpPr>
        <p:grpSpPr>
          <a:xfrm rot="0">
            <a:off x="1028700" y="727075"/>
            <a:ext cx="16230600" cy="301625"/>
            <a:chOff x="0" y="0"/>
            <a:chExt cx="21640800" cy="402167"/>
          </a:xfrm>
        </p:grpSpPr>
        <p:sp>
          <p:nvSpPr>
            <p:cNvPr name="TextBox 12" id="1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3" id="1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4" id="14"/>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13</a:t>
              </a:r>
            </a:p>
          </p:txBody>
        </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3441573"/>
            <a:ext cx="6455366" cy="1835784"/>
            <a:chOff x="0" y="0"/>
            <a:chExt cx="8607154" cy="2447712"/>
          </a:xfrm>
        </p:grpSpPr>
        <p:sp>
          <p:nvSpPr>
            <p:cNvPr name="TextBox 3" id="3"/>
            <p:cNvSpPr txBox="true"/>
            <p:nvPr/>
          </p:nvSpPr>
          <p:spPr>
            <a:xfrm rot="0">
              <a:off x="0" y="1891030"/>
              <a:ext cx="4448519" cy="556682"/>
            </a:xfrm>
            <a:prstGeom prst="rect">
              <a:avLst/>
            </a:prstGeom>
          </p:spPr>
          <p:txBody>
            <a:bodyPr anchor="t" rtlCol="false" tIns="0" lIns="0" bIns="0" rIns="0">
              <a:spAutoFit/>
            </a:bodyPr>
            <a:lstStyle/>
            <a:p>
              <a:pPr algn="l">
                <a:lnSpc>
                  <a:spcPts val="3500"/>
                </a:lnSpc>
              </a:pPr>
              <a:r>
                <a:rPr lang="en-US" sz="2500" spc="-25">
                  <a:solidFill>
                    <a:srgbClr val="FFFFFF">
                      <a:alpha val="49804"/>
                    </a:srgbClr>
                  </a:solidFill>
                  <a:latin typeface="Helvetica World"/>
                  <a:ea typeface="Helvetica World"/>
                  <a:cs typeface="Helvetica World"/>
                  <a:sym typeface="Helvetica World"/>
                </a:rPr>
                <a:t>Experience</a:t>
              </a:r>
            </a:p>
          </p:txBody>
        </p:sp>
        <p:sp>
          <p:nvSpPr>
            <p:cNvPr name="TextBox 4" id="4"/>
            <p:cNvSpPr txBox="true"/>
            <p:nvPr/>
          </p:nvSpPr>
          <p:spPr>
            <a:xfrm rot="0">
              <a:off x="0" y="-190500"/>
              <a:ext cx="8607154" cy="2138680"/>
            </a:xfrm>
            <a:prstGeom prst="rect">
              <a:avLst/>
            </a:prstGeom>
          </p:spPr>
          <p:txBody>
            <a:bodyPr anchor="t" rtlCol="false" tIns="0" lIns="0" bIns="0" rIns="0">
              <a:spAutoFit/>
            </a:bodyPr>
            <a:lstStyle/>
            <a:p>
              <a:pPr algn="l">
                <a:lnSpc>
                  <a:spcPts val="13439"/>
                </a:lnSpc>
              </a:pPr>
              <a:r>
                <a:rPr lang="en-US" sz="9600" spc="-96">
                  <a:solidFill>
                    <a:srgbClr val="FFFFFF">
                      <a:alpha val="49804"/>
                    </a:srgbClr>
                  </a:solidFill>
                  <a:latin typeface="Helvetica World"/>
                  <a:ea typeface="Helvetica World"/>
                  <a:cs typeface="Helvetica World"/>
                  <a:sym typeface="Helvetica World"/>
                </a:rPr>
                <a:t>Search</a:t>
              </a:r>
            </a:p>
          </p:txBody>
        </p:sp>
      </p:grpSp>
      <p:grpSp>
        <p:nvGrpSpPr>
          <p:cNvPr name="Group 5" id="5"/>
          <p:cNvGrpSpPr/>
          <p:nvPr/>
        </p:nvGrpSpPr>
        <p:grpSpPr>
          <a:xfrm rot="0">
            <a:off x="10803934" y="3066924"/>
            <a:ext cx="6455366" cy="1835784"/>
            <a:chOff x="0" y="0"/>
            <a:chExt cx="8607154" cy="2447712"/>
          </a:xfrm>
        </p:grpSpPr>
        <p:sp>
          <p:nvSpPr>
            <p:cNvPr name="TextBox 6" id="6"/>
            <p:cNvSpPr txBox="true"/>
            <p:nvPr/>
          </p:nvSpPr>
          <p:spPr>
            <a:xfrm rot="0">
              <a:off x="0" y="309032"/>
              <a:ext cx="8607154" cy="2138680"/>
            </a:xfrm>
            <a:prstGeom prst="rect">
              <a:avLst/>
            </a:prstGeom>
          </p:spPr>
          <p:txBody>
            <a:bodyPr anchor="t" rtlCol="false" tIns="0" lIns="0" bIns="0" rIns="0">
              <a:spAutoFit/>
            </a:bodyPr>
            <a:lstStyle/>
            <a:p>
              <a:pPr algn="r">
                <a:lnSpc>
                  <a:spcPts val="13439"/>
                </a:lnSpc>
              </a:pPr>
              <a:r>
                <a:rPr lang="en-US" sz="9600" spc="-96">
                  <a:solidFill>
                    <a:srgbClr val="FFFFFF"/>
                  </a:solidFill>
                  <a:latin typeface="Helvetica World"/>
                  <a:ea typeface="Helvetica World"/>
                  <a:cs typeface="Helvetica World"/>
                  <a:sym typeface="Helvetica World"/>
                </a:rPr>
                <a:t>Prediction</a:t>
              </a:r>
            </a:p>
          </p:txBody>
        </p:sp>
        <p:sp>
          <p:nvSpPr>
            <p:cNvPr name="TextBox 7" id="7"/>
            <p:cNvSpPr txBox="true"/>
            <p:nvPr/>
          </p:nvSpPr>
          <p:spPr>
            <a:xfrm rot="0">
              <a:off x="4158635" y="-57150"/>
              <a:ext cx="4448519" cy="556682"/>
            </a:xfrm>
            <a:prstGeom prst="rect">
              <a:avLst/>
            </a:prstGeom>
          </p:spPr>
          <p:txBody>
            <a:bodyPr anchor="t" rtlCol="false" tIns="0" lIns="0" bIns="0" rIns="0">
              <a:spAutoFit/>
            </a:bodyPr>
            <a:lstStyle/>
            <a:p>
              <a:pPr algn="r">
                <a:lnSpc>
                  <a:spcPts val="3500"/>
                </a:lnSpc>
              </a:pPr>
              <a:r>
                <a:rPr lang="en-US" sz="2500" spc="-25">
                  <a:solidFill>
                    <a:srgbClr val="FFFFFF"/>
                  </a:solidFill>
                  <a:latin typeface="Helvetica World"/>
                  <a:ea typeface="Helvetica World"/>
                  <a:cs typeface="Helvetica World"/>
                  <a:sym typeface="Helvetica World"/>
                </a:rPr>
                <a:t>Recommendation</a:t>
              </a:r>
            </a:p>
          </p:txBody>
        </p:sp>
      </p:grpSp>
      <p:sp>
        <p:nvSpPr>
          <p:cNvPr name="TextBox 8" id="8"/>
          <p:cNvSpPr txBox="true"/>
          <p:nvPr/>
        </p:nvSpPr>
        <p:spPr>
          <a:xfrm rot="0">
            <a:off x="6951158" y="6411595"/>
            <a:ext cx="10308142" cy="2120900"/>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Amazon transforms shopping from "search" to "prediction." Rufus AI learns from customers' Kindle reading, Prime Video viewing, and Audible listening to suggest what they need before they click, creating a hyper-personalized experience. Simultaneously, Amazon builds a global autonomous delivery infrastructure through MK30 drones and the Amazon Leo satellite network, realizing "order and instant arrival" with 60-minute delivery through the sky. It's a completely new commerce experience where AI predicts and drones deliver immediately.</a:t>
            </a:r>
          </a:p>
        </p:txBody>
      </p:sp>
      <p:sp>
        <p:nvSpPr>
          <p:cNvPr name="TextBox 9" id="9"/>
          <p:cNvSpPr txBox="true"/>
          <p:nvPr/>
        </p:nvSpPr>
        <p:spPr>
          <a:xfrm rot="0">
            <a:off x="1028700" y="5542312"/>
            <a:ext cx="10308142"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Amazon's 2026-2030 Vision: Reinventing Shopping and Autonomizing Delivery</a:t>
            </a:r>
          </a:p>
        </p:txBody>
      </p:sp>
      <p:grpSp>
        <p:nvGrpSpPr>
          <p:cNvPr name="Group 10" id="10"/>
          <p:cNvGrpSpPr/>
          <p:nvPr/>
        </p:nvGrpSpPr>
        <p:grpSpPr>
          <a:xfrm rot="0">
            <a:off x="1028700" y="2209016"/>
            <a:ext cx="16230600" cy="457200"/>
            <a:chOff x="0" y="0"/>
            <a:chExt cx="21640800" cy="609600"/>
          </a:xfrm>
        </p:grpSpPr>
        <p:sp>
          <p:nvSpPr>
            <p:cNvPr name="TextBox 11" id="11"/>
            <p:cNvSpPr txBox="true"/>
            <p:nvPr/>
          </p:nvSpPr>
          <p:spPr>
            <a:xfrm rot="0">
              <a:off x="0" y="-66675"/>
              <a:ext cx="6503031" cy="676275"/>
            </a:xfrm>
            <a:prstGeom prst="rect">
              <a:avLst/>
            </a:prstGeom>
          </p:spPr>
          <p:txBody>
            <a:bodyPr anchor="t" rtlCol="false" tIns="0" lIns="0" bIns="0" rIns="0">
              <a:spAutoFit/>
            </a:bodyPr>
            <a:lstStyle/>
            <a:p>
              <a:pPr algn="l">
                <a:lnSpc>
                  <a:spcPts val="4200"/>
                </a:lnSpc>
              </a:pPr>
              <a:r>
                <a:rPr lang="en-US" sz="3000" spc="-30">
                  <a:solidFill>
                    <a:srgbClr val="FFFFFF">
                      <a:alpha val="29804"/>
                    </a:srgbClr>
                  </a:solidFill>
                  <a:latin typeface="Helvetica World"/>
                  <a:ea typeface="Helvetica World"/>
                  <a:cs typeface="Helvetica World"/>
                  <a:sym typeface="Helvetica World"/>
                </a:rPr>
                <a:t>[2026]</a:t>
              </a:r>
            </a:p>
          </p:txBody>
        </p:sp>
        <p:sp>
          <p:nvSpPr>
            <p:cNvPr name="TextBox 12" id="12"/>
            <p:cNvSpPr txBox="true"/>
            <p:nvPr/>
          </p:nvSpPr>
          <p:spPr>
            <a:xfrm rot="0">
              <a:off x="15137769" y="-66675"/>
              <a:ext cx="6503031" cy="676275"/>
            </a:xfrm>
            <a:prstGeom prst="rect">
              <a:avLst/>
            </a:prstGeom>
          </p:spPr>
          <p:txBody>
            <a:bodyPr anchor="t" rtlCol="false" tIns="0" lIns="0" bIns="0" rIns="0">
              <a:spAutoFit/>
            </a:bodyPr>
            <a:lstStyle/>
            <a:p>
              <a:pPr algn="r">
                <a:lnSpc>
                  <a:spcPts val="4200"/>
                </a:lnSpc>
              </a:pPr>
              <a:r>
                <a:rPr lang="en-US" sz="3000" spc="-30">
                  <a:solidFill>
                    <a:srgbClr val="FFFFFF">
                      <a:alpha val="29804"/>
                    </a:srgbClr>
                  </a:solidFill>
                  <a:latin typeface="Helvetica World"/>
                  <a:ea typeface="Helvetica World"/>
                  <a:cs typeface="Helvetica World"/>
                  <a:sym typeface="Helvetica World"/>
                </a:rPr>
                <a:t>[2030]</a:t>
              </a:r>
            </a:p>
          </p:txBody>
        </p:sp>
      </p:grpSp>
      <p:sp>
        <p:nvSpPr>
          <p:cNvPr name="AutoShape 13" id="13"/>
          <p:cNvSpPr/>
          <p:nvPr/>
        </p:nvSpPr>
        <p:spPr>
          <a:xfrm>
            <a:off x="7991681" y="4172141"/>
            <a:ext cx="2304638" cy="0"/>
          </a:xfrm>
          <a:prstGeom prst="line">
            <a:avLst/>
          </a:prstGeom>
          <a:ln cap="flat" w="19050">
            <a:solidFill>
              <a:srgbClr val="FFFFFF"/>
            </a:solidFill>
            <a:prstDash val="sysDash"/>
            <a:headEnd type="none" len="sm" w="sm"/>
            <a:tailEnd type="arrow" len="sm" w="med"/>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182174" y="566634"/>
            <a:ext cx="15923653" cy="9153731"/>
          </a:xfrm>
          <a:custGeom>
            <a:avLst/>
            <a:gdLst/>
            <a:ahLst/>
            <a:cxnLst/>
            <a:rect r="r" b="b" t="t" l="l"/>
            <a:pathLst>
              <a:path h="9153731" w="15923653">
                <a:moveTo>
                  <a:pt x="0" y="0"/>
                </a:moveTo>
                <a:lnTo>
                  <a:pt x="15923652" y="0"/>
                </a:lnTo>
                <a:lnTo>
                  <a:pt x="15923652" y="9153732"/>
                </a:lnTo>
                <a:lnTo>
                  <a:pt x="0" y="9153732"/>
                </a:lnTo>
                <a:lnTo>
                  <a:pt x="0" y="0"/>
                </a:lnTo>
                <a:close/>
              </a:path>
            </a:pathLst>
          </a:custGeom>
          <a:blipFill>
            <a:blip r:embed="rId2"/>
            <a:stretch>
              <a:fillRect l="-6390" t="-14525" r="-6390" b="0"/>
            </a:stretch>
          </a:blipFill>
        </p:spPr>
      </p:sp>
      <p:sp>
        <p:nvSpPr>
          <p:cNvPr name="TextBox 3" id="3"/>
          <p:cNvSpPr txBox="true"/>
          <p:nvPr/>
        </p:nvSpPr>
        <p:spPr>
          <a:xfrm rot="0">
            <a:off x="10791380" y="8956675"/>
            <a:ext cx="6467920" cy="301625"/>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Foundational Service Layer</a:t>
            </a:r>
          </a:p>
        </p:txBody>
      </p:sp>
      <p:sp>
        <p:nvSpPr>
          <p:cNvPr name="TextBox 4" id="4"/>
          <p:cNvSpPr txBox="true"/>
          <p:nvPr/>
        </p:nvSpPr>
        <p:spPr>
          <a:xfrm rot="0">
            <a:off x="1028700" y="8909050"/>
            <a:ext cx="6142685" cy="349250"/>
          </a:xfrm>
          <a:prstGeom prst="rect">
            <a:avLst/>
          </a:prstGeom>
        </p:spPr>
        <p:txBody>
          <a:bodyPr anchor="t" rtlCol="false" tIns="0" lIns="0" bIns="0" rIns="0">
            <a:spAutoFit/>
          </a:bodyPr>
          <a:lstStyle/>
          <a:p>
            <a:pPr algn="l">
              <a:lnSpc>
                <a:spcPts val="2799"/>
              </a:lnSpc>
            </a:pPr>
            <a:r>
              <a:rPr lang="en-US" sz="1999" spc="-19">
                <a:solidFill>
                  <a:srgbClr val="FFFFFF"/>
                </a:solidFill>
                <a:latin typeface="Helvetica World"/>
                <a:ea typeface="Helvetica World"/>
                <a:cs typeface="Helvetica World"/>
                <a:sym typeface="Helvetica World"/>
              </a:rPr>
              <a:t>Primary Stakeholders - Market Infrastructure</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8" id="8"/>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9" id="9"/>
          <p:cNvGrpSpPr/>
          <p:nvPr/>
        </p:nvGrpSpPr>
        <p:grpSpPr>
          <a:xfrm rot="0">
            <a:off x="1028700" y="9258300"/>
            <a:ext cx="16230600" cy="301625"/>
            <a:chOff x="0" y="0"/>
            <a:chExt cx="21640800" cy="402167"/>
          </a:xfrm>
        </p:grpSpPr>
        <p:sp>
          <p:nvSpPr>
            <p:cNvPr name="TextBox 10" id="10"/>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1" id="11"/>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15</a:t>
              </a:r>
            </a:p>
          </p:txBody>
        </p:sp>
      </p:grpSp>
      <p:sp>
        <p:nvSpPr>
          <p:cNvPr name="Freeform 12" id="12"/>
          <p:cNvSpPr/>
          <p:nvPr/>
        </p:nvSpPr>
        <p:spPr>
          <a:xfrm flipH="false" flipV="false" rot="0">
            <a:off x="13726487" y="1028700"/>
            <a:ext cx="3532813" cy="1064260"/>
          </a:xfrm>
          <a:custGeom>
            <a:avLst/>
            <a:gdLst/>
            <a:ahLst/>
            <a:cxnLst/>
            <a:rect r="r" b="b" t="t" l="l"/>
            <a:pathLst>
              <a:path h="1064260" w="3532813">
                <a:moveTo>
                  <a:pt x="0" y="0"/>
                </a:moveTo>
                <a:lnTo>
                  <a:pt x="3532813" y="0"/>
                </a:lnTo>
                <a:lnTo>
                  <a:pt x="3532813" y="1064260"/>
                </a:lnTo>
                <a:lnTo>
                  <a:pt x="0" y="1064260"/>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791380" y="8956675"/>
            <a:ext cx="6467920" cy="301625"/>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Operational Service Network</a:t>
            </a:r>
          </a:p>
        </p:txBody>
      </p:sp>
      <p:sp>
        <p:nvSpPr>
          <p:cNvPr name="TextBox 3" id="3"/>
          <p:cNvSpPr txBox="true"/>
          <p:nvPr/>
        </p:nvSpPr>
        <p:spPr>
          <a:xfrm rot="0">
            <a:off x="1028700" y="8909050"/>
            <a:ext cx="6142685" cy="349250"/>
          </a:xfrm>
          <a:prstGeom prst="rect">
            <a:avLst/>
          </a:prstGeom>
        </p:spPr>
        <p:txBody>
          <a:bodyPr anchor="t" rtlCol="false" tIns="0" lIns="0" bIns="0" rIns="0">
            <a:spAutoFit/>
          </a:bodyPr>
          <a:lstStyle/>
          <a:p>
            <a:pPr algn="l">
              <a:lnSpc>
                <a:spcPts val="2799"/>
              </a:lnSpc>
            </a:pPr>
            <a:r>
              <a:rPr lang="en-US" sz="1999" spc="-19">
                <a:solidFill>
                  <a:srgbClr val="FFFFFF"/>
                </a:solidFill>
                <a:latin typeface="Helvetica World"/>
                <a:ea typeface="Helvetica World"/>
                <a:cs typeface="Helvetica World"/>
                <a:sym typeface="Helvetica World"/>
              </a:rPr>
              <a:t>Secondary Stakeholders - Subcategory </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7" id="7"/>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8" id="8"/>
          <p:cNvGrpSpPr/>
          <p:nvPr/>
        </p:nvGrpSpPr>
        <p:grpSpPr>
          <a:xfrm rot="0">
            <a:off x="1028700" y="9258300"/>
            <a:ext cx="16230600" cy="301625"/>
            <a:chOff x="0" y="0"/>
            <a:chExt cx="21640800" cy="402167"/>
          </a:xfrm>
        </p:grpSpPr>
        <p:sp>
          <p:nvSpPr>
            <p:cNvPr name="TextBox 9" id="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0" id="1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16</a:t>
              </a:r>
            </a:p>
          </p:txBody>
        </p:sp>
      </p:grpSp>
      <p:sp>
        <p:nvSpPr>
          <p:cNvPr name="Freeform 11" id="11"/>
          <p:cNvSpPr/>
          <p:nvPr/>
        </p:nvSpPr>
        <p:spPr>
          <a:xfrm flipH="false" flipV="false" rot="0">
            <a:off x="1182174" y="566634"/>
            <a:ext cx="15923653" cy="9153731"/>
          </a:xfrm>
          <a:custGeom>
            <a:avLst/>
            <a:gdLst/>
            <a:ahLst/>
            <a:cxnLst/>
            <a:rect r="r" b="b" t="t" l="l"/>
            <a:pathLst>
              <a:path h="9153731" w="15923653">
                <a:moveTo>
                  <a:pt x="0" y="0"/>
                </a:moveTo>
                <a:lnTo>
                  <a:pt x="15923652" y="0"/>
                </a:lnTo>
                <a:lnTo>
                  <a:pt x="15923652" y="9153732"/>
                </a:lnTo>
                <a:lnTo>
                  <a:pt x="0" y="9153732"/>
                </a:lnTo>
                <a:lnTo>
                  <a:pt x="0" y="0"/>
                </a:lnTo>
                <a:close/>
              </a:path>
            </a:pathLst>
          </a:custGeom>
          <a:blipFill>
            <a:blip r:embed="rId2"/>
            <a:stretch>
              <a:fillRect l="-6390" t="-14525" r="-6390" b="0"/>
            </a:stretch>
          </a:blipFill>
        </p:spPr>
      </p:sp>
      <p:sp>
        <p:nvSpPr>
          <p:cNvPr name="Freeform 12" id="12"/>
          <p:cNvSpPr/>
          <p:nvPr/>
        </p:nvSpPr>
        <p:spPr>
          <a:xfrm flipH="false" flipV="false" rot="0">
            <a:off x="13726487" y="1028700"/>
            <a:ext cx="3532813" cy="1064260"/>
          </a:xfrm>
          <a:custGeom>
            <a:avLst/>
            <a:gdLst/>
            <a:ahLst/>
            <a:cxnLst/>
            <a:rect r="r" b="b" t="t" l="l"/>
            <a:pathLst>
              <a:path h="1064260" w="3532813">
                <a:moveTo>
                  <a:pt x="0" y="0"/>
                </a:moveTo>
                <a:lnTo>
                  <a:pt x="3532813" y="0"/>
                </a:lnTo>
                <a:lnTo>
                  <a:pt x="3532813" y="1064260"/>
                </a:lnTo>
                <a:lnTo>
                  <a:pt x="0" y="1064260"/>
                </a:lnTo>
                <a:lnTo>
                  <a:pt x="0" y="0"/>
                </a:lnTo>
                <a:close/>
              </a:path>
            </a:pathLst>
          </a:custGeom>
          <a:blipFill>
            <a:blip r:embed="rId3"/>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460668" y="8956675"/>
            <a:ext cx="6798632" cy="301625"/>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Downstream Service Partners</a:t>
            </a:r>
          </a:p>
        </p:txBody>
      </p:sp>
      <p:sp>
        <p:nvSpPr>
          <p:cNvPr name="TextBox 3" id="3"/>
          <p:cNvSpPr txBox="true"/>
          <p:nvPr/>
        </p:nvSpPr>
        <p:spPr>
          <a:xfrm rot="0">
            <a:off x="1028700" y="8909050"/>
            <a:ext cx="6142685" cy="349250"/>
          </a:xfrm>
          <a:prstGeom prst="rect">
            <a:avLst/>
          </a:prstGeom>
        </p:spPr>
        <p:txBody>
          <a:bodyPr anchor="t" rtlCol="false" tIns="0" lIns="0" bIns="0" rIns="0">
            <a:spAutoFit/>
          </a:bodyPr>
          <a:lstStyle/>
          <a:p>
            <a:pPr algn="l">
              <a:lnSpc>
                <a:spcPts val="2799"/>
              </a:lnSpc>
            </a:pPr>
            <a:r>
              <a:rPr lang="en-US" sz="1999" spc="-19">
                <a:solidFill>
                  <a:srgbClr val="FFFFFF"/>
                </a:solidFill>
                <a:latin typeface="Helvetica World"/>
                <a:ea typeface="Helvetica World"/>
                <a:cs typeface="Helvetica World"/>
                <a:sym typeface="Helvetica World"/>
              </a:rPr>
              <a:t>Tertiary Stakeholders - Peripheral Stakeholders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7" id="7"/>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8" id="8"/>
          <p:cNvGrpSpPr/>
          <p:nvPr/>
        </p:nvGrpSpPr>
        <p:grpSpPr>
          <a:xfrm rot="0">
            <a:off x="1028700" y="9258300"/>
            <a:ext cx="16230600" cy="301625"/>
            <a:chOff x="0" y="0"/>
            <a:chExt cx="21640800" cy="402167"/>
          </a:xfrm>
        </p:grpSpPr>
        <p:sp>
          <p:nvSpPr>
            <p:cNvPr name="TextBox 9" id="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0" id="1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17</a:t>
              </a:r>
            </a:p>
          </p:txBody>
        </p:sp>
      </p:grpSp>
      <p:sp>
        <p:nvSpPr>
          <p:cNvPr name="Freeform 11" id="11"/>
          <p:cNvSpPr/>
          <p:nvPr/>
        </p:nvSpPr>
        <p:spPr>
          <a:xfrm flipH="false" flipV="false" rot="0">
            <a:off x="1186749" y="566634"/>
            <a:ext cx="15914502" cy="9153731"/>
          </a:xfrm>
          <a:custGeom>
            <a:avLst/>
            <a:gdLst/>
            <a:ahLst/>
            <a:cxnLst/>
            <a:rect r="r" b="b" t="t" l="l"/>
            <a:pathLst>
              <a:path h="9153731" w="15914502">
                <a:moveTo>
                  <a:pt x="0" y="0"/>
                </a:moveTo>
                <a:lnTo>
                  <a:pt x="15914502" y="0"/>
                </a:lnTo>
                <a:lnTo>
                  <a:pt x="15914502" y="9153732"/>
                </a:lnTo>
                <a:lnTo>
                  <a:pt x="0" y="9153732"/>
                </a:lnTo>
                <a:lnTo>
                  <a:pt x="0" y="0"/>
                </a:lnTo>
                <a:close/>
              </a:path>
            </a:pathLst>
          </a:custGeom>
          <a:blipFill>
            <a:blip r:embed="rId2"/>
            <a:stretch>
              <a:fillRect l="-6422" t="-14525" r="-6422" b="0"/>
            </a:stretch>
          </a:blipFill>
        </p:spPr>
      </p:sp>
      <p:sp>
        <p:nvSpPr>
          <p:cNvPr name="Freeform 12" id="12"/>
          <p:cNvSpPr/>
          <p:nvPr/>
        </p:nvSpPr>
        <p:spPr>
          <a:xfrm flipH="false" flipV="false" rot="0">
            <a:off x="13726487" y="1028700"/>
            <a:ext cx="3532813" cy="1064260"/>
          </a:xfrm>
          <a:custGeom>
            <a:avLst/>
            <a:gdLst/>
            <a:ahLst/>
            <a:cxnLst/>
            <a:rect r="r" b="b" t="t" l="l"/>
            <a:pathLst>
              <a:path h="1064260" w="3532813">
                <a:moveTo>
                  <a:pt x="0" y="0"/>
                </a:moveTo>
                <a:lnTo>
                  <a:pt x="3532813" y="0"/>
                </a:lnTo>
                <a:lnTo>
                  <a:pt x="3532813" y="1064260"/>
                </a:lnTo>
                <a:lnTo>
                  <a:pt x="0" y="1064260"/>
                </a:lnTo>
                <a:lnTo>
                  <a:pt x="0" y="0"/>
                </a:lnTo>
                <a:close/>
              </a:path>
            </a:pathLst>
          </a:custGeom>
          <a:blipFill>
            <a:blip r:embed="rId3"/>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3450111" y="3428216"/>
            <a:ext cx="11387777" cy="3430568"/>
          </a:xfrm>
          <a:custGeom>
            <a:avLst/>
            <a:gdLst/>
            <a:ahLst/>
            <a:cxnLst/>
            <a:rect r="r" b="b" t="t" l="l"/>
            <a:pathLst>
              <a:path h="3430568" w="11387777">
                <a:moveTo>
                  <a:pt x="0" y="0"/>
                </a:moveTo>
                <a:lnTo>
                  <a:pt x="11387778" y="0"/>
                </a:lnTo>
                <a:lnTo>
                  <a:pt x="11387778" y="3430568"/>
                </a:lnTo>
                <a:lnTo>
                  <a:pt x="0" y="3430568"/>
                </a:lnTo>
                <a:lnTo>
                  <a:pt x="0" y="0"/>
                </a:lnTo>
                <a:close/>
              </a:path>
            </a:pathLst>
          </a:custGeom>
          <a:blipFill>
            <a:blip r:embed="rId2"/>
            <a:stretch>
              <a:fillRect l="0" t="0" r="0" b="0"/>
            </a:stretch>
          </a:blipFill>
        </p:spPr>
      </p:sp>
      <p:sp>
        <p:nvSpPr>
          <p:cNvPr name="TextBox 3" id="3"/>
          <p:cNvSpPr txBox="true"/>
          <p:nvPr/>
        </p:nvSpPr>
        <p:spPr>
          <a:xfrm rot="0">
            <a:off x="10056096" y="4544833"/>
            <a:ext cx="6992906" cy="1543050"/>
          </a:xfrm>
          <a:prstGeom prst="rect">
            <a:avLst/>
          </a:prstGeom>
        </p:spPr>
        <p:txBody>
          <a:bodyPr anchor="t" rtlCol="false" tIns="0" lIns="0" bIns="0" rIns="0">
            <a:spAutoFit/>
          </a:bodyPr>
          <a:lstStyle/>
          <a:p>
            <a:pPr algn="l">
              <a:lnSpc>
                <a:spcPts val="2400"/>
              </a:lnSpc>
            </a:pPr>
            <a:r>
              <a:rPr lang="en-US" sz="2000" spc="-30">
                <a:solidFill>
                  <a:srgbClr val="FFFFFF"/>
                </a:solidFill>
                <a:latin typeface="Helvetica World"/>
                <a:ea typeface="Helvetica World"/>
                <a:cs typeface="Helvetica World"/>
                <a:sym typeface="Helvetica World"/>
              </a:rPr>
              <a:t>Consumers who want convenience, speed, competitive pricing, and predictable delivery.</a:t>
            </a:r>
          </a:p>
          <a:p>
            <a:pPr algn="l">
              <a:lnSpc>
                <a:spcPts val="2400"/>
              </a:lnSpc>
            </a:pPr>
          </a:p>
          <a:p>
            <a:pPr algn="l">
              <a:lnSpc>
                <a:spcPts val="2400"/>
              </a:lnSpc>
            </a:pPr>
            <a:r>
              <a:rPr lang="en-US" sz="2000" spc="-30">
                <a:solidFill>
                  <a:srgbClr val="FFFFFF"/>
                </a:solidFill>
                <a:latin typeface="Helvetica World"/>
                <a:ea typeface="Helvetica World"/>
                <a:cs typeface="Helvetica World"/>
                <a:sym typeface="Helvetica World"/>
              </a:rPr>
              <a:t>Third-party sellers and brands that need access to massive traffic, fulfillment options, and advertising tools to drive sales.</a:t>
            </a:r>
          </a:p>
        </p:txBody>
      </p:sp>
      <p:sp>
        <p:nvSpPr>
          <p:cNvPr name="TextBox 4" id="4"/>
          <p:cNvSpPr txBox="true"/>
          <p:nvPr/>
        </p:nvSpPr>
        <p:spPr>
          <a:xfrm rot="0">
            <a:off x="2017885" y="4774544"/>
            <a:ext cx="6455366" cy="1047750"/>
          </a:xfrm>
          <a:prstGeom prst="rect">
            <a:avLst/>
          </a:prstGeom>
        </p:spPr>
        <p:txBody>
          <a:bodyPr anchor="t" rtlCol="false" tIns="0" lIns="0" bIns="0" rIns="0">
            <a:spAutoFit/>
          </a:bodyPr>
          <a:lstStyle/>
          <a:p>
            <a:pPr algn="l">
              <a:lnSpc>
                <a:spcPts val="8400"/>
              </a:lnSpc>
            </a:pPr>
            <a:r>
              <a:rPr lang="en-US" sz="6000" spc="-60">
                <a:solidFill>
                  <a:srgbClr val="FFFFFF">
                    <a:alpha val="49804"/>
                  </a:srgbClr>
                </a:solidFill>
                <a:latin typeface="Helvetica World"/>
                <a:ea typeface="Helvetica World"/>
                <a:cs typeface="Helvetica World"/>
                <a:sym typeface="Helvetica World"/>
              </a:rPr>
              <a:t>Market Segments</a:t>
            </a:r>
          </a:p>
        </p:txBody>
      </p:sp>
      <p:sp>
        <p:nvSpPr>
          <p:cNvPr name="AutoShape 5" id="5"/>
          <p:cNvSpPr/>
          <p:nvPr/>
        </p:nvSpPr>
        <p:spPr>
          <a:xfrm>
            <a:off x="9144000" y="4779070"/>
            <a:ext cx="0" cy="1172048"/>
          </a:xfrm>
          <a:prstGeom prst="line">
            <a:avLst/>
          </a:prstGeom>
          <a:ln cap="rnd" w="19050">
            <a:solidFill>
              <a:srgbClr val="FFFFFF">
                <a:alpha val="29804"/>
              </a:srgbClr>
            </a:solidFill>
            <a:prstDash val="sysDash"/>
            <a:headEnd type="none" len="sm" w="sm"/>
            <a:tailEnd type="none" len="sm" w="sm"/>
          </a:ln>
        </p:spPr>
      </p:sp>
      <p:sp>
        <p:nvSpPr>
          <p:cNvPr name="TextBox 6" id="6"/>
          <p:cNvSpPr txBox="true"/>
          <p:nvPr/>
        </p:nvSpPr>
        <p:spPr>
          <a:xfrm rot="0">
            <a:off x="10056096" y="2189966"/>
            <a:ext cx="6992906" cy="1543050"/>
          </a:xfrm>
          <a:prstGeom prst="rect">
            <a:avLst/>
          </a:prstGeom>
        </p:spPr>
        <p:txBody>
          <a:bodyPr anchor="t" rtlCol="false" tIns="0" lIns="0" bIns="0" rIns="0">
            <a:spAutoFit/>
          </a:bodyPr>
          <a:lstStyle/>
          <a:p>
            <a:pPr algn="l">
              <a:lnSpc>
                <a:spcPts val="2400"/>
              </a:lnSpc>
            </a:pPr>
            <a:r>
              <a:rPr lang="en-US" sz="2000" spc="-30">
                <a:solidFill>
                  <a:srgbClr val="FFFFFF"/>
                </a:solidFill>
                <a:latin typeface="Helvetica World"/>
                <a:ea typeface="Helvetica World"/>
                <a:cs typeface="Helvetica World"/>
                <a:sym typeface="Helvetica World"/>
              </a:rPr>
              <a:t>Amazon e-commerce offers fast, low-friction shopping—wide selectio</a:t>
            </a:r>
            <a:r>
              <a:rPr lang="en-US" sz="2000" spc="-30">
                <a:solidFill>
                  <a:srgbClr val="FFFFFF"/>
                </a:solidFill>
                <a:latin typeface="Helvetica World"/>
                <a:ea typeface="Helvetica World"/>
                <a:cs typeface="Helvetica World"/>
                <a:sym typeface="Helvetica World"/>
              </a:rPr>
              <a:t>n, trusted reviews, and quick checkout in one place.</a:t>
            </a:r>
          </a:p>
          <a:p>
            <a:pPr algn="l">
              <a:lnSpc>
                <a:spcPts val="2400"/>
              </a:lnSpc>
            </a:pPr>
          </a:p>
          <a:p>
            <a:pPr algn="l">
              <a:lnSpc>
                <a:spcPts val="2400"/>
              </a:lnSpc>
            </a:pPr>
            <a:r>
              <a:rPr lang="en-US" sz="2000" spc="-30">
                <a:solidFill>
                  <a:srgbClr val="FFFFFF"/>
                </a:solidFill>
                <a:latin typeface="Helvetica World"/>
                <a:ea typeface="Helvetica World"/>
                <a:cs typeface="Helvetica World"/>
                <a:sym typeface="Helvetica World"/>
              </a:rPr>
              <a:t>It delivers reliable fulfillment and easy returns, reducing the “risk” of buying online and turning shopping into a default habit.</a:t>
            </a:r>
          </a:p>
        </p:txBody>
      </p:sp>
      <p:sp>
        <p:nvSpPr>
          <p:cNvPr name="TextBox 7" id="7"/>
          <p:cNvSpPr txBox="true"/>
          <p:nvPr/>
        </p:nvSpPr>
        <p:spPr>
          <a:xfrm rot="0">
            <a:off x="2017885" y="2380466"/>
            <a:ext cx="6455366" cy="1047750"/>
          </a:xfrm>
          <a:prstGeom prst="rect">
            <a:avLst/>
          </a:prstGeom>
        </p:spPr>
        <p:txBody>
          <a:bodyPr anchor="t" rtlCol="false" tIns="0" lIns="0" bIns="0" rIns="0">
            <a:spAutoFit/>
          </a:bodyPr>
          <a:lstStyle/>
          <a:p>
            <a:pPr algn="l">
              <a:lnSpc>
                <a:spcPts val="8400"/>
              </a:lnSpc>
            </a:pPr>
            <a:r>
              <a:rPr lang="en-US" sz="6000" spc="-60">
                <a:solidFill>
                  <a:srgbClr val="FFFFFF">
                    <a:alpha val="49804"/>
                  </a:srgbClr>
                </a:solidFill>
                <a:latin typeface="Helvetica World"/>
                <a:ea typeface="Helvetica World"/>
                <a:cs typeface="Helvetica World"/>
                <a:sym typeface="Helvetica World"/>
              </a:rPr>
              <a:t>Value Proposition</a:t>
            </a:r>
          </a:p>
        </p:txBody>
      </p:sp>
      <p:sp>
        <p:nvSpPr>
          <p:cNvPr name="AutoShape 8" id="8"/>
          <p:cNvSpPr/>
          <p:nvPr/>
        </p:nvSpPr>
        <p:spPr>
          <a:xfrm>
            <a:off x="9134475" y="2384992"/>
            <a:ext cx="0" cy="1172048"/>
          </a:xfrm>
          <a:prstGeom prst="line">
            <a:avLst/>
          </a:prstGeom>
          <a:ln cap="rnd" w="19050">
            <a:solidFill>
              <a:srgbClr val="FFFFFF">
                <a:alpha val="29804"/>
              </a:srgbClr>
            </a:solidFill>
            <a:prstDash val="sysDash"/>
            <a:headEnd type="none" len="sm" w="sm"/>
            <a:tailEnd type="none" len="sm" w="sm"/>
          </a:ln>
        </p:spPr>
      </p:sp>
      <p:sp>
        <p:nvSpPr>
          <p:cNvPr name="TextBox 9" id="9"/>
          <p:cNvSpPr txBox="true"/>
          <p:nvPr/>
        </p:nvSpPr>
        <p:spPr>
          <a:xfrm rot="0">
            <a:off x="10056096" y="6899700"/>
            <a:ext cx="7413502" cy="1543050"/>
          </a:xfrm>
          <a:prstGeom prst="rect">
            <a:avLst/>
          </a:prstGeom>
        </p:spPr>
        <p:txBody>
          <a:bodyPr anchor="t" rtlCol="false" tIns="0" lIns="0" bIns="0" rIns="0">
            <a:spAutoFit/>
          </a:bodyPr>
          <a:lstStyle/>
          <a:p>
            <a:pPr algn="l">
              <a:lnSpc>
                <a:spcPts val="2400"/>
              </a:lnSpc>
            </a:pPr>
            <a:r>
              <a:rPr lang="en-US" sz="2000" spc="-30">
                <a:solidFill>
                  <a:srgbClr val="FFFFFF"/>
                </a:solidFill>
                <a:latin typeface="Helvetica World"/>
                <a:ea typeface="Helvetica World"/>
                <a:cs typeface="Helvetica World"/>
                <a:sym typeface="Helvetica World"/>
              </a:rPr>
              <a:t>Operating the marketplace + retail catalog, including search/ranking, pricing, m</a:t>
            </a:r>
            <a:r>
              <a:rPr lang="en-US" sz="2000" spc="-30">
                <a:solidFill>
                  <a:srgbClr val="FFFFFF"/>
                </a:solidFill>
                <a:latin typeface="Helvetica World"/>
                <a:ea typeface="Helvetica World"/>
                <a:cs typeface="Helvetica World"/>
                <a:sym typeface="Helvetica World"/>
              </a:rPr>
              <a:t>erchandising, payments, and customer support.</a:t>
            </a:r>
          </a:p>
          <a:p>
            <a:pPr algn="l">
              <a:lnSpc>
                <a:spcPts val="2400"/>
              </a:lnSpc>
            </a:pPr>
          </a:p>
          <a:p>
            <a:pPr algn="l">
              <a:lnSpc>
                <a:spcPts val="2400"/>
              </a:lnSpc>
            </a:pPr>
            <a:r>
              <a:rPr lang="en-US" sz="2000" spc="-30">
                <a:solidFill>
                  <a:srgbClr val="FFFFFF"/>
                </a:solidFill>
                <a:latin typeface="Helvetica World"/>
                <a:ea typeface="Helvetica World"/>
                <a:cs typeface="Helvetica World"/>
                <a:sym typeface="Helvetica World"/>
              </a:rPr>
              <a:t>Running fulfillment and reverse logistics—inventory handling, shipping, last-mile delivery coordination, and returns processing.</a:t>
            </a:r>
          </a:p>
        </p:txBody>
      </p:sp>
      <p:sp>
        <p:nvSpPr>
          <p:cNvPr name="TextBox 10" id="10"/>
          <p:cNvSpPr txBox="true"/>
          <p:nvPr/>
        </p:nvSpPr>
        <p:spPr>
          <a:xfrm rot="0">
            <a:off x="2017885" y="7090200"/>
            <a:ext cx="6455366" cy="1047750"/>
          </a:xfrm>
          <a:prstGeom prst="rect">
            <a:avLst/>
          </a:prstGeom>
        </p:spPr>
        <p:txBody>
          <a:bodyPr anchor="t" rtlCol="false" tIns="0" lIns="0" bIns="0" rIns="0">
            <a:spAutoFit/>
          </a:bodyPr>
          <a:lstStyle/>
          <a:p>
            <a:pPr algn="l">
              <a:lnSpc>
                <a:spcPts val="8400"/>
              </a:lnSpc>
            </a:pPr>
            <a:r>
              <a:rPr lang="en-US" sz="6000" spc="-60">
                <a:solidFill>
                  <a:srgbClr val="FFFFFF">
                    <a:alpha val="49804"/>
                  </a:srgbClr>
                </a:solidFill>
                <a:latin typeface="Helvetica World"/>
                <a:ea typeface="Helvetica World"/>
                <a:cs typeface="Helvetica World"/>
                <a:sym typeface="Helvetica World"/>
              </a:rPr>
              <a:t>Key Activities</a:t>
            </a:r>
          </a:p>
        </p:txBody>
      </p:sp>
      <p:sp>
        <p:nvSpPr>
          <p:cNvPr name="AutoShape 11" id="11"/>
          <p:cNvSpPr/>
          <p:nvPr/>
        </p:nvSpPr>
        <p:spPr>
          <a:xfrm>
            <a:off x="9153525" y="7094726"/>
            <a:ext cx="0" cy="1172048"/>
          </a:xfrm>
          <a:prstGeom prst="line">
            <a:avLst/>
          </a:prstGeom>
          <a:ln cap="rnd" w="19050">
            <a:solidFill>
              <a:srgbClr val="FFFFFF">
                <a:alpha val="29804"/>
              </a:srgbClr>
            </a:solidFill>
            <a:prstDash val="sysDash"/>
            <a:headEnd type="none" len="sm" w="sm"/>
            <a:tailEnd type="none" len="sm" w="sm"/>
          </a:ln>
        </p:spPr>
      </p:sp>
      <p:sp>
        <p:nvSpPr>
          <p:cNvPr name="TextBox 12" id="1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Business Model</a:t>
            </a:r>
          </a:p>
        </p:txBody>
      </p:sp>
      <p:grpSp>
        <p:nvGrpSpPr>
          <p:cNvPr name="Group 13" id="13"/>
          <p:cNvGrpSpPr/>
          <p:nvPr/>
        </p:nvGrpSpPr>
        <p:grpSpPr>
          <a:xfrm rot="0">
            <a:off x="1028700" y="727075"/>
            <a:ext cx="16230600" cy="301625"/>
            <a:chOff x="0" y="0"/>
            <a:chExt cx="21640800" cy="402167"/>
          </a:xfrm>
        </p:grpSpPr>
        <p:sp>
          <p:nvSpPr>
            <p:cNvPr name="TextBox 14" id="1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5" id="1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8" id="18"/>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18</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2625546" y="1654901"/>
            <a:ext cx="264092" cy="26409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D6D6"/>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2956364" y="727075"/>
            <a:ext cx="12375271" cy="8832850"/>
          </a:xfrm>
          <a:custGeom>
            <a:avLst/>
            <a:gdLst/>
            <a:ahLst/>
            <a:cxnLst/>
            <a:rect r="r" b="b" t="t" l="l"/>
            <a:pathLst>
              <a:path h="8832850" w="12375271">
                <a:moveTo>
                  <a:pt x="0" y="0"/>
                </a:moveTo>
                <a:lnTo>
                  <a:pt x="12375272" y="0"/>
                </a:lnTo>
                <a:lnTo>
                  <a:pt x="12375272" y="8832850"/>
                </a:lnTo>
                <a:lnTo>
                  <a:pt x="0" y="8832850"/>
                </a:lnTo>
                <a:lnTo>
                  <a:pt x="0" y="0"/>
                </a:lnTo>
                <a:close/>
              </a:path>
            </a:pathLst>
          </a:custGeom>
          <a:blipFill>
            <a:blip r:embed="rId2"/>
            <a:stretch>
              <a:fillRect l="0" t="0" r="0" b="0"/>
            </a:stretch>
          </a:blipFill>
        </p:spPr>
      </p:sp>
      <p:grpSp>
        <p:nvGrpSpPr>
          <p:cNvPr name="Group 6" id="6"/>
          <p:cNvGrpSpPr/>
          <p:nvPr/>
        </p:nvGrpSpPr>
        <p:grpSpPr>
          <a:xfrm rot="0">
            <a:off x="1028700" y="9258300"/>
            <a:ext cx="16230600" cy="301625"/>
            <a:chOff x="0" y="0"/>
            <a:chExt cx="21640800" cy="402167"/>
          </a:xfrm>
        </p:grpSpPr>
        <p:sp>
          <p:nvSpPr>
            <p:cNvPr name="TextBox 7" id="7"/>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8" id="8"/>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19</a:t>
              </a:r>
            </a:p>
          </p:txBody>
        </p:sp>
      </p:grpSp>
      <p:grpSp>
        <p:nvGrpSpPr>
          <p:cNvPr name="Group 9" id="9"/>
          <p:cNvGrpSpPr/>
          <p:nvPr/>
        </p:nvGrpSpPr>
        <p:grpSpPr>
          <a:xfrm rot="0">
            <a:off x="1028700" y="727075"/>
            <a:ext cx="16230600" cy="301625"/>
            <a:chOff x="0" y="0"/>
            <a:chExt cx="21640800" cy="402167"/>
          </a:xfrm>
        </p:grpSpPr>
        <p:sp>
          <p:nvSpPr>
            <p:cNvPr name="TextBox 10" id="10"/>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1" id="11"/>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2" id="1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Market Positioning</a:t>
            </a:r>
          </a:p>
        </p:txBody>
      </p:sp>
      <p:sp>
        <p:nvSpPr>
          <p:cNvPr name="TextBox 13" id="13"/>
          <p:cNvSpPr txBox="true"/>
          <p:nvPr/>
        </p:nvSpPr>
        <p:spPr>
          <a:xfrm rot="0">
            <a:off x="1032835" y="7773186"/>
            <a:ext cx="6446975" cy="1238250"/>
          </a:xfrm>
          <a:prstGeom prst="rect">
            <a:avLst/>
          </a:prstGeom>
        </p:spPr>
        <p:txBody>
          <a:bodyPr anchor="t" rtlCol="false" tIns="0" lIns="0" bIns="0" rIns="0">
            <a:spAutoFit/>
          </a:bodyPr>
          <a:lstStyle/>
          <a:p>
            <a:pPr algn="l">
              <a:lnSpc>
                <a:spcPts val="2400"/>
              </a:lnSpc>
            </a:pPr>
            <a:r>
              <a:rPr lang="en-US" sz="2000" spc="-20">
                <a:solidFill>
                  <a:srgbClr val="FFFFFF">
                    <a:alpha val="49804"/>
                  </a:srgbClr>
                </a:solidFill>
                <a:latin typeface="Helvetica World"/>
                <a:ea typeface="Helvetica World"/>
                <a:cs typeface="Helvetica World"/>
                <a:sym typeface="Helvetica World"/>
              </a:rPr>
              <a:t>Amazon e-commerce has built an overwhelming advantage based on its unmatched fulfillment capability and comprehensive digital ecosystem. Its logistics network and platform integration create a dominant market position.</a:t>
            </a:r>
          </a:p>
        </p:txBody>
      </p:sp>
      <p:sp>
        <p:nvSpPr>
          <p:cNvPr name="AutoShape 14" id="14"/>
          <p:cNvSpPr/>
          <p:nvPr/>
        </p:nvSpPr>
        <p:spPr>
          <a:xfrm>
            <a:off x="12757592" y="1918993"/>
            <a:ext cx="0" cy="1796070"/>
          </a:xfrm>
          <a:prstGeom prst="line">
            <a:avLst/>
          </a:prstGeom>
          <a:ln cap="rnd" w="19050">
            <a:solidFill>
              <a:srgbClr val="FFFFFF">
                <a:alpha val="29804"/>
              </a:srgbClr>
            </a:solidFill>
            <a:prstDash val="sysDash"/>
            <a:headEnd type="none" len="sm" w="sm"/>
            <a:tailEnd type="none" len="sm" w="sm"/>
          </a:ln>
        </p:spPr>
      </p:sp>
      <p:sp>
        <p:nvSpPr>
          <p:cNvPr name="Freeform 15" id="15"/>
          <p:cNvSpPr/>
          <p:nvPr/>
        </p:nvSpPr>
        <p:spPr>
          <a:xfrm flipH="false" flipV="false" rot="0">
            <a:off x="11678513" y="3715063"/>
            <a:ext cx="2158158" cy="650145"/>
          </a:xfrm>
          <a:custGeom>
            <a:avLst/>
            <a:gdLst/>
            <a:ahLst/>
            <a:cxnLst/>
            <a:rect r="r" b="b" t="t" l="l"/>
            <a:pathLst>
              <a:path h="650145" w="2158158">
                <a:moveTo>
                  <a:pt x="0" y="0"/>
                </a:moveTo>
                <a:lnTo>
                  <a:pt x="2158158" y="0"/>
                </a:lnTo>
                <a:lnTo>
                  <a:pt x="2158158" y="650145"/>
                </a:lnTo>
                <a:lnTo>
                  <a:pt x="0" y="650145"/>
                </a:lnTo>
                <a:lnTo>
                  <a:pt x="0" y="0"/>
                </a:lnTo>
                <a:close/>
              </a:path>
            </a:pathLst>
          </a:custGeom>
          <a:blipFill>
            <a:blip r:embed="rId3"/>
            <a:stretch>
              <a:fillRect l="0" t="0" r="0" b="0"/>
            </a:stretch>
          </a:blipFill>
        </p:spPr>
      </p:sp>
      <p:grpSp>
        <p:nvGrpSpPr>
          <p:cNvPr name="Group 16" id="16"/>
          <p:cNvGrpSpPr/>
          <p:nvPr/>
        </p:nvGrpSpPr>
        <p:grpSpPr>
          <a:xfrm rot="0">
            <a:off x="12345863" y="1375218"/>
            <a:ext cx="823459" cy="82345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lgDash"/>
              <a:miter/>
            </a:ln>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2625546" y="1654901"/>
            <a:ext cx="264092" cy="26409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D6D6"/>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2956364" y="727075"/>
            <a:ext cx="12375271" cy="8832850"/>
          </a:xfrm>
          <a:custGeom>
            <a:avLst/>
            <a:gdLst/>
            <a:ahLst/>
            <a:cxnLst/>
            <a:rect r="r" b="b" t="t" l="l"/>
            <a:pathLst>
              <a:path h="8832850" w="12375271">
                <a:moveTo>
                  <a:pt x="0" y="0"/>
                </a:moveTo>
                <a:lnTo>
                  <a:pt x="12375272" y="0"/>
                </a:lnTo>
                <a:lnTo>
                  <a:pt x="12375272" y="8832850"/>
                </a:lnTo>
                <a:lnTo>
                  <a:pt x="0" y="8832850"/>
                </a:lnTo>
                <a:lnTo>
                  <a:pt x="0" y="0"/>
                </a:lnTo>
                <a:close/>
              </a:path>
            </a:pathLst>
          </a:custGeom>
          <a:blipFill>
            <a:blip r:embed="rId2"/>
            <a:stretch>
              <a:fillRect l="0" t="0" r="0" b="0"/>
            </a:stretch>
          </a:blipFill>
        </p:spPr>
      </p:sp>
      <p:sp>
        <p:nvSpPr>
          <p:cNvPr name="AutoShape 6" id="6"/>
          <p:cNvSpPr/>
          <p:nvPr/>
        </p:nvSpPr>
        <p:spPr>
          <a:xfrm>
            <a:off x="12757592" y="1918993"/>
            <a:ext cx="0" cy="1796070"/>
          </a:xfrm>
          <a:prstGeom prst="line">
            <a:avLst/>
          </a:prstGeom>
          <a:ln cap="rnd" w="19050">
            <a:solidFill>
              <a:srgbClr val="FFFFFF">
                <a:alpha val="29804"/>
              </a:srgbClr>
            </a:solidFill>
            <a:prstDash val="sysDash"/>
            <a:headEnd type="none" len="sm" w="sm"/>
            <a:tailEnd type="none" len="sm" w="sm"/>
          </a:ln>
        </p:spPr>
      </p:sp>
      <p:sp>
        <p:nvSpPr>
          <p:cNvPr name="Freeform 7" id="7"/>
          <p:cNvSpPr/>
          <p:nvPr/>
        </p:nvSpPr>
        <p:spPr>
          <a:xfrm flipH="false" flipV="false" rot="0">
            <a:off x="11678513" y="3715063"/>
            <a:ext cx="2158158" cy="650145"/>
          </a:xfrm>
          <a:custGeom>
            <a:avLst/>
            <a:gdLst/>
            <a:ahLst/>
            <a:cxnLst/>
            <a:rect r="r" b="b" t="t" l="l"/>
            <a:pathLst>
              <a:path h="650145" w="2158158">
                <a:moveTo>
                  <a:pt x="0" y="0"/>
                </a:moveTo>
                <a:lnTo>
                  <a:pt x="2158158" y="0"/>
                </a:lnTo>
                <a:lnTo>
                  <a:pt x="2158158" y="650145"/>
                </a:lnTo>
                <a:lnTo>
                  <a:pt x="0" y="650145"/>
                </a:lnTo>
                <a:lnTo>
                  <a:pt x="0" y="0"/>
                </a:lnTo>
                <a:close/>
              </a:path>
            </a:pathLst>
          </a:custGeom>
          <a:blipFill>
            <a:blip r:embed="rId3"/>
            <a:stretch>
              <a:fillRect l="0" t="0" r="0" b="0"/>
            </a:stretch>
          </a:blipFill>
        </p:spPr>
      </p:sp>
      <p:grpSp>
        <p:nvGrpSpPr>
          <p:cNvPr name="Group 8" id="8"/>
          <p:cNvGrpSpPr/>
          <p:nvPr/>
        </p:nvGrpSpPr>
        <p:grpSpPr>
          <a:xfrm rot="0">
            <a:off x="12345863" y="1375218"/>
            <a:ext cx="823459" cy="82345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lgDash"/>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3450111" y="3428216"/>
            <a:ext cx="11387777" cy="3430568"/>
          </a:xfrm>
          <a:custGeom>
            <a:avLst/>
            <a:gdLst/>
            <a:ahLst/>
            <a:cxnLst/>
            <a:rect r="r" b="b" t="t" l="l"/>
            <a:pathLst>
              <a:path h="3430568" w="11387777">
                <a:moveTo>
                  <a:pt x="0" y="0"/>
                </a:moveTo>
                <a:lnTo>
                  <a:pt x="11387778" y="0"/>
                </a:lnTo>
                <a:lnTo>
                  <a:pt x="11387778" y="3430568"/>
                </a:lnTo>
                <a:lnTo>
                  <a:pt x="0" y="3430568"/>
                </a:lnTo>
                <a:lnTo>
                  <a:pt x="0" y="0"/>
                </a:lnTo>
                <a:close/>
              </a:path>
            </a:pathLst>
          </a:custGeom>
          <a:blipFill>
            <a:blip r:embed="rId2"/>
            <a:stretch>
              <a:fillRect l="0" t="0" r="0" b="0"/>
            </a:stretch>
          </a:blipFill>
        </p:spPr>
      </p:sp>
      <p:sp>
        <p:nvSpPr>
          <p:cNvPr name="AutoShape 3" id="3"/>
          <p:cNvSpPr/>
          <p:nvPr/>
        </p:nvSpPr>
        <p:spPr>
          <a:xfrm flipH="true">
            <a:off x="9142699" y="4502215"/>
            <a:ext cx="0" cy="4030280"/>
          </a:xfrm>
          <a:prstGeom prst="line">
            <a:avLst/>
          </a:prstGeom>
          <a:ln cap="rnd" w="19050">
            <a:solidFill>
              <a:srgbClr val="FFFFFF">
                <a:alpha val="29804"/>
              </a:srgbClr>
            </a:solidFill>
            <a:prstDash val="sysDash"/>
            <a:headEnd type="none" len="sm" w="sm"/>
            <a:tailEnd type="none" len="sm" w="sm"/>
          </a:ln>
        </p:spPr>
      </p:sp>
      <p:sp>
        <p:nvSpPr>
          <p:cNvPr name="TextBox 4" id="4"/>
          <p:cNvSpPr txBox="true"/>
          <p:nvPr/>
        </p:nvSpPr>
        <p:spPr>
          <a:xfrm rot="0">
            <a:off x="11060678" y="59767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Fulfillment + last-mile delivery operations</a:t>
            </a:r>
          </a:p>
        </p:txBody>
      </p:sp>
      <p:sp>
        <p:nvSpPr>
          <p:cNvPr name="TextBox 5" id="5"/>
          <p:cNvSpPr txBox="true"/>
          <p:nvPr/>
        </p:nvSpPr>
        <p:spPr>
          <a:xfrm rot="0">
            <a:off x="1032835" y="5976768"/>
            <a:ext cx="8109863"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Product sales margin (1P retail)</a:t>
            </a:r>
          </a:p>
        </p:txBody>
      </p:sp>
      <p:sp>
        <p:nvSpPr>
          <p:cNvPr name="TextBox 6" id="6"/>
          <p:cNvSpPr txBox="true"/>
          <p:nvPr/>
        </p:nvSpPr>
        <p:spPr>
          <a:xfrm rot="0">
            <a:off x="1032835" y="6700668"/>
            <a:ext cx="7285162"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Marketplace seller fees (3P commissions, referral fees)</a:t>
            </a:r>
          </a:p>
        </p:txBody>
      </p:sp>
      <p:sp>
        <p:nvSpPr>
          <p:cNvPr name="TextBox 7" id="7"/>
          <p:cNvSpPr txBox="true"/>
          <p:nvPr/>
        </p:nvSpPr>
        <p:spPr>
          <a:xfrm rot="0">
            <a:off x="11060678" y="74245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Customer service + fraud prevention</a:t>
            </a:r>
          </a:p>
        </p:txBody>
      </p:sp>
      <p:sp>
        <p:nvSpPr>
          <p:cNvPr name="TextBox 8" id="8"/>
          <p:cNvSpPr txBox="true"/>
          <p:nvPr/>
        </p:nvSpPr>
        <p:spPr>
          <a:xfrm rot="0">
            <a:off x="1032835" y="7424568"/>
            <a:ext cx="6198622" cy="73342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Advertising revenue</a:t>
            </a:r>
          </a:p>
          <a:p>
            <a:pPr algn="l">
              <a:lnSpc>
                <a:spcPts val="2879"/>
              </a:lnSpc>
            </a:pPr>
            <a:r>
              <a:rPr lang="en-US" sz="2399" spc="-23">
                <a:solidFill>
                  <a:srgbClr val="A6A6A6"/>
                </a:solidFill>
                <a:latin typeface="Helvetica World"/>
                <a:ea typeface="Helvetica World"/>
                <a:cs typeface="Helvetica World"/>
                <a:sym typeface="Helvetica World"/>
              </a:rPr>
              <a:t>(sponsored products, display/search ads)</a:t>
            </a:r>
          </a:p>
        </p:txBody>
      </p:sp>
      <p:sp>
        <p:nvSpPr>
          <p:cNvPr name="TextBox 9" id="9"/>
          <p:cNvSpPr txBox="true"/>
          <p:nvPr/>
        </p:nvSpPr>
        <p:spPr>
          <a:xfrm rot="0">
            <a:off x="1028700" y="4368865"/>
            <a:ext cx="6455366" cy="10477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Revenue Structure</a:t>
            </a:r>
          </a:p>
        </p:txBody>
      </p:sp>
      <p:sp>
        <p:nvSpPr>
          <p:cNvPr name="TextBox 10" id="10"/>
          <p:cNvSpPr txBox="true"/>
          <p:nvPr/>
        </p:nvSpPr>
        <p:spPr>
          <a:xfrm rot="0">
            <a:off x="10803934" y="4368865"/>
            <a:ext cx="6455366" cy="104775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Cost Structure</a:t>
            </a:r>
          </a:p>
        </p:txBody>
      </p:sp>
      <p:sp>
        <p:nvSpPr>
          <p:cNvPr name="TextBox 11" id="11"/>
          <p:cNvSpPr txBox="true"/>
          <p:nvPr/>
        </p:nvSpPr>
        <p:spPr>
          <a:xfrm rot="0">
            <a:off x="9536017" y="6700668"/>
            <a:ext cx="7723283"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Returns processing (reverse logistics, inspection, disposal)</a:t>
            </a:r>
          </a:p>
        </p:txBody>
      </p:sp>
      <p:sp>
        <p:nvSpPr>
          <p:cNvPr name="TextBox 12" id="1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Revenue Structure/Cost Structure</a:t>
            </a:r>
          </a:p>
        </p:txBody>
      </p:sp>
      <p:grpSp>
        <p:nvGrpSpPr>
          <p:cNvPr name="Group 13" id="13"/>
          <p:cNvGrpSpPr/>
          <p:nvPr/>
        </p:nvGrpSpPr>
        <p:grpSpPr>
          <a:xfrm rot="0">
            <a:off x="1028700" y="727075"/>
            <a:ext cx="16230600" cy="301625"/>
            <a:chOff x="0" y="0"/>
            <a:chExt cx="21640800" cy="402167"/>
          </a:xfrm>
        </p:grpSpPr>
        <p:sp>
          <p:nvSpPr>
            <p:cNvPr name="TextBox 14" id="1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5" id="1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8" id="18"/>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20</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Vision and Goal of the Brand</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885825" y="4435540"/>
            <a:ext cx="1075730"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Vision</a:t>
            </a:r>
          </a:p>
        </p:txBody>
      </p:sp>
      <p:sp>
        <p:nvSpPr>
          <p:cNvPr name="TextBox 7" id="7"/>
          <p:cNvSpPr txBox="true"/>
          <p:nvPr/>
        </p:nvSpPr>
        <p:spPr>
          <a:xfrm rot="0">
            <a:off x="889960" y="6001119"/>
            <a:ext cx="3944336" cy="71120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Make online shopping feel instant, trustworthy, and “always available.”</a:t>
            </a:r>
          </a:p>
        </p:txBody>
      </p:sp>
      <p:sp>
        <p:nvSpPr>
          <p:cNvPr name="TextBox 8" id="8"/>
          <p:cNvSpPr txBox="true"/>
          <p:nvPr/>
        </p:nvSpPr>
        <p:spPr>
          <a:xfrm rot="0">
            <a:off x="7454915" y="6001119"/>
            <a:ext cx="3331522" cy="10636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Increase purchase frequency and basket size by reducing friction in discovery.</a:t>
            </a:r>
          </a:p>
        </p:txBody>
      </p:sp>
      <p:sp>
        <p:nvSpPr>
          <p:cNvPr name="TextBox 9" id="9"/>
          <p:cNvSpPr txBox="true"/>
          <p:nvPr/>
        </p:nvSpPr>
        <p:spPr>
          <a:xfrm rot="0">
            <a:off x="13689692" y="6001119"/>
            <a:ext cx="3426733" cy="10636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Convenience vs. impact: faster delivery, easy returns, and constant promotions.</a:t>
            </a:r>
          </a:p>
        </p:txBody>
      </p:sp>
      <p:sp>
        <p:nvSpPr>
          <p:cNvPr name="TextBox 10" id="10"/>
          <p:cNvSpPr txBox="true"/>
          <p:nvPr/>
        </p:nvSpPr>
        <p:spPr>
          <a:xfrm rot="0">
            <a:off x="3458811" y="7937500"/>
            <a:ext cx="11084629" cy="594995"/>
          </a:xfrm>
          <a:prstGeom prst="rect">
            <a:avLst/>
          </a:prstGeom>
        </p:spPr>
        <p:txBody>
          <a:bodyPr anchor="t" rtlCol="false" tIns="0" lIns="0" bIns="0" rIns="0">
            <a:spAutoFit/>
          </a:bodyPr>
          <a:lstStyle/>
          <a:p>
            <a:pPr algn="ctr">
              <a:lnSpc>
                <a:spcPts val="4480"/>
              </a:lnSpc>
            </a:pPr>
            <a:r>
              <a:rPr lang="en-US" sz="3200" i="true" spc="-32">
                <a:solidFill>
                  <a:srgbClr val="FFFFFF"/>
                </a:solidFill>
                <a:latin typeface="Helvetica World Italics"/>
                <a:ea typeface="Helvetica World Italics"/>
                <a:cs typeface="Helvetica World Italics"/>
                <a:sym typeface="Helvetica World Italics"/>
              </a:rPr>
              <a:t>Better choices, same convenience</a:t>
            </a:r>
          </a:p>
        </p:txBody>
      </p:sp>
      <p:sp>
        <p:nvSpPr>
          <p:cNvPr name="TextBox 11" id="11"/>
          <p:cNvSpPr txBox="true"/>
          <p:nvPr/>
        </p:nvSpPr>
        <p:spPr>
          <a:xfrm rot="0">
            <a:off x="7454915" y="4435540"/>
            <a:ext cx="837009"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Goal</a:t>
            </a:r>
          </a:p>
        </p:txBody>
      </p:sp>
      <p:sp>
        <p:nvSpPr>
          <p:cNvPr name="TextBox 12" id="12"/>
          <p:cNvSpPr txBox="true"/>
          <p:nvPr/>
        </p:nvSpPr>
        <p:spPr>
          <a:xfrm rot="0">
            <a:off x="13689692" y="4435540"/>
            <a:ext cx="1362373"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Tension</a:t>
            </a:r>
          </a:p>
        </p:txBody>
      </p:sp>
      <p:sp>
        <p:nvSpPr>
          <p:cNvPr name="AutoShape 13" id="13"/>
          <p:cNvSpPr/>
          <p:nvPr/>
        </p:nvSpPr>
        <p:spPr>
          <a:xfrm flipH="true">
            <a:off x="5884409" y="4502215"/>
            <a:ext cx="0" cy="2562529"/>
          </a:xfrm>
          <a:prstGeom prst="line">
            <a:avLst/>
          </a:prstGeom>
          <a:ln cap="rnd" w="19050">
            <a:solidFill>
              <a:srgbClr val="FFFFFF">
                <a:alpha val="29804"/>
              </a:srgbClr>
            </a:solidFill>
            <a:prstDash val="sysDash"/>
            <a:headEnd type="none" len="sm" w="sm"/>
            <a:tailEnd type="none" len="sm" w="sm"/>
          </a:ln>
        </p:spPr>
      </p:sp>
      <p:sp>
        <p:nvSpPr>
          <p:cNvPr name="AutoShape 14" id="14"/>
          <p:cNvSpPr/>
          <p:nvPr/>
        </p:nvSpPr>
        <p:spPr>
          <a:xfrm>
            <a:off x="12118067" y="4502215"/>
            <a:ext cx="0" cy="2562529"/>
          </a:xfrm>
          <a:prstGeom prst="line">
            <a:avLst/>
          </a:prstGeom>
          <a:ln cap="rnd" w="19050">
            <a:solidFill>
              <a:srgbClr val="FFFFFF">
                <a:alpha val="29804"/>
              </a:srgbClr>
            </a:solidFill>
            <a:prstDash val="sysDash"/>
            <a:headEnd type="none" len="sm" w="sm"/>
            <a:tailEnd type="none" len="sm" w="sm"/>
          </a:ln>
        </p:spPr>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21</a:t>
              </a:r>
            </a:p>
          </p:txBody>
        </p:sp>
      </p:grpSp>
      <p:sp>
        <p:nvSpPr>
          <p:cNvPr name="Freeform 18" id="18"/>
          <p:cNvSpPr/>
          <p:nvPr/>
        </p:nvSpPr>
        <p:spPr>
          <a:xfrm flipH="false" flipV="false" rot="0">
            <a:off x="1032835" y="2209016"/>
            <a:ext cx="3532813" cy="1064260"/>
          </a:xfrm>
          <a:custGeom>
            <a:avLst/>
            <a:gdLst/>
            <a:ahLst/>
            <a:cxnLst/>
            <a:rect r="r" b="b" t="t" l="l"/>
            <a:pathLst>
              <a:path h="1064260" w="3532813">
                <a:moveTo>
                  <a:pt x="0" y="0"/>
                </a:moveTo>
                <a:lnTo>
                  <a:pt x="3532814" y="0"/>
                </a:lnTo>
                <a:lnTo>
                  <a:pt x="3532814" y="1064260"/>
                </a:lnTo>
                <a:lnTo>
                  <a:pt x="0" y="1064260"/>
                </a:lnTo>
                <a:lnTo>
                  <a:pt x="0" y="0"/>
                </a:lnTo>
                <a:close/>
              </a:path>
            </a:pathLst>
          </a:custGeom>
          <a:blipFill>
            <a:blip r:embed="rId2"/>
            <a:stretch>
              <a:fillRect l="0" t="0" r="0" b="0"/>
            </a:stretch>
          </a:blipFill>
        </p:spPr>
      </p:sp>
      <p:sp>
        <p:nvSpPr>
          <p:cNvPr name="TextBox 19" id="19"/>
          <p:cNvSpPr txBox="true"/>
          <p:nvPr/>
        </p:nvSpPr>
        <p:spPr>
          <a:xfrm rot="0">
            <a:off x="4848875" y="2151866"/>
            <a:ext cx="1663080" cy="415290"/>
          </a:xfrm>
          <a:prstGeom prst="rect">
            <a:avLst/>
          </a:prstGeom>
        </p:spPr>
        <p:txBody>
          <a:bodyPr anchor="t" rtlCol="false" tIns="0" lIns="0" bIns="0" rIns="0">
            <a:spAutoFit/>
          </a:bodyPr>
          <a:lstStyle/>
          <a:p>
            <a:pPr algn="ctr">
              <a:lnSpc>
                <a:spcPts val="3359"/>
              </a:lnSpc>
              <a:spcBef>
                <a:spcPct val="0"/>
              </a:spcBef>
            </a:pPr>
            <a:r>
              <a:rPr lang="en-US" sz="2400" spc="-24">
                <a:solidFill>
                  <a:srgbClr val="A6A6A6"/>
                </a:solidFill>
                <a:latin typeface="Helvetica World"/>
                <a:ea typeface="Helvetica World"/>
                <a:cs typeface="Helvetica World"/>
                <a:sym typeface="Helvetica World"/>
              </a:rPr>
              <a:t>e-commerce</a:t>
            </a:r>
          </a:p>
        </p:txBody>
      </p:sp>
      <p:sp>
        <p:nvSpPr>
          <p:cNvPr name="TextBox 20" id="20"/>
          <p:cNvSpPr txBox="true"/>
          <p:nvPr/>
        </p:nvSpPr>
        <p:spPr>
          <a:xfrm rot="0">
            <a:off x="9354014" y="2075666"/>
            <a:ext cx="7905286" cy="1104265"/>
          </a:xfrm>
          <a:prstGeom prst="rect">
            <a:avLst/>
          </a:prstGeom>
        </p:spPr>
        <p:txBody>
          <a:bodyPr anchor="t" rtlCol="false" tIns="0" lIns="0" bIns="0" rIns="0">
            <a:spAutoFit/>
          </a:bodyPr>
          <a:lstStyle/>
          <a:p>
            <a:pPr algn="r">
              <a:lnSpc>
                <a:spcPts val="8959"/>
              </a:lnSpc>
            </a:pPr>
            <a:r>
              <a:rPr lang="en-US" sz="6399" spc="-63">
                <a:solidFill>
                  <a:srgbClr val="FFFFFF"/>
                </a:solidFill>
                <a:latin typeface="Helvetica World"/>
                <a:ea typeface="Helvetica World"/>
                <a:cs typeface="Helvetica World"/>
                <a:sym typeface="Helvetica World"/>
              </a:rPr>
              <a:t>Opportunity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Framework</a:t>
            </a:r>
          </a:p>
        </p:txBody>
      </p:sp>
      <p:sp>
        <p:nvSpPr>
          <p:cNvPr name="Freeform 3" id="3"/>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grpSp>
        <p:nvGrpSpPr>
          <p:cNvPr name="Group 4" id="4"/>
          <p:cNvGrpSpPr/>
          <p:nvPr/>
        </p:nvGrpSpPr>
        <p:grpSpPr>
          <a:xfrm rot="0">
            <a:off x="1028700" y="4412932"/>
            <a:ext cx="6455366" cy="1289049"/>
            <a:chOff x="0" y="0"/>
            <a:chExt cx="8607154" cy="1718732"/>
          </a:xfrm>
        </p:grpSpPr>
        <p:sp>
          <p:nvSpPr>
            <p:cNvPr name="TextBox 5" id="5"/>
            <p:cNvSpPr txBox="true"/>
            <p:nvPr/>
          </p:nvSpPr>
          <p:spPr>
            <a:xfrm rot="0">
              <a:off x="0" y="1162050"/>
              <a:ext cx="4448519" cy="556682"/>
            </a:xfrm>
            <a:prstGeom prst="rect">
              <a:avLst/>
            </a:prstGeom>
          </p:spPr>
          <p:txBody>
            <a:bodyPr anchor="t" rtlCol="false" tIns="0" lIns="0" bIns="0" rIns="0">
              <a:spAutoFit/>
            </a:bodyPr>
            <a:lstStyle/>
            <a:p>
              <a:pPr algn="l">
                <a:lnSpc>
                  <a:spcPts val="3500"/>
                </a:lnSpc>
              </a:pPr>
            </a:p>
          </p:txBody>
        </p:sp>
        <p:sp>
          <p:nvSpPr>
            <p:cNvPr name="TextBox 6" id="6"/>
            <p:cNvSpPr txBox="true"/>
            <p:nvPr/>
          </p:nvSpPr>
          <p:spPr>
            <a:xfrm rot="0">
              <a:off x="0" y="-133350"/>
              <a:ext cx="8607154" cy="1352550"/>
            </a:xfrm>
            <a:prstGeom prst="rect">
              <a:avLst/>
            </a:prstGeom>
          </p:spPr>
          <p:txBody>
            <a:bodyPr anchor="t" rtlCol="false" tIns="0" lIns="0" bIns="0" rIns="0">
              <a:spAutoFit/>
            </a:bodyPr>
            <a:lstStyle/>
            <a:p>
              <a:pPr algn="l">
                <a:lnSpc>
                  <a:spcPts val="8400"/>
                </a:lnSpc>
              </a:pPr>
              <a:r>
                <a:rPr lang="en-US" sz="6000" spc="-60">
                  <a:solidFill>
                    <a:srgbClr val="FFFFFF">
                      <a:alpha val="49804"/>
                    </a:srgbClr>
                  </a:solidFill>
                  <a:latin typeface="Helvetica World"/>
                  <a:ea typeface="Helvetica World"/>
                  <a:cs typeface="Helvetica World"/>
                  <a:sym typeface="Helvetica World"/>
                </a:rPr>
                <a:t>Ecosystem Value</a:t>
              </a:r>
            </a:p>
          </p:txBody>
        </p:sp>
      </p:grpSp>
      <p:grpSp>
        <p:nvGrpSpPr>
          <p:cNvPr name="Group 7" id="7"/>
          <p:cNvGrpSpPr/>
          <p:nvPr/>
        </p:nvGrpSpPr>
        <p:grpSpPr>
          <a:xfrm rot="0">
            <a:off x="10296319" y="4038283"/>
            <a:ext cx="6962981" cy="1289049"/>
            <a:chOff x="0" y="0"/>
            <a:chExt cx="9283974" cy="1718732"/>
          </a:xfrm>
        </p:grpSpPr>
        <p:sp>
          <p:nvSpPr>
            <p:cNvPr name="TextBox 8" id="8"/>
            <p:cNvSpPr txBox="true"/>
            <p:nvPr/>
          </p:nvSpPr>
          <p:spPr>
            <a:xfrm rot="0">
              <a:off x="0" y="366182"/>
              <a:ext cx="9283974" cy="135255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Behavior &amp; Systems</a:t>
              </a:r>
            </a:p>
          </p:txBody>
        </p:sp>
        <p:sp>
          <p:nvSpPr>
            <p:cNvPr name="TextBox 9" id="9"/>
            <p:cNvSpPr txBox="true"/>
            <p:nvPr/>
          </p:nvSpPr>
          <p:spPr>
            <a:xfrm rot="0">
              <a:off x="4485648" y="-57150"/>
              <a:ext cx="4798327" cy="556682"/>
            </a:xfrm>
            <a:prstGeom prst="rect">
              <a:avLst/>
            </a:prstGeom>
          </p:spPr>
          <p:txBody>
            <a:bodyPr anchor="t" rtlCol="false" tIns="0" lIns="0" bIns="0" rIns="0">
              <a:spAutoFit/>
            </a:bodyPr>
            <a:lstStyle/>
            <a:p>
              <a:pPr algn="r">
                <a:lnSpc>
                  <a:spcPts val="3500"/>
                </a:lnSpc>
              </a:pPr>
            </a:p>
          </p:txBody>
        </p:sp>
      </p:grpSp>
      <p:sp>
        <p:nvSpPr>
          <p:cNvPr name="TextBox 10" id="10"/>
          <p:cNvSpPr txBox="true"/>
          <p:nvPr/>
        </p:nvSpPr>
        <p:spPr>
          <a:xfrm rot="0">
            <a:off x="6337789" y="6027579"/>
            <a:ext cx="10921511" cy="247332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Amazon’s e-commerce ecosystem creates value by compressing time and effort: faster discovery, faster checkout, faster delivery, and easy returns. When convenience becomes the default, it doesn’t stay neutral—it shapes demand. Design choices like “Buy Now,” default recommendations, and low-friction returns make purchasing feel low-risk and repeatable, which increases order frequency and the volume of shipments and returns. The system then reinforces itself: more activity generates more data, data improves recommendations, and improved recommendations drive more activity. Convenience becomes a demand-shaping machine.</a:t>
            </a:r>
          </a:p>
        </p:txBody>
      </p:sp>
      <p:grpSp>
        <p:nvGrpSpPr>
          <p:cNvPr name="Group 11" id="11"/>
          <p:cNvGrpSpPr/>
          <p:nvPr/>
        </p:nvGrpSpPr>
        <p:grpSpPr>
          <a:xfrm rot="0">
            <a:off x="1028700" y="5473382"/>
            <a:ext cx="16230600" cy="457200"/>
            <a:chOff x="0" y="0"/>
            <a:chExt cx="21640800" cy="609600"/>
          </a:xfrm>
        </p:grpSpPr>
        <p:sp>
          <p:nvSpPr>
            <p:cNvPr name="TextBox 12" id="12"/>
            <p:cNvSpPr txBox="true"/>
            <p:nvPr/>
          </p:nvSpPr>
          <p:spPr>
            <a:xfrm rot="0">
              <a:off x="0" y="-66675"/>
              <a:ext cx="6503031" cy="676275"/>
            </a:xfrm>
            <a:prstGeom prst="rect">
              <a:avLst/>
            </a:prstGeom>
          </p:spPr>
          <p:txBody>
            <a:bodyPr anchor="t" rtlCol="false" tIns="0" lIns="0" bIns="0" rIns="0">
              <a:spAutoFit/>
            </a:bodyPr>
            <a:lstStyle/>
            <a:p>
              <a:pPr algn="l">
                <a:lnSpc>
                  <a:spcPts val="4200"/>
                </a:lnSpc>
              </a:pPr>
              <a:r>
                <a:rPr lang="en-US" sz="3000" spc="-30">
                  <a:solidFill>
                    <a:srgbClr val="FFFFFF">
                      <a:alpha val="29804"/>
                    </a:srgbClr>
                  </a:solidFill>
                  <a:latin typeface="Helvetica World"/>
                  <a:ea typeface="Helvetica World"/>
                  <a:cs typeface="Helvetica World"/>
                  <a:sym typeface="Helvetica World"/>
                </a:rPr>
                <a:t>[Convenience]</a:t>
              </a:r>
            </a:p>
          </p:txBody>
        </p:sp>
        <p:sp>
          <p:nvSpPr>
            <p:cNvPr name="TextBox 13" id="13"/>
            <p:cNvSpPr txBox="true"/>
            <p:nvPr/>
          </p:nvSpPr>
          <p:spPr>
            <a:xfrm rot="0">
              <a:off x="15137769" y="-66675"/>
              <a:ext cx="6503031" cy="676275"/>
            </a:xfrm>
            <a:prstGeom prst="rect">
              <a:avLst/>
            </a:prstGeom>
          </p:spPr>
          <p:txBody>
            <a:bodyPr anchor="t" rtlCol="false" tIns="0" lIns="0" bIns="0" rIns="0">
              <a:spAutoFit/>
            </a:bodyPr>
            <a:lstStyle/>
            <a:p>
              <a:pPr algn="r">
                <a:lnSpc>
                  <a:spcPts val="4200"/>
                </a:lnSpc>
              </a:pPr>
              <a:r>
                <a:rPr lang="en-US" sz="3000" spc="-30">
                  <a:solidFill>
                    <a:srgbClr val="FFFFFF">
                      <a:alpha val="29804"/>
                    </a:srgbClr>
                  </a:solidFill>
                  <a:latin typeface="Helvetica World"/>
                  <a:ea typeface="Helvetica World"/>
                  <a:cs typeface="Helvetica World"/>
                  <a:sym typeface="Helvetica World"/>
                </a:rPr>
                <a:t>[Demand Shaping]</a:t>
              </a:r>
            </a:p>
          </p:txBody>
        </p:sp>
      </p:grpSp>
      <p:sp>
        <p:nvSpPr>
          <p:cNvPr name="AutoShape 14" id="14"/>
          <p:cNvSpPr/>
          <p:nvPr/>
        </p:nvSpPr>
        <p:spPr>
          <a:xfrm>
            <a:off x="7991681" y="5143500"/>
            <a:ext cx="2304638" cy="0"/>
          </a:xfrm>
          <a:prstGeom prst="line">
            <a:avLst/>
          </a:prstGeom>
          <a:ln cap="flat" w="19050">
            <a:solidFill>
              <a:srgbClr val="FFFFFF"/>
            </a:solidFill>
            <a:prstDash val="sysDash"/>
            <a:headEnd type="none" len="sm" w="sm"/>
            <a:tailEnd type="arrow" len="sm" w="med"/>
          </a:ln>
        </p:spPr>
      </p:sp>
      <p:grpSp>
        <p:nvGrpSpPr>
          <p:cNvPr name="Group 15" id="15"/>
          <p:cNvGrpSpPr/>
          <p:nvPr/>
        </p:nvGrpSpPr>
        <p:grpSpPr>
          <a:xfrm rot="0">
            <a:off x="1028700" y="727075"/>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20" id="2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22</a:t>
              </a:r>
            </a:p>
          </p:txBody>
        </p:sp>
      </p:grpSp>
      <p:sp>
        <p:nvSpPr>
          <p:cNvPr name="Freeform 21" id="21"/>
          <p:cNvSpPr/>
          <p:nvPr/>
        </p:nvSpPr>
        <p:spPr>
          <a:xfrm flipH="false" flipV="false" rot="0">
            <a:off x="1032835" y="2209016"/>
            <a:ext cx="3532813" cy="1064260"/>
          </a:xfrm>
          <a:custGeom>
            <a:avLst/>
            <a:gdLst/>
            <a:ahLst/>
            <a:cxnLst/>
            <a:rect r="r" b="b" t="t" l="l"/>
            <a:pathLst>
              <a:path h="1064260" w="3532813">
                <a:moveTo>
                  <a:pt x="0" y="0"/>
                </a:moveTo>
                <a:lnTo>
                  <a:pt x="3532814" y="0"/>
                </a:lnTo>
                <a:lnTo>
                  <a:pt x="3532814" y="1064260"/>
                </a:lnTo>
                <a:lnTo>
                  <a:pt x="0" y="1064260"/>
                </a:lnTo>
                <a:lnTo>
                  <a:pt x="0" y="0"/>
                </a:lnTo>
                <a:close/>
              </a:path>
            </a:pathLst>
          </a:custGeom>
          <a:blipFill>
            <a:blip r:embed="rId3"/>
            <a:stretch>
              <a:fillRect l="0" t="0" r="0" b="0"/>
            </a:stretch>
          </a:blipFill>
        </p:spPr>
      </p:sp>
      <p:sp>
        <p:nvSpPr>
          <p:cNvPr name="TextBox 22" id="22"/>
          <p:cNvSpPr txBox="true"/>
          <p:nvPr/>
        </p:nvSpPr>
        <p:spPr>
          <a:xfrm rot="0">
            <a:off x="4848875" y="2151866"/>
            <a:ext cx="1663080" cy="415290"/>
          </a:xfrm>
          <a:prstGeom prst="rect">
            <a:avLst/>
          </a:prstGeom>
        </p:spPr>
        <p:txBody>
          <a:bodyPr anchor="t" rtlCol="false" tIns="0" lIns="0" bIns="0" rIns="0">
            <a:spAutoFit/>
          </a:bodyPr>
          <a:lstStyle/>
          <a:p>
            <a:pPr algn="ctr">
              <a:lnSpc>
                <a:spcPts val="3359"/>
              </a:lnSpc>
              <a:spcBef>
                <a:spcPct val="0"/>
              </a:spcBef>
            </a:pPr>
            <a:r>
              <a:rPr lang="en-US" sz="2400" spc="-24">
                <a:solidFill>
                  <a:srgbClr val="A6A6A6"/>
                </a:solidFill>
                <a:latin typeface="Helvetica World"/>
                <a:ea typeface="Helvetica World"/>
                <a:cs typeface="Helvetica World"/>
                <a:sym typeface="Helvetica World"/>
              </a:rPr>
              <a:t>e-commerce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4412932"/>
            <a:ext cx="6455366" cy="1289049"/>
            <a:chOff x="0" y="0"/>
            <a:chExt cx="8607154" cy="1718732"/>
          </a:xfrm>
        </p:grpSpPr>
        <p:sp>
          <p:nvSpPr>
            <p:cNvPr name="TextBox 3" id="3"/>
            <p:cNvSpPr txBox="true"/>
            <p:nvPr/>
          </p:nvSpPr>
          <p:spPr>
            <a:xfrm rot="0">
              <a:off x="0" y="1162050"/>
              <a:ext cx="4448519" cy="556682"/>
            </a:xfrm>
            <a:prstGeom prst="rect">
              <a:avLst/>
            </a:prstGeom>
          </p:spPr>
          <p:txBody>
            <a:bodyPr anchor="t" rtlCol="false" tIns="0" lIns="0" bIns="0" rIns="0">
              <a:spAutoFit/>
            </a:bodyPr>
            <a:lstStyle/>
            <a:p>
              <a:pPr algn="l">
                <a:lnSpc>
                  <a:spcPts val="3500"/>
                </a:lnSpc>
              </a:pPr>
            </a:p>
          </p:txBody>
        </p:sp>
        <p:sp>
          <p:nvSpPr>
            <p:cNvPr name="TextBox 4" id="4"/>
            <p:cNvSpPr txBox="true"/>
            <p:nvPr/>
          </p:nvSpPr>
          <p:spPr>
            <a:xfrm rot="0">
              <a:off x="0" y="-133350"/>
              <a:ext cx="8607154" cy="1352550"/>
            </a:xfrm>
            <a:prstGeom prst="rect">
              <a:avLst/>
            </a:prstGeom>
          </p:spPr>
          <p:txBody>
            <a:bodyPr anchor="t" rtlCol="false" tIns="0" lIns="0" bIns="0" rIns="0">
              <a:spAutoFit/>
            </a:bodyPr>
            <a:lstStyle/>
            <a:p>
              <a:pPr algn="l">
                <a:lnSpc>
                  <a:spcPts val="8400"/>
                </a:lnSpc>
              </a:pPr>
              <a:r>
                <a:rPr lang="en-US" sz="6000" spc="-60">
                  <a:solidFill>
                    <a:srgbClr val="FFFFFF">
                      <a:alpha val="49804"/>
                    </a:srgbClr>
                  </a:solidFill>
                  <a:latin typeface="Helvetica World"/>
                  <a:ea typeface="Helvetica World"/>
                  <a:cs typeface="Helvetica World"/>
                  <a:sym typeface="Helvetica World"/>
                </a:rPr>
                <a:t>Ecosystem Value</a:t>
              </a:r>
            </a:p>
          </p:txBody>
        </p:sp>
      </p:grpSp>
      <p:grpSp>
        <p:nvGrpSpPr>
          <p:cNvPr name="Group 5" id="5"/>
          <p:cNvGrpSpPr/>
          <p:nvPr/>
        </p:nvGrpSpPr>
        <p:grpSpPr>
          <a:xfrm rot="0">
            <a:off x="10296319" y="4038283"/>
            <a:ext cx="6962981" cy="1289049"/>
            <a:chOff x="0" y="0"/>
            <a:chExt cx="9283974" cy="1718732"/>
          </a:xfrm>
        </p:grpSpPr>
        <p:sp>
          <p:nvSpPr>
            <p:cNvPr name="TextBox 6" id="6"/>
            <p:cNvSpPr txBox="true"/>
            <p:nvPr/>
          </p:nvSpPr>
          <p:spPr>
            <a:xfrm rot="0">
              <a:off x="0" y="366182"/>
              <a:ext cx="9283974" cy="135255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Behavior &amp; Systems</a:t>
              </a:r>
            </a:p>
          </p:txBody>
        </p:sp>
        <p:sp>
          <p:nvSpPr>
            <p:cNvPr name="TextBox 7" id="7"/>
            <p:cNvSpPr txBox="true"/>
            <p:nvPr/>
          </p:nvSpPr>
          <p:spPr>
            <a:xfrm rot="0">
              <a:off x="4485648" y="-57150"/>
              <a:ext cx="4798327" cy="556682"/>
            </a:xfrm>
            <a:prstGeom prst="rect">
              <a:avLst/>
            </a:prstGeom>
          </p:spPr>
          <p:txBody>
            <a:bodyPr anchor="t" rtlCol="false" tIns="0" lIns="0" bIns="0" rIns="0">
              <a:spAutoFit/>
            </a:bodyPr>
            <a:lstStyle/>
            <a:p>
              <a:pPr algn="r">
                <a:lnSpc>
                  <a:spcPts val="3500"/>
                </a:lnSpc>
              </a:pPr>
            </a:p>
          </p:txBody>
        </p:sp>
      </p:grpSp>
      <p:sp>
        <p:nvSpPr>
          <p:cNvPr name="TextBox 8" id="8"/>
          <p:cNvSpPr txBox="true"/>
          <p:nvPr/>
        </p:nvSpPr>
        <p:spPr>
          <a:xfrm rot="0">
            <a:off x="6337789" y="6027579"/>
            <a:ext cx="10921511" cy="247332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Amazon’s e-commerce ecosystem creates value by compressing time and effort: faster discovery, faster checkout, faster delivery, and easy returns. When convenience becomes the default, it doesn’t stay neutral—it shapes demand. Design choices like “Buy Now,” default recommendations, and low-friction returns make purchasing feel low-risk and repeatable, which increases order frequency and the volume of shipments and returns. The system then reinforces itself: more activity generates more data, data improves recommendations, and improved recommendations drive more activity. Convenience becomes a demand-shaping machine.</a:t>
            </a:r>
          </a:p>
        </p:txBody>
      </p:sp>
      <p:grpSp>
        <p:nvGrpSpPr>
          <p:cNvPr name="Group 9" id="9"/>
          <p:cNvGrpSpPr/>
          <p:nvPr/>
        </p:nvGrpSpPr>
        <p:grpSpPr>
          <a:xfrm rot="0">
            <a:off x="1028700" y="5473382"/>
            <a:ext cx="16230600" cy="457200"/>
            <a:chOff x="0" y="0"/>
            <a:chExt cx="21640800" cy="609600"/>
          </a:xfrm>
        </p:grpSpPr>
        <p:sp>
          <p:nvSpPr>
            <p:cNvPr name="TextBox 10" id="10"/>
            <p:cNvSpPr txBox="true"/>
            <p:nvPr/>
          </p:nvSpPr>
          <p:spPr>
            <a:xfrm rot="0">
              <a:off x="0" y="-66675"/>
              <a:ext cx="6503031" cy="676275"/>
            </a:xfrm>
            <a:prstGeom prst="rect">
              <a:avLst/>
            </a:prstGeom>
          </p:spPr>
          <p:txBody>
            <a:bodyPr anchor="t" rtlCol="false" tIns="0" lIns="0" bIns="0" rIns="0">
              <a:spAutoFit/>
            </a:bodyPr>
            <a:lstStyle/>
            <a:p>
              <a:pPr algn="l">
                <a:lnSpc>
                  <a:spcPts val="4200"/>
                </a:lnSpc>
              </a:pPr>
              <a:r>
                <a:rPr lang="en-US" sz="3000" spc="-30">
                  <a:solidFill>
                    <a:srgbClr val="FFFFFF">
                      <a:alpha val="29804"/>
                    </a:srgbClr>
                  </a:solidFill>
                  <a:latin typeface="Helvetica World"/>
                  <a:ea typeface="Helvetica World"/>
                  <a:cs typeface="Helvetica World"/>
                  <a:sym typeface="Helvetica World"/>
                </a:rPr>
                <a:t>[Convenience]</a:t>
              </a:r>
            </a:p>
          </p:txBody>
        </p:sp>
        <p:sp>
          <p:nvSpPr>
            <p:cNvPr name="TextBox 11" id="11"/>
            <p:cNvSpPr txBox="true"/>
            <p:nvPr/>
          </p:nvSpPr>
          <p:spPr>
            <a:xfrm rot="0">
              <a:off x="15137769" y="-66675"/>
              <a:ext cx="6503031" cy="676275"/>
            </a:xfrm>
            <a:prstGeom prst="rect">
              <a:avLst/>
            </a:prstGeom>
          </p:spPr>
          <p:txBody>
            <a:bodyPr anchor="t" rtlCol="false" tIns="0" lIns="0" bIns="0" rIns="0">
              <a:spAutoFit/>
            </a:bodyPr>
            <a:lstStyle/>
            <a:p>
              <a:pPr algn="r">
                <a:lnSpc>
                  <a:spcPts val="4200"/>
                </a:lnSpc>
              </a:pPr>
              <a:r>
                <a:rPr lang="en-US" sz="3000" spc="-30">
                  <a:solidFill>
                    <a:srgbClr val="FFFFFF">
                      <a:alpha val="29804"/>
                    </a:srgbClr>
                  </a:solidFill>
                  <a:latin typeface="Helvetica World"/>
                  <a:ea typeface="Helvetica World"/>
                  <a:cs typeface="Helvetica World"/>
                  <a:sym typeface="Helvetica World"/>
                </a:rPr>
                <a:t>[Demand Shaping]</a:t>
              </a:r>
            </a:p>
          </p:txBody>
        </p:sp>
      </p:grpSp>
      <p:sp>
        <p:nvSpPr>
          <p:cNvPr name="AutoShape 12" id="12"/>
          <p:cNvSpPr/>
          <p:nvPr/>
        </p:nvSpPr>
        <p:spPr>
          <a:xfrm>
            <a:off x="7991681" y="5143500"/>
            <a:ext cx="2304638" cy="0"/>
          </a:xfrm>
          <a:prstGeom prst="line">
            <a:avLst/>
          </a:prstGeom>
          <a:ln cap="flat" w="19050">
            <a:solidFill>
              <a:srgbClr val="FFFFFF"/>
            </a:solidFill>
            <a:prstDash val="sysDash"/>
            <a:headEnd type="none" len="sm" w="sm"/>
            <a:tailEnd type="arrow" len="sm" w="med"/>
          </a:ln>
        </p:spPr>
      </p:sp>
      <p:sp>
        <p:nvSpPr>
          <p:cNvPr name="Freeform 13" id="13"/>
          <p:cNvSpPr/>
          <p:nvPr/>
        </p:nvSpPr>
        <p:spPr>
          <a:xfrm flipH="false" flipV="false" rot="0">
            <a:off x="1032835" y="2209016"/>
            <a:ext cx="3532813" cy="1064260"/>
          </a:xfrm>
          <a:custGeom>
            <a:avLst/>
            <a:gdLst/>
            <a:ahLst/>
            <a:cxnLst/>
            <a:rect r="r" b="b" t="t" l="l"/>
            <a:pathLst>
              <a:path h="1064260" w="3532813">
                <a:moveTo>
                  <a:pt x="0" y="0"/>
                </a:moveTo>
                <a:lnTo>
                  <a:pt x="3532814" y="0"/>
                </a:lnTo>
                <a:lnTo>
                  <a:pt x="3532814" y="1064260"/>
                </a:lnTo>
                <a:lnTo>
                  <a:pt x="0" y="1064260"/>
                </a:lnTo>
                <a:lnTo>
                  <a:pt x="0" y="0"/>
                </a:lnTo>
                <a:close/>
              </a:path>
            </a:pathLst>
          </a:custGeom>
          <a:blipFill>
            <a:blip r:embed="rId2"/>
            <a:stretch>
              <a:fillRect l="0" t="0" r="0" b="0"/>
            </a:stretch>
          </a:blipFill>
        </p:spPr>
      </p:sp>
      <p:sp>
        <p:nvSpPr>
          <p:cNvPr name="TextBox 14" id="14"/>
          <p:cNvSpPr txBox="true"/>
          <p:nvPr/>
        </p:nvSpPr>
        <p:spPr>
          <a:xfrm rot="0">
            <a:off x="4848875" y="2151866"/>
            <a:ext cx="1663080" cy="415290"/>
          </a:xfrm>
          <a:prstGeom prst="rect">
            <a:avLst/>
          </a:prstGeom>
        </p:spPr>
        <p:txBody>
          <a:bodyPr anchor="t" rtlCol="false" tIns="0" lIns="0" bIns="0" rIns="0">
            <a:spAutoFit/>
          </a:bodyPr>
          <a:lstStyle/>
          <a:p>
            <a:pPr algn="ctr">
              <a:lnSpc>
                <a:spcPts val="3359"/>
              </a:lnSpc>
              <a:spcBef>
                <a:spcPct val="0"/>
              </a:spcBef>
            </a:pPr>
            <a:r>
              <a:rPr lang="en-US" sz="2400" spc="-24">
                <a:solidFill>
                  <a:srgbClr val="A6A6A6"/>
                </a:solidFill>
                <a:latin typeface="Helvetica World"/>
                <a:ea typeface="Helvetica World"/>
                <a:cs typeface="Helvetica World"/>
                <a:sym typeface="Helvetica World"/>
              </a:rPr>
              <a:t>e-commerce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9134475" y="2209016"/>
            <a:ext cx="0" cy="6323479"/>
          </a:xfrm>
          <a:prstGeom prst="line">
            <a:avLst/>
          </a:prstGeom>
          <a:ln cap="rnd" w="19050">
            <a:solidFill>
              <a:srgbClr val="FFFFFF">
                <a:alpha val="29804"/>
              </a:srgbClr>
            </a:solidFill>
            <a:prstDash val="sysDash"/>
            <a:headEnd type="none" len="sm" w="sm"/>
            <a:tailEnd type="none" len="sm" w="sm"/>
          </a:ln>
        </p:spPr>
      </p:sp>
      <p:sp>
        <p:nvSpPr>
          <p:cNvPr name="TextBox 3" id="3"/>
          <p:cNvSpPr txBox="true"/>
          <p:nvPr/>
        </p:nvSpPr>
        <p:spPr>
          <a:xfrm rot="0">
            <a:off x="1028700" y="4649470"/>
            <a:ext cx="6712998" cy="3883025"/>
          </a:xfrm>
          <a:prstGeom prst="rect">
            <a:avLst/>
          </a:prstGeom>
        </p:spPr>
        <p:txBody>
          <a:bodyPr anchor="t" rtlCol="false" tIns="0" lIns="0" bIns="0" rIns="0">
            <a:spAutoFit/>
          </a:bodyPr>
          <a:lstStyle/>
          <a:p>
            <a:pPr algn="l">
              <a:lnSpc>
                <a:spcPts val="2800"/>
              </a:lnSpc>
              <a:spcBef>
                <a:spcPct val="0"/>
              </a:spcBef>
            </a:pPr>
            <a:r>
              <a:rPr lang="en-US" sz="2000" spc="-20">
                <a:solidFill>
                  <a:srgbClr val="A6A6A6"/>
                </a:solidFill>
                <a:latin typeface="Helvetica World"/>
                <a:ea typeface="Helvetica World"/>
                <a:cs typeface="Helvetica World"/>
                <a:sym typeface="Helvetica World"/>
              </a:rPr>
              <a:t>Amazon’s e-comme</a:t>
            </a:r>
            <a:r>
              <a:rPr lang="en-US" sz="2000" spc="-20">
                <a:solidFill>
                  <a:srgbClr val="A6A6A6"/>
                </a:solidFill>
                <a:latin typeface="Helvetica World"/>
                <a:ea typeface="Helvetica World"/>
                <a:cs typeface="Helvetica World"/>
                <a:sym typeface="Helvetica World"/>
              </a:rPr>
              <a:t>rce ecosystem creates clear value for several groups. For customers, it reduces friction in shopping through wide selection, competitive pricing, and fast delivery—especially helpful for people with limited time, mobility, or access to local retail. For third-party sellers and small brands, the marketplace and fulfillment services l</a:t>
            </a:r>
            <a:r>
              <a:rPr lang="en-US" sz="2000" spc="-20">
                <a:solidFill>
                  <a:srgbClr val="A6A6A6"/>
                </a:solidFill>
                <a:latin typeface="Helvetica World"/>
                <a:ea typeface="Helvetica World"/>
                <a:cs typeface="Helvetica World"/>
                <a:sym typeface="Helvetica World"/>
              </a:rPr>
              <a:t>ower barriers to entry by providing distribution, logistics, and demand visibility they could not easily build alone. More broadly, the system supports economic activity across warehouses, delivery networks, and supporting services, keeping the commerce engine moving at scale.</a:t>
            </a:r>
          </a:p>
        </p:txBody>
      </p:sp>
      <p:sp>
        <p:nvSpPr>
          <p:cNvPr name="TextBox 4" id="4"/>
          <p:cNvSpPr txBox="true"/>
          <p:nvPr/>
        </p:nvSpPr>
        <p:spPr>
          <a:xfrm rot="0">
            <a:off x="1028700" y="2104241"/>
            <a:ext cx="7485906"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Who get Good impacted by</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8" id="8"/>
          <p:cNvGrpSpPr/>
          <p:nvPr/>
        </p:nvGrpSpPr>
        <p:grpSpPr>
          <a:xfrm rot="0">
            <a:off x="9845842" y="2209016"/>
            <a:ext cx="7320773" cy="2070101"/>
            <a:chOff x="0" y="0"/>
            <a:chExt cx="9761031" cy="2760134"/>
          </a:xfrm>
        </p:grpSpPr>
        <p:sp>
          <p:nvSpPr>
            <p:cNvPr name="TextBox 9" id="9"/>
            <p:cNvSpPr txBox="true"/>
            <p:nvPr/>
          </p:nvSpPr>
          <p:spPr>
            <a:xfrm rot="0">
              <a:off x="3273106" y="1302809"/>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Creates income opportunities across sellers, f</a:t>
              </a:r>
              <a:r>
                <a:rPr lang="en-US" sz="1800" spc="-18">
                  <a:solidFill>
                    <a:srgbClr val="FFFFFF"/>
                  </a:solidFill>
                  <a:latin typeface="Helvetica World"/>
                  <a:ea typeface="Helvetica World"/>
                  <a:cs typeface="Helvetica World"/>
                  <a:sym typeface="Helvetica World"/>
                </a:rPr>
                <a:t>ulfillment, delivery, and commerce services.</a:t>
              </a:r>
            </a:p>
          </p:txBody>
        </p:sp>
        <p:sp>
          <p:nvSpPr>
            <p:cNvPr name="TextBox 10" id="10"/>
            <p:cNvSpPr txBox="true"/>
            <p:nvPr/>
          </p:nvSpPr>
          <p:spPr>
            <a:xfrm rot="0">
              <a:off x="3273106" y="395672"/>
              <a:ext cx="6487925"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 Decent Work and Economic Growth</a:t>
              </a:r>
            </a:p>
          </p:txBody>
        </p:sp>
        <p:sp>
          <p:nvSpPr>
            <p:cNvPr name="TextBox 11" id="11"/>
            <p:cNvSpPr txBox="true"/>
            <p:nvPr/>
          </p:nvSpPr>
          <p:spPr>
            <a:xfrm rot="0">
              <a:off x="47808" y="2268009"/>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2"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3" tooltip="https://www.srgresearch.com/articles/cloud-market-share-trends-big-three-together-hold-63-while-oracle-and-the-neoclouds-inch-higher"/>
                </a:rPr>
                <a:t>ructure market in Q3 2025, maintaining its lead over Microsoft Azure (20%) and Google Cloud (13%)</a:t>
              </a:r>
            </a:p>
          </p:txBody>
        </p:sp>
        <p:sp>
          <p:nvSpPr>
            <p:cNvPr name="TextBox 12" id="12"/>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3" id="13"/>
            <p:cNvSpPr txBox="true"/>
            <p:nvPr/>
          </p:nvSpPr>
          <p:spPr>
            <a:xfrm rot="0">
              <a:off x="1797745" y="-190500"/>
              <a:ext cx="924818"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8</a:t>
              </a:r>
            </a:p>
          </p:txBody>
        </p:sp>
      </p:grpSp>
      <p:grpSp>
        <p:nvGrpSpPr>
          <p:cNvPr name="Group 14" id="14"/>
          <p:cNvGrpSpPr/>
          <p:nvPr/>
        </p:nvGrpSpPr>
        <p:grpSpPr>
          <a:xfrm rot="0">
            <a:off x="9845842" y="6260565"/>
            <a:ext cx="7320773" cy="2271930"/>
            <a:chOff x="0" y="0"/>
            <a:chExt cx="9761031" cy="3029241"/>
          </a:xfrm>
        </p:grpSpPr>
        <p:sp>
          <p:nvSpPr>
            <p:cNvPr name="TextBox 15" id="15"/>
            <p:cNvSpPr txBox="true"/>
            <p:nvPr/>
          </p:nvSpPr>
          <p:spPr>
            <a:xfrm rot="0">
              <a:off x="3273106" y="1571916"/>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Strengthens digital commerce and logistics infrast</a:t>
              </a:r>
              <a:r>
                <a:rPr lang="en-US" sz="1800" spc="-18">
                  <a:solidFill>
                    <a:srgbClr val="FFFFFF"/>
                  </a:solidFill>
                  <a:latin typeface="Helvetica World"/>
                  <a:ea typeface="Helvetica World"/>
                  <a:cs typeface="Helvetica World"/>
                  <a:sym typeface="Helvetica World"/>
                </a:rPr>
                <a:t>ructure for connected retail.</a:t>
              </a:r>
            </a:p>
          </p:txBody>
        </p:sp>
        <p:sp>
          <p:nvSpPr>
            <p:cNvPr name="TextBox 16" id="16"/>
            <p:cNvSpPr txBox="true"/>
            <p:nvPr/>
          </p:nvSpPr>
          <p:spPr>
            <a:xfrm rot="0">
              <a:off x="3392121" y="646642"/>
              <a:ext cx="6368909"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Industry, Innovation and Infrastructure</a:t>
              </a:r>
            </a:p>
          </p:txBody>
        </p:sp>
        <p:sp>
          <p:nvSpPr>
            <p:cNvPr name="TextBox 17" id="17"/>
            <p:cNvSpPr txBox="true"/>
            <p:nvPr/>
          </p:nvSpPr>
          <p:spPr>
            <a:xfrm rot="0">
              <a:off x="47808" y="2537116"/>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4"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5" tooltip="https://www.srgresearch.com/articles/cloud-market-share-trends-big-three-together-hold-63-while-oracle-and-the-neoclouds-inch-higher"/>
                </a:rPr>
                <a:t>ructure market in Q3 2025, maintaining its lead over Microsoft Azure (20%) and Google Cloud (13%)</a:t>
              </a:r>
            </a:p>
          </p:txBody>
        </p:sp>
        <p:sp>
          <p:nvSpPr>
            <p:cNvPr name="TextBox 18" id="18"/>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9" id="19"/>
            <p:cNvSpPr txBox="true"/>
            <p:nvPr/>
          </p:nvSpPr>
          <p:spPr>
            <a:xfrm rot="0">
              <a:off x="1797745" y="-190500"/>
              <a:ext cx="924818"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9</a:t>
              </a:r>
            </a:p>
          </p:txBody>
        </p:sp>
      </p:grpSp>
      <p:sp>
        <p:nvSpPr>
          <p:cNvPr name="TextBox 20" id="2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 SDG - Positive</a:t>
            </a:r>
          </a:p>
        </p:txBody>
      </p:sp>
      <p:grpSp>
        <p:nvGrpSpPr>
          <p:cNvPr name="Group 21" id="21"/>
          <p:cNvGrpSpPr/>
          <p:nvPr/>
        </p:nvGrpSpPr>
        <p:grpSpPr>
          <a:xfrm rot="0">
            <a:off x="1028700" y="9258300"/>
            <a:ext cx="16230600" cy="301625"/>
            <a:chOff x="0" y="0"/>
            <a:chExt cx="21640800" cy="402167"/>
          </a:xfrm>
        </p:grpSpPr>
        <p:sp>
          <p:nvSpPr>
            <p:cNvPr name="TextBox 22" id="2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23" id="2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23</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5" id="5"/>
          <p:cNvSpPr txBox="true"/>
          <p:nvPr/>
        </p:nvSpPr>
        <p:spPr>
          <a:xfrm rot="0">
            <a:off x="1028700" y="4649470"/>
            <a:ext cx="6712998" cy="3883025"/>
          </a:xfrm>
          <a:prstGeom prst="rect">
            <a:avLst/>
          </a:prstGeom>
        </p:spPr>
        <p:txBody>
          <a:bodyPr anchor="t" rtlCol="false" tIns="0" lIns="0" bIns="0" rIns="0">
            <a:spAutoFit/>
          </a:bodyPr>
          <a:lstStyle/>
          <a:p>
            <a:pPr algn="l">
              <a:lnSpc>
                <a:spcPts val="2800"/>
              </a:lnSpc>
              <a:spcBef>
                <a:spcPct val="0"/>
              </a:spcBef>
            </a:pPr>
            <a:r>
              <a:rPr lang="en-US" sz="2000" spc="-20">
                <a:solidFill>
                  <a:srgbClr val="A6A6A6"/>
                </a:solidFill>
                <a:latin typeface="Helvetica World"/>
                <a:ea typeface="Helvetica World"/>
                <a:cs typeface="Helvetica World"/>
                <a:sym typeface="Helvetica World"/>
              </a:rPr>
              <a:t>Th</a:t>
            </a:r>
            <a:r>
              <a:rPr lang="en-US" sz="2000" spc="-20">
                <a:solidFill>
                  <a:srgbClr val="A6A6A6"/>
                </a:solidFill>
                <a:latin typeface="Helvetica World"/>
                <a:ea typeface="Helvetica World"/>
                <a:cs typeface="Helvetica World"/>
                <a:sym typeface="Helvetica World"/>
              </a:rPr>
              <a:t>e same convenience also produces systemic downsides. Low-friction purchasing and easy returns can encourage overconsumption, driving more packaging, more reverse logistics, and more waste when items cannot be resold. Fast shipping and fragmented deliveries increase transport intensity, which raises emissions—especially when speed becomes the default expectation. In addition, the pressure to maintain low prices and rapid throughput can shift hidden costs onto labor and local ecosystems, while smaller retaile</a:t>
            </a:r>
            <a:r>
              <a:rPr lang="en-US" sz="2000" spc="-20">
                <a:solidFill>
                  <a:srgbClr val="A6A6A6"/>
                </a:solidFill>
                <a:latin typeface="Helvetica World"/>
                <a:ea typeface="Helvetica World"/>
                <a:cs typeface="Helvetica World"/>
                <a:sym typeface="Helvetica World"/>
              </a:rPr>
              <a:t>rs and suppliers may face unequal bargaining power within a platform-dominated market.</a:t>
            </a:r>
          </a:p>
        </p:txBody>
      </p:sp>
      <p:sp>
        <p:nvSpPr>
          <p:cNvPr name="TextBox 6" id="6"/>
          <p:cNvSpPr txBox="true"/>
          <p:nvPr/>
        </p:nvSpPr>
        <p:spPr>
          <a:xfrm rot="0">
            <a:off x="1028700" y="2104241"/>
            <a:ext cx="7068145"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Who get Bad impacted by</a:t>
            </a:r>
          </a:p>
        </p:txBody>
      </p:sp>
      <p:grpSp>
        <p:nvGrpSpPr>
          <p:cNvPr name="Group 7" id="7"/>
          <p:cNvGrpSpPr/>
          <p:nvPr/>
        </p:nvGrpSpPr>
        <p:grpSpPr>
          <a:xfrm rot="0">
            <a:off x="9543089" y="2209016"/>
            <a:ext cx="7716211" cy="2070101"/>
            <a:chOff x="0" y="0"/>
            <a:chExt cx="10288282" cy="2760134"/>
          </a:xfrm>
        </p:grpSpPr>
        <p:sp>
          <p:nvSpPr>
            <p:cNvPr name="TextBox 8" id="8"/>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9" id="9"/>
            <p:cNvSpPr txBox="true"/>
            <p:nvPr/>
          </p:nvSpPr>
          <p:spPr>
            <a:xfrm rot="0">
              <a:off x="1797745" y="-190500"/>
              <a:ext cx="1869477"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12</a:t>
              </a:r>
            </a:p>
          </p:txBody>
        </p:sp>
        <p:sp>
          <p:nvSpPr>
            <p:cNvPr name="TextBox 10" id="10"/>
            <p:cNvSpPr txBox="true"/>
            <p:nvPr/>
          </p:nvSpPr>
          <p:spPr>
            <a:xfrm rot="0">
              <a:off x="3800357" y="1420741"/>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Convenience + easy returns can increase waste</a:t>
              </a:r>
              <a:r>
                <a:rPr lang="en-US" sz="1800" spc="-18">
                  <a:solidFill>
                    <a:srgbClr val="FFFFFF"/>
                  </a:solidFill>
                  <a:latin typeface="Helvetica World"/>
                  <a:ea typeface="Helvetica World"/>
                  <a:cs typeface="Helvetica World"/>
                  <a:sym typeface="Helvetica World"/>
                </a:rPr>
                <a:t>, packaging, and non-circular outcomes.</a:t>
              </a:r>
            </a:p>
          </p:txBody>
        </p:sp>
        <p:sp>
          <p:nvSpPr>
            <p:cNvPr name="TextBox 11" id="11"/>
            <p:cNvSpPr txBox="true"/>
            <p:nvPr/>
          </p:nvSpPr>
          <p:spPr>
            <a:xfrm rot="0">
              <a:off x="3800357" y="395672"/>
              <a:ext cx="6487925" cy="8985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Responsible Consumption and Production</a:t>
              </a:r>
            </a:p>
          </p:txBody>
        </p:sp>
        <p:sp>
          <p:nvSpPr>
            <p:cNvPr name="TextBox 12" id="12"/>
            <p:cNvSpPr txBox="true"/>
            <p:nvPr/>
          </p:nvSpPr>
          <p:spPr>
            <a:xfrm rot="0">
              <a:off x="575059" y="2268009"/>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2"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3" tooltip="https://www.srgresearch.com/articles/cloud-market-share-trends-big-three-together-hold-63-while-oracle-and-the-neoclouds-inch-higher"/>
                </a:rPr>
                <a:t>ructure market in Q3 2025, maintaining its lead over Microsoft Azure (20%) and Google Cloud (13%)</a:t>
              </a:r>
            </a:p>
          </p:txBody>
        </p:sp>
      </p:grpSp>
      <p:grpSp>
        <p:nvGrpSpPr>
          <p:cNvPr name="Group 13" id="13"/>
          <p:cNvGrpSpPr/>
          <p:nvPr/>
        </p:nvGrpSpPr>
        <p:grpSpPr>
          <a:xfrm rot="0">
            <a:off x="9543089" y="6260565"/>
            <a:ext cx="7716211" cy="2271930"/>
            <a:chOff x="0" y="0"/>
            <a:chExt cx="10288282" cy="3029241"/>
          </a:xfrm>
        </p:grpSpPr>
        <p:sp>
          <p:nvSpPr>
            <p:cNvPr name="TextBox 14" id="14"/>
            <p:cNvSpPr txBox="true"/>
            <p:nvPr/>
          </p:nvSpPr>
          <p:spPr>
            <a:xfrm rot="0">
              <a:off x="3800357" y="1571916"/>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Speed-driven shipping and high delivery frequency increas</a:t>
              </a:r>
              <a:r>
                <a:rPr lang="en-US" sz="1800" spc="-18">
                  <a:solidFill>
                    <a:srgbClr val="FFFFFF"/>
                  </a:solidFill>
                  <a:latin typeface="Helvetica World"/>
                  <a:ea typeface="Helvetica World"/>
                  <a:cs typeface="Helvetica World"/>
                  <a:sym typeface="Helvetica World"/>
                </a:rPr>
                <a:t>e transport emissions.</a:t>
              </a:r>
            </a:p>
          </p:txBody>
        </p:sp>
        <p:sp>
          <p:nvSpPr>
            <p:cNvPr name="TextBox 15" id="15"/>
            <p:cNvSpPr txBox="true"/>
            <p:nvPr/>
          </p:nvSpPr>
          <p:spPr>
            <a:xfrm rot="0">
              <a:off x="3919373" y="557588"/>
              <a:ext cx="6368909"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Climate Action</a:t>
              </a:r>
            </a:p>
          </p:txBody>
        </p:sp>
        <p:sp>
          <p:nvSpPr>
            <p:cNvPr name="TextBox 16" id="16"/>
            <p:cNvSpPr txBox="true"/>
            <p:nvPr/>
          </p:nvSpPr>
          <p:spPr>
            <a:xfrm rot="0">
              <a:off x="575059" y="2537116"/>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4"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5" tooltip="https://www.srgresearch.com/articles/cloud-market-share-trends-big-three-together-hold-63-while-oracle-and-the-neoclouds-inch-higher"/>
                </a:rPr>
                <a:t>ructure market in Q3 2025, maintaining its lead over Microsoft Azure (20%) and Google Cloud (13%)</a:t>
              </a:r>
            </a:p>
          </p:txBody>
        </p:sp>
        <p:sp>
          <p:nvSpPr>
            <p:cNvPr name="TextBox 17" id="17"/>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8" id="18"/>
            <p:cNvSpPr txBox="true"/>
            <p:nvPr/>
          </p:nvSpPr>
          <p:spPr>
            <a:xfrm rot="0">
              <a:off x="1797745" y="-190500"/>
              <a:ext cx="1901002"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13</a:t>
              </a:r>
            </a:p>
          </p:txBody>
        </p:sp>
      </p:grpSp>
      <p:sp>
        <p:nvSpPr>
          <p:cNvPr name="TextBox 19" id="19"/>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 SDG - Negative</a:t>
            </a:r>
          </a:p>
        </p:txBody>
      </p:sp>
      <p:grpSp>
        <p:nvGrpSpPr>
          <p:cNvPr name="Group 20" id="20"/>
          <p:cNvGrpSpPr/>
          <p:nvPr/>
        </p:nvGrpSpPr>
        <p:grpSpPr>
          <a:xfrm rot="0">
            <a:off x="1028700" y="9258300"/>
            <a:ext cx="16230600" cy="301625"/>
            <a:chOff x="0" y="0"/>
            <a:chExt cx="21640800" cy="402167"/>
          </a:xfrm>
        </p:grpSpPr>
        <p:sp>
          <p:nvSpPr>
            <p:cNvPr name="TextBox 21" id="21"/>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 - e-commerce</a:t>
              </a:r>
            </a:p>
          </p:txBody>
        </p:sp>
        <p:sp>
          <p:nvSpPr>
            <p:cNvPr name="TextBox 22" id="22"/>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24</a:t>
              </a:r>
            </a:p>
          </p:txBody>
        </p:sp>
      </p:grpSp>
      <p:sp>
        <p:nvSpPr>
          <p:cNvPr name="AutoShape 23" id="23"/>
          <p:cNvSpPr/>
          <p:nvPr/>
        </p:nvSpPr>
        <p:spPr>
          <a:xfrm>
            <a:off x="9134475" y="2209016"/>
            <a:ext cx="0" cy="6323479"/>
          </a:xfrm>
          <a:prstGeom prst="line">
            <a:avLst/>
          </a:prstGeom>
          <a:ln cap="rnd" w="19050">
            <a:solidFill>
              <a:srgbClr val="FFFFFF">
                <a:alpha val="29804"/>
              </a:srgbClr>
            </a:solidFill>
            <a:prstDash val="sysDash"/>
            <a:headEnd type="none" len="sm" w="sm"/>
            <a:tailEnd type="none" len="sm" w="sm"/>
          </a:ln>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3450111" y="3428216"/>
            <a:ext cx="11387777" cy="3430568"/>
          </a:xfrm>
          <a:custGeom>
            <a:avLst/>
            <a:gdLst/>
            <a:ahLst/>
            <a:cxnLst/>
            <a:rect r="r" b="b" t="t" l="l"/>
            <a:pathLst>
              <a:path h="3430568" w="11387777">
                <a:moveTo>
                  <a:pt x="0" y="0"/>
                </a:moveTo>
                <a:lnTo>
                  <a:pt x="11387778" y="0"/>
                </a:lnTo>
                <a:lnTo>
                  <a:pt x="11387778" y="3430568"/>
                </a:lnTo>
                <a:lnTo>
                  <a:pt x="0" y="3430568"/>
                </a:lnTo>
                <a:lnTo>
                  <a:pt x="0" y="0"/>
                </a:lnTo>
                <a:close/>
              </a:path>
            </a:pathLst>
          </a:custGeom>
          <a:blipFill>
            <a:blip r:embed="rId2"/>
            <a:stretch>
              <a:fillRect l="0" t="0" r="0" b="0"/>
            </a:stretch>
          </a:blipFill>
        </p:spPr>
      </p:sp>
      <p:sp>
        <p:nvSpPr>
          <p:cNvPr name="TextBox 3" id="3"/>
          <p:cNvSpPr txBox="true"/>
          <p:nvPr/>
        </p:nvSpPr>
        <p:spPr>
          <a:xfrm rot="0">
            <a:off x="2010801" y="4412933"/>
            <a:ext cx="14266397" cy="1365885"/>
          </a:xfrm>
          <a:prstGeom prst="rect">
            <a:avLst/>
          </a:prstGeom>
        </p:spPr>
        <p:txBody>
          <a:bodyPr anchor="t" rtlCol="false" tIns="0" lIns="0" bIns="0" rIns="0">
            <a:spAutoFit/>
          </a:bodyPr>
          <a:lstStyle/>
          <a:p>
            <a:pPr algn="ctr">
              <a:lnSpc>
                <a:spcPts val="5040"/>
              </a:lnSpc>
            </a:pPr>
            <a:r>
              <a:rPr lang="en-US" sz="3600" i="true" spc="-36">
                <a:solidFill>
                  <a:srgbClr val="FFFFFF"/>
                </a:solidFill>
                <a:latin typeface="Helvetica World Italics"/>
                <a:ea typeface="Helvetica World Italics"/>
                <a:cs typeface="Helvetica World Italics"/>
                <a:sym typeface="Helvetica World Italics"/>
              </a:rPr>
              <a:t>“E-commerce turns convenience into a system—shaping what we buy, how we buy, and the hidden costs behind each click.”</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1028700" y="9258300"/>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Service Component I - e-commerce: Conclusion</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25</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5" id="5"/>
          <p:cNvGrpSpPr/>
          <p:nvPr/>
        </p:nvGrpSpPr>
        <p:grpSpPr>
          <a:xfrm rot="0">
            <a:off x="1028700" y="9258300"/>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26</a:t>
              </a:r>
            </a:p>
          </p:txBody>
        </p:sp>
      </p:grpSp>
      <p:sp>
        <p:nvSpPr>
          <p:cNvPr name="TextBox 8" id="8"/>
          <p:cNvSpPr txBox="true"/>
          <p:nvPr/>
        </p:nvSpPr>
        <p:spPr>
          <a:xfrm rot="0">
            <a:off x="1028700" y="7468870"/>
            <a:ext cx="6902236" cy="1063625"/>
          </a:xfrm>
          <a:prstGeom prst="rect">
            <a:avLst/>
          </a:prstGeom>
        </p:spPr>
        <p:txBody>
          <a:bodyPr anchor="t" rtlCol="false" tIns="0" lIns="0" bIns="0" rIns="0">
            <a:spAutoFit/>
          </a:bodyPr>
          <a:lstStyle/>
          <a:p>
            <a:pPr algn="l">
              <a:lnSpc>
                <a:spcPts val="2800"/>
              </a:lnSpc>
            </a:pPr>
            <a:r>
              <a:rPr lang="en-US" sz="2000" spc="-20">
                <a:solidFill>
                  <a:srgbClr val="A6A6A6"/>
                </a:solidFill>
                <a:latin typeface="Helvetica World"/>
                <a:ea typeface="Helvetica World"/>
                <a:cs typeface="Helvetica World"/>
                <a:sym typeface="Helvetica World"/>
              </a:rPr>
              <a:t>Compute | ~40% (Estimated)</a:t>
            </a:r>
          </a:p>
          <a:p>
            <a:pPr algn="l">
              <a:lnSpc>
                <a:spcPts val="2800"/>
              </a:lnSpc>
            </a:pPr>
            <a:r>
              <a:rPr lang="en-US" sz="2000" spc="-20">
                <a:solidFill>
                  <a:srgbClr val="A6A6A6"/>
                </a:solidFill>
                <a:latin typeface="Helvetica World"/>
                <a:ea typeface="Helvetica World"/>
                <a:cs typeface="Helvetica World"/>
                <a:sym typeface="Helvetica World"/>
              </a:rPr>
              <a:t>Storage | ~25% (Estimated)</a:t>
            </a:r>
          </a:p>
          <a:p>
            <a:pPr algn="l">
              <a:lnSpc>
                <a:spcPts val="2800"/>
              </a:lnSpc>
              <a:spcBef>
                <a:spcPct val="0"/>
              </a:spcBef>
            </a:pPr>
            <a:r>
              <a:rPr lang="en-US" sz="2000" spc="-20">
                <a:solidFill>
                  <a:srgbClr val="A6A6A6"/>
                </a:solidFill>
                <a:latin typeface="Helvetica World"/>
                <a:ea typeface="Helvetica World"/>
                <a:cs typeface="Helvetica World"/>
                <a:sym typeface="Helvetica World"/>
              </a:rPr>
              <a:t>Database &amp; AI | ~20% (Estimated)</a:t>
            </a:r>
          </a:p>
        </p:txBody>
      </p:sp>
      <p:sp>
        <p:nvSpPr>
          <p:cNvPr name="TextBox 9" id="9"/>
          <p:cNvSpPr txBox="true"/>
          <p:nvPr/>
        </p:nvSpPr>
        <p:spPr>
          <a:xfrm rot="0">
            <a:off x="6475889" y="-481965"/>
            <a:ext cx="10783411" cy="9277350"/>
          </a:xfrm>
          <a:prstGeom prst="rect">
            <a:avLst/>
          </a:prstGeom>
        </p:spPr>
        <p:txBody>
          <a:bodyPr anchor="t" rtlCol="false" tIns="0" lIns="0" bIns="0" rIns="0">
            <a:spAutoFit/>
          </a:bodyPr>
          <a:lstStyle/>
          <a:p>
            <a:pPr algn="r">
              <a:lnSpc>
                <a:spcPts val="75600"/>
              </a:lnSpc>
            </a:pPr>
            <a:r>
              <a:rPr lang="en-US" sz="54000" spc="-2700">
                <a:solidFill>
                  <a:srgbClr val="FFFFFF"/>
                </a:solidFill>
                <a:latin typeface="Helvetica World"/>
                <a:ea typeface="Helvetica World"/>
                <a:cs typeface="Helvetica World"/>
                <a:sym typeface="Helvetica World"/>
              </a:rPr>
              <a:t>18</a:t>
            </a:r>
          </a:p>
        </p:txBody>
      </p:sp>
      <p:sp>
        <p:nvSpPr>
          <p:cNvPr name="TextBox 10" id="10"/>
          <p:cNvSpPr txBox="true"/>
          <p:nvPr/>
        </p:nvSpPr>
        <p:spPr>
          <a:xfrm rot="0">
            <a:off x="10483491" y="6596381"/>
            <a:ext cx="6775809" cy="2199004"/>
          </a:xfrm>
          <a:prstGeom prst="rect">
            <a:avLst/>
          </a:prstGeom>
        </p:spPr>
        <p:txBody>
          <a:bodyPr anchor="t" rtlCol="false" tIns="0" lIns="0" bIns="0" rIns="0">
            <a:spAutoFit/>
          </a:bodyPr>
          <a:lstStyle/>
          <a:p>
            <a:pPr algn="r">
              <a:lnSpc>
                <a:spcPts val="17920"/>
              </a:lnSpc>
            </a:pPr>
            <a:r>
              <a:rPr lang="en-US" sz="12800" spc="-128">
                <a:solidFill>
                  <a:srgbClr val="FFFFFF"/>
                </a:solidFill>
                <a:latin typeface="Helvetica World"/>
                <a:ea typeface="Helvetica World"/>
                <a:cs typeface="Helvetica World"/>
                <a:sym typeface="Helvetica World"/>
              </a:rPr>
              <a:t>%</a:t>
            </a:r>
          </a:p>
        </p:txBody>
      </p:sp>
      <p:sp>
        <p:nvSpPr>
          <p:cNvPr name="TextBox 11" id="11"/>
          <p:cNvSpPr txBox="true"/>
          <p:nvPr/>
        </p:nvSpPr>
        <p:spPr>
          <a:xfrm rot="0">
            <a:off x="10483491" y="8427720"/>
            <a:ext cx="6775809" cy="830580"/>
          </a:xfrm>
          <a:prstGeom prst="rect">
            <a:avLst/>
          </a:prstGeom>
        </p:spPr>
        <p:txBody>
          <a:bodyPr anchor="t" rtlCol="false" tIns="0" lIns="0" bIns="0" rIns="0">
            <a:spAutoFit/>
          </a:bodyPr>
          <a:lstStyle/>
          <a:p>
            <a:pPr algn="r">
              <a:lnSpc>
                <a:spcPts val="6719"/>
              </a:lnSpc>
            </a:pPr>
            <a:r>
              <a:rPr lang="en-US" sz="4800" spc="-48">
                <a:solidFill>
                  <a:srgbClr val="FFFFFF">
                    <a:alpha val="49804"/>
                  </a:srgbClr>
                </a:solidFill>
                <a:latin typeface="Helvetica World"/>
                <a:ea typeface="Helvetica World"/>
                <a:cs typeface="Helvetica World"/>
                <a:sym typeface="Helvetica World"/>
              </a:rPr>
              <a:t>of total revenue</a:t>
            </a:r>
          </a:p>
        </p:txBody>
      </p:sp>
      <p:sp>
        <p:nvSpPr>
          <p:cNvPr name="Freeform 12" id="12"/>
          <p:cNvSpPr/>
          <p:nvPr/>
        </p:nvSpPr>
        <p:spPr>
          <a:xfrm flipH="false" flipV="false" rot="0">
            <a:off x="1028700" y="2293751"/>
            <a:ext cx="3696173" cy="2208463"/>
          </a:xfrm>
          <a:custGeom>
            <a:avLst/>
            <a:gdLst/>
            <a:ahLst/>
            <a:cxnLst/>
            <a:rect r="r" b="b" t="t" l="l"/>
            <a:pathLst>
              <a:path h="2208463" w="3696173">
                <a:moveTo>
                  <a:pt x="0" y="0"/>
                </a:moveTo>
                <a:lnTo>
                  <a:pt x="3696173" y="0"/>
                </a:lnTo>
                <a:lnTo>
                  <a:pt x="3696173" y="2208464"/>
                </a:lnTo>
                <a:lnTo>
                  <a:pt x="0" y="2208464"/>
                </a:lnTo>
                <a:lnTo>
                  <a:pt x="0" y="0"/>
                </a:lnTo>
                <a:close/>
              </a:path>
            </a:pathLst>
          </a:custGeom>
          <a:blipFill>
            <a:blip r:embed="rId2"/>
            <a:stretch>
              <a:fillRect l="0" t="0" r="0" b="0"/>
            </a:stretch>
          </a:blipFill>
        </p:spPr>
      </p:sp>
      <p:sp>
        <p:nvSpPr>
          <p:cNvPr name="TextBox 13" id="13"/>
          <p:cNvSpPr txBox="true"/>
          <p:nvPr/>
        </p:nvSpPr>
        <p:spPr>
          <a:xfrm rot="0">
            <a:off x="1028700" y="5245408"/>
            <a:ext cx="5367561" cy="972185"/>
          </a:xfrm>
          <a:prstGeom prst="rect">
            <a:avLst/>
          </a:prstGeom>
        </p:spPr>
        <p:txBody>
          <a:bodyPr anchor="t" rtlCol="false" tIns="0" lIns="0" bIns="0" rIns="0">
            <a:spAutoFit/>
          </a:bodyPr>
          <a:lstStyle/>
          <a:p>
            <a:pPr algn="l">
              <a:lnSpc>
                <a:spcPts val="7840"/>
              </a:lnSpc>
              <a:spcBef>
                <a:spcPct val="0"/>
              </a:spcBef>
            </a:pPr>
            <a:r>
              <a:rPr lang="en-US" sz="5600" spc="-56">
                <a:solidFill>
                  <a:srgbClr val="A6A6A6"/>
                </a:solidFill>
                <a:latin typeface="Helvetica World"/>
                <a:ea typeface="Helvetica World"/>
                <a:cs typeface="Helvetica World"/>
                <a:sym typeface="Helvetica World"/>
              </a:rPr>
              <a:t>Cloud Computing</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sp>
        <p:nvSpPr>
          <p:cNvPr name="TextBox 3" id="3"/>
          <p:cNvSpPr txBox="true"/>
          <p:nvPr/>
        </p:nvSpPr>
        <p:spPr>
          <a:xfrm rot="0">
            <a:off x="1028700" y="4445065"/>
            <a:ext cx="6712998" cy="3530600"/>
          </a:xfrm>
          <a:prstGeom prst="rect">
            <a:avLst/>
          </a:prstGeom>
        </p:spPr>
        <p:txBody>
          <a:bodyPr anchor="t" rtlCol="false" tIns="0" lIns="0" bIns="0" rIns="0">
            <a:spAutoFit/>
          </a:bodyPr>
          <a:lstStyle/>
          <a:p>
            <a:pPr algn="l">
              <a:lnSpc>
                <a:spcPts val="2800"/>
              </a:lnSpc>
              <a:spcBef>
                <a:spcPct val="0"/>
              </a:spcBef>
            </a:pPr>
            <a:r>
              <a:rPr lang="en-US" sz="2000" spc="-20">
                <a:solidFill>
                  <a:srgbClr val="FFFFFF"/>
                </a:solidFill>
                <a:latin typeface="Helvetica World"/>
                <a:ea typeface="Helvetica World"/>
                <a:cs typeface="Helvetica World"/>
                <a:sym typeface="Helvetica World"/>
              </a:rPr>
              <a:t>Amazon's foundation was built on logistics-driven distribution innovation and expanding dominance in e-commerce. In parallel, the company launched cloud computing services, growing market share through B2B solutions for enterprises. </a:t>
            </a:r>
            <a:r>
              <a:rPr lang="en-US" sz="2000" spc="-20">
                <a:solidFill>
                  <a:srgbClr val="FFFFFF"/>
                </a:solidFill>
                <a:latin typeface="Helvetica World"/>
                <a:ea typeface="Helvetica World"/>
                <a:cs typeface="Helvetica World"/>
                <a:sym typeface="Helvetica World"/>
              </a:rPr>
              <a:t>This strategy mirrors their approach in digital marketplaces and infrastructure. Much like they captured logistics market share and created seller dependency through fulfillment services, Amazon leads by making businesses increasingly dependent on their underlying services and platform ecosystem. </a:t>
            </a:r>
          </a:p>
        </p:txBody>
      </p:sp>
      <p:sp>
        <p:nvSpPr>
          <p:cNvPr name="AutoShape 4" id="4"/>
          <p:cNvSpPr/>
          <p:nvPr/>
        </p:nvSpPr>
        <p:spPr>
          <a:xfrm flipH="true">
            <a:off x="9134475" y="4502215"/>
            <a:ext cx="0" cy="4030280"/>
          </a:xfrm>
          <a:prstGeom prst="line">
            <a:avLst/>
          </a:prstGeom>
          <a:ln cap="rnd" w="19050">
            <a:solidFill>
              <a:srgbClr val="FFFFFF">
                <a:alpha val="29804"/>
              </a:srgbClr>
            </a:solidFill>
            <a:prstDash val="sysDash"/>
            <a:headEnd type="none" len="sm" w="sm"/>
            <a:tailEnd type="none" len="sm" w="sm"/>
          </a:ln>
        </p:spPr>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8" id="8"/>
          <p:cNvGrpSpPr/>
          <p:nvPr/>
        </p:nvGrpSpPr>
        <p:grpSpPr>
          <a:xfrm rot="0">
            <a:off x="9684898" y="4502215"/>
            <a:ext cx="7284917" cy="1845299"/>
            <a:chOff x="0" y="0"/>
            <a:chExt cx="9713223" cy="2460399"/>
          </a:xfrm>
        </p:grpSpPr>
        <p:sp>
          <p:nvSpPr>
            <p:cNvPr name="TextBox 9" id="9"/>
            <p:cNvSpPr txBox="true"/>
            <p:nvPr/>
          </p:nvSpPr>
          <p:spPr>
            <a:xfrm rot="0">
              <a:off x="0" y="0"/>
              <a:ext cx="1849636" cy="2019300"/>
            </a:xfrm>
            <a:prstGeom prst="rect">
              <a:avLst/>
            </a:prstGeom>
          </p:spPr>
          <p:txBody>
            <a:bodyPr anchor="t" rtlCol="false" tIns="0" lIns="0" bIns="0" rIns="0">
              <a:spAutoFit/>
            </a:bodyPr>
            <a:lstStyle/>
            <a:p>
              <a:pPr algn="l">
                <a:lnSpc>
                  <a:spcPts val="11999"/>
                </a:lnSpc>
                <a:spcBef>
                  <a:spcPct val="0"/>
                </a:spcBef>
              </a:pPr>
              <a:r>
                <a:rPr lang="en-US" sz="9999" spc="-99">
                  <a:solidFill>
                    <a:srgbClr val="A6A6A6"/>
                  </a:solidFill>
                  <a:latin typeface="Helvetica World"/>
                  <a:ea typeface="Helvetica World"/>
                  <a:cs typeface="Helvetica World"/>
                  <a:sym typeface="Helvetica World"/>
                </a:rPr>
                <a:t>30</a:t>
              </a:r>
            </a:p>
          </p:txBody>
        </p:sp>
        <p:sp>
          <p:nvSpPr>
            <p:cNvPr name="TextBox 10" id="10"/>
            <p:cNvSpPr txBox="true"/>
            <p:nvPr/>
          </p:nvSpPr>
          <p:spPr>
            <a:xfrm rot="0">
              <a:off x="3815622" y="466725"/>
              <a:ext cx="5897600" cy="1076325"/>
            </a:xfrm>
            <a:prstGeom prst="rect">
              <a:avLst/>
            </a:prstGeom>
          </p:spPr>
          <p:txBody>
            <a:bodyPr anchor="t" rtlCol="false" tIns="0" lIns="0" bIns="0" rIns="0">
              <a:spAutoFit/>
            </a:bodyPr>
            <a:lstStyle/>
            <a:p>
              <a:pPr algn="r">
                <a:lnSpc>
                  <a:spcPts val="2160"/>
                </a:lnSpc>
                <a:spcBef>
                  <a:spcPct val="0"/>
                </a:spcBef>
              </a:pPr>
              <a:r>
                <a:rPr lang="en-US" sz="1800" spc="-18">
                  <a:solidFill>
                    <a:srgbClr val="A6A6A6"/>
                  </a:solidFill>
                  <a:latin typeface="Helvetica World"/>
                  <a:ea typeface="Helvetica World"/>
                  <a:cs typeface="Helvetica World"/>
                  <a:sym typeface="Helvetica World"/>
                </a:rPr>
                <a:t>of the global cloud infr</a:t>
              </a:r>
              <a:r>
                <a:rPr lang="en-US" sz="1800" spc="-18">
                  <a:solidFill>
                    <a:srgbClr val="A6A6A6"/>
                  </a:solidFill>
                  <a:latin typeface="Helvetica World"/>
                  <a:ea typeface="Helvetica World"/>
                  <a:cs typeface="Helvetica World"/>
                  <a:sym typeface="Helvetica World"/>
                </a:rPr>
                <a:t>ast</a:t>
              </a:r>
              <a:r>
                <a:rPr lang="en-US" sz="1800" spc="-18">
                  <a:solidFill>
                    <a:srgbClr val="A6A6A6"/>
                  </a:solidFill>
                  <a:latin typeface="Helvetica World"/>
                  <a:ea typeface="Helvetica World"/>
                  <a:cs typeface="Helvetica World"/>
                  <a:sym typeface="Helvetica World"/>
                </a:rPr>
                <a:t>ructure market in Q3 2025, maintaining its lead over Microsoft Azure (20%) and Google Cloud (13%)</a:t>
              </a:r>
            </a:p>
          </p:txBody>
        </p:sp>
        <p:sp>
          <p:nvSpPr>
            <p:cNvPr name="TextBox 11" id="11"/>
            <p:cNvSpPr txBox="true"/>
            <p:nvPr/>
          </p:nvSpPr>
          <p:spPr>
            <a:xfrm rot="0">
              <a:off x="2011114" y="492125"/>
              <a:ext cx="744339" cy="1025525"/>
            </a:xfrm>
            <a:prstGeom prst="rect">
              <a:avLst/>
            </a:prstGeom>
          </p:spPr>
          <p:txBody>
            <a:bodyPr anchor="t" rtlCol="false" tIns="0" lIns="0" bIns="0" rIns="0">
              <a:spAutoFit/>
            </a:bodyPr>
            <a:lstStyle/>
            <a:p>
              <a:pPr algn="l">
                <a:lnSpc>
                  <a:spcPts val="6000"/>
                </a:lnSpc>
                <a:spcBef>
                  <a:spcPct val="0"/>
                </a:spcBef>
              </a:pPr>
              <a:r>
                <a:rPr lang="en-US" sz="5000" spc="-50">
                  <a:solidFill>
                    <a:srgbClr val="A6A6A6"/>
                  </a:solidFill>
                  <a:latin typeface="Helvetica World"/>
                  <a:ea typeface="Helvetica World"/>
                  <a:cs typeface="Helvetica World"/>
                  <a:sym typeface="Helvetica World"/>
                </a:rPr>
                <a:t>%</a:t>
              </a:r>
            </a:p>
          </p:txBody>
        </p:sp>
        <p:sp>
          <p:nvSpPr>
            <p:cNvPr name="TextBox 12" id="12"/>
            <p:cNvSpPr txBox="true"/>
            <p:nvPr/>
          </p:nvSpPr>
          <p:spPr>
            <a:xfrm rot="0">
              <a:off x="0" y="1968274"/>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A6A6A6"/>
                  </a:solidFill>
                  <a:latin typeface="Helvetica World"/>
                  <a:ea typeface="Helvetica World"/>
                  <a:cs typeface="Helvetica World"/>
                  <a:sym typeface="Helvetica World"/>
                </a:rPr>
                <a:t>Source: Synergy Research Group (November 2025) </a:t>
              </a:r>
              <a:r>
                <a:rPr lang="en-US" sz="1200" spc="-12" u="sng">
                  <a:solidFill>
                    <a:srgbClr val="A6A6A6"/>
                  </a:solidFill>
                  <a:latin typeface="Helvetica World"/>
                  <a:ea typeface="Helvetica World"/>
                  <a:cs typeface="Helvetica World"/>
                  <a:sym typeface="Helvetica World"/>
                  <a:hlinkClick r:id="rId2" tooltip="https://www.srgresearch.com/articles/cloud-market-share-trends-big-three-together-hold-63-while-oracle-and-the-neoclouds-inch-higher"/>
                </a:rPr>
                <a:t>of the global cloud infr</a:t>
              </a:r>
              <a:r>
                <a:rPr lang="en-US" sz="1200" spc="-12" u="sng">
                  <a:solidFill>
                    <a:srgbClr val="A6A6A6"/>
                  </a:solidFill>
                  <a:latin typeface="Helvetica World"/>
                  <a:ea typeface="Helvetica World"/>
                  <a:cs typeface="Helvetica World"/>
                  <a:sym typeface="Helvetica World"/>
                  <a:hlinkClick r:id="rId3" tooltip="https://www.srgresearch.com/articles/cloud-market-share-trends-big-three-together-hold-63-while-oracle-and-the-neoclouds-inch-higher"/>
                </a:rPr>
                <a:t>ast</a:t>
              </a:r>
              <a:r>
                <a:rPr lang="en-US" sz="1200" spc="-12" u="sng">
                  <a:solidFill>
                    <a:srgbClr val="A6A6A6"/>
                  </a:solidFill>
                  <a:latin typeface="Helvetica World"/>
                  <a:ea typeface="Helvetica World"/>
                  <a:cs typeface="Helvetica World"/>
                  <a:sym typeface="Helvetica World"/>
                  <a:hlinkClick r:id="rId4" tooltip="https://www.srgresearch.com/articles/cloud-market-share-trends-big-three-together-hold-63-while-oracle-and-the-neoclouds-inch-higher"/>
                </a:rPr>
                <a:t>ructure market in Q3 2025, maintaining its lead over Microsoft Azure (20%) and Google Cloud (13%)</a:t>
              </a:r>
            </a:p>
          </p:txBody>
        </p:sp>
      </p:grpSp>
      <p:grpSp>
        <p:nvGrpSpPr>
          <p:cNvPr name="Group 13" id="13"/>
          <p:cNvGrpSpPr/>
          <p:nvPr/>
        </p:nvGrpSpPr>
        <p:grpSpPr>
          <a:xfrm rot="0">
            <a:off x="9684898" y="6658271"/>
            <a:ext cx="7284917" cy="1874224"/>
            <a:chOff x="0" y="0"/>
            <a:chExt cx="9713223" cy="2498966"/>
          </a:xfrm>
        </p:grpSpPr>
        <p:sp>
          <p:nvSpPr>
            <p:cNvPr name="TextBox 14" id="14"/>
            <p:cNvSpPr txBox="true"/>
            <p:nvPr/>
          </p:nvSpPr>
          <p:spPr>
            <a:xfrm rot="0">
              <a:off x="161479" y="0"/>
              <a:ext cx="1849636" cy="2019300"/>
            </a:xfrm>
            <a:prstGeom prst="rect">
              <a:avLst/>
            </a:prstGeom>
          </p:spPr>
          <p:txBody>
            <a:bodyPr anchor="t" rtlCol="false" tIns="0" lIns="0" bIns="0" rIns="0">
              <a:spAutoFit/>
            </a:bodyPr>
            <a:lstStyle/>
            <a:p>
              <a:pPr algn="l">
                <a:lnSpc>
                  <a:spcPts val="11999"/>
                </a:lnSpc>
                <a:spcBef>
                  <a:spcPct val="0"/>
                </a:spcBef>
              </a:pPr>
              <a:r>
                <a:rPr lang="en-US" sz="9999" spc="-99">
                  <a:solidFill>
                    <a:srgbClr val="A6A6A6"/>
                  </a:solidFill>
                  <a:latin typeface="Helvetica World"/>
                  <a:ea typeface="Helvetica World"/>
                  <a:cs typeface="Helvetica World"/>
                  <a:sym typeface="Helvetica World"/>
                </a:rPr>
                <a:t>90</a:t>
              </a:r>
            </a:p>
          </p:txBody>
        </p:sp>
        <p:sp>
          <p:nvSpPr>
            <p:cNvPr name="TextBox 15" id="15"/>
            <p:cNvSpPr txBox="true"/>
            <p:nvPr/>
          </p:nvSpPr>
          <p:spPr>
            <a:xfrm rot="0">
              <a:off x="3815622" y="288925"/>
              <a:ext cx="5897600" cy="1431925"/>
            </a:xfrm>
            <a:prstGeom prst="rect">
              <a:avLst/>
            </a:prstGeom>
          </p:spPr>
          <p:txBody>
            <a:bodyPr anchor="t" rtlCol="false" tIns="0" lIns="0" bIns="0" rIns="0">
              <a:spAutoFit/>
            </a:bodyPr>
            <a:lstStyle/>
            <a:p>
              <a:pPr algn="r">
                <a:lnSpc>
                  <a:spcPts val="2160"/>
                </a:lnSpc>
                <a:spcBef>
                  <a:spcPct val="0"/>
                </a:spcBef>
              </a:pPr>
              <a:r>
                <a:rPr lang="en-US" sz="1800" spc="-18">
                  <a:solidFill>
                    <a:srgbClr val="A6A6A6"/>
                  </a:solidFill>
                  <a:latin typeface="Helvetica World"/>
                  <a:ea typeface="Helvetica World"/>
                  <a:cs typeface="Helvetica World"/>
                  <a:sym typeface="Helvetica World"/>
                </a:rPr>
                <a:t>of Fortune 100 c</a:t>
              </a:r>
              <a:r>
                <a:rPr lang="en-US" sz="1800" spc="-18">
                  <a:solidFill>
                    <a:srgbClr val="A6A6A6"/>
                  </a:solidFill>
                  <a:latin typeface="Helvetica World"/>
                  <a:ea typeface="Helvetica World"/>
                  <a:cs typeface="Helvetica World"/>
                  <a:sym typeface="Helvetica World"/>
                </a:rPr>
                <a:t>ompanies and the majority of Fortune 500 companies utilize AWS Partner solutions and services for their cloud infrastructure.</a:t>
              </a:r>
            </a:p>
          </p:txBody>
        </p:sp>
        <p:sp>
          <p:nvSpPr>
            <p:cNvPr name="TextBox 16" id="16"/>
            <p:cNvSpPr txBox="true"/>
            <p:nvPr/>
          </p:nvSpPr>
          <p:spPr>
            <a:xfrm rot="0">
              <a:off x="2011114" y="492125"/>
              <a:ext cx="1231999" cy="1025525"/>
            </a:xfrm>
            <a:prstGeom prst="rect">
              <a:avLst/>
            </a:prstGeom>
          </p:spPr>
          <p:txBody>
            <a:bodyPr anchor="t" rtlCol="false" tIns="0" lIns="0" bIns="0" rIns="0">
              <a:spAutoFit/>
            </a:bodyPr>
            <a:lstStyle/>
            <a:p>
              <a:pPr algn="l">
                <a:lnSpc>
                  <a:spcPts val="6000"/>
                </a:lnSpc>
                <a:spcBef>
                  <a:spcPct val="0"/>
                </a:spcBef>
              </a:pPr>
              <a:r>
                <a:rPr lang="en-US" sz="5000" spc="-50">
                  <a:solidFill>
                    <a:srgbClr val="A6A6A6"/>
                  </a:solidFill>
                  <a:latin typeface="Helvetica World"/>
                  <a:ea typeface="Helvetica World"/>
                  <a:cs typeface="Helvetica World"/>
                  <a:sym typeface="Helvetica World"/>
                </a:rPr>
                <a:t>%+</a:t>
              </a:r>
            </a:p>
          </p:txBody>
        </p:sp>
        <p:sp>
          <p:nvSpPr>
            <p:cNvPr name="TextBox 17" id="17"/>
            <p:cNvSpPr txBox="true"/>
            <p:nvPr/>
          </p:nvSpPr>
          <p:spPr>
            <a:xfrm rot="0">
              <a:off x="0" y="2006841"/>
              <a:ext cx="9713223" cy="492125"/>
            </a:xfrm>
            <a:prstGeom prst="rect">
              <a:avLst/>
            </a:prstGeom>
          </p:spPr>
          <p:txBody>
            <a:bodyPr anchor="t" rtlCol="false" tIns="0" lIns="0" bIns="0" rIns="0">
              <a:spAutoFit/>
            </a:bodyPr>
            <a:lstStyle/>
            <a:p>
              <a:pPr algn="r">
                <a:lnSpc>
                  <a:spcPts val="1439"/>
                </a:lnSpc>
                <a:spcBef>
                  <a:spcPct val="0"/>
                </a:spcBef>
              </a:pPr>
              <a:r>
                <a:rPr lang="en-US" sz="1200" spc="-12" u="sng">
                  <a:solidFill>
                    <a:srgbClr val="A6A6A6"/>
                  </a:solidFill>
                  <a:latin typeface="Helvetica World"/>
                  <a:ea typeface="Helvetica World"/>
                  <a:cs typeface="Helvetica World"/>
                  <a:sym typeface="Helvetica World"/>
                  <a:hlinkClick r:id="rId5" tooltip="https://aws.amazon.com/blogs/apn/say-hello-to-103-new-aws-competency-service-delivery-service-ready-and-msp-partners-added-in-february/"/>
                </a:rPr>
                <a:t>Source: Synergy Research Group (November 2025) of the global cloud infr</a:t>
              </a:r>
              <a:r>
                <a:rPr lang="en-US" sz="1200" spc="-12" u="sng">
                  <a:solidFill>
                    <a:srgbClr val="A6A6A6"/>
                  </a:solidFill>
                  <a:latin typeface="Helvetica World"/>
                  <a:ea typeface="Helvetica World"/>
                  <a:cs typeface="Helvetica World"/>
                  <a:sym typeface="Helvetica World"/>
                  <a:hlinkClick r:id="rId6" tooltip="https://aws.amazon.com/blogs/apn/say-hello-to-103-new-aws-competency-service-delivery-service-ready-and-msp-partners-added-in-february/"/>
                </a:rPr>
                <a:t>ast</a:t>
              </a:r>
              <a:r>
                <a:rPr lang="en-US" sz="1200" spc="-12" u="sng">
                  <a:solidFill>
                    <a:srgbClr val="A6A6A6"/>
                  </a:solidFill>
                  <a:latin typeface="Helvetica World"/>
                  <a:ea typeface="Helvetica World"/>
                  <a:cs typeface="Helvetica World"/>
                  <a:sym typeface="Helvetica World"/>
                  <a:hlinkClick r:id="rId7" tooltip="https://aws.amazon.com/blogs/apn/say-hello-to-103-new-aws-competency-service-delivery-service-ready-and-msp-partners-added-in-february/"/>
                </a:rPr>
                <a:t>ructure market in Q3 2025, maintaining its lead over Microsoft Azure (20%) and Google Cloud (13%)</a:t>
              </a:r>
            </a:p>
          </p:txBody>
        </p:sp>
      </p:gr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20" id="2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27</a:t>
              </a:r>
            </a:p>
          </p:txBody>
        </p:sp>
      </p:grpSp>
      <p:grpSp>
        <p:nvGrpSpPr>
          <p:cNvPr name="Group 21" id="21"/>
          <p:cNvGrpSpPr/>
          <p:nvPr/>
        </p:nvGrpSpPr>
        <p:grpSpPr>
          <a:xfrm rot="0">
            <a:off x="1032835" y="2209016"/>
            <a:ext cx="4426498" cy="1158410"/>
            <a:chOff x="0" y="0"/>
            <a:chExt cx="5901998" cy="1544546"/>
          </a:xfrm>
        </p:grpSpPr>
        <p:sp>
          <p:nvSpPr>
            <p:cNvPr name="Freeform 22" id="22"/>
            <p:cNvSpPr/>
            <p:nvPr/>
          </p:nvSpPr>
          <p:spPr>
            <a:xfrm flipH="false" flipV="false" rot="0">
              <a:off x="0" y="0"/>
              <a:ext cx="2452295" cy="1544546"/>
            </a:xfrm>
            <a:custGeom>
              <a:avLst/>
              <a:gdLst/>
              <a:ahLst/>
              <a:cxnLst/>
              <a:rect r="r" b="b" t="t" l="l"/>
              <a:pathLst>
                <a:path h="1544546" w="2452295">
                  <a:moveTo>
                    <a:pt x="0" y="0"/>
                  </a:moveTo>
                  <a:lnTo>
                    <a:pt x="2452295" y="0"/>
                  </a:lnTo>
                  <a:lnTo>
                    <a:pt x="2452295" y="1544546"/>
                  </a:lnTo>
                  <a:lnTo>
                    <a:pt x="0" y="1544546"/>
                  </a:lnTo>
                  <a:lnTo>
                    <a:pt x="0" y="0"/>
                  </a:lnTo>
                  <a:close/>
                </a:path>
              </a:pathLst>
            </a:custGeom>
            <a:blipFill>
              <a:blip r:embed="rId8"/>
              <a:stretch>
                <a:fillRect l="0" t="-34638" r="0" b="-24132"/>
              </a:stretch>
            </a:blipFill>
          </p:spPr>
        </p:sp>
        <p:sp>
          <p:nvSpPr>
            <p:cNvPr name="TextBox 23" id="23"/>
            <p:cNvSpPr txBox="true"/>
            <p:nvPr/>
          </p:nvSpPr>
          <p:spPr>
            <a:xfrm rot="0">
              <a:off x="2834749" y="-57150"/>
              <a:ext cx="3067248"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Cloud Computing</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2025</a:t>
            </a:r>
          </a:p>
        </p:txBody>
      </p:sp>
      <p:grpSp>
        <p:nvGrpSpPr>
          <p:cNvPr name="Group 3" id="3"/>
          <p:cNvGrpSpPr/>
          <p:nvPr/>
        </p:nvGrpSpPr>
        <p:grpSpPr>
          <a:xfrm rot="0">
            <a:off x="1028700" y="4502215"/>
            <a:ext cx="3048973" cy="1282571"/>
            <a:chOff x="0" y="0"/>
            <a:chExt cx="4065297" cy="1710094"/>
          </a:xfrm>
        </p:grpSpPr>
        <p:sp>
          <p:nvSpPr>
            <p:cNvPr name="TextBox 4" id="4"/>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AI Chips</a:t>
              </a:r>
            </a:p>
          </p:txBody>
        </p:sp>
        <p:sp>
          <p:nvSpPr>
            <p:cNvPr name="TextBox 5" id="5"/>
            <p:cNvSpPr txBox="true"/>
            <p:nvPr/>
          </p:nvSpPr>
          <p:spPr>
            <a:xfrm rot="0">
              <a:off x="0" y="748069"/>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Graviton5 </a:t>
              </a:r>
            </a:p>
            <a:p>
              <a:pPr algn="l">
                <a:lnSpc>
                  <a:spcPts val="1919"/>
                </a:lnSpc>
              </a:pPr>
              <a:r>
                <a:rPr lang="en-US" sz="1599" spc="-15">
                  <a:solidFill>
                    <a:srgbClr val="FFFFFF">
                      <a:alpha val="49804"/>
                    </a:srgbClr>
                  </a:solidFill>
                  <a:latin typeface="Helvetica World"/>
                  <a:ea typeface="Helvetica World"/>
                  <a:cs typeface="Helvetica World"/>
                  <a:sym typeface="Helvetica World"/>
                </a:rPr>
                <a:t>Trainium3 UltraServers</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Trainium2</a:t>
              </a:r>
            </a:p>
          </p:txBody>
        </p:sp>
      </p:grpSp>
      <p:grpSp>
        <p:nvGrpSpPr>
          <p:cNvPr name="Group 6" id="6"/>
          <p:cNvGrpSpPr/>
          <p:nvPr/>
        </p:nvGrpSpPr>
        <p:grpSpPr>
          <a:xfrm rot="0">
            <a:off x="1028700" y="6112542"/>
            <a:ext cx="3048973" cy="1284223"/>
            <a:chOff x="0" y="0"/>
            <a:chExt cx="4065297" cy="1712297"/>
          </a:xfrm>
        </p:grpSpPr>
        <p:sp>
          <p:nvSpPr>
            <p:cNvPr name="TextBox 7" id="7"/>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AI Models &amp; Agents</a:t>
              </a:r>
            </a:p>
          </p:txBody>
        </p:sp>
        <p:sp>
          <p:nvSpPr>
            <p:cNvPr name="TextBox 8" id="8"/>
            <p:cNvSpPr txBox="true"/>
            <p:nvPr/>
          </p:nvSpPr>
          <p:spPr>
            <a:xfrm rot="0">
              <a:off x="0" y="750272"/>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Nova 2 Family</a:t>
              </a:r>
            </a:p>
            <a:p>
              <a:pPr algn="l">
                <a:lnSpc>
                  <a:spcPts val="1919"/>
                </a:lnSpc>
              </a:pPr>
              <a:r>
                <a:rPr lang="en-US" sz="1599" spc="-15">
                  <a:solidFill>
                    <a:srgbClr val="FFFFFF">
                      <a:alpha val="49804"/>
                    </a:srgbClr>
                  </a:solidFill>
                  <a:latin typeface="Helvetica World"/>
                  <a:ea typeface="Helvetica World"/>
                  <a:cs typeface="Helvetica World"/>
                  <a:sym typeface="Helvetica World"/>
                </a:rPr>
                <a:t>Nova Forge &amp; Nova Act</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Bedrock AgentCore &amp; Kiro AI IDE</a:t>
              </a:r>
            </a:p>
          </p:txBody>
        </p:sp>
      </p:grpSp>
      <p:sp>
        <p:nvSpPr>
          <p:cNvPr name="TextBox 9" id="9"/>
          <p:cNvSpPr txBox="true"/>
          <p:nvPr/>
        </p:nvSpPr>
        <p:spPr>
          <a:xfrm rot="0">
            <a:off x="5081588"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2026</a:t>
            </a:r>
          </a:p>
        </p:txBody>
      </p:sp>
      <p:grpSp>
        <p:nvGrpSpPr>
          <p:cNvPr name="Group 10" id="10"/>
          <p:cNvGrpSpPr/>
          <p:nvPr/>
        </p:nvGrpSpPr>
        <p:grpSpPr>
          <a:xfrm rot="0">
            <a:off x="5081588" y="4502215"/>
            <a:ext cx="3709988" cy="1282571"/>
            <a:chOff x="0" y="0"/>
            <a:chExt cx="4946650" cy="1710094"/>
          </a:xfrm>
        </p:grpSpPr>
        <p:sp>
          <p:nvSpPr>
            <p:cNvPr name="TextBox 11" id="11"/>
            <p:cNvSpPr txBox="true"/>
            <p:nvPr/>
          </p:nvSpPr>
          <p:spPr>
            <a:xfrm rot="0">
              <a:off x="0" y="-9525"/>
              <a:ext cx="4946650"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Infra &amp; Spending</a:t>
              </a:r>
            </a:p>
          </p:txBody>
        </p:sp>
        <p:sp>
          <p:nvSpPr>
            <p:cNvPr name="TextBox 12" id="12"/>
            <p:cNvSpPr txBox="true"/>
            <p:nvPr/>
          </p:nvSpPr>
          <p:spPr>
            <a:xfrm rot="0">
              <a:off x="0" y="748069"/>
              <a:ext cx="4946650"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CapEx $200B (+60%)</a:t>
              </a:r>
            </a:p>
            <a:p>
              <a:pPr algn="l">
                <a:lnSpc>
                  <a:spcPts val="1919"/>
                </a:lnSpc>
              </a:pPr>
              <a:r>
                <a:rPr lang="en-US" sz="1599" spc="-15">
                  <a:solidFill>
                    <a:srgbClr val="FFFFFF">
                      <a:alpha val="49804"/>
                    </a:srgbClr>
                  </a:solidFill>
                  <a:latin typeface="Helvetica World"/>
                  <a:ea typeface="Helvetica World"/>
                  <a:cs typeface="Helvetica World"/>
                  <a:sym typeface="Helvetica World"/>
                </a:rPr>
                <a:t>European Sovereign Cloud (Germany)</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AWS AI Factories</a:t>
              </a:r>
            </a:p>
          </p:txBody>
        </p:sp>
      </p:grpSp>
      <p:sp>
        <p:nvSpPr>
          <p:cNvPr name="TextBox 13" id="13"/>
          <p:cNvSpPr txBox="true"/>
          <p:nvPr/>
        </p:nvSpPr>
        <p:spPr>
          <a:xfrm rot="0">
            <a:off x="9498028"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2030</a:t>
            </a:r>
          </a:p>
        </p:txBody>
      </p:sp>
      <p:grpSp>
        <p:nvGrpSpPr>
          <p:cNvPr name="Group 14" id="14"/>
          <p:cNvGrpSpPr/>
          <p:nvPr/>
        </p:nvGrpSpPr>
        <p:grpSpPr>
          <a:xfrm rot="0">
            <a:off x="9498028" y="4502215"/>
            <a:ext cx="3049674" cy="1044446"/>
            <a:chOff x="0" y="0"/>
            <a:chExt cx="4066233" cy="1392594"/>
          </a:xfrm>
        </p:grpSpPr>
        <p:sp>
          <p:nvSpPr>
            <p:cNvPr name="TextBox 15" id="15"/>
            <p:cNvSpPr txBox="true"/>
            <p:nvPr/>
          </p:nvSpPr>
          <p:spPr>
            <a:xfrm rot="0">
              <a:off x="936"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Sustainability</a:t>
              </a:r>
            </a:p>
          </p:txBody>
        </p:sp>
        <p:sp>
          <p:nvSpPr>
            <p:cNvPr name="TextBox 16" id="16"/>
            <p:cNvSpPr txBox="true"/>
            <p:nvPr/>
          </p:nvSpPr>
          <p:spPr>
            <a:xfrm rot="0">
              <a:off x="0" y="748069"/>
              <a:ext cx="4065297" cy="6445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Water Positive Goal</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621 Renewable Projects (34GW+)</a:t>
              </a:r>
            </a:p>
          </p:txBody>
        </p:sp>
      </p:grpSp>
      <p:sp>
        <p:nvSpPr>
          <p:cNvPr name="TextBox 17" id="17"/>
          <p:cNvSpPr txBox="true"/>
          <p:nvPr/>
        </p:nvSpPr>
        <p:spPr>
          <a:xfrm rot="0">
            <a:off x="13892137"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2039</a:t>
            </a:r>
          </a:p>
        </p:txBody>
      </p:sp>
      <p:grpSp>
        <p:nvGrpSpPr>
          <p:cNvPr name="Group 18" id="18"/>
          <p:cNvGrpSpPr/>
          <p:nvPr/>
        </p:nvGrpSpPr>
        <p:grpSpPr>
          <a:xfrm rot="0">
            <a:off x="13890727" y="4502215"/>
            <a:ext cx="3048973" cy="1282571"/>
            <a:chOff x="0" y="0"/>
            <a:chExt cx="4065297" cy="1710094"/>
          </a:xfrm>
        </p:grpSpPr>
        <p:sp>
          <p:nvSpPr>
            <p:cNvPr name="TextBox 19" id="19"/>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Future Energy</a:t>
              </a:r>
            </a:p>
          </p:txBody>
        </p:sp>
        <p:sp>
          <p:nvSpPr>
            <p:cNvPr name="TextBox 20" id="20"/>
            <p:cNvSpPr txBox="true"/>
            <p:nvPr/>
          </p:nvSpPr>
          <p:spPr>
            <a:xfrm rot="0">
              <a:off x="0" y="748069"/>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Small Modular Reactor (SMR) Ops</a:t>
              </a:r>
            </a:p>
            <a:p>
              <a:pPr algn="l">
                <a:lnSpc>
                  <a:spcPts val="1919"/>
                </a:lnSpc>
              </a:pPr>
              <a:r>
                <a:rPr lang="en-US" sz="1599" spc="-15">
                  <a:solidFill>
                    <a:srgbClr val="FFFFFF">
                      <a:alpha val="49804"/>
                    </a:srgbClr>
                  </a:solidFill>
                  <a:latin typeface="Helvetica World"/>
                  <a:ea typeface="Helvetica World"/>
                  <a:cs typeface="Helvetica World"/>
                  <a:sym typeface="Helvetica World"/>
                </a:rPr>
                <a:t>Powering 3.8M homes annually</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X-energy Partnership</a:t>
              </a:r>
            </a:p>
          </p:txBody>
        </p:sp>
      </p:grpSp>
      <p:grpSp>
        <p:nvGrpSpPr>
          <p:cNvPr name="Group 21" id="21"/>
          <p:cNvGrpSpPr/>
          <p:nvPr/>
        </p:nvGrpSpPr>
        <p:grpSpPr>
          <a:xfrm rot="0">
            <a:off x="1028700" y="7724522"/>
            <a:ext cx="3048973" cy="807973"/>
            <a:chOff x="0" y="0"/>
            <a:chExt cx="4065297" cy="1077297"/>
          </a:xfrm>
        </p:grpSpPr>
        <p:sp>
          <p:nvSpPr>
            <p:cNvPr name="TextBox 22" id="22"/>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Investment</a:t>
              </a:r>
            </a:p>
          </p:txBody>
        </p:sp>
        <p:sp>
          <p:nvSpPr>
            <p:cNvPr name="TextBox 23" id="23"/>
            <p:cNvSpPr txBox="true"/>
            <p:nvPr/>
          </p:nvSpPr>
          <p:spPr>
            <a:xfrm rot="0">
              <a:off x="0" y="750272"/>
              <a:ext cx="4065297" cy="327025"/>
            </a:xfrm>
            <a:prstGeom prst="rect">
              <a:avLst/>
            </a:prstGeom>
          </p:spPr>
          <p:txBody>
            <a:bodyPr anchor="t" rtlCol="false" tIns="0" lIns="0" bIns="0" rIns="0">
              <a:spAutoFit/>
            </a:bodyPr>
            <a:lstStyle/>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CapEx $125 Billion</a:t>
              </a:r>
            </a:p>
          </p:txBody>
        </p:sp>
      </p:grpSp>
      <p:grpSp>
        <p:nvGrpSpPr>
          <p:cNvPr name="Group 24" id="24"/>
          <p:cNvGrpSpPr/>
          <p:nvPr/>
        </p:nvGrpSpPr>
        <p:grpSpPr>
          <a:xfrm rot="0">
            <a:off x="5081588" y="6113368"/>
            <a:ext cx="3048973" cy="1282571"/>
            <a:chOff x="0" y="0"/>
            <a:chExt cx="4065297" cy="1710094"/>
          </a:xfrm>
        </p:grpSpPr>
        <p:sp>
          <p:nvSpPr>
            <p:cNvPr name="TextBox 25" id="25"/>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Products</a:t>
              </a:r>
            </a:p>
          </p:txBody>
        </p:sp>
        <p:sp>
          <p:nvSpPr>
            <p:cNvPr name="TextBox 26" id="26"/>
            <p:cNvSpPr txBox="true"/>
            <p:nvPr/>
          </p:nvSpPr>
          <p:spPr>
            <a:xfrm rot="0">
              <a:off x="0" y="748069"/>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Trainium4 (NVLink Support)</a:t>
              </a:r>
            </a:p>
            <a:p>
              <a:pPr algn="l">
                <a:lnSpc>
                  <a:spcPts val="1919"/>
                </a:lnSpc>
              </a:pPr>
              <a:r>
                <a:rPr lang="en-US" sz="1599" spc="-15">
                  <a:solidFill>
                    <a:srgbClr val="FFFFFF">
                      <a:alpha val="49804"/>
                    </a:srgbClr>
                  </a:solidFill>
                  <a:latin typeface="Helvetica World"/>
                  <a:ea typeface="Helvetica World"/>
                  <a:cs typeface="Helvetica World"/>
                  <a:sym typeface="Helvetica World"/>
                </a:rPr>
                <a:t>AWS Interconnect (Google/Azure)</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Lambda Durable Functions</a:t>
              </a:r>
            </a:p>
          </p:txBody>
        </p:sp>
      </p:grpSp>
      <p:grpSp>
        <p:nvGrpSpPr>
          <p:cNvPr name="Group 27" id="27"/>
          <p:cNvGrpSpPr/>
          <p:nvPr/>
        </p:nvGrpSpPr>
        <p:grpSpPr>
          <a:xfrm rot="0">
            <a:off x="5081588" y="7724522"/>
            <a:ext cx="3048973" cy="806321"/>
            <a:chOff x="0" y="0"/>
            <a:chExt cx="4065297" cy="1075094"/>
          </a:xfrm>
        </p:grpSpPr>
        <p:sp>
          <p:nvSpPr>
            <p:cNvPr name="TextBox 28" id="28"/>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Partnerships</a:t>
              </a:r>
            </a:p>
          </p:txBody>
        </p:sp>
        <p:sp>
          <p:nvSpPr>
            <p:cNvPr name="TextBox 29" id="29"/>
            <p:cNvSpPr txBox="true"/>
            <p:nvPr/>
          </p:nvSpPr>
          <p:spPr>
            <a:xfrm rot="0">
              <a:off x="0" y="748069"/>
              <a:ext cx="4065297" cy="327025"/>
            </a:xfrm>
            <a:prstGeom prst="rect">
              <a:avLst/>
            </a:prstGeom>
          </p:spPr>
          <p:txBody>
            <a:bodyPr anchor="t" rtlCol="false" tIns="0" lIns="0" bIns="0" rIns="0">
              <a:spAutoFit/>
            </a:bodyPr>
            <a:lstStyle/>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OpenAI / Infosys Gen AI</a:t>
              </a:r>
            </a:p>
          </p:txBody>
        </p:sp>
      </p:grpSp>
      <p:sp>
        <p:nvSpPr>
          <p:cNvPr name="AutoShape 30" id="30"/>
          <p:cNvSpPr/>
          <p:nvPr/>
        </p:nvSpPr>
        <p:spPr>
          <a:xfrm>
            <a:off x="4750592" y="4502215"/>
            <a:ext cx="0" cy="4030280"/>
          </a:xfrm>
          <a:prstGeom prst="line">
            <a:avLst/>
          </a:prstGeom>
          <a:ln cap="rnd" w="19050">
            <a:solidFill>
              <a:srgbClr val="FFFFFF">
                <a:alpha val="29804"/>
              </a:srgbClr>
            </a:solidFill>
            <a:prstDash val="sysDash"/>
            <a:headEnd type="none" len="sm" w="sm"/>
            <a:tailEnd type="none" len="sm" w="sm"/>
          </a:ln>
        </p:spPr>
      </p:sp>
      <p:sp>
        <p:nvSpPr>
          <p:cNvPr name="AutoShape 31" id="31"/>
          <p:cNvSpPr/>
          <p:nvPr/>
        </p:nvSpPr>
        <p:spPr>
          <a:xfrm>
            <a:off x="9144000" y="4502215"/>
            <a:ext cx="0" cy="4030280"/>
          </a:xfrm>
          <a:prstGeom prst="line">
            <a:avLst/>
          </a:prstGeom>
          <a:ln cap="rnd" w="19050">
            <a:solidFill>
              <a:srgbClr val="FFFFFF">
                <a:alpha val="29804"/>
              </a:srgbClr>
            </a:solidFill>
            <a:prstDash val="sysDash"/>
            <a:headEnd type="none" len="sm" w="sm"/>
            <a:tailEnd type="none" len="sm" w="sm"/>
          </a:ln>
        </p:spPr>
      </p:sp>
      <p:sp>
        <p:nvSpPr>
          <p:cNvPr name="AutoShape 32" id="32"/>
          <p:cNvSpPr/>
          <p:nvPr/>
        </p:nvSpPr>
        <p:spPr>
          <a:xfrm>
            <a:off x="13537405" y="4502215"/>
            <a:ext cx="0" cy="4030280"/>
          </a:xfrm>
          <a:prstGeom prst="line">
            <a:avLst/>
          </a:prstGeom>
          <a:ln cap="rnd" w="19050">
            <a:solidFill>
              <a:srgbClr val="FFFFFF">
                <a:alpha val="29804"/>
              </a:srgbClr>
            </a:solidFill>
            <a:prstDash val="sysDash"/>
            <a:headEnd type="none" len="sm" w="sm"/>
            <a:tailEnd type="none" len="sm" w="sm"/>
          </a:ln>
        </p:spPr>
      </p:sp>
      <p:grpSp>
        <p:nvGrpSpPr>
          <p:cNvPr name="Group 33" id="33"/>
          <p:cNvGrpSpPr/>
          <p:nvPr/>
        </p:nvGrpSpPr>
        <p:grpSpPr>
          <a:xfrm rot="0">
            <a:off x="1028700" y="727075"/>
            <a:ext cx="16230600" cy="301625"/>
            <a:chOff x="0" y="0"/>
            <a:chExt cx="21640800" cy="402167"/>
          </a:xfrm>
        </p:grpSpPr>
        <p:sp>
          <p:nvSpPr>
            <p:cNvPr name="TextBox 34" id="3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35" id="3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36" id="36"/>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Roadmap - AWS (Cloud Computing)</a:t>
            </a:r>
          </a:p>
        </p:txBody>
      </p:sp>
      <p:grpSp>
        <p:nvGrpSpPr>
          <p:cNvPr name="Group 37" id="37"/>
          <p:cNvGrpSpPr/>
          <p:nvPr/>
        </p:nvGrpSpPr>
        <p:grpSpPr>
          <a:xfrm rot="0">
            <a:off x="1028700" y="9258300"/>
            <a:ext cx="16230600" cy="301625"/>
            <a:chOff x="0" y="0"/>
            <a:chExt cx="21640800" cy="402167"/>
          </a:xfrm>
        </p:grpSpPr>
        <p:sp>
          <p:nvSpPr>
            <p:cNvPr name="TextBox 38" id="3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39" id="3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28</a:t>
              </a:r>
            </a:p>
          </p:txBody>
        </p:sp>
      </p:grpSp>
      <p:grpSp>
        <p:nvGrpSpPr>
          <p:cNvPr name="Group 40" id="40"/>
          <p:cNvGrpSpPr/>
          <p:nvPr/>
        </p:nvGrpSpPr>
        <p:grpSpPr>
          <a:xfrm rot="0">
            <a:off x="1032835" y="2209016"/>
            <a:ext cx="4426498" cy="1158410"/>
            <a:chOff x="0" y="0"/>
            <a:chExt cx="5901998" cy="1544546"/>
          </a:xfrm>
        </p:grpSpPr>
        <p:sp>
          <p:nvSpPr>
            <p:cNvPr name="Freeform 41" id="41"/>
            <p:cNvSpPr/>
            <p:nvPr/>
          </p:nvSpPr>
          <p:spPr>
            <a:xfrm flipH="false" flipV="false" rot="0">
              <a:off x="0" y="0"/>
              <a:ext cx="2452295" cy="1544546"/>
            </a:xfrm>
            <a:custGeom>
              <a:avLst/>
              <a:gdLst/>
              <a:ahLst/>
              <a:cxnLst/>
              <a:rect r="r" b="b" t="t" l="l"/>
              <a:pathLst>
                <a:path h="1544546" w="2452295">
                  <a:moveTo>
                    <a:pt x="0" y="0"/>
                  </a:moveTo>
                  <a:lnTo>
                    <a:pt x="2452295" y="0"/>
                  </a:lnTo>
                  <a:lnTo>
                    <a:pt x="2452295" y="1544546"/>
                  </a:lnTo>
                  <a:lnTo>
                    <a:pt x="0" y="1544546"/>
                  </a:lnTo>
                  <a:lnTo>
                    <a:pt x="0" y="0"/>
                  </a:lnTo>
                  <a:close/>
                </a:path>
              </a:pathLst>
            </a:custGeom>
            <a:blipFill>
              <a:blip r:embed="rId2"/>
              <a:stretch>
                <a:fillRect l="0" t="-34638" r="0" b="-24132"/>
              </a:stretch>
            </a:blipFill>
          </p:spPr>
        </p:sp>
        <p:sp>
          <p:nvSpPr>
            <p:cNvPr name="TextBox 42" id="42"/>
            <p:cNvSpPr txBox="true"/>
            <p:nvPr/>
          </p:nvSpPr>
          <p:spPr>
            <a:xfrm rot="0">
              <a:off x="2834749" y="-57150"/>
              <a:ext cx="3067248"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Cloud Computing</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Details - AWS</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1028700" y="4485897"/>
            <a:ext cx="2963297"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Graviton Series</a:t>
            </a:r>
          </a:p>
        </p:txBody>
      </p:sp>
      <p:sp>
        <p:nvSpPr>
          <p:cNvPr name="TextBox 7" id="7"/>
          <p:cNvSpPr txBox="true"/>
          <p:nvPr/>
        </p:nvSpPr>
        <p:spPr>
          <a:xfrm rot="0">
            <a:off x="1028700" y="3768827"/>
            <a:ext cx="3433393" cy="448310"/>
          </a:xfrm>
          <a:prstGeom prst="rect">
            <a:avLst/>
          </a:prstGeom>
        </p:spPr>
        <p:txBody>
          <a:bodyPr anchor="t" rtlCol="false" tIns="0" lIns="0" bIns="0" rIns="0">
            <a:spAutoFit/>
          </a:bodyPr>
          <a:lstStyle/>
          <a:p>
            <a:pPr algn="l">
              <a:lnSpc>
                <a:spcPts val="3640"/>
              </a:lnSpc>
            </a:pPr>
            <a:r>
              <a:rPr lang="en-US" sz="2600" spc="-26">
                <a:solidFill>
                  <a:srgbClr val="FFFFFF"/>
                </a:solidFill>
                <a:latin typeface="Helvetica World"/>
                <a:ea typeface="Helvetica World"/>
                <a:cs typeface="Helvetica World"/>
                <a:sym typeface="Helvetica World"/>
              </a:rPr>
              <a:t>AI - Hardware</a:t>
            </a:r>
          </a:p>
        </p:txBody>
      </p:sp>
      <p:sp>
        <p:nvSpPr>
          <p:cNvPr name="TextBox 8" id="8"/>
          <p:cNvSpPr txBox="true"/>
          <p:nvPr/>
        </p:nvSpPr>
        <p:spPr>
          <a:xfrm rot="0">
            <a:off x="7497604" y="3768827"/>
            <a:ext cx="3433393" cy="448310"/>
          </a:xfrm>
          <a:prstGeom prst="rect">
            <a:avLst/>
          </a:prstGeom>
        </p:spPr>
        <p:txBody>
          <a:bodyPr anchor="t" rtlCol="false" tIns="0" lIns="0" bIns="0" rIns="0">
            <a:spAutoFit/>
          </a:bodyPr>
          <a:lstStyle/>
          <a:p>
            <a:pPr algn="l">
              <a:lnSpc>
                <a:spcPts val="3640"/>
              </a:lnSpc>
            </a:pPr>
            <a:r>
              <a:rPr lang="en-US" sz="2600" spc="-26">
                <a:solidFill>
                  <a:srgbClr val="FFFFFF"/>
                </a:solidFill>
                <a:latin typeface="Helvetica World"/>
                <a:ea typeface="Helvetica World"/>
                <a:cs typeface="Helvetica World"/>
                <a:sym typeface="Helvetica World"/>
              </a:rPr>
              <a:t>AI - Software</a:t>
            </a:r>
          </a:p>
        </p:txBody>
      </p:sp>
      <p:sp>
        <p:nvSpPr>
          <p:cNvPr name="TextBox 9" id="9"/>
          <p:cNvSpPr txBox="true"/>
          <p:nvPr/>
        </p:nvSpPr>
        <p:spPr>
          <a:xfrm rot="0">
            <a:off x="1028700" y="6705969"/>
            <a:ext cx="2963297"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Tranium Series</a:t>
            </a:r>
          </a:p>
        </p:txBody>
      </p:sp>
      <p:sp>
        <p:nvSpPr>
          <p:cNvPr name="TextBox 10" id="10"/>
          <p:cNvSpPr txBox="true"/>
          <p:nvPr/>
        </p:nvSpPr>
        <p:spPr>
          <a:xfrm rot="0">
            <a:off x="7497604" y="4485897"/>
            <a:ext cx="3259504"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Agent - Nova Series</a:t>
            </a:r>
          </a:p>
        </p:txBody>
      </p:sp>
      <p:sp>
        <p:nvSpPr>
          <p:cNvPr name="TextBox 11" id="11"/>
          <p:cNvSpPr txBox="true"/>
          <p:nvPr/>
        </p:nvSpPr>
        <p:spPr>
          <a:xfrm rot="0">
            <a:off x="13825907" y="3768827"/>
            <a:ext cx="3433393" cy="448310"/>
          </a:xfrm>
          <a:prstGeom prst="rect">
            <a:avLst/>
          </a:prstGeom>
        </p:spPr>
        <p:txBody>
          <a:bodyPr anchor="t" rtlCol="false" tIns="0" lIns="0" bIns="0" rIns="0">
            <a:spAutoFit/>
          </a:bodyPr>
          <a:lstStyle/>
          <a:p>
            <a:pPr algn="r">
              <a:lnSpc>
                <a:spcPts val="3640"/>
              </a:lnSpc>
            </a:pPr>
            <a:r>
              <a:rPr lang="en-US" sz="2600" spc="-26">
                <a:solidFill>
                  <a:srgbClr val="FFFFFF"/>
                </a:solidFill>
                <a:latin typeface="Helvetica World"/>
                <a:ea typeface="Helvetica World"/>
                <a:cs typeface="Helvetica World"/>
                <a:sym typeface="Helvetica World"/>
              </a:rPr>
              <a:t>Energy/Infrastructure</a:t>
            </a:r>
          </a:p>
        </p:txBody>
      </p:sp>
      <p:sp>
        <p:nvSpPr>
          <p:cNvPr name="TextBox 12" id="12"/>
          <p:cNvSpPr txBox="true"/>
          <p:nvPr/>
        </p:nvSpPr>
        <p:spPr>
          <a:xfrm rot="0">
            <a:off x="13999796" y="4445065"/>
            <a:ext cx="3259504" cy="35877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SMR Nuclear</a:t>
            </a:r>
          </a:p>
        </p:txBody>
      </p:sp>
      <p:sp>
        <p:nvSpPr>
          <p:cNvPr name="TextBox 13" id="13"/>
          <p:cNvSpPr txBox="true"/>
          <p:nvPr/>
        </p:nvSpPr>
        <p:spPr>
          <a:xfrm rot="0">
            <a:off x="13377156" y="5198699"/>
            <a:ext cx="3882144" cy="35877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Water Positive/Renewable Energy</a:t>
            </a:r>
          </a:p>
        </p:txBody>
      </p:sp>
      <p:sp>
        <p:nvSpPr>
          <p:cNvPr name="TextBox 14" id="14"/>
          <p:cNvSpPr txBox="true"/>
          <p:nvPr/>
        </p:nvSpPr>
        <p:spPr>
          <a:xfrm rot="0">
            <a:off x="7497604" y="6705969"/>
            <a:ext cx="3259504"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AWS Agent</a:t>
            </a:r>
          </a:p>
        </p:txBody>
      </p:sp>
      <p:sp>
        <p:nvSpPr>
          <p:cNvPr name="TextBox 15" id="15"/>
          <p:cNvSpPr txBox="true"/>
          <p:nvPr/>
        </p:nvSpPr>
        <p:spPr>
          <a:xfrm rot="0">
            <a:off x="13999796" y="5952334"/>
            <a:ext cx="3259504" cy="35877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Lambda</a:t>
            </a:r>
          </a:p>
        </p:txBody>
      </p:sp>
      <p:sp>
        <p:nvSpPr>
          <p:cNvPr name="TextBox 16" id="16"/>
          <p:cNvSpPr txBox="true"/>
          <p:nvPr/>
        </p:nvSpPr>
        <p:spPr>
          <a:xfrm rot="0">
            <a:off x="13999796" y="6705969"/>
            <a:ext cx="3259504" cy="358775"/>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Data Base</a:t>
            </a:r>
          </a:p>
        </p:txBody>
      </p:sp>
      <p:sp>
        <p:nvSpPr>
          <p:cNvPr name="AutoShape 17" id="17"/>
          <p:cNvSpPr/>
          <p:nvPr/>
        </p:nvSpPr>
        <p:spPr>
          <a:xfrm>
            <a:off x="5979849" y="3825977"/>
            <a:ext cx="0" cy="3238766"/>
          </a:xfrm>
          <a:prstGeom prst="line">
            <a:avLst/>
          </a:prstGeom>
          <a:ln cap="rnd" w="19050">
            <a:solidFill>
              <a:srgbClr val="FFFFFF">
                <a:alpha val="29804"/>
              </a:srgbClr>
            </a:solidFill>
            <a:prstDash val="sysDash"/>
            <a:headEnd type="none" len="sm" w="sm"/>
            <a:tailEnd type="none" len="sm" w="sm"/>
          </a:ln>
        </p:spPr>
      </p:sp>
      <p:sp>
        <p:nvSpPr>
          <p:cNvPr name="AutoShape 18" id="18"/>
          <p:cNvSpPr/>
          <p:nvPr/>
        </p:nvSpPr>
        <p:spPr>
          <a:xfrm>
            <a:off x="12465397" y="3825977"/>
            <a:ext cx="0" cy="3238766"/>
          </a:xfrm>
          <a:prstGeom prst="line">
            <a:avLst/>
          </a:prstGeom>
          <a:ln cap="rnd" w="19050">
            <a:solidFill>
              <a:srgbClr val="FFFFFF">
                <a:alpha val="29804"/>
              </a:srgbClr>
            </a:solidFill>
            <a:prstDash val="sysDash"/>
            <a:headEnd type="none" len="sm" w="sm"/>
            <a:tailEnd type="none" len="sm" w="sm"/>
          </a:ln>
        </p:spPr>
      </p:sp>
      <p:sp>
        <p:nvSpPr>
          <p:cNvPr name="TextBox 19" id="19"/>
          <p:cNvSpPr txBox="true"/>
          <p:nvPr/>
        </p:nvSpPr>
        <p:spPr>
          <a:xfrm rot="0">
            <a:off x="1032835" y="7430135"/>
            <a:ext cx="16226465" cy="1102360"/>
          </a:xfrm>
          <a:prstGeom prst="rect">
            <a:avLst/>
          </a:prstGeom>
        </p:spPr>
        <p:txBody>
          <a:bodyPr anchor="t" rtlCol="false" tIns="0" lIns="0" bIns="0" rIns="0">
            <a:spAutoFit/>
          </a:bodyPr>
          <a:lstStyle/>
          <a:p>
            <a:pPr algn="just">
              <a:lnSpc>
                <a:spcPts val="2239"/>
              </a:lnSpc>
            </a:pPr>
            <a:r>
              <a:rPr lang="en-US" sz="1599" spc="-15">
                <a:solidFill>
                  <a:srgbClr val="FFFFFF"/>
                </a:solidFill>
                <a:latin typeface="Helvetica World"/>
                <a:ea typeface="Helvetica World"/>
                <a:cs typeface="Helvetica World"/>
                <a:sym typeface="Helvetica World"/>
              </a:rPr>
              <a:t>At the platform level, services like Amazon Bedrock provide foundation models via API, SageMaker offers end-to-end ML development, and Q Developer and Q Business integrate AI directly into workflows. This creates an accessible entry point for developers and enterprises to leverage AI capabilities without building everything from scratch. This multi-layered approach aims to dominate the AI value chain by controlling hardware economics, leveraging proven cloud infrastructure, and attracting users with accessible platform services. Ultimately, AWS is positioning itself to capture the emerging AI services and API market while locking companies deeply into its ecosystem as a long-term strategic play for market control.</a:t>
            </a:r>
          </a:p>
        </p:txBody>
      </p:sp>
      <p:sp>
        <p:nvSpPr>
          <p:cNvPr name="TextBox 20" id="20"/>
          <p:cNvSpPr txBox="true"/>
          <p:nvPr/>
        </p:nvSpPr>
        <p:spPr>
          <a:xfrm rot="0">
            <a:off x="9558325" y="2170916"/>
            <a:ext cx="7700975" cy="1102360"/>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AWS is transforming from a simple infrastructure provider into a comprehensive AI platform by building from the hardware level up. The company has developed proprietary AI chips like Trainium and Inferentia to reduce NVIDIA dependence while controlling costs and performance.</a:t>
            </a:r>
          </a:p>
        </p:txBody>
      </p:sp>
      <p:grpSp>
        <p:nvGrpSpPr>
          <p:cNvPr name="Group 21" id="21"/>
          <p:cNvGrpSpPr/>
          <p:nvPr/>
        </p:nvGrpSpPr>
        <p:grpSpPr>
          <a:xfrm rot="0">
            <a:off x="1028700" y="9258300"/>
            <a:ext cx="16230600" cy="301625"/>
            <a:chOff x="0" y="0"/>
            <a:chExt cx="21640800" cy="402167"/>
          </a:xfrm>
        </p:grpSpPr>
        <p:sp>
          <p:nvSpPr>
            <p:cNvPr name="TextBox 22" id="2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23" id="2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29</a:t>
              </a:r>
            </a:p>
          </p:txBody>
        </p:sp>
      </p:grpSp>
      <p:grpSp>
        <p:nvGrpSpPr>
          <p:cNvPr name="Group 24" id="24"/>
          <p:cNvGrpSpPr/>
          <p:nvPr/>
        </p:nvGrpSpPr>
        <p:grpSpPr>
          <a:xfrm rot="0">
            <a:off x="1032835" y="2209016"/>
            <a:ext cx="4426498" cy="1158410"/>
            <a:chOff x="0" y="0"/>
            <a:chExt cx="5901998" cy="1544546"/>
          </a:xfrm>
        </p:grpSpPr>
        <p:sp>
          <p:nvSpPr>
            <p:cNvPr name="Freeform 25" id="25"/>
            <p:cNvSpPr/>
            <p:nvPr/>
          </p:nvSpPr>
          <p:spPr>
            <a:xfrm flipH="false" flipV="false" rot="0">
              <a:off x="0" y="0"/>
              <a:ext cx="2452295" cy="1544546"/>
            </a:xfrm>
            <a:custGeom>
              <a:avLst/>
              <a:gdLst/>
              <a:ahLst/>
              <a:cxnLst/>
              <a:rect r="r" b="b" t="t" l="l"/>
              <a:pathLst>
                <a:path h="1544546" w="2452295">
                  <a:moveTo>
                    <a:pt x="0" y="0"/>
                  </a:moveTo>
                  <a:lnTo>
                    <a:pt x="2452295" y="0"/>
                  </a:lnTo>
                  <a:lnTo>
                    <a:pt x="2452295" y="1544546"/>
                  </a:lnTo>
                  <a:lnTo>
                    <a:pt x="0" y="1544546"/>
                  </a:lnTo>
                  <a:lnTo>
                    <a:pt x="0" y="0"/>
                  </a:lnTo>
                  <a:close/>
                </a:path>
              </a:pathLst>
            </a:custGeom>
            <a:blipFill>
              <a:blip r:embed="rId2"/>
              <a:stretch>
                <a:fillRect l="0" t="-34638" r="0" b="-24132"/>
              </a:stretch>
            </a:blipFill>
          </p:spPr>
        </p:sp>
        <p:sp>
          <p:nvSpPr>
            <p:cNvPr name="TextBox 26" id="26"/>
            <p:cNvSpPr txBox="true"/>
            <p:nvPr/>
          </p:nvSpPr>
          <p:spPr>
            <a:xfrm rot="0">
              <a:off x="2834749" y="-57150"/>
              <a:ext cx="3067248"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Cloud Computing</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1028700" y="4649470"/>
            <a:ext cx="7978823" cy="3883025"/>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AWS offers over 200 fully managed services, the broadest range in the market. This enables customers to address virtually any use case on a single platform.</a:t>
            </a:r>
          </a:p>
          <a:p>
            <a:pPr algn="l">
              <a:lnSpc>
                <a:spcPts val="2800"/>
              </a:lnSpc>
            </a:pPr>
          </a:p>
          <a:p>
            <a:pPr algn="l">
              <a:lnSpc>
                <a:spcPts val="2800"/>
              </a:lnSpc>
            </a:pPr>
            <a:r>
              <a:rPr lang="en-US" sz="2000" spc="-30">
                <a:solidFill>
                  <a:srgbClr val="FFFFFF"/>
                </a:solidFill>
                <a:latin typeface="Helvetica World"/>
                <a:ea typeface="Helvetica World"/>
                <a:cs typeface="Helvetica World"/>
                <a:sym typeface="Helvetica World"/>
              </a:rPr>
              <a:t>Launched in 2006, AWS pioneered cloud computing with a 4-5 year head start over competitors. This resulted in the most proven track record and deepest operational expertise.</a:t>
            </a:r>
          </a:p>
          <a:p>
            <a:pPr algn="l">
              <a:lnSpc>
                <a:spcPts val="2800"/>
              </a:lnSpc>
            </a:pPr>
          </a:p>
          <a:p>
            <a:pPr algn="l">
              <a:lnSpc>
                <a:spcPts val="2800"/>
              </a:lnSpc>
            </a:pPr>
            <a:r>
              <a:rPr lang="en-US" sz="2000" spc="-30">
                <a:solidFill>
                  <a:srgbClr val="FFFFFF"/>
                </a:solidFill>
                <a:latin typeface="Helvetica World"/>
                <a:ea typeface="Helvetica World"/>
                <a:cs typeface="Helvetica World"/>
                <a:sym typeface="Helvetica World"/>
              </a:rPr>
              <a:t> The largest cloud community with the most certified professionals globally. Major tools like Terraform and Kubernetes prioritize AWS, creating strong network effects.</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9354014" y="2209016"/>
            <a:ext cx="7905286" cy="1875791"/>
            <a:chOff x="0" y="0"/>
            <a:chExt cx="10540382" cy="2501054"/>
          </a:xfrm>
        </p:grpSpPr>
        <p:sp>
          <p:nvSpPr>
            <p:cNvPr name="TextBox 8" id="8"/>
            <p:cNvSpPr txBox="true"/>
            <p:nvPr/>
          </p:nvSpPr>
          <p:spPr>
            <a:xfrm rot="0">
              <a:off x="0" y="-190500"/>
              <a:ext cx="10540382" cy="2214034"/>
            </a:xfrm>
            <a:prstGeom prst="rect">
              <a:avLst/>
            </a:prstGeom>
          </p:spPr>
          <p:txBody>
            <a:bodyPr anchor="t" rtlCol="false" tIns="0" lIns="0" bIns="0" rIns="0">
              <a:spAutoFit/>
            </a:bodyPr>
            <a:lstStyle/>
            <a:p>
              <a:pPr algn="r">
                <a:lnSpc>
                  <a:spcPts val="13999"/>
                </a:lnSpc>
              </a:pPr>
              <a:r>
                <a:rPr lang="en-US" sz="9999" spc="-99">
                  <a:solidFill>
                    <a:srgbClr val="FFFFFF"/>
                  </a:solidFill>
                  <a:latin typeface="Helvetica World"/>
                  <a:ea typeface="Helvetica World"/>
                  <a:cs typeface="Helvetica World"/>
                  <a:sym typeface="Helvetica World"/>
                </a:rPr>
                <a:t>Stability</a:t>
              </a:r>
            </a:p>
          </p:txBody>
        </p:sp>
        <p:sp>
          <p:nvSpPr>
            <p:cNvPr name="TextBox 9" id="9"/>
            <p:cNvSpPr txBox="true"/>
            <p:nvPr/>
          </p:nvSpPr>
          <p:spPr>
            <a:xfrm rot="0">
              <a:off x="4487181" y="1966384"/>
              <a:ext cx="6053200" cy="534670"/>
            </a:xfrm>
            <a:prstGeom prst="rect">
              <a:avLst/>
            </a:prstGeom>
          </p:spPr>
          <p:txBody>
            <a:bodyPr anchor="t" rtlCol="false" tIns="0" lIns="0" bIns="0" rIns="0">
              <a:spAutoFit/>
            </a:bodyPr>
            <a:lstStyle/>
            <a:p>
              <a:pPr algn="r">
                <a:lnSpc>
                  <a:spcPts val="3359"/>
                </a:lnSpc>
              </a:pPr>
              <a:r>
                <a:rPr lang="en-US" sz="2400" spc="-24">
                  <a:solidFill>
                    <a:srgbClr val="FFFFFF">
                      <a:alpha val="49804"/>
                    </a:srgbClr>
                  </a:solidFill>
                  <a:latin typeface="Helvetica World"/>
                  <a:ea typeface="Helvetica World"/>
                  <a:cs typeface="Helvetica World"/>
                  <a:sym typeface="Helvetica World"/>
                </a:rPr>
                <a:t>[Core Value - What People Want]</a:t>
              </a:r>
            </a:p>
          </p:txBody>
        </p:sp>
      </p:grpSp>
      <p:sp>
        <p:nvSpPr>
          <p:cNvPr name="TextBox 10" id="10"/>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sp>
        <p:nvSpPr>
          <p:cNvPr name="AutoShape 11" id="11"/>
          <p:cNvSpPr/>
          <p:nvPr/>
        </p:nvSpPr>
        <p:spPr>
          <a:xfrm>
            <a:off x="9144000" y="2345405"/>
            <a:ext cx="0" cy="6187090"/>
          </a:xfrm>
          <a:prstGeom prst="line">
            <a:avLst/>
          </a:prstGeom>
          <a:ln cap="rnd" w="19050">
            <a:solidFill>
              <a:srgbClr val="FFFFFF">
                <a:alpha val="29804"/>
              </a:srgbClr>
            </a:solidFill>
            <a:prstDash val="sysDash"/>
            <a:headEnd type="none" len="sm" w="sm"/>
            <a:tailEnd type="none" len="sm" w="sm"/>
          </a:ln>
        </p:spPr>
      </p:sp>
      <p:grpSp>
        <p:nvGrpSpPr>
          <p:cNvPr name="Group 12" id="12"/>
          <p:cNvGrpSpPr/>
          <p:nvPr/>
        </p:nvGrpSpPr>
        <p:grpSpPr>
          <a:xfrm rot="0">
            <a:off x="1028700" y="9258300"/>
            <a:ext cx="16230600" cy="301625"/>
            <a:chOff x="0" y="0"/>
            <a:chExt cx="21640800" cy="402167"/>
          </a:xfrm>
        </p:grpSpPr>
        <p:sp>
          <p:nvSpPr>
            <p:cNvPr name="TextBox 13" id="1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4" id="1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30</a:t>
              </a:r>
            </a:p>
          </p:txBody>
        </p:sp>
      </p:grpSp>
      <p:grpSp>
        <p:nvGrpSpPr>
          <p:cNvPr name="Group 15" id="15"/>
          <p:cNvGrpSpPr/>
          <p:nvPr/>
        </p:nvGrpSpPr>
        <p:grpSpPr>
          <a:xfrm rot="0">
            <a:off x="1032835" y="2209016"/>
            <a:ext cx="4426498" cy="1158410"/>
            <a:chOff x="0" y="0"/>
            <a:chExt cx="5901998" cy="1544546"/>
          </a:xfrm>
        </p:grpSpPr>
        <p:sp>
          <p:nvSpPr>
            <p:cNvPr name="Freeform 16" id="16"/>
            <p:cNvSpPr/>
            <p:nvPr/>
          </p:nvSpPr>
          <p:spPr>
            <a:xfrm flipH="false" flipV="false" rot="0">
              <a:off x="0" y="0"/>
              <a:ext cx="2452295" cy="1544546"/>
            </a:xfrm>
            <a:custGeom>
              <a:avLst/>
              <a:gdLst/>
              <a:ahLst/>
              <a:cxnLst/>
              <a:rect r="r" b="b" t="t" l="l"/>
              <a:pathLst>
                <a:path h="1544546" w="2452295">
                  <a:moveTo>
                    <a:pt x="0" y="0"/>
                  </a:moveTo>
                  <a:lnTo>
                    <a:pt x="2452295" y="0"/>
                  </a:lnTo>
                  <a:lnTo>
                    <a:pt x="2452295" y="1544546"/>
                  </a:lnTo>
                  <a:lnTo>
                    <a:pt x="0" y="1544546"/>
                  </a:lnTo>
                  <a:lnTo>
                    <a:pt x="0" y="0"/>
                  </a:lnTo>
                  <a:close/>
                </a:path>
              </a:pathLst>
            </a:custGeom>
            <a:blipFill>
              <a:blip r:embed="rId3"/>
              <a:stretch>
                <a:fillRect l="0" t="-34638" r="0" b="-24132"/>
              </a:stretch>
            </a:blipFill>
          </p:spPr>
        </p:sp>
        <p:sp>
          <p:nvSpPr>
            <p:cNvPr name="TextBox 17" id="17"/>
            <p:cNvSpPr txBox="true"/>
            <p:nvPr/>
          </p:nvSpPr>
          <p:spPr>
            <a:xfrm rot="0">
              <a:off x="2834749" y="-57150"/>
              <a:ext cx="3067248"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Cloud Computing</a:t>
              </a:r>
            </a:p>
          </p:txBody>
        </p:sp>
      </p:grpSp>
    </p:spTree>
  </p:cSld>
  <p:clrMapOvr>
    <a:masterClrMapping/>
  </p:clrMapOvr>
</p:sld>
</file>

<file path=ppt/slides/slide34.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2210707"/>
            <a:ext cx="16230600" cy="5865587"/>
            <a:chOff x="0" y="0"/>
            <a:chExt cx="21640800" cy="7820783"/>
          </a:xfrm>
        </p:grpSpPr>
        <p:sp>
          <p:nvSpPr>
            <p:cNvPr name="TextBox 3" id="3"/>
            <p:cNvSpPr txBox="true"/>
            <p:nvPr/>
          </p:nvSpPr>
          <p:spPr>
            <a:xfrm rot="0">
              <a:off x="0" y="775123"/>
              <a:ext cx="21640800" cy="92921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Eliminates upfront infrastructure investments with pay-as-you-go pricing, converting CapEx to OpEx. Users only pay for what they use, reducing waste and freeing up capital for innovation and growth.</a:t>
              </a:r>
            </a:p>
          </p:txBody>
        </p:sp>
        <p:sp>
          <p:nvSpPr>
            <p:cNvPr name="TextBox 4" id="4"/>
            <p:cNvSpPr txBox="true"/>
            <p:nvPr/>
          </p:nvSpPr>
          <p:spPr>
            <a:xfrm rot="0">
              <a:off x="0" y="-66675"/>
              <a:ext cx="9627691" cy="632248"/>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Cost Efficiency and Financial Flexibility</a:t>
              </a:r>
            </a:p>
          </p:txBody>
        </p:sp>
        <p:sp>
          <p:nvSpPr>
            <p:cNvPr name="TextBox 5" id="5"/>
            <p:cNvSpPr txBox="true"/>
            <p:nvPr/>
          </p:nvSpPr>
          <p:spPr>
            <a:xfrm rot="0">
              <a:off x="0" y="3722854"/>
              <a:ext cx="21640800" cy="92921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Enables users to launch resources in minutes and scale instantly to meet demand spikes. This agility accelerates time-to-market, allowing businesses to respond to opportunities faster than competitors.</a:t>
              </a:r>
            </a:p>
          </p:txBody>
        </p:sp>
        <p:sp>
          <p:nvSpPr>
            <p:cNvPr name="TextBox 6" id="6"/>
            <p:cNvSpPr txBox="true"/>
            <p:nvPr/>
          </p:nvSpPr>
          <p:spPr>
            <a:xfrm rot="0">
              <a:off x="0" y="2881057"/>
              <a:ext cx="11280279" cy="632248"/>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Extended ecosystem engagement and cross-service lift</a:t>
              </a:r>
            </a:p>
          </p:txBody>
        </p:sp>
        <p:sp>
          <p:nvSpPr>
            <p:cNvPr name="TextBox 7" id="7"/>
            <p:cNvSpPr txBox="true"/>
            <p:nvPr/>
          </p:nvSpPr>
          <p:spPr>
            <a:xfrm rot="0">
              <a:off x="0" y="6891566"/>
              <a:ext cx="21640800" cy="929217"/>
            </a:xfrm>
            <a:prstGeom prst="rect">
              <a:avLst/>
            </a:prstGeom>
          </p:spPr>
          <p:txBody>
            <a:bodyPr anchor="t" rtlCol="false" tIns="0" lIns="0" bIns="0" rIns="0">
              <a:spAutoFit/>
            </a:bodyPr>
            <a:lstStyle/>
            <a:p>
              <a:pPr algn="l">
                <a:lnSpc>
                  <a:spcPts val="2800"/>
                </a:lnSpc>
              </a:pPr>
              <a:r>
                <a:rPr lang="en-US" sz="2000" spc="-30">
                  <a:solidFill>
                    <a:srgbClr val="FFFFFF"/>
                  </a:solidFill>
                  <a:latin typeface="Helvetica World"/>
                  <a:ea typeface="Helvetica World"/>
                  <a:cs typeface="Helvetica World"/>
                  <a:sym typeface="Helvetica World"/>
                </a:rPr>
                <a:t>Provides 99.99% uptime SLAs and enterprise-grade security, protecting business continuity. With automatic backups and disaster recovery, users can focus on their core business instead of infrastructure management.</a:t>
              </a:r>
            </a:p>
          </p:txBody>
        </p:sp>
        <p:sp>
          <p:nvSpPr>
            <p:cNvPr name="TextBox 8" id="8"/>
            <p:cNvSpPr txBox="true"/>
            <p:nvPr/>
          </p:nvSpPr>
          <p:spPr>
            <a:xfrm rot="0">
              <a:off x="0" y="6049768"/>
              <a:ext cx="9247481" cy="632248"/>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Data-driven personalization across services</a:t>
              </a:r>
            </a:p>
          </p:txBody>
        </p:sp>
        <p:sp>
          <p:nvSpPr>
            <p:cNvPr name="AutoShape 9" id="9"/>
            <p:cNvSpPr/>
            <p:nvPr/>
          </p:nvSpPr>
          <p:spPr>
            <a:xfrm flipH="true" flipV="true">
              <a:off x="0" y="2326035"/>
              <a:ext cx="21640800" cy="0"/>
            </a:xfrm>
            <a:prstGeom prst="line">
              <a:avLst/>
            </a:prstGeom>
            <a:ln cap="rnd" w="25400">
              <a:solidFill>
                <a:srgbClr val="FFFFFF">
                  <a:alpha val="29804"/>
                </a:srgbClr>
              </a:solidFill>
              <a:prstDash val="sysDash"/>
              <a:headEnd type="none" len="sm" w="sm"/>
              <a:tailEnd type="none" len="sm" w="sm"/>
            </a:ln>
          </p:spPr>
        </p:sp>
        <p:sp>
          <p:nvSpPr>
            <p:cNvPr name="AutoShape 10" id="10"/>
            <p:cNvSpPr/>
            <p:nvPr/>
          </p:nvSpPr>
          <p:spPr>
            <a:xfrm flipH="true" flipV="true">
              <a:off x="0" y="5384257"/>
              <a:ext cx="21640800" cy="0"/>
            </a:xfrm>
            <a:prstGeom prst="line">
              <a:avLst/>
            </a:prstGeom>
            <a:ln cap="rnd" w="25400">
              <a:solidFill>
                <a:srgbClr val="FFFFFF">
                  <a:alpha val="29804"/>
                </a:srgbClr>
              </a:solidFill>
              <a:prstDash val="sysDash"/>
              <a:headEnd type="none" len="sm" w="sm"/>
              <a:tailEnd type="none" len="sm" w="sm"/>
            </a:ln>
          </p:spPr>
        </p:sp>
      </p:grpSp>
      <p:grpSp>
        <p:nvGrpSpPr>
          <p:cNvPr name="Group 11" id="11"/>
          <p:cNvGrpSpPr/>
          <p:nvPr/>
        </p:nvGrpSpPr>
        <p:grpSpPr>
          <a:xfrm rot="0">
            <a:off x="1028700" y="727075"/>
            <a:ext cx="16230600" cy="301625"/>
            <a:chOff x="0" y="0"/>
            <a:chExt cx="21640800" cy="402167"/>
          </a:xfrm>
        </p:grpSpPr>
        <p:sp>
          <p:nvSpPr>
            <p:cNvPr name="TextBox 12" id="1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3" id="1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4" id="14"/>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31</a:t>
              </a:r>
            </a:p>
          </p:txBody>
        </p:sp>
      </p:grpSp>
    </p:spTree>
  </p:cSld>
  <p:clrMapOvr>
    <a:masterClrMapping/>
  </p:clrMapOvr>
</p:sld>
</file>

<file path=ppt/slides/slide35.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3441573"/>
            <a:ext cx="8273047" cy="1835784"/>
            <a:chOff x="0" y="0"/>
            <a:chExt cx="11030729" cy="2447712"/>
          </a:xfrm>
        </p:grpSpPr>
        <p:sp>
          <p:nvSpPr>
            <p:cNvPr name="TextBox 3" id="3"/>
            <p:cNvSpPr txBox="true"/>
            <p:nvPr/>
          </p:nvSpPr>
          <p:spPr>
            <a:xfrm rot="0">
              <a:off x="0" y="1891030"/>
              <a:ext cx="4448519" cy="556682"/>
            </a:xfrm>
            <a:prstGeom prst="rect">
              <a:avLst/>
            </a:prstGeom>
          </p:spPr>
          <p:txBody>
            <a:bodyPr anchor="t" rtlCol="false" tIns="0" lIns="0" bIns="0" rIns="0">
              <a:spAutoFit/>
            </a:bodyPr>
            <a:lstStyle/>
            <a:p>
              <a:pPr algn="l">
                <a:lnSpc>
                  <a:spcPts val="3500"/>
                </a:lnSpc>
              </a:pPr>
              <a:r>
                <a:rPr lang="en-US" sz="2500" spc="-25">
                  <a:solidFill>
                    <a:srgbClr val="FFFFFF">
                      <a:alpha val="49804"/>
                    </a:srgbClr>
                  </a:solidFill>
                  <a:latin typeface="Helvetica World"/>
                  <a:ea typeface="Helvetica World"/>
                  <a:cs typeface="Helvetica World"/>
                  <a:sym typeface="Helvetica World"/>
                </a:rPr>
                <a:t>Cloud</a:t>
              </a:r>
            </a:p>
          </p:txBody>
        </p:sp>
        <p:sp>
          <p:nvSpPr>
            <p:cNvPr name="TextBox 4" id="4"/>
            <p:cNvSpPr txBox="true"/>
            <p:nvPr/>
          </p:nvSpPr>
          <p:spPr>
            <a:xfrm rot="0">
              <a:off x="0" y="-190500"/>
              <a:ext cx="11030729" cy="2138680"/>
            </a:xfrm>
            <a:prstGeom prst="rect">
              <a:avLst/>
            </a:prstGeom>
          </p:spPr>
          <p:txBody>
            <a:bodyPr anchor="t" rtlCol="false" tIns="0" lIns="0" bIns="0" rIns="0">
              <a:spAutoFit/>
            </a:bodyPr>
            <a:lstStyle/>
            <a:p>
              <a:pPr algn="l">
                <a:lnSpc>
                  <a:spcPts val="13439"/>
                </a:lnSpc>
              </a:pPr>
              <a:r>
                <a:rPr lang="en-US" sz="9600" spc="-96">
                  <a:solidFill>
                    <a:srgbClr val="FFFFFF">
                      <a:alpha val="49804"/>
                    </a:srgbClr>
                  </a:solidFill>
                  <a:latin typeface="Helvetica World"/>
                  <a:ea typeface="Helvetica World"/>
                  <a:cs typeface="Helvetica World"/>
                  <a:sym typeface="Helvetica World"/>
                </a:rPr>
                <a:t>Provider</a:t>
              </a:r>
            </a:p>
          </p:txBody>
        </p:sp>
      </p:grpSp>
      <p:grpSp>
        <p:nvGrpSpPr>
          <p:cNvPr name="Group 5" id="5"/>
          <p:cNvGrpSpPr/>
          <p:nvPr/>
        </p:nvGrpSpPr>
        <p:grpSpPr>
          <a:xfrm rot="0">
            <a:off x="10803934" y="3066924"/>
            <a:ext cx="6455366" cy="1835784"/>
            <a:chOff x="0" y="0"/>
            <a:chExt cx="8607154" cy="2447712"/>
          </a:xfrm>
        </p:grpSpPr>
        <p:sp>
          <p:nvSpPr>
            <p:cNvPr name="TextBox 6" id="6"/>
            <p:cNvSpPr txBox="true"/>
            <p:nvPr/>
          </p:nvSpPr>
          <p:spPr>
            <a:xfrm rot="0">
              <a:off x="0" y="309032"/>
              <a:ext cx="8607154" cy="2138680"/>
            </a:xfrm>
            <a:prstGeom prst="rect">
              <a:avLst/>
            </a:prstGeom>
          </p:spPr>
          <p:txBody>
            <a:bodyPr anchor="t" rtlCol="false" tIns="0" lIns="0" bIns="0" rIns="0">
              <a:spAutoFit/>
            </a:bodyPr>
            <a:lstStyle/>
            <a:p>
              <a:pPr algn="r">
                <a:lnSpc>
                  <a:spcPts val="13439"/>
                </a:lnSpc>
              </a:pPr>
              <a:r>
                <a:rPr lang="en-US" sz="9600" spc="-96">
                  <a:solidFill>
                    <a:srgbClr val="FFFFFF"/>
                  </a:solidFill>
                  <a:latin typeface="Helvetica World"/>
                  <a:ea typeface="Helvetica World"/>
                  <a:cs typeface="Helvetica World"/>
                  <a:sym typeface="Helvetica World"/>
                </a:rPr>
                <a:t>Builder</a:t>
              </a:r>
            </a:p>
          </p:txBody>
        </p:sp>
        <p:sp>
          <p:nvSpPr>
            <p:cNvPr name="TextBox 7" id="7"/>
            <p:cNvSpPr txBox="true"/>
            <p:nvPr/>
          </p:nvSpPr>
          <p:spPr>
            <a:xfrm rot="0">
              <a:off x="4158635" y="-57150"/>
              <a:ext cx="4448519" cy="556682"/>
            </a:xfrm>
            <a:prstGeom prst="rect">
              <a:avLst/>
            </a:prstGeom>
          </p:spPr>
          <p:txBody>
            <a:bodyPr anchor="t" rtlCol="false" tIns="0" lIns="0" bIns="0" rIns="0">
              <a:spAutoFit/>
            </a:bodyPr>
            <a:lstStyle/>
            <a:p>
              <a:pPr algn="r">
                <a:lnSpc>
                  <a:spcPts val="3500"/>
                </a:lnSpc>
              </a:pPr>
              <a:r>
                <a:rPr lang="en-US" sz="2500" spc="-25">
                  <a:solidFill>
                    <a:srgbClr val="FFFFFF"/>
                  </a:solidFill>
                  <a:latin typeface="Helvetica World"/>
                  <a:ea typeface="Helvetica World"/>
                  <a:cs typeface="Helvetica World"/>
                  <a:sym typeface="Helvetica World"/>
                </a:rPr>
                <a:t>Agent</a:t>
              </a:r>
            </a:p>
          </p:txBody>
        </p:sp>
      </p:grpSp>
      <p:sp>
        <p:nvSpPr>
          <p:cNvPr name="TextBox 8" id="8"/>
          <p:cNvSpPr txBox="true"/>
          <p:nvPr/>
        </p:nvSpPr>
        <p:spPr>
          <a:xfrm rot="0">
            <a:off x="6951158" y="6411595"/>
            <a:ext cx="10308142" cy="2120900"/>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AWS transitions from renting infrastructure to implementing an autonomous workforce. Utilizing AI models, AWS has developed agents such as the Security Agent, DevOps Agent, and Nova Act, which automate 90% of workflows and operate enterprises independently. The pivotal change involves AWS AI Factories deploying these agents directly within customer data centers, allowing for sovereign control. This evolution shifts AWS's offering from “use our cloud” to “we deploy self-operating intelligence within your infrastructure.”</a:t>
            </a:r>
          </a:p>
        </p:txBody>
      </p:sp>
      <p:sp>
        <p:nvSpPr>
          <p:cNvPr name="TextBox 9" id="9"/>
          <p:cNvSpPr txBox="true"/>
          <p:nvPr/>
        </p:nvSpPr>
        <p:spPr>
          <a:xfrm rot="0">
            <a:off x="1028700" y="5542312"/>
            <a:ext cx="10308142"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AWS's 2026-2030 Vision: From Cloud Provider to Agent Builder</a:t>
            </a:r>
          </a:p>
        </p:txBody>
      </p:sp>
      <p:grpSp>
        <p:nvGrpSpPr>
          <p:cNvPr name="Group 10" id="10"/>
          <p:cNvGrpSpPr/>
          <p:nvPr/>
        </p:nvGrpSpPr>
        <p:grpSpPr>
          <a:xfrm rot="0">
            <a:off x="1028700" y="2209016"/>
            <a:ext cx="16230600" cy="457200"/>
            <a:chOff x="0" y="0"/>
            <a:chExt cx="21640800" cy="609600"/>
          </a:xfrm>
        </p:grpSpPr>
        <p:sp>
          <p:nvSpPr>
            <p:cNvPr name="TextBox 11" id="11"/>
            <p:cNvSpPr txBox="true"/>
            <p:nvPr/>
          </p:nvSpPr>
          <p:spPr>
            <a:xfrm rot="0">
              <a:off x="0" y="-66675"/>
              <a:ext cx="6503031" cy="676275"/>
            </a:xfrm>
            <a:prstGeom prst="rect">
              <a:avLst/>
            </a:prstGeom>
          </p:spPr>
          <p:txBody>
            <a:bodyPr anchor="t" rtlCol="false" tIns="0" lIns="0" bIns="0" rIns="0">
              <a:spAutoFit/>
            </a:bodyPr>
            <a:lstStyle/>
            <a:p>
              <a:pPr algn="l">
                <a:lnSpc>
                  <a:spcPts val="4200"/>
                </a:lnSpc>
              </a:pPr>
              <a:r>
                <a:rPr lang="en-US" sz="3000" spc="-30">
                  <a:solidFill>
                    <a:srgbClr val="FFFFFF">
                      <a:alpha val="29804"/>
                    </a:srgbClr>
                  </a:solidFill>
                  <a:latin typeface="Helvetica World"/>
                  <a:ea typeface="Helvetica World"/>
                  <a:cs typeface="Helvetica World"/>
                  <a:sym typeface="Helvetica World"/>
                </a:rPr>
                <a:t>[2026]</a:t>
              </a:r>
            </a:p>
          </p:txBody>
        </p:sp>
        <p:sp>
          <p:nvSpPr>
            <p:cNvPr name="TextBox 12" id="12"/>
            <p:cNvSpPr txBox="true"/>
            <p:nvPr/>
          </p:nvSpPr>
          <p:spPr>
            <a:xfrm rot="0">
              <a:off x="15137769" y="-66675"/>
              <a:ext cx="6503031" cy="676275"/>
            </a:xfrm>
            <a:prstGeom prst="rect">
              <a:avLst/>
            </a:prstGeom>
          </p:spPr>
          <p:txBody>
            <a:bodyPr anchor="t" rtlCol="false" tIns="0" lIns="0" bIns="0" rIns="0">
              <a:spAutoFit/>
            </a:bodyPr>
            <a:lstStyle/>
            <a:p>
              <a:pPr algn="r">
                <a:lnSpc>
                  <a:spcPts val="4200"/>
                </a:lnSpc>
              </a:pPr>
              <a:r>
                <a:rPr lang="en-US" sz="3000" spc="-30">
                  <a:solidFill>
                    <a:srgbClr val="FFFFFF">
                      <a:alpha val="29804"/>
                    </a:srgbClr>
                  </a:solidFill>
                  <a:latin typeface="Helvetica World"/>
                  <a:ea typeface="Helvetica World"/>
                  <a:cs typeface="Helvetica World"/>
                  <a:sym typeface="Helvetica World"/>
                </a:rPr>
                <a:t>[2030]</a:t>
              </a:r>
            </a:p>
          </p:txBody>
        </p:sp>
      </p:grpSp>
      <p:sp>
        <p:nvSpPr>
          <p:cNvPr name="AutoShape 13" id="13"/>
          <p:cNvSpPr/>
          <p:nvPr/>
        </p:nvSpPr>
        <p:spPr>
          <a:xfrm>
            <a:off x="7991681" y="4368990"/>
            <a:ext cx="2304638" cy="0"/>
          </a:xfrm>
          <a:prstGeom prst="line">
            <a:avLst/>
          </a:prstGeom>
          <a:ln cap="flat" w="19050">
            <a:solidFill>
              <a:srgbClr val="FFFFFF"/>
            </a:solidFill>
            <a:prstDash val="sysDash"/>
            <a:headEnd type="none" len="sm" w="sm"/>
            <a:tailEnd type="arrow" len="sm" w="med"/>
          </a:ln>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172802" y="559592"/>
            <a:ext cx="15942395" cy="8809041"/>
          </a:xfrm>
          <a:custGeom>
            <a:avLst/>
            <a:gdLst/>
            <a:ahLst/>
            <a:cxnLst/>
            <a:rect r="r" b="b" t="t" l="l"/>
            <a:pathLst>
              <a:path h="8809041" w="15942395">
                <a:moveTo>
                  <a:pt x="0" y="0"/>
                </a:moveTo>
                <a:lnTo>
                  <a:pt x="15942396" y="0"/>
                </a:lnTo>
                <a:lnTo>
                  <a:pt x="15942396" y="8809041"/>
                </a:lnTo>
                <a:lnTo>
                  <a:pt x="0" y="8809041"/>
                </a:lnTo>
                <a:lnTo>
                  <a:pt x="0" y="0"/>
                </a:lnTo>
                <a:close/>
              </a:path>
            </a:pathLst>
          </a:custGeom>
          <a:blipFill>
            <a:blip r:embed="rId2"/>
            <a:stretch>
              <a:fillRect l="-6390" t="-15112" r="-6390" b="-4035"/>
            </a:stretch>
          </a:blipFill>
        </p:spPr>
      </p:sp>
      <p:sp>
        <p:nvSpPr>
          <p:cNvPr name="Freeform 3" id="3"/>
          <p:cNvSpPr/>
          <p:nvPr/>
        </p:nvSpPr>
        <p:spPr>
          <a:xfrm flipH="false" flipV="false" rot="0">
            <a:off x="15420078" y="1028700"/>
            <a:ext cx="1839222" cy="1158410"/>
          </a:xfrm>
          <a:custGeom>
            <a:avLst/>
            <a:gdLst/>
            <a:ahLst/>
            <a:cxnLst/>
            <a:rect r="r" b="b" t="t" l="l"/>
            <a:pathLst>
              <a:path h="1158410" w="1839222">
                <a:moveTo>
                  <a:pt x="0" y="0"/>
                </a:moveTo>
                <a:lnTo>
                  <a:pt x="1839222" y="0"/>
                </a:lnTo>
                <a:lnTo>
                  <a:pt x="1839222" y="1158410"/>
                </a:lnTo>
                <a:lnTo>
                  <a:pt x="0" y="1158410"/>
                </a:lnTo>
                <a:lnTo>
                  <a:pt x="0" y="0"/>
                </a:lnTo>
                <a:close/>
              </a:path>
            </a:pathLst>
          </a:custGeom>
          <a:blipFill>
            <a:blip r:embed="rId3"/>
            <a:stretch>
              <a:fillRect l="0" t="-34638" r="0" b="-24132"/>
            </a:stretch>
          </a:blipFill>
        </p:spPr>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1028700" y="8956675"/>
            <a:ext cx="16230600" cy="301625"/>
            <a:chOff x="0" y="0"/>
            <a:chExt cx="21640800" cy="402167"/>
          </a:xfrm>
        </p:grpSpPr>
        <p:sp>
          <p:nvSpPr>
            <p:cNvPr name="TextBox 8" id="8"/>
            <p:cNvSpPr txBox="true"/>
            <p:nvPr/>
          </p:nvSpPr>
          <p:spPr>
            <a:xfrm rot="0">
              <a:off x="0" y="-47625"/>
              <a:ext cx="8190247" cy="449792"/>
            </a:xfrm>
            <a:prstGeom prst="rect">
              <a:avLst/>
            </a:prstGeom>
          </p:spPr>
          <p:txBody>
            <a:bodyPr anchor="t" rtlCol="false" tIns="0" lIns="0" bIns="0" rIns="0">
              <a:spAutoFit/>
            </a:bodyPr>
            <a:lstStyle/>
            <a:p>
              <a:pPr algn="l">
                <a:lnSpc>
                  <a:spcPts val="2799"/>
                </a:lnSpc>
              </a:pPr>
              <a:r>
                <a:rPr lang="en-US" sz="1999" spc="-19">
                  <a:solidFill>
                    <a:srgbClr val="FFFFFF"/>
                  </a:solidFill>
                  <a:latin typeface="Helvetica World"/>
                  <a:ea typeface="Helvetica World"/>
                  <a:cs typeface="Helvetica World"/>
                  <a:sym typeface="Helvetica World"/>
                </a:rPr>
                <a:t>Primary Stakeholders - Technological Infrastructure</a:t>
              </a:r>
            </a:p>
          </p:txBody>
        </p:sp>
        <p:sp>
          <p:nvSpPr>
            <p:cNvPr name="TextBox 9" id="9"/>
            <p:cNvSpPr txBox="true"/>
            <p:nvPr/>
          </p:nvSpPr>
          <p:spPr>
            <a:xfrm rot="0">
              <a:off x="13016907" y="0"/>
              <a:ext cx="8623893" cy="402167"/>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 Businesses, Startups, Developers</a:t>
              </a:r>
            </a:p>
          </p:txBody>
        </p:sp>
      </p:grpSp>
      <p:sp>
        <p:nvSpPr>
          <p:cNvPr name="TextBox 10" id="1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11" id="11"/>
          <p:cNvGrpSpPr/>
          <p:nvPr/>
        </p:nvGrpSpPr>
        <p:grpSpPr>
          <a:xfrm rot="0">
            <a:off x="1028700" y="9258300"/>
            <a:ext cx="16230600" cy="301625"/>
            <a:chOff x="0" y="0"/>
            <a:chExt cx="21640800" cy="402167"/>
          </a:xfrm>
        </p:grpSpPr>
        <p:sp>
          <p:nvSpPr>
            <p:cNvPr name="TextBox 12" id="1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3" id="1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33</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182174" y="566634"/>
            <a:ext cx="15923653" cy="9153731"/>
          </a:xfrm>
          <a:custGeom>
            <a:avLst/>
            <a:gdLst/>
            <a:ahLst/>
            <a:cxnLst/>
            <a:rect r="r" b="b" t="t" l="l"/>
            <a:pathLst>
              <a:path h="9153731" w="15923653">
                <a:moveTo>
                  <a:pt x="0" y="0"/>
                </a:moveTo>
                <a:lnTo>
                  <a:pt x="15923652" y="0"/>
                </a:lnTo>
                <a:lnTo>
                  <a:pt x="15923652" y="9153732"/>
                </a:lnTo>
                <a:lnTo>
                  <a:pt x="0" y="9153732"/>
                </a:lnTo>
                <a:lnTo>
                  <a:pt x="0" y="0"/>
                </a:lnTo>
                <a:close/>
              </a:path>
            </a:pathLst>
          </a:custGeom>
          <a:blipFill>
            <a:blip r:embed="rId2"/>
            <a:stretch>
              <a:fillRect l="-6390" t="-14525" r="-6390" b="0"/>
            </a:stretch>
          </a:blipFill>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6" id="6"/>
          <p:cNvGrpSpPr/>
          <p:nvPr/>
        </p:nvGrpSpPr>
        <p:grpSpPr>
          <a:xfrm rot="0">
            <a:off x="1028700" y="8956675"/>
            <a:ext cx="16230600" cy="301625"/>
            <a:chOff x="0" y="0"/>
            <a:chExt cx="21640800" cy="402167"/>
          </a:xfrm>
        </p:grpSpPr>
        <p:sp>
          <p:nvSpPr>
            <p:cNvPr name="TextBox 7" id="7"/>
            <p:cNvSpPr txBox="true"/>
            <p:nvPr/>
          </p:nvSpPr>
          <p:spPr>
            <a:xfrm rot="0">
              <a:off x="0" y="-47625"/>
              <a:ext cx="8190247" cy="449792"/>
            </a:xfrm>
            <a:prstGeom prst="rect">
              <a:avLst/>
            </a:prstGeom>
          </p:spPr>
          <p:txBody>
            <a:bodyPr anchor="t" rtlCol="false" tIns="0" lIns="0" bIns="0" rIns="0">
              <a:spAutoFit/>
            </a:bodyPr>
            <a:lstStyle/>
            <a:p>
              <a:pPr algn="l">
                <a:lnSpc>
                  <a:spcPts val="2799"/>
                </a:lnSpc>
              </a:pPr>
              <a:r>
                <a:rPr lang="en-US" sz="1999" spc="-19">
                  <a:solidFill>
                    <a:srgbClr val="FFFFFF"/>
                  </a:solidFill>
                  <a:latin typeface="Helvetica World"/>
                  <a:ea typeface="Helvetica World"/>
                  <a:cs typeface="Helvetica World"/>
                  <a:sym typeface="Helvetica World"/>
                </a:rPr>
                <a:t>Secondary Stakeholders - Subcategory </a:t>
              </a:r>
            </a:p>
          </p:txBody>
        </p:sp>
        <p:sp>
          <p:nvSpPr>
            <p:cNvPr name="TextBox 8" id="8"/>
            <p:cNvSpPr txBox="true"/>
            <p:nvPr/>
          </p:nvSpPr>
          <p:spPr>
            <a:xfrm rot="0">
              <a:off x="13016907" y="0"/>
              <a:ext cx="8623893" cy="402167"/>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Partners, vendors, and tech integrators</a:t>
              </a:r>
            </a:p>
          </p:txBody>
        </p:sp>
      </p:grpSp>
      <p:sp>
        <p:nvSpPr>
          <p:cNvPr name="TextBox 9" id="9"/>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2" id="12"/>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34</a:t>
              </a:r>
            </a:p>
          </p:txBody>
        </p:sp>
      </p:grpSp>
      <p:sp>
        <p:nvSpPr>
          <p:cNvPr name="Freeform 13" id="13"/>
          <p:cNvSpPr/>
          <p:nvPr/>
        </p:nvSpPr>
        <p:spPr>
          <a:xfrm flipH="false" flipV="false" rot="0">
            <a:off x="15420078" y="1028700"/>
            <a:ext cx="1839222" cy="1158410"/>
          </a:xfrm>
          <a:custGeom>
            <a:avLst/>
            <a:gdLst/>
            <a:ahLst/>
            <a:cxnLst/>
            <a:rect r="r" b="b" t="t" l="l"/>
            <a:pathLst>
              <a:path h="1158410" w="1839222">
                <a:moveTo>
                  <a:pt x="0" y="0"/>
                </a:moveTo>
                <a:lnTo>
                  <a:pt x="1839222" y="0"/>
                </a:lnTo>
                <a:lnTo>
                  <a:pt x="1839222" y="1158410"/>
                </a:lnTo>
                <a:lnTo>
                  <a:pt x="0" y="1158410"/>
                </a:lnTo>
                <a:lnTo>
                  <a:pt x="0" y="0"/>
                </a:lnTo>
                <a:close/>
              </a:path>
            </a:pathLst>
          </a:custGeom>
          <a:blipFill>
            <a:blip r:embed="rId3"/>
            <a:stretch>
              <a:fillRect l="0" t="-34638" r="0" b="-24132"/>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182174" y="566634"/>
            <a:ext cx="15923653" cy="9153731"/>
          </a:xfrm>
          <a:custGeom>
            <a:avLst/>
            <a:gdLst/>
            <a:ahLst/>
            <a:cxnLst/>
            <a:rect r="r" b="b" t="t" l="l"/>
            <a:pathLst>
              <a:path h="9153731" w="15923653">
                <a:moveTo>
                  <a:pt x="0" y="0"/>
                </a:moveTo>
                <a:lnTo>
                  <a:pt x="15923652" y="0"/>
                </a:lnTo>
                <a:lnTo>
                  <a:pt x="15923652" y="9153732"/>
                </a:lnTo>
                <a:lnTo>
                  <a:pt x="0" y="9153732"/>
                </a:lnTo>
                <a:lnTo>
                  <a:pt x="0" y="0"/>
                </a:lnTo>
                <a:close/>
              </a:path>
            </a:pathLst>
          </a:custGeom>
          <a:blipFill>
            <a:blip r:embed="rId2"/>
            <a:stretch>
              <a:fillRect l="-6390" t="-14525" r="-6390" b="0"/>
            </a:stretch>
          </a:blipFill>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6" id="6"/>
          <p:cNvGrpSpPr/>
          <p:nvPr/>
        </p:nvGrpSpPr>
        <p:grpSpPr>
          <a:xfrm rot="0">
            <a:off x="1028700" y="8956675"/>
            <a:ext cx="16230600" cy="301625"/>
            <a:chOff x="0" y="0"/>
            <a:chExt cx="21640800" cy="402167"/>
          </a:xfrm>
        </p:grpSpPr>
        <p:sp>
          <p:nvSpPr>
            <p:cNvPr name="TextBox 7" id="7"/>
            <p:cNvSpPr txBox="true"/>
            <p:nvPr/>
          </p:nvSpPr>
          <p:spPr>
            <a:xfrm rot="0">
              <a:off x="0" y="-47625"/>
              <a:ext cx="8190247" cy="449792"/>
            </a:xfrm>
            <a:prstGeom prst="rect">
              <a:avLst/>
            </a:prstGeom>
          </p:spPr>
          <p:txBody>
            <a:bodyPr anchor="t" rtlCol="false" tIns="0" lIns="0" bIns="0" rIns="0">
              <a:spAutoFit/>
            </a:bodyPr>
            <a:lstStyle/>
            <a:p>
              <a:pPr algn="l">
                <a:lnSpc>
                  <a:spcPts val="2799"/>
                </a:lnSpc>
              </a:pPr>
              <a:r>
                <a:rPr lang="en-US" sz="1999" spc="-19">
                  <a:solidFill>
                    <a:srgbClr val="FFFFFF"/>
                  </a:solidFill>
                  <a:latin typeface="Helvetica World"/>
                  <a:ea typeface="Helvetica World"/>
                  <a:cs typeface="Helvetica World"/>
                  <a:sym typeface="Helvetica World"/>
                </a:rPr>
                <a:t>Tertiary Stakeholders - Peripheral Stakeholders</a:t>
              </a:r>
            </a:p>
          </p:txBody>
        </p:sp>
        <p:sp>
          <p:nvSpPr>
            <p:cNvPr name="TextBox 8" id="8"/>
            <p:cNvSpPr txBox="true"/>
            <p:nvPr/>
          </p:nvSpPr>
          <p:spPr>
            <a:xfrm rot="0">
              <a:off x="12575957" y="0"/>
              <a:ext cx="9064843" cy="402167"/>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Public sector, educational institutions, and non-profits</a:t>
              </a:r>
            </a:p>
          </p:txBody>
        </p:sp>
      </p:grpSp>
      <p:sp>
        <p:nvSpPr>
          <p:cNvPr name="TextBox 9" id="9"/>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2" id="12"/>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35</a:t>
              </a:r>
            </a:p>
          </p:txBody>
        </p:sp>
      </p:grpSp>
      <p:sp>
        <p:nvSpPr>
          <p:cNvPr name="Freeform 13" id="13"/>
          <p:cNvSpPr/>
          <p:nvPr/>
        </p:nvSpPr>
        <p:spPr>
          <a:xfrm flipH="false" flipV="false" rot="0">
            <a:off x="15420078" y="1028700"/>
            <a:ext cx="1839222" cy="1158410"/>
          </a:xfrm>
          <a:custGeom>
            <a:avLst/>
            <a:gdLst/>
            <a:ahLst/>
            <a:cxnLst/>
            <a:rect r="r" b="b" t="t" l="l"/>
            <a:pathLst>
              <a:path h="1158410" w="1839222">
                <a:moveTo>
                  <a:pt x="0" y="0"/>
                </a:moveTo>
                <a:lnTo>
                  <a:pt x="1839222" y="0"/>
                </a:lnTo>
                <a:lnTo>
                  <a:pt x="1839222" y="1158410"/>
                </a:lnTo>
                <a:lnTo>
                  <a:pt x="0" y="1158410"/>
                </a:lnTo>
                <a:lnTo>
                  <a:pt x="0" y="0"/>
                </a:lnTo>
                <a:close/>
              </a:path>
            </a:pathLst>
          </a:custGeom>
          <a:blipFill>
            <a:blip r:embed="rId3"/>
            <a:stretch>
              <a:fillRect l="0" t="-34638" r="0" b="-24132"/>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5531257" y="2423509"/>
            <a:ext cx="7225486" cy="5439983"/>
          </a:xfrm>
          <a:custGeom>
            <a:avLst/>
            <a:gdLst/>
            <a:ahLst/>
            <a:cxnLst/>
            <a:rect r="r" b="b" t="t" l="l"/>
            <a:pathLst>
              <a:path h="5439983" w="7225486">
                <a:moveTo>
                  <a:pt x="0" y="0"/>
                </a:moveTo>
                <a:lnTo>
                  <a:pt x="7225486" y="0"/>
                </a:lnTo>
                <a:lnTo>
                  <a:pt x="7225486" y="5439982"/>
                </a:lnTo>
                <a:lnTo>
                  <a:pt x="0" y="5439982"/>
                </a:lnTo>
                <a:lnTo>
                  <a:pt x="0" y="0"/>
                </a:lnTo>
                <a:close/>
              </a:path>
            </a:pathLst>
          </a:custGeom>
          <a:blipFill>
            <a:blip r:embed="rId2"/>
            <a:stretch>
              <a:fillRect l="0" t="-16410" r="0" b="-16410"/>
            </a:stretch>
          </a:blipFill>
        </p:spPr>
      </p:sp>
      <p:grpSp>
        <p:nvGrpSpPr>
          <p:cNvPr name="Group 3" id="3"/>
          <p:cNvGrpSpPr/>
          <p:nvPr/>
        </p:nvGrpSpPr>
        <p:grpSpPr>
          <a:xfrm rot="0">
            <a:off x="2017885" y="4609316"/>
            <a:ext cx="15241415" cy="1524000"/>
            <a:chOff x="0" y="0"/>
            <a:chExt cx="20321887" cy="2032000"/>
          </a:xfrm>
        </p:grpSpPr>
        <p:sp>
          <p:nvSpPr>
            <p:cNvPr name="TextBox 4" id="4"/>
            <p:cNvSpPr txBox="true"/>
            <p:nvPr/>
          </p:nvSpPr>
          <p:spPr>
            <a:xfrm rot="0">
              <a:off x="10998012" y="-19050"/>
              <a:ext cx="9323874" cy="2051050"/>
            </a:xfrm>
            <a:prstGeom prst="rect">
              <a:avLst/>
            </a:prstGeom>
          </p:spPr>
          <p:txBody>
            <a:bodyPr anchor="t" rtlCol="false" tIns="0" lIns="0" bIns="0" rIns="0">
              <a:spAutoFit/>
            </a:bodyPr>
            <a:lstStyle/>
            <a:p>
              <a:pPr algn="l">
                <a:lnSpc>
                  <a:spcPts val="2400"/>
                </a:lnSpc>
              </a:pPr>
              <a:r>
                <a:rPr lang="en-US" sz="2000" spc="-30">
                  <a:solidFill>
                    <a:srgbClr val="FFFFFF">
                      <a:alpha val="49804"/>
                    </a:srgbClr>
                  </a:solidFill>
                  <a:latin typeface="Helvetica World"/>
                  <a:ea typeface="Helvetica World"/>
                  <a:cs typeface="Helvetica World"/>
                  <a:sym typeface="Helvetica World"/>
                </a:rPr>
                <a:t>Primary - Businesses of all sizes, from startups to large enterprises (including Fortune 500 companies)</a:t>
              </a:r>
            </a:p>
            <a:p>
              <a:pPr algn="l">
                <a:lnSpc>
                  <a:spcPts val="2400"/>
                </a:lnSpc>
              </a:pPr>
            </a:p>
            <a:p>
              <a:pPr algn="l">
                <a:lnSpc>
                  <a:spcPts val="2400"/>
                </a:lnSpc>
              </a:pPr>
              <a:r>
                <a:rPr lang="en-US" sz="2000" spc="-30">
                  <a:solidFill>
                    <a:srgbClr val="FFFFFF">
                      <a:alpha val="49804"/>
                    </a:srgbClr>
                  </a:solidFill>
                  <a:latin typeface="Helvetica World"/>
                  <a:ea typeface="Helvetica World"/>
                  <a:cs typeface="Helvetica World"/>
                  <a:sym typeface="Helvetica World"/>
                </a:rPr>
                <a:t>Secondary - Global partners and technology integrators that rely on AWS infrastructure</a:t>
              </a:r>
            </a:p>
          </p:txBody>
        </p:sp>
        <p:sp>
          <p:nvSpPr>
            <p:cNvPr name="TextBox 5" id="5"/>
            <p:cNvSpPr txBox="true"/>
            <p:nvPr/>
          </p:nvSpPr>
          <p:spPr>
            <a:xfrm rot="0">
              <a:off x="0" y="273050"/>
              <a:ext cx="8607154" cy="13525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Market Segments</a:t>
              </a:r>
            </a:p>
          </p:txBody>
        </p:sp>
        <p:sp>
          <p:nvSpPr>
            <p:cNvPr name="AutoShape 6" id="6"/>
            <p:cNvSpPr/>
            <p:nvPr/>
          </p:nvSpPr>
          <p:spPr>
            <a:xfrm>
              <a:off x="9501487" y="234635"/>
              <a:ext cx="0" cy="1562730"/>
            </a:xfrm>
            <a:prstGeom prst="line">
              <a:avLst/>
            </a:prstGeom>
            <a:ln cap="rnd" w="25400">
              <a:solidFill>
                <a:srgbClr val="FFFFFF">
                  <a:alpha val="29804"/>
                </a:srgbClr>
              </a:solidFill>
              <a:prstDash val="sysDash"/>
              <a:headEnd type="none" len="sm" w="sm"/>
              <a:tailEnd type="none" len="sm" w="sm"/>
            </a:ln>
          </p:spPr>
        </p:sp>
      </p:grpSp>
      <p:grpSp>
        <p:nvGrpSpPr>
          <p:cNvPr name="Group 7" id="7"/>
          <p:cNvGrpSpPr/>
          <p:nvPr/>
        </p:nvGrpSpPr>
        <p:grpSpPr>
          <a:xfrm rot="0">
            <a:off x="2017885" y="2209016"/>
            <a:ext cx="15241415" cy="1524000"/>
            <a:chOff x="0" y="0"/>
            <a:chExt cx="20321887" cy="2032000"/>
          </a:xfrm>
        </p:grpSpPr>
        <p:sp>
          <p:nvSpPr>
            <p:cNvPr name="TextBox 8" id="8"/>
            <p:cNvSpPr txBox="true"/>
            <p:nvPr/>
          </p:nvSpPr>
          <p:spPr>
            <a:xfrm rot="0">
              <a:off x="10998012" y="-19050"/>
              <a:ext cx="9323874" cy="2051050"/>
            </a:xfrm>
            <a:prstGeom prst="rect">
              <a:avLst/>
            </a:prstGeom>
          </p:spPr>
          <p:txBody>
            <a:bodyPr anchor="t" rtlCol="false" tIns="0" lIns="0" bIns="0" rIns="0">
              <a:spAutoFit/>
            </a:bodyPr>
            <a:lstStyle/>
            <a:p>
              <a:pPr algn="l">
                <a:lnSpc>
                  <a:spcPts val="2400"/>
                </a:lnSpc>
              </a:pPr>
              <a:r>
                <a:rPr lang="en-US" sz="2000" spc="-30">
                  <a:solidFill>
                    <a:srgbClr val="FFFFFF">
                      <a:alpha val="49804"/>
                    </a:srgbClr>
                  </a:solidFill>
                  <a:latin typeface="Helvetica World"/>
                  <a:ea typeface="Helvetica World"/>
                  <a:cs typeface="Helvetica World"/>
                  <a:sym typeface="Helvetica World"/>
                </a:rPr>
                <a:t>Provides reliable and scalable cloud infrastructure, enabling businesses to </a:t>
              </a:r>
              <a:r>
                <a:rPr lang="en-US" sz="2000" spc="-30">
                  <a:solidFill>
                    <a:srgbClr val="FFFFFF">
                      <a:alpha val="49804"/>
                    </a:srgbClr>
                  </a:solidFill>
                  <a:latin typeface="Helvetica World"/>
                  <a:ea typeface="Helvetica World"/>
                  <a:cs typeface="Helvetica World"/>
                  <a:sym typeface="Helvetica World"/>
                </a:rPr>
                <a:t>deploy and operate services quickly</a:t>
              </a:r>
            </a:p>
            <a:p>
              <a:pPr algn="l">
                <a:lnSpc>
                  <a:spcPts val="2400"/>
                </a:lnSpc>
              </a:pPr>
            </a:p>
            <a:p>
              <a:pPr algn="l">
                <a:lnSpc>
                  <a:spcPts val="2400"/>
                </a:lnSpc>
              </a:pPr>
              <a:r>
                <a:rPr lang="en-US" sz="2000" spc="-30">
                  <a:solidFill>
                    <a:srgbClr val="FFFFFF">
                      <a:alpha val="49804"/>
                    </a:srgbClr>
                  </a:solidFill>
                  <a:latin typeface="Helvetica World"/>
                  <a:ea typeface="Helvetica World"/>
                  <a:cs typeface="Helvetica World"/>
                  <a:sym typeface="Helvetica World"/>
                </a:rPr>
                <a:t>Offers integrated AI, analytics, security, and networking services to accelerate digital innovation</a:t>
              </a:r>
            </a:p>
          </p:txBody>
        </p:sp>
        <p:sp>
          <p:nvSpPr>
            <p:cNvPr name="TextBox 9" id="9"/>
            <p:cNvSpPr txBox="true"/>
            <p:nvPr/>
          </p:nvSpPr>
          <p:spPr>
            <a:xfrm rot="0">
              <a:off x="0" y="273050"/>
              <a:ext cx="8607154" cy="13525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Value Proposition</a:t>
              </a:r>
            </a:p>
          </p:txBody>
        </p:sp>
        <p:sp>
          <p:nvSpPr>
            <p:cNvPr name="AutoShape 10" id="10"/>
            <p:cNvSpPr/>
            <p:nvPr/>
          </p:nvSpPr>
          <p:spPr>
            <a:xfrm>
              <a:off x="9488787" y="234635"/>
              <a:ext cx="0" cy="1562730"/>
            </a:xfrm>
            <a:prstGeom prst="line">
              <a:avLst/>
            </a:prstGeom>
            <a:ln cap="rnd" w="25400">
              <a:solidFill>
                <a:srgbClr val="FFFFFF">
                  <a:alpha val="29804"/>
                </a:srgbClr>
              </a:solidFill>
              <a:prstDash val="sysDash"/>
              <a:headEnd type="none" len="sm" w="sm"/>
              <a:tailEnd type="none" len="sm" w="sm"/>
            </a:ln>
          </p:spPr>
        </p:sp>
      </p:grpSp>
      <p:grpSp>
        <p:nvGrpSpPr>
          <p:cNvPr name="Group 11" id="11"/>
          <p:cNvGrpSpPr/>
          <p:nvPr/>
        </p:nvGrpSpPr>
        <p:grpSpPr>
          <a:xfrm rot="0">
            <a:off x="2017885" y="7008495"/>
            <a:ext cx="15241415" cy="1524000"/>
            <a:chOff x="0" y="0"/>
            <a:chExt cx="20321887" cy="2032000"/>
          </a:xfrm>
        </p:grpSpPr>
        <p:sp>
          <p:nvSpPr>
            <p:cNvPr name="TextBox 12" id="12"/>
            <p:cNvSpPr txBox="true"/>
            <p:nvPr/>
          </p:nvSpPr>
          <p:spPr>
            <a:xfrm rot="0">
              <a:off x="10998012" y="-19050"/>
              <a:ext cx="9323874" cy="2051050"/>
            </a:xfrm>
            <a:prstGeom prst="rect">
              <a:avLst/>
            </a:prstGeom>
          </p:spPr>
          <p:txBody>
            <a:bodyPr anchor="t" rtlCol="false" tIns="0" lIns="0" bIns="0" rIns="0">
              <a:spAutoFit/>
            </a:bodyPr>
            <a:lstStyle/>
            <a:p>
              <a:pPr algn="l">
                <a:lnSpc>
                  <a:spcPts val="2400"/>
                </a:lnSpc>
              </a:pPr>
              <a:r>
                <a:rPr lang="en-US" sz="2000" spc="-30">
                  <a:solidFill>
                    <a:srgbClr val="FFFFFF">
                      <a:alpha val="49804"/>
                    </a:srgbClr>
                  </a:solidFill>
                  <a:latin typeface="Helvetica World"/>
                  <a:ea typeface="Helvetica World"/>
                  <a:cs typeface="Helvetica World"/>
                  <a:sym typeface="Helvetica World"/>
                </a:rPr>
                <a:t>Operating cloud infrastructure, managing ser</a:t>
              </a:r>
              <a:r>
                <a:rPr lang="en-US" sz="2000" spc="-30">
                  <a:solidFill>
                    <a:srgbClr val="FFFFFF">
                      <a:alpha val="49804"/>
                    </a:srgbClr>
                  </a:solidFill>
                  <a:latin typeface="Helvetica World"/>
                  <a:ea typeface="Helvetica World"/>
                  <a:cs typeface="Helvetica World"/>
                  <a:sym typeface="Helvetica World"/>
                </a:rPr>
                <a:t>vers and data centers, and maintaining a global network</a:t>
              </a:r>
            </a:p>
            <a:p>
              <a:pPr algn="l">
                <a:lnSpc>
                  <a:spcPts val="2400"/>
                </a:lnSpc>
              </a:pPr>
            </a:p>
            <a:p>
              <a:pPr algn="l">
                <a:lnSpc>
                  <a:spcPts val="2400"/>
                </a:lnSpc>
              </a:pPr>
              <a:r>
                <a:rPr lang="en-US" sz="2000" spc="-30">
                  <a:solidFill>
                    <a:srgbClr val="FFFFFF">
                      <a:alpha val="49804"/>
                    </a:srgbClr>
                  </a:solidFill>
                  <a:latin typeface="Helvetica World"/>
                  <a:ea typeface="Helvetica World"/>
                  <a:cs typeface="Helvetica World"/>
                  <a:sym typeface="Helvetica World"/>
                </a:rPr>
                <a:t>Developing new services, supporting customers, and expanding SaaS/AI platforms through partnerships</a:t>
              </a:r>
            </a:p>
          </p:txBody>
        </p:sp>
        <p:sp>
          <p:nvSpPr>
            <p:cNvPr name="TextBox 13" id="13"/>
            <p:cNvSpPr txBox="true"/>
            <p:nvPr/>
          </p:nvSpPr>
          <p:spPr>
            <a:xfrm rot="0">
              <a:off x="0" y="273050"/>
              <a:ext cx="8607154" cy="13525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Key Activities</a:t>
              </a:r>
            </a:p>
          </p:txBody>
        </p:sp>
        <p:sp>
          <p:nvSpPr>
            <p:cNvPr name="AutoShape 14" id="14"/>
            <p:cNvSpPr/>
            <p:nvPr/>
          </p:nvSpPr>
          <p:spPr>
            <a:xfrm>
              <a:off x="9514187" y="234635"/>
              <a:ext cx="0" cy="1562730"/>
            </a:xfrm>
            <a:prstGeom prst="line">
              <a:avLst/>
            </a:prstGeom>
            <a:ln cap="rnd" w="25400">
              <a:solidFill>
                <a:srgbClr val="FFFFFF">
                  <a:alpha val="29804"/>
                </a:srgbClr>
              </a:solidFill>
              <a:prstDash val="sysDash"/>
              <a:headEnd type="none" len="sm" w="sm"/>
              <a:tailEnd type="none" len="sm" w="sm"/>
            </a:ln>
          </p:spPr>
        </p:sp>
      </p:grpSp>
      <p:sp>
        <p:nvSpPr>
          <p:cNvPr name="TextBox 15" id="15"/>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Business Model</a:t>
            </a:r>
          </a:p>
        </p:txBody>
      </p:sp>
      <p:grpSp>
        <p:nvGrpSpPr>
          <p:cNvPr name="Group 16" id="16"/>
          <p:cNvGrpSpPr/>
          <p:nvPr/>
        </p:nvGrpSpPr>
        <p:grpSpPr>
          <a:xfrm rot="0">
            <a:off x="1028700" y="727075"/>
            <a:ext cx="16230600" cy="301625"/>
            <a:chOff x="0" y="0"/>
            <a:chExt cx="21640800" cy="402167"/>
          </a:xfrm>
        </p:grpSpPr>
        <p:sp>
          <p:nvSpPr>
            <p:cNvPr name="TextBox 17" id="17"/>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8" id="18"/>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19" id="19"/>
          <p:cNvGrpSpPr/>
          <p:nvPr/>
        </p:nvGrpSpPr>
        <p:grpSpPr>
          <a:xfrm rot="0">
            <a:off x="1028700" y="9258300"/>
            <a:ext cx="16230600" cy="301625"/>
            <a:chOff x="0" y="0"/>
            <a:chExt cx="21640800" cy="402167"/>
          </a:xfrm>
        </p:grpSpPr>
        <p:sp>
          <p:nvSpPr>
            <p:cNvPr name="TextBox 20" id="20"/>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21" id="21"/>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36</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3072335" y="1312396"/>
            <a:ext cx="264092" cy="26409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D6D6"/>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2956364" y="727075"/>
            <a:ext cx="12375271" cy="8832850"/>
          </a:xfrm>
          <a:custGeom>
            <a:avLst/>
            <a:gdLst/>
            <a:ahLst/>
            <a:cxnLst/>
            <a:rect r="r" b="b" t="t" l="l"/>
            <a:pathLst>
              <a:path h="8832850" w="12375271">
                <a:moveTo>
                  <a:pt x="0" y="0"/>
                </a:moveTo>
                <a:lnTo>
                  <a:pt x="12375272" y="0"/>
                </a:lnTo>
                <a:lnTo>
                  <a:pt x="12375272" y="8832850"/>
                </a:lnTo>
                <a:lnTo>
                  <a:pt x="0" y="8832850"/>
                </a:lnTo>
                <a:lnTo>
                  <a:pt x="0" y="0"/>
                </a:lnTo>
                <a:close/>
              </a:path>
            </a:pathLst>
          </a:custGeom>
          <a:blipFill>
            <a:blip r:embed="rId2"/>
            <a:stretch>
              <a:fillRect l="0" t="0" r="0" b="0"/>
            </a:stretch>
          </a:blipFill>
        </p:spPr>
      </p:sp>
      <p:sp>
        <p:nvSpPr>
          <p:cNvPr name="AutoShape 6" id="6"/>
          <p:cNvSpPr/>
          <p:nvPr/>
        </p:nvSpPr>
        <p:spPr>
          <a:xfrm>
            <a:off x="13293449" y="1541928"/>
            <a:ext cx="1368328" cy="1497655"/>
          </a:xfrm>
          <a:prstGeom prst="line">
            <a:avLst/>
          </a:prstGeom>
          <a:ln cap="rnd" w="19050">
            <a:solidFill>
              <a:srgbClr val="FFFFFF">
                <a:alpha val="29804"/>
              </a:srgbClr>
            </a:solidFill>
            <a:prstDash val="sysDash"/>
            <a:headEnd type="none" len="sm" w="sm"/>
            <a:tailEnd type="none" len="sm" w="sm"/>
          </a:ln>
        </p:spPr>
      </p:sp>
      <p:sp>
        <p:nvSpPr>
          <p:cNvPr name="Freeform 7" id="7"/>
          <p:cNvSpPr/>
          <p:nvPr/>
        </p:nvSpPr>
        <p:spPr>
          <a:xfrm flipH="false" flipV="false" rot="0">
            <a:off x="13964555" y="3039582"/>
            <a:ext cx="1394445" cy="878273"/>
          </a:xfrm>
          <a:custGeom>
            <a:avLst/>
            <a:gdLst/>
            <a:ahLst/>
            <a:cxnLst/>
            <a:rect r="r" b="b" t="t" l="l"/>
            <a:pathLst>
              <a:path h="878273" w="1394445">
                <a:moveTo>
                  <a:pt x="0" y="0"/>
                </a:moveTo>
                <a:lnTo>
                  <a:pt x="1394444" y="0"/>
                </a:lnTo>
                <a:lnTo>
                  <a:pt x="1394444" y="878273"/>
                </a:lnTo>
                <a:lnTo>
                  <a:pt x="0" y="878273"/>
                </a:lnTo>
                <a:lnTo>
                  <a:pt x="0" y="0"/>
                </a:lnTo>
                <a:close/>
              </a:path>
            </a:pathLst>
          </a:custGeom>
          <a:blipFill>
            <a:blip r:embed="rId3"/>
            <a:stretch>
              <a:fillRect l="0" t="-34638" r="0" b="-24132"/>
            </a:stretch>
          </a:blipFill>
        </p:spPr>
      </p:sp>
      <p:grpSp>
        <p:nvGrpSpPr>
          <p:cNvPr name="Group 8" id="8"/>
          <p:cNvGrpSpPr/>
          <p:nvPr/>
        </p:nvGrpSpPr>
        <p:grpSpPr>
          <a:xfrm rot="0">
            <a:off x="12792652" y="1032713"/>
            <a:ext cx="823459" cy="82345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lgDash"/>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1028700" y="7773186"/>
            <a:ext cx="6564439" cy="1238250"/>
          </a:xfrm>
          <a:prstGeom prst="rect">
            <a:avLst/>
          </a:prstGeom>
        </p:spPr>
        <p:txBody>
          <a:bodyPr anchor="t" rtlCol="false" tIns="0" lIns="0" bIns="0" rIns="0">
            <a:spAutoFit/>
          </a:bodyPr>
          <a:lstStyle/>
          <a:p>
            <a:pPr algn="l">
              <a:lnSpc>
                <a:spcPts val="2400"/>
              </a:lnSpc>
            </a:pPr>
            <a:r>
              <a:rPr lang="en-US" sz="2000" spc="-20">
                <a:solidFill>
                  <a:srgbClr val="FFFFFF">
                    <a:alpha val="49804"/>
                  </a:srgbClr>
                </a:solidFill>
                <a:latin typeface="Helvetica World"/>
                <a:ea typeface="Helvetica World"/>
                <a:cs typeface="Helvetica World"/>
                <a:sym typeface="Helvetica World"/>
              </a:rPr>
              <a:t>AWS has stably built its ecosystem based on an existing foundry, and compared to others in the industry, it possesses relatively fast adaptability while simultaneously maintaining ecosystem maturity.</a:t>
            </a:r>
          </a:p>
        </p:txBody>
      </p:sp>
      <p:grpSp>
        <p:nvGrpSpPr>
          <p:cNvPr name="Group 12" id="12"/>
          <p:cNvGrpSpPr/>
          <p:nvPr/>
        </p:nvGrpSpPr>
        <p:grpSpPr>
          <a:xfrm rot="0">
            <a:off x="1028700" y="727075"/>
            <a:ext cx="16230600" cy="301625"/>
            <a:chOff x="0" y="0"/>
            <a:chExt cx="21640800" cy="402167"/>
          </a:xfrm>
        </p:grpSpPr>
        <p:sp>
          <p:nvSpPr>
            <p:cNvPr name="TextBox 13" id="1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4" id="1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5" id="15"/>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Market Positioning</a:t>
            </a:r>
          </a:p>
        </p:txBody>
      </p:sp>
      <p:grpSp>
        <p:nvGrpSpPr>
          <p:cNvPr name="Group 16" id="16"/>
          <p:cNvGrpSpPr/>
          <p:nvPr/>
        </p:nvGrpSpPr>
        <p:grpSpPr>
          <a:xfrm rot="0">
            <a:off x="1028700" y="9258300"/>
            <a:ext cx="16230600" cy="301625"/>
            <a:chOff x="0" y="0"/>
            <a:chExt cx="21640800" cy="402167"/>
          </a:xfrm>
        </p:grpSpPr>
        <p:sp>
          <p:nvSpPr>
            <p:cNvPr name="TextBox 17" id="17"/>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8" id="18"/>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37</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3072335" y="1312396"/>
            <a:ext cx="264092" cy="26409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D6D6"/>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2956364" y="727075"/>
            <a:ext cx="12375271" cy="8832850"/>
          </a:xfrm>
          <a:custGeom>
            <a:avLst/>
            <a:gdLst/>
            <a:ahLst/>
            <a:cxnLst/>
            <a:rect r="r" b="b" t="t" l="l"/>
            <a:pathLst>
              <a:path h="8832850" w="12375271">
                <a:moveTo>
                  <a:pt x="0" y="0"/>
                </a:moveTo>
                <a:lnTo>
                  <a:pt x="12375272" y="0"/>
                </a:lnTo>
                <a:lnTo>
                  <a:pt x="12375272" y="8832850"/>
                </a:lnTo>
                <a:lnTo>
                  <a:pt x="0" y="8832850"/>
                </a:lnTo>
                <a:lnTo>
                  <a:pt x="0" y="0"/>
                </a:lnTo>
                <a:close/>
              </a:path>
            </a:pathLst>
          </a:custGeom>
          <a:blipFill>
            <a:blip r:embed="rId2"/>
            <a:stretch>
              <a:fillRect l="0" t="0" r="0" b="0"/>
            </a:stretch>
          </a:blipFill>
        </p:spPr>
      </p:sp>
      <p:sp>
        <p:nvSpPr>
          <p:cNvPr name="AutoShape 6" id="6"/>
          <p:cNvSpPr/>
          <p:nvPr/>
        </p:nvSpPr>
        <p:spPr>
          <a:xfrm>
            <a:off x="13293449" y="1541928"/>
            <a:ext cx="1368328" cy="1497655"/>
          </a:xfrm>
          <a:prstGeom prst="line">
            <a:avLst/>
          </a:prstGeom>
          <a:ln cap="rnd" w="19050">
            <a:solidFill>
              <a:srgbClr val="FFFFFF">
                <a:alpha val="29804"/>
              </a:srgbClr>
            </a:solidFill>
            <a:prstDash val="sysDash"/>
            <a:headEnd type="none" len="sm" w="sm"/>
            <a:tailEnd type="none" len="sm" w="sm"/>
          </a:ln>
        </p:spPr>
      </p:sp>
      <p:sp>
        <p:nvSpPr>
          <p:cNvPr name="Freeform 7" id="7"/>
          <p:cNvSpPr/>
          <p:nvPr/>
        </p:nvSpPr>
        <p:spPr>
          <a:xfrm flipH="false" flipV="false" rot="0">
            <a:off x="13964555" y="3039582"/>
            <a:ext cx="1394445" cy="878273"/>
          </a:xfrm>
          <a:custGeom>
            <a:avLst/>
            <a:gdLst/>
            <a:ahLst/>
            <a:cxnLst/>
            <a:rect r="r" b="b" t="t" l="l"/>
            <a:pathLst>
              <a:path h="878273" w="1394445">
                <a:moveTo>
                  <a:pt x="0" y="0"/>
                </a:moveTo>
                <a:lnTo>
                  <a:pt x="1394444" y="0"/>
                </a:lnTo>
                <a:lnTo>
                  <a:pt x="1394444" y="878273"/>
                </a:lnTo>
                <a:lnTo>
                  <a:pt x="0" y="878273"/>
                </a:lnTo>
                <a:lnTo>
                  <a:pt x="0" y="0"/>
                </a:lnTo>
                <a:close/>
              </a:path>
            </a:pathLst>
          </a:custGeom>
          <a:blipFill>
            <a:blip r:embed="rId3"/>
            <a:stretch>
              <a:fillRect l="0" t="-34638" r="0" b="-24132"/>
            </a:stretch>
          </a:blipFill>
        </p:spPr>
      </p:sp>
      <p:grpSp>
        <p:nvGrpSpPr>
          <p:cNvPr name="Group 8" id="8"/>
          <p:cNvGrpSpPr/>
          <p:nvPr/>
        </p:nvGrpSpPr>
        <p:grpSpPr>
          <a:xfrm rot="0">
            <a:off x="12792652" y="1032713"/>
            <a:ext cx="823459" cy="82345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lgDash"/>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9142699" y="4502215"/>
            <a:ext cx="0" cy="4030280"/>
          </a:xfrm>
          <a:prstGeom prst="line">
            <a:avLst/>
          </a:prstGeom>
          <a:ln cap="rnd" w="19050">
            <a:solidFill>
              <a:srgbClr val="FFFFFF">
                <a:alpha val="29804"/>
              </a:srgbClr>
            </a:solidFill>
            <a:prstDash val="sysDash"/>
            <a:headEnd type="none" len="sm" w="sm"/>
            <a:tailEnd type="none" len="sm" w="sm"/>
          </a:ln>
        </p:spPr>
      </p:sp>
      <p:sp>
        <p:nvSpPr>
          <p:cNvPr name="TextBox 3" id="3"/>
          <p:cNvSpPr txBox="true"/>
          <p:nvPr/>
        </p:nvSpPr>
        <p:spPr>
          <a:xfrm rot="0">
            <a:off x="11060678" y="59767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Data center operations</a:t>
            </a:r>
          </a:p>
        </p:txBody>
      </p:sp>
      <p:sp>
        <p:nvSpPr>
          <p:cNvPr name="TextBox 4" id="4"/>
          <p:cNvSpPr txBox="true"/>
          <p:nvPr/>
        </p:nvSpPr>
        <p:spPr>
          <a:xfrm rot="0">
            <a:off x="1032835" y="5976768"/>
            <a:ext cx="8109863"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Pay-as-you-go cloud services</a:t>
            </a:r>
          </a:p>
        </p:txBody>
      </p:sp>
      <p:sp>
        <p:nvSpPr>
          <p:cNvPr name="TextBox 5" id="5"/>
          <p:cNvSpPr txBox="true"/>
          <p:nvPr/>
        </p:nvSpPr>
        <p:spPr>
          <a:xfrm rot="0">
            <a:off x="11060678" y="67006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R&amp;D for new services</a:t>
            </a:r>
          </a:p>
        </p:txBody>
      </p:sp>
      <p:sp>
        <p:nvSpPr>
          <p:cNvPr name="TextBox 6" id="6"/>
          <p:cNvSpPr txBox="true"/>
          <p:nvPr/>
        </p:nvSpPr>
        <p:spPr>
          <a:xfrm rot="0">
            <a:off x="1032835" y="6700668"/>
            <a:ext cx="6198622"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Subscriptions for managed services &amp; AI</a:t>
            </a:r>
          </a:p>
        </p:txBody>
      </p:sp>
      <p:sp>
        <p:nvSpPr>
          <p:cNvPr name="TextBox 7" id="7"/>
          <p:cNvSpPr txBox="true"/>
          <p:nvPr/>
        </p:nvSpPr>
        <p:spPr>
          <a:xfrm rot="0">
            <a:off x="11060678" y="74245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Energy, security, network expenses</a:t>
            </a:r>
          </a:p>
        </p:txBody>
      </p:sp>
      <p:sp>
        <p:nvSpPr>
          <p:cNvPr name="TextBox 8" id="8"/>
          <p:cNvSpPr txBox="true"/>
          <p:nvPr/>
        </p:nvSpPr>
        <p:spPr>
          <a:xfrm rot="0">
            <a:off x="1032835" y="7424568"/>
            <a:ext cx="6198622"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Enterprise contracts &amp; reserved instances</a:t>
            </a:r>
          </a:p>
        </p:txBody>
      </p:sp>
      <p:sp>
        <p:nvSpPr>
          <p:cNvPr name="TextBox 9" id="9"/>
          <p:cNvSpPr txBox="true"/>
          <p:nvPr/>
        </p:nvSpPr>
        <p:spPr>
          <a:xfrm rot="0">
            <a:off x="1028700" y="4368865"/>
            <a:ext cx="6455366" cy="10477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Revenue Structure</a:t>
            </a:r>
          </a:p>
        </p:txBody>
      </p:sp>
      <p:sp>
        <p:nvSpPr>
          <p:cNvPr name="TextBox 10" id="10"/>
          <p:cNvSpPr txBox="true"/>
          <p:nvPr/>
        </p:nvSpPr>
        <p:spPr>
          <a:xfrm rot="0">
            <a:off x="10803934" y="4368865"/>
            <a:ext cx="6455366" cy="104775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Cost Structure</a:t>
            </a:r>
          </a:p>
        </p:txBody>
      </p:sp>
      <p:sp>
        <p:nvSpPr>
          <p:cNvPr name="TextBox 11" id="11"/>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Revenue Structure/Cost Structure</a:t>
            </a:r>
          </a:p>
        </p:txBody>
      </p:sp>
      <p:grpSp>
        <p:nvGrpSpPr>
          <p:cNvPr name="Group 12" id="12"/>
          <p:cNvGrpSpPr/>
          <p:nvPr/>
        </p:nvGrpSpPr>
        <p:grpSpPr>
          <a:xfrm rot="0">
            <a:off x="1028700" y="727075"/>
            <a:ext cx="16230600" cy="301625"/>
            <a:chOff x="0" y="0"/>
            <a:chExt cx="21640800" cy="402167"/>
          </a:xfrm>
        </p:grpSpPr>
        <p:sp>
          <p:nvSpPr>
            <p:cNvPr name="TextBox 13" id="1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4" id="1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38</a:t>
              </a:r>
            </a:p>
          </p:txBody>
        </p:sp>
      </p:grpSp>
      <p:grpSp>
        <p:nvGrpSpPr>
          <p:cNvPr name="Group 18" id="18"/>
          <p:cNvGrpSpPr/>
          <p:nvPr/>
        </p:nvGrpSpPr>
        <p:grpSpPr>
          <a:xfrm rot="0">
            <a:off x="1032835" y="2209016"/>
            <a:ext cx="4426498" cy="1158410"/>
            <a:chOff x="0" y="0"/>
            <a:chExt cx="5901998" cy="1544546"/>
          </a:xfrm>
        </p:grpSpPr>
        <p:sp>
          <p:nvSpPr>
            <p:cNvPr name="Freeform 19" id="19"/>
            <p:cNvSpPr/>
            <p:nvPr/>
          </p:nvSpPr>
          <p:spPr>
            <a:xfrm flipH="false" flipV="false" rot="0">
              <a:off x="0" y="0"/>
              <a:ext cx="2452295" cy="1544546"/>
            </a:xfrm>
            <a:custGeom>
              <a:avLst/>
              <a:gdLst/>
              <a:ahLst/>
              <a:cxnLst/>
              <a:rect r="r" b="b" t="t" l="l"/>
              <a:pathLst>
                <a:path h="1544546" w="2452295">
                  <a:moveTo>
                    <a:pt x="0" y="0"/>
                  </a:moveTo>
                  <a:lnTo>
                    <a:pt x="2452295" y="0"/>
                  </a:lnTo>
                  <a:lnTo>
                    <a:pt x="2452295" y="1544546"/>
                  </a:lnTo>
                  <a:lnTo>
                    <a:pt x="0" y="1544546"/>
                  </a:lnTo>
                  <a:lnTo>
                    <a:pt x="0" y="0"/>
                  </a:lnTo>
                  <a:close/>
                </a:path>
              </a:pathLst>
            </a:custGeom>
            <a:blipFill>
              <a:blip r:embed="rId2"/>
              <a:stretch>
                <a:fillRect l="0" t="-34638" r="0" b="-24132"/>
              </a:stretch>
            </a:blipFill>
          </p:spPr>
        </p:sp>
        <p:sp>
          <p:nvSpPr>
            <p:cNvPr name="TextBox 20" id="20"/>
            <p:cNvSpPr txBox="true"/>
            <p:nvPr/>
          </p:nvSpPr>
          <p:spPr>
            <a:xfrm rot="0">
              <a:off x="2834749" y="-57150"/>
              <a:ext cx="3067248"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Cloud Computing</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Vision and Goal of the Brand</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2255914" y="7937500"/>
            <a:ext cx="13776172" cy="594995"/>
          </a:xfrm>
          <a:prstGeom prst="rect">
            <a:avLst/>
          </a:prstGeom>
        </p:spPr>
        <p:txBody>
          <a:bodyPr anchor="t" rtlCol="false" tIns="0" lIns="0" bIns="0" rIns="0">
            <a:spAutoFit/>
          </a:bodyPr>
          <a:lstStyle/>
          <a:p>
            <a:pPr algn="ctr">
              <a:lnSpc>
                <a:spcPts val="4480"/>
              </a:lnSpc>
            </a:pPr>
            <a:r>
              <a:rPr lang="en-US" sz="3200" i="true" spc="-32">
                <a:solidFill>
                  <a:srgbClr val="FFFFFF"/>
                </a:solidFill>
                <a:latin typeface="Helvetica World Italics"/>
                <a:ea typeface="Helvetica World Italics"/>
                <a:cs typeface="Helvetica World Italics"/>
                <a:sym typeface="Helvetica World Italics"/>
              </a:rPr>
              <a:t>Expand services to emerging markets, AI, and sustainable cloud solutions</a:t>
            </a:r>
          </a:p>
        </p:txBody>
      </p:sp>
      <p:sp>
        <p:nvSpPr>
          <p:cNvPr name="TextBox 7" id="7"/>
          <p:cNvSpPr txBox="true"/>
          <p:nvPr/>
        </p:nvSpPr>
        <p:spPr>
          <a:xfrm rot="0">
            <a:off x="1028700" y="4435540"/>
            <a:ext cx="1075730"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Vision</a:t>
            </a:r>
          </a:p>
        </p:txBody>
      </p:sp>
      <p:sp>
        <p:nvSpPr>
          <p:cNvPr name="TextBox 8" id="8"/>
          <p:cNvSpPr txBox="true"/>
          <p:nvPr/>
        </p:nvSpPr>
        <p:spPr>
          <a:xfrm rot="0">
            <a:off x="1032835" y="5648694"/>
            <a:ext cx="3138193" cy="141605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Enable organizations to innovate faster through scalable and reliable cloud technology</a:t>
            </a:r>
          </a:p>
        </p:txBody>
      </p:sp>
      <p:sp>
        <p:nvSpPr>
          <p:cNvPr name="TextBox 9" id="9"/>
          <p:cNvSpPr txBox="true"/>
          <p:nvPr/>
        </p:nvSpPr>
        <p:spPr>
          <a:xfrm rot="0">
            <a:off x="7597790" y="5648694"/>
            <a:ext cx="2805777" cy="141605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Become the leading global cloud provider across all industries and use cases</a:t>
            </a:r>
          </a:p>
        </p:txBody>
      </p:sp>
      <p:sp>
        <p:nvSpPr>
          <p:cNvPr name="TextBox 10" id="10"/>
          <p:cNvSpPr txBox="true"/>
          <p:nvPr/>
        </p:nvSpPr>
        <p:spPr>
          <a:xfrm rot="0">
            <a:off x="13832567" y="5648694"/>
            <a:ext cx="3426733" cy="141605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Dominant market position can limit access for startups and smaller companies due to cost and complexity</a:t>
            </a:r>
          </a:p>
        </p:txBody>
      </p:sp>
      <p:sp>
        <p:nvSpPr>
          <p:cNvPr name="TextBox 11" id="11"/>
          <p:cNvSpPr txBox="true"/>
          <p:nvPr/>
        </p:nvSpPr>
        <p:spPr>
          <a:xfrm rot="0">
            <a:off x="7597790" y="4435540"/>
            <a:ext cx="837009"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Goal</a:t>
            </a:r>
          </a:p>
        </p:txBody>
      </p:sp>
      <p:sp>
        <p:nvSpPr>
          <p:cNvPr name="TextBox 12" id="12"/>
          <p:cNvSpPr txBox="true"/>
          <p:nvPr/>
        </p:nvSpPr>
        <p:spPr>
          <a:xfrm rot="0">
            <a:off x="13832567" y="4435540"/>
            <a:ext cx="1362373"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Tension</a:t>
            </a:r>
          </a:p>
        </p:txBody>
      </p:sp>
      <p:sp>
        <p:nvSpPr>
          <p:cNvPr name="AutoShape 13" id="13"/>
          <p:cNvSpPr/>
          <p:nvPr/>
        </p:nvSpPr>
        <p:spPr>
          <a:xfrm flipH="true">
            <a:off x="5884409" y="4502215"/>
            <a:ext cx="0" cy="2562529"/>
          </a:xfrm>
          <a:prstGeom prst="line">
            <a:avLst/>
          </a:prstGeom>
          <a:ln cap="rnd" w="19050">
            <a:solidFill>
              <a:srgbClr val="FFFFFF">
                <a:alpha val="29804"/>
              </a:srgbClr>
            </a:solidFill>
            <a:prstDash val="sysDash"/>
            <a:headEnd type="none" len="sm" w="sm"/>
            <a:tailEnd type="none" len="sm" w="sm"/>
          </a:ln>
        </p:spPr>
      </p:sp>
      <p:sp>
        <p:nvSpPr>
          <p:cNvPr name="AutoShape 14" id="14"/>
          <p:cNvSpPr/>
          <p:nvPr/>
        </p:nvSpPr>
        <p:spPr>
          <a:xfrm>
            <a:off x="12118067" y="4502215"/>
            <a:ext cx="0" cy="2562529"/>
          </a:xfrm>
          <a:prstGeom prst="line">
            <a:avLst/>
          </a:prstGeom>
          <a:ln cap="rnd" w="19050">
            <a:solidFill>
              <a:srgbClr val="FFFFFF">
                <a:alpha val="29804"/>
              </a:srgbClr>
            </a:solidFill>
            <a:prstDash val="sysDash"/>
            <a:headEnd type="none" len="sm" w="sm"/>
            <a:tailEnd type="none" len="sm" w="sm"/>
          </a:ln>
        </p:spPr>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39</a:t>
              </a:r>
            </a:p>
          </p:txBody>
        </p:sp>
      </p:grpSp>
      <p:grpSp>
        <p:nvGrpSpPr>
          <p:cNvPr name="Group 18" id="18"/>
          <p:cNvGrpSpPr/>
          <p:nvPr/>
        </p:nvGrpSpPr>
        <p:grpSpPr>
          <a:xfrm rot="0">
            <a:off x="1032835" y="2209016"/>
            <a:ext cx="4426498" cy="1158410"/>
            <a:chOff x="0" y="0"/>
            <a:chExt cx="5901998" cy="1544546"/>
          </a:xfrm>
        </p:grpSpPr>
        <p:sp>
          <p:nvSpPr>
            <p:cNvPr name="Freeform 19" id="19"/>
            <p:cNvSpPr/>
            <p:nvPr/>
          </p:nvSpPr>
          <p:spPr>
            <a:xfrm flipH="false" flipV="false" rot="0">
              <a:off x="0" y="0"/>
              <a:ext cx="2452295" cy="1544546"/>
            </a:xfrm>
            <a:custGeom>
              <a:avLst/>
              <a:gdLst/>
              <a:ahLst/>
              <a:cxnLst/>
              <a:rect r="r" b="b" t="t" l="l"/>
              <a:pathLst>
                <a:path h="1544546" w="2452295">
                  <a:moveTo>
                    <a:pt x="0" y="0"/>
                  </a:moveTo>
                  <a:lnTo>
                    <a:pt x="2452295" y="0"/>
                  </a:lnTo>
                  <a:lnTo>
                    <a:pt x="2452295" y="1544546"/>
                  </a:lnTo>
                  <a:lnTo>
                    <a:pt x="0" y="1544546"/>
                  </a:lnTo>
                  <a:lnTo>
                    <a:pt x="0" y="0"/>
                  </a:lnTo>
                  <a:close/>
                </a:path>
              </a:pathLst>
            </a:custGeom>
            <a:blipFill>
              <a:blip r:embed="rId2"/>
              <a:stretch>
                <a:fillRect l="0" t="-34638" r="0" b="-24132"/>
              </a:stretch>
            </a:blipFill>
          </p:spPr>
        </p:sp>
        <p:sp>
          <p:nvSpPr>
            <p:cNvPr name="TextBox 20" id="20"/>
            <p:cNvSpPr txBox="true"/>
            <p:nvPr/>
          </p:nvSpPr>
          <p:spPr>
            <a:xfrm rot="0">
              <a:off x="2834749" y="-57150"/>
              <a:ext cx="3067248"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Cloud Computing</a:t>
              </a:r>
            </a:p>
          </p:txBody>
        </p:sp>
      </p:grpSp>
      <p:sp>
        <p:nvSpPr>
          <p:cNvPr name="TextBox 21" id="21"/>
          <p:cNvSpPr txBox="true"/>
          <p:nvPr/>
        </p:nvSpPr>
        <p:spPr>
          <a:xfrm rot="0">
            <a:off x="9354014" y="2075666"/>
            <a:ext cx="7905286" cy="1104265"/>
          </a:xfrm>
          <a:prstGeom prst="rect">
            <a:avLst/>
          </a:prstGeom>
        </p:spPr>
        <p:txBody>
          <a:bodyPr anchor="t" rtlCol="false" tIns="0" lIns="0" bIns="0" rIns="0">
            <a:spAutoFit/>
          </a:bodyPr>
          <a:lstStyle/>
          <a:p>
            <a:pPr algn="r">
              <a:lnSpc>
                <a:spcPts val="8959"/>
              </a:lnSpc>
            </a:pPr>
            <a:r>
              <a:rPr lang="en-US" sz="6399" spc="-63">
                <a:solidFill>
                  <a:srgbClr val="FFFFFF"/>
                </a:solidFill>
                <a:latin typeface="Helvetica World"/>
                <a:ea typeface="Helvetica World"/>
                <a:cs typeface="Helvetica World"/>
                <a:sym typeface="Helvetica World"/>
              </a:rPr>
              <a:t>Opportunity</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4412932"/>
            <a:ext cx="6455366" cy="1289049"/>
            <a:chOff x="0" y="0"/>
            <a:chExt cx="8607154" cy="1718732"/>
          </a:xfrm>
        </p:grpSpPr>
        <p:sp>
          <p:nvSpPr>
            <p:cNvPr name="TextBox 3" id="3"/>
            <p:cNvSpPr txBox="true"/>
            <p:nvPr/>
          </p:nvSpPr>
          <p:spPr>
            <a:xfrm rot="0">
              <a:off x="0" y="1162050"/>
              <a:ext cx="4448519" cy="556682"/>
            </a:xfrm>
            <a:prstGeom prst="rect">
              <a:avLst/>
            </a:prstGeom>
          </p:spPr>
          <p:txBody>
            <a:bodyPr anchor="t" rtlCol="false" tIns="0" lIns="0" bIns="0" rIns="0">
              <a:spAutoFit/>
            </a:bodyPr>
            <a:lstStyle/>
            <a:p>
              <a:pPr algn="l">
                <a:lnSpc>
                  <a:spcPts val="3500"/>
                </a:lnSpc>
              </a:pPr>
            </a:p>
          </p:txBody>
        </p:sp>
        <p:sp>
          <p:nvSpPr>
            <p:cNvPr name="TextBox 4" id="4"/>
            <p:cNvSpPr txBox="true"/>
            <p:nvPr/>
          </p:nvSpPr>
          <p:spPr>
            <a:xfrm rot="0">
              <a:off x="0" y="-133350"/>
              <a:ext cx="8607154" cy="1352550"/>
            </a:xfrm>
            <a:prstGeom prst="rect">
              <a:avLst/>
            </a:prstGeom>
          </p:spPr>
          <p:txBody>
            <a:bodyPr anchor="t" rtlCol="false" tIns="0" lIns="0" bIns="0" rIns="0">
              <a:spAutoFit/>
            </a:bodyPr>
            <a:lstStyle/>
            <a:p>
              <a:pPr algn="l">
                <a:lnSpc>
                  <a:spcPts val="8400"/>
                </a:lnSpc>
              </a:pPr>
              <a:r>
                <a:rPr lang="en-US" sz="6000" spc="-60">
                  <a:solidFill>
                    <a:srgbClr val="FFFFFF">
                      <a:alpha val="49804"/>
                    </a:srgbClr>
                  </a:solidFill>
                  <a:latin typeface="Helvetica World"/>
                  <a:ea typeface="Helvetica World"/>
                  <a:cs typeface="Helvetica World"/>
                  <a:sym typeface="Helvetica World"/>
                </a:rPr>
                <a:t>Service Ubiquity</a:t>
              </a:r>
            </a:p>
          </p:txBody>
        </p:sp>
      </p:grpSp>
      <p:grpSp>
        <p:nvGrpSpPr>
          <p:cNvPr name="Group 5" id="5"/>
          <p:cNvGrpSpPr/>
          <p:nvPr/>
        </p:nvGrpSpPr>
        <p:grpSpPr>
          <a:xfrm rot="0">
            <a:off x="10296319" y="4038283"/>
            <a:ext cx="6962981" cy="1289049"/>
            <a:chOff x="0" y="0"/>
            <a:chExt cx="9283974" cy="1718732"/>
          </a:xfrm>
        </p:grpSpPr>
        <p:sp>
          <p:nvSpPr>
            <p:cNvPr name="TextBox 6" id="6"/>
            <p:cNvSpPr txBox="true"/>
            <p:nvPr/>
          </p:nvSpPr>
          <p:spPr>
            <a:xfrm rot="0">
              <a:off x="0" y="366182"/>
              <a:ext cx="9283974" cy="135255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Systemic Risk</a:t>
              </a:r>
            </a:p>
          </p:txBody>
        </p:sp>
        <p:sp>
          <p:nvSpPr>
            <p:cNvPr name="TextBox 7" id="7"/>
            <p:cNvSpPr txBox="true"/>
            <p:nvPr/>
          </p:nvSpPr>
          <p:spPr>
            <a:xfrm rot="0">
              <a:off x="4485648" y="-57150"/>
              <a:ext cx="4798327" cy="556682"/>
            </a:xfrm>
            <a:prstGeom prst="rect">
              <a:avLst/>
            </a:prstGeom>
          </p:spPr>
          <p:txBody>
            <a:bodyPr anchor="t" rtlCol="false" tIns="0" lIns="0" bIns="0" rIns="0">
              <a:spAutoFit/>
            </a:bodyPr>
            <a:lstStyle/>
            <a:p>
              <a:pPr algn="r">
                <a:lnSpc>
                  <a:spcPts val="3500"/>
                </a:lnSpc>
              </a:pPr>
            </a:p>
          </p:txBody>
        </p:sp>
      </p:grpSp>
      <p:sp>
        <p:nvSpPr>
          <p:cNvPr name="TextBox 8" id="8"/>
          <p:cNvSpPr txBox="true"/>
          <p:nvPr/>
        </p:nvSpPr>
        <p:spPr>
          <a:xfrm rot="0">
            <a:off x="6951158" y="6411595"/>
            <a:ext cx="10308142" cy="2120900"/>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AWS is more than just an infrastructure provider in the digital space; it serves as a platform that powers a wide range of third-party services within its digital ecosystem. This not only improves interoperability across systems but also supports the growth and stability of services built on AWS. However, this convenience comes with potential risks: reliance on AWS can create monopolistic dependencies, and any disruption in its operations could have far-reaching impacts on the many services that depend on it.</a:t>
            </a:r>
          </a:p>
        </p:txBody>
      </p:sp>
      <p:grpSp>
        <p:nvGrpSpPr>
          <p:cNvPr name="Group 9" id="9"/>
          <p:cNvGrpSpPr/>
          <p:nvPr/>
        </p:nvGrpSpPr>
        <p:grpSpPr>
          <a:xfrm rot="0">
            <a:off x="1028700" y="5473382"/>
            <a:ext cx="16230600" cy="457200"/>
            <a:chOff x="0" y="0"/>
            <a:chExt cx="21640800" cy="609600"/>
          </a:xfrm>
        </p:grpSpPr>
        <p:sp>
          <p:nvSpPr>
            <p:cNvPr name="TextBox 10" id="10"/>
            <p:cNvSpPr txBox="true"/>
            <p:nvPr/>
          </p:nvSpPr>
          <p:spPr>
            <a:xfrm rot="0">
              <a:off x="0" y="-66675"/>
              <a:ext cx="6503031" cy="676275"/>
            </a:xfrm>
            <a:prstGeom prst="rect">
              <a:avLst/>
            </a:prstGeom>
          </p:spPr>
          <p:txBody>
            <a:bodyPr anchor="t" rtlCol="false" tIns="0" lIns="0" bIns="0" rIns="0">
              <a:spAutoFit/>
            </a:bodyPr>
            <a:lstStyle/>
            <a:p>
              <a:pPr algn="l">
                <a:lnSpc>
                  <a:spcPts val="4200"/>
                </a:lnSpc>
              </a:pPr>
              <a:r>
                <a:rPr lang="en-US" sz="3000" spc="-30">
                  <a:solidFill>
                    <a:srgbClr val="FFFFFF">
                      <a:alpha val="29804"/>
                    </a:srgbClr>
                  </a:solidFill>
                  <a:latin typeface="Helvetica World"/>
                  <a:ea typeface="Helvetica World"/>
                  <a:cs typeface="Helvetica World"/>
                  <a:sym typeface="Helvetica World"/>
                </a:rPr>
                <a:t>[Convenience]</a:t>
              </a:r>
            </a:p>
          </p:txBody>
        </p:sp>
        <p:sp>
          <p:nvSpPr>
            <p:cNvPr name="TextBox 11" id="11"/>
            <p:cNvSpPr txBox="true"/>
            <p:nvPr/>
          </p:nvSpPr>
          <p:spPr>
            <a:xfrm rot="0">
              <a:off x="15137769" y="-66675"/>
              <a:ext cx="6503031" cy="676275"/>
            </a:xfrm>
            <a:prstGeom prst="rect">
              <a:avLst/>
            </a:prstGeom>
          </p:spPr>
          <p:txBody>
            <a:bodyPr anchor="t" rtlCol="false" tIns="0" lIns="0" bIns="0" rIns="0">
              <a:spAutoFit/>
            </a:bodyPr>
            <a:lstStyle/>
            <a:p>
              <a:pPr algn="r">
                <a:lnSpc>
                  <a:spcPts val="4200"/>
                </a:lnSpc>
              </a:pPr>
              <a:r>
                <a:rPr lang="en-US" sz="3000" spc="-30">
                  <a:solidFill>
                    <a:srgbClr val="FFFFFF">
                      <a:alpha val="29804"/>
                    </a:srgbClr>
                  </a:solidFill>
                  <a:latin typeface="Helvetica World"/>
                  <a:ea typeface="Helvetica World"/>
                  <a:cs typeface="Helvetica World"/>
                  <a:sym typeface="Helvetica World"/>
                </a:rPr>
                <a:t>[Influence]</a:t>
              </a:r>
            </a:p>
          </p:txBody>
        </p:sp>
      </p:grpSp>
      <p:sp>
        <p:nvSpPr>
          <p:cNvPr name="AutoShape 12" id="12"/>
          <p:cNvSpPr/>
          <p:nvPr/>
        </p:nvSpPr>
        <p:spPr>
          <a:xfrm>
            <a:off x="7991681" y="5143500"/>
            <a:ext cx="2304638" cy="0"/>
          </a:xfrm>
          <a:prstGeom prst="line">
            <a:avLst/>
          </a:prstGeom>
          <a:ln cap="flat" w="19050">
            <a:solidFill>
              <a:srgbClr val="FFFFFF"/>
            </a:solidFill>
            <a:prstDash val="sysDash"/>
            <a:headEnd type="none" len="sm" w="sm"/>
            <a:tailEnd type="arrow" len="sm" w="med"/>
          </a:ln>
        </p:spPr>
      </p:sp>
      <p:grpSp>
        <p:nvGrpSpPr>
          <p:cNvPr name="Group 13" id="13"/>
          <p:cNvGrpSpPr/>
          <p:nvPr/>
        </p:nvGrpSpPr>
        <p:grpSpPr>
          <a:xfrm rot="0">
            <a:off x="1032835" y="2209016"/>
            <a:ext cx="4426498" cy="1158410"/>
            <a:chOff x="0" y="0"/>
            <a:chExt cx="5901998" cy="1544546"/>
          </a:xfrm>
        </p:grpSpPr>
        <p:sp>
          <p:nvSpPr>
            <p:cNvPr name="Freeform 14" id="14"/>
            <p:cNvSpPr/>
            <p:nvPr/>
          </p:nvSpPr>
          <p:spPr>
            <a:xfrm flipH="false" flipV="false" rot="0">
              <a:off x="0" y="0"/>
              <a:ext cx="2452295" cy="1544546"/>
            </a:xfrm>
            <a:custGeom>
              <a:avLst/>
              <a:gdLst/>
              <a:ahLst/>
              <a:cxnLst/>
              <a:rect r="r" b="b" t="t" l="l"/>
              <a:pathLst>
                <a:path h="1544546" w="2452295">
                  <a:moveTo>
                    <a:pt x="0" y="0"/>
                  </a:moveTo>
                  <a:lnTo>
                    <a:pt x="2452295" y="0"/>
                  </a:lnTo>
                  <a:lnTo>
                    <a:pt x="2452295" y="1544546"/>
                  </a:lnTo>
                  <a:lnTo>
                    <a:pt x="0" y="1544546"/>
                  </a:lnTo>
                  <a:lnTo>
                    <a:pt x="0" y="0"/>
                  </a:lnTo>
                  <a:close/>
                </a:path>
              </a:pathLst>
            </a:custGeom>
            <a:blipFill>
              <a:blip r:embed="rId2"/>
              <a:stretch>
                <a:fillRect l="0" t="-34638" r="0" b="-24132"/>
              </a:stretch>
            </a:blipFill>
          </p:spPr>
        </p:sp>
        <p:sp>
          <p:nvSpPr>
            <p:cNvPr name="TextBox 15" id="15"/>
            <p:cNvSpPr txBox="true"/>
            <p:nvPr/>
          </p:nvSpPr>
          <p:spPr>
            <a:xfrm rot="0">
              <a:off x="2834749" y="-57150"/>
              <a:ext cx="3067248"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Cloud Computing</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9134475" y="2209016"/>
            <a:ext cx="0" cy="6323479"/>
          </a:xfrm>
          <a:prstGeom prst="line">
            <a:avLst/>
          </a:prstGeom>
          <a:ln cap="rnd" w="19050">
            <a:solidFill>
              <a:srgbClr val="FFFFFF">
                <a:alpha val="29804"/>
              </a:srgbClr>
            </a:solidFill>
            <a:prstDash val="sysDash"/>
            <a:headEnd type="none" len="sm" w="sm"/>
            <a:tailEnd type="none" len="sm" w="sm"/>
          </a:ln>
        </p:spPr>
      </p:sp>
      <p:sp>
        <p:nvSpPr>
          <p:cNvPr name="TextBox 3" id="3"/>
          <p:cNvSpPr txBox="true"/>
          <p:nvPr/>
        </p:nvSpPr>
        <p:spPr>
          <a:xfrm rot="0">
            <a:off x="1028700" y="4649470"/>
            <a:ext cx="6712998" cy="3883025"/>
          </a:xfrm>
          <a:prstGeom prst="rect">
            <a:avLst/>
          </a:prstGeom>
        </p:spPr>
        <p:txBody>
          <a:bodyPr anchor="t" rtlCol="false" tIns="0" lIns="0" bIns="0" rIns="0">
            <a:spAutoFit/>
          </a:bodyPr>
          <a:lstStyle/>
          <a:p>
            <a:pPr algn="l">
              <a:lnSpc>
                <a:spcPts val="2800"/>
              </a:lnSpc>
              <a:spcBef>
                <a:spcPct val="0"/>
              </a:spcBef>
            </a:pPr>
            <a:r>
              <a:rPr lang="en-US" sz="2000" spc="-20">
                <a:solidFill>
                  <a:srgbClr val="A6A6A6"/>
                </a:solidFill>
                <a:latin typeface="Helvetica World"/>
                <a:ea typeface="Helvetica World"/>
                <a:cs typeface="Helvetica World"/>
                <a:sym typeface="Helvetica World"/>
              </a:rPr>
              <a:t>AWS leve</a:t>
            </a:r>
            <a:r>
              <a:rPr lang="en-US" sz="2000" spc="-20">
                <a:solidFill>
                  <a:srgbClr val="A6A6A6"/>
                </a:solidFill>
                <a:latin typeface="Helvetica World"/>
                <a:ea typeface="Helvetica World"/>
                <a:cs typeface="Helvetica World"/>
                <a:sym typeface="Helvetica World"/>
              </a:rPr>
              <a:t>rages its global cloud infrastructure to build scalable platforms that support businesses across countries. Through partnerships with governments, enterprises, and startups, it accelerates technological innovation and strengthens digital ecosystems (SDG 17). Its r</a:t>
            </a:r>
            <a:r>
              <a:rPr lang="en-US" sz="2000" spc="-20">
                <a:solidFill>
                  <a:srgbClr val="A6A6A6"/>
                </a:solidFill>
                <a:latin typeface="Helvetica World"/>
                <a:ea typeface="Helvetica World"/>
                <a:cs typeface="Helvetica World"/>
                <a:sym typeface="Helvetica World"/>
              </a:rPr>
              <a:t>esilient data centers enable secure, efficient operations, allowing organizations to deploy services quickly, optimize performance, and expand access to digital resources, supporting industrial growth and sustainable infrastructure (SDG 9). By combining infrastructure and strategic partnerships, AWS fosters innovation, economic growth, and global collaboration.</a:t>
            </a:r>
          </a:p>
        </p:txBody>
      </p:sp>
      <p:sp>
        <p:nvSpPr>
          <p:cNvPr name="TextBox 4" id="4"/>
          <p:cNvSpPr txBox="true"/>
          <p:nvPr/>
        </p:nvSpPr>
        <p:spPr>
          <a:xfrm rot="0">
            <a:off x="1028700" y="2104241"/>
            <a:ext cx="7485906"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Who get Good impacted by</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8" id="8"/>
          <p:cNvGrpSpPr/>
          <p:nvPr/>
        </p:nvGrpSpPr>
        <p:grpSpPr>
          <a:xfrm rot="0">
            <a:off x="9845842" y="2209016"/>
            <a:ext cx="7320773" cy="2070101"/>
            <a:chOff x="0" y="0"/>
            <a:chExt cx="9761031" cy="2760134"/>
          </a:xfrm>
        </p:grpSpPr>
        <p:sp>
          <p:nvSpPr>
            <p:cNvPr name="TextBox 9" id="9"/>
            <p:cNvSpPr txBox="true"/>
            <p:nvPr/>
          </p:nvSpPr>
          <p:spPr>
            <a:xfrm rot="0">
              <a:off x="3273106" y="1302809"/>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Builds a sustainable AWS</a:t>
              </a:r>
              <a:r>
                <a:rPr lang="en-US" sz="1800" spc="-18">
                  <a:solidFill>
                    <a:srgbClr val="FFFFFF"/>
                  </a:solidFill>
                  <a:latin typeface="Helvetica World"/>
                  <a:ea typeface="Helvetica World"/>
                  <a:cs typeface="Helvetica World"/>
                  <a:sym typeface="Helvetica World"/>
                </a:rPr>
                <a:t> ecosystem by expanding scalable dinfrastructure</a:t>
              </a:r>
            </a:p>
          </p:txBody>
        </p:sp>
        <p:sp>
          <p:nvSpPr>
            <p:cNvPr name="TextBox 10" id="10"/>
            <p:cNvSpPr txBox="true"/>
            <p:nvPr/>
          </p:nvSpPr>
          <p:spPr>
            <a:xfrm rot="0">
              <a:off x="3273106" y="395672"/>
              <a:ext cx="6487925"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Industry, Innovation and Infrastructure</a:t>
              </a:r>
            </a:p>
          </p:txBody>
        </p:sp>
        <p:sp>
          <p:nvSpPr>
            <p:cNvPr name="TextBox 11" id="11"/>
            <p:cNvSpPr txBox="true"/>
            <p:nvPr/>
          </p:nvSpPr>
          <p:spPr>
            <a:xfrm rot="0">
              <a:off x="47808" y="2268009"/>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2"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3" tooltip="https://www.srgresearch.com/articles/cloud-market-share-trends-big-three-together-hold-63-while-oracle-and-the-neoclouds-inch-higher"/>
                </a:rPr>
                <a:t>ructure market in Q3 2025, maintaining its lead over Microsoft Azure (20%) and Google Cloud (13%)</a:t>
              </a:r>
            </a:p>
          </p:txBody>
        </p:sp>
        <p:sp>
          <p:nvSpPr>
            <p:cNvPr name="TextBox 12" id="12"/>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3" id="13"/>
            <p:cNvSpPr txBox="true"/>
            <p:nvPr/>
          </p:nvSpPr>
          <p:spPr>
            <a:xfrm rot="0">
              <a:off x="1797745" y="-190500"/>
              <a:ext cx="924818"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9</a:t>
              </a:r>
            </a:p>
          </p:txBody>
        </p:sp>
      </p:grpSp>
      <p:grpSp>
        <p:nvGrpSpPr>
          <p:cNvPr name="Group 14" id="14"/>
          <p:cNvGrpSpPr/>
          <p:nvPr/>
        </p:nvGrpSpPr>
        <p:grpSpPr>
          <a:xfrm rot="0">
            <a:off x="9845842" y="6260565"/>
            <a:ext cx="7320773" cy="2271930"/>
            <a:chOff x="0" y="0"/>
            <a:chExt cx="9761031" cy="3029241"/>
          </a:xfrm>
        </p:grpSpPr>
        <p:sp>
          <p:nvSpPr>
            <p:cNvPr name="TextBox 15" id="15"/>
            <p:cNvSpPr txBox="true"/>
            <p:nvPr/>
          </p:nvSpPr>
          <p:spPr>
            <a:xfrm rot="0">
              <a:off x="3392121" y="1571916"/>
              <a:ext cx="6368909"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Build a digital ecosystem through </a:t>
              </a:r>
              <a:r>
                <a:rPr lang="en-US" sz="1800" spc="-18">
                  <a:solidFill>
                    <a:srgbClr val="FFFFFF"/>
                  </a:solidFill>
                  <a:latin typeface="Helvetica World"/>
                  <a:ea typeface="Helvetica World"/>
                  <a:cs typeface="Helvetica World"/>
                  <a:sym typeface="Helvetica World"/>
                </a:rPr>
                <a:t>global partnerships</a:t>
              </a:r>
            </a:p>
          </p:txBody>
        </p:sp>
        <p:sp>
          <p:nvSpPr>
            <p:cNvPr name="TextBox 16" id="16"/>
            <p:cNvSpPr txBox="true"/>
            <p:nvPr/>
          </p:nvSpPr>
          <p:spPr>
            <a:xfrm rot="0">
              <a:off x="3392121" y="646642"/>
              <a:ext cx="6368909"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Partnerships for the Goals</a:t>
              </a:r>
            </a:p>
          </p:txBody>
        </p:sp>
        <p:sp>
          <p:nvSpPr>
            <p:cNvPr name="TextBox 17" id="17"/>
            <p:cNvSpPr txBox="true"/>
            <p:nvPr/>
          </p:nvSpPr>
          <p:spPr>
            <a:xfrm rot="0">
              <a:off x="47808" y="2537116"/>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4"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5" tooltip="https://www.srgresearch.com/articles/cloud-market-share-trends-big-three-together-hold-63-while-oracle-and-the-neoclouds-inch-higher"/>
                </a:rPr>
                <a:t>ructure market in Q3 2025, maintaining its lead over Microsoft Azure (20%) and Google Cloud (13%)</a:t>
              </a:r>
            </a:p>
          </p:txBody>
        </p:sp>
        <p:sp>
          <p:nvSpPr>
            <p:cNvPr name="TextBox 18" id="18"/>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9" id="19"/>
            <p:cNvSpPr txBox="true"/>
            <p:nvPr/>
          </p:nvSpPr>
          <p:spPr>
            <a:xfrm rot="0">
              <a:off x="1797745" y="-190500"/>
              <a:ext cx="2189533"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17</a:t>
              </a:r>
            </a:p>
          </p:txBody>
        </p:sp>
      </p:grpSp>
      <p:sp>
        <p:nvSpPr>
          <p:cNvPr name="TextBox 20" id="2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 SDG - Positive</a:t>
            </a:r>
          </a:p>
        </p:txBody>
      </p:sp>
      <p:grpSp>
        <p:nvGrpSpPr>
          <p:cNvPr name="Group 21" id="21"/>
          <p:cNvGrpSpPr/>
          <p:nvPr/>
        </p:nvGrpSpPr>
        <p:grpSpPr>
          <a:xfrm rot="0">
            <a:off x="1028700" y="9258300"/>
            <a:ext cx="16230600" cy="301625"/>
            <a:chOff x="0" y="0"/>
            <a:chExt cx="21640800" cy="402167"/>
          </a:xfrm>
        </p:grpSpPr>
        <p:sp>
          <p:nvSpPr>
            <p:cNvPr name="TextBox 22" id="2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23" id="2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41</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9134475" y="2209016"/>
            <a:ext cx="0" cy="6323479"/>
          </a:xfrm>
          <a:prstGeom prst="line">
            <a:avLst/>
          </a:prstGeom>
          <a:ln cap="rnd" w="19050">
            <a:solidFill>
              <a:srgbClr val="FFFFFF">
                <a:alpha val="29804"/>
              </a:srgbClr>
            </a:solidFill>
            <a:prstDash val="sysDash"/>
            <a:headEnd type="none" len="sm" w="sm"/>
            <a:tailEnd type="none" len="sm" w="sm"/>
          </a:ln>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1028700" y="2104241"/>
            <a:ext cx="7068145"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Who get Bad impacted by</a:t>
            </a:r>
          </a:p>
        </p:txBody>
      </p:sp>
      <p:grpSp>
        <p:nvGrpSpPr>
          <p:cNvPr name="Group 7" id="7"/>
          <p:cNvGrpSpPr/>
          <p:nvPr/>
        </p:nvGrpSpPr>
        <p:grpSpPr>
          <a:xfrm rot="0">
            <a:off x="9845842" y="2209016"/>
            <a:ext cx="7320773" cy="2070101"/>
            <a:chOff x="0" y="0"/>
            <a:chExt cx="9761031" cy="2760134"/>
          </a:xfrm>
        </p:grpSpPr>
        <p:sp>
          <p:nvSpPr>
            <p:cNvPr name="TextBox 8" id="8"/>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9" id="9"/>
            <p:cNvSpPr txBox="true"/>
            <p:nvPr/>
          </p:nvSpPr>
          <p:spPr>
            <a:xfrm rot="0">
              <a:off x="1797745" y="-190500"/>
              <a:ext cx="1857805"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10</a:t>
              </a:r>
            </a:p>
          </p:txBody>
        </p:sp>
        <p:sp>
          <p:nvSpPr>
            <p:cNvPr name="TextBox 10" id="10"/>
            <p:cNvSpPr txBox="true"/>
            <p:nvPr/>
          </p:nvSpPr>
          <p:spPr>
            <a:xfrm rot="0">
              <a:off x="3655549" y="1302809"/>
              <a:ext cx="6105481"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AWS’s dominance and high costs can limit small</a:t>
              </a:r>
              <a:r>
                <a:rPr lang="en-US" sz="1800" spc="-18">
                  <a:solidFill>
                    <a:srgbClr val="FFFFFF"/>
                  </a:solidFill>
                  <a:latin typeface="Helvetica World"/>
                  <a:ea typeface="Helvetica World"/>
                  <a:cs typeface="Helvetica World"/>
                  <a:sym typeface="Helvetica World"/>
                </a:rPr>
                <a:t> companies, widening inequalities</a:t>
              </a:r>
            </a:p>
          </p:txBody>
        </p:sp>
        <p:sp>
          <p:nvSpPr>
            <p:cNvPr name="TextBox 11" id="11"/>
            <p:cNvSpPr txBox="true"/>
            <p:nvPr/>
          </p:nvSpPr>
          <p:spPr>
            <a:xfrm rot="0">
              <a:off x="3273106" y="395672"/>
              <a:ext cx="6487925"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Reduced Inequalities</a:t>
              </a:r>
            </a:p>
          </p:txBody>
        </p:sp>
        <p:sp>
          <p:nvSpPr>
            <p:cNvPr name="TextBox 12" id="12"/>
            <p:cNvSpPr txBox="true"/>
            <p:nvPr/>
          </p:nvSpPr>
          <p:spPr>
            <a:xfrm rot="0">
              <a:off x="47808" y="2268009"/>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2"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3" tooltip="https://www.srgresearch.com/articles/cloud-market-share-trends-big-three-together-hold-63-while-oracle-and-the-neoclouds-inch-higher"/>
                </a:rPr>
                <a:t>ructure market in Q3 2025, maintaining its lead over Microsoft Azure (20%) and Google Cloud (13%)</a:t>
              </a:r>
            </a:p>
          </p:txBody>
        </p:sp>
      </p:grpSp>
      <p:grpSp>
        <p:nvGrpSpPr>
          <p:cNvPr name="Group 13" id="13"/>
          <p:cNvGrpSpPr/>
          <p:nvPr/>
        </p:nvGrpSpPr>
        <p:grpSpPr>
          <a:xfrm rot="0">
            <a:off x="9845842" y="6260565"/>
            <a:ext cx="7320773" cy="2271930"/>
            <a:chOff x="0" y="0"/>
            <a:chExt cx="9761031" cy="3029241"/>
          </a:xfrm>
        </p:grpSpPr>
        <p:sp>
          <p:nvSpPr>
            <p:cNvPr name="TextBox 14" id="14"/>
            <p:cNvSpPr txBox="true"/>
            <p:nvPr/>
          </p:nvSpPr>
          <p:spPr>
            <a:xfrm rot="0">
              <a:off x="3849677" y="1571916"/>
              <a:ext cx="5911354"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Cloud data centers consume massive amounts of electricity</a:t>
              </a:r>
            </a:p>
          </p:txBody>
        </p:sp>
        <p:sp>
          <p:nvSpPr>
            <p:cNvPr name="TextBox 15" id="15"/>
            <p:cNvSpPr txBox="true"/>
            <p:nvPr/>
          </p:nvSpPr>
          <p:spPr>
            <a:xfrm rot="0">
              <a:off x="3392121" y="307063"/>
              <a:ext cx="6368909" cy="8985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Responsible Consumption and Production</a:t>
              </a:r>
            </a:p>
          </p:txBody>
        </p:sp>
        <p:sp>
          <p:nvSpPr>
            <p:cNvPr name="TextBox 16" id="16"/>
            <p:cNvSpPr txBox="true"/>
            <p:nvPr/>
          </p:nvSpPr>
          <p:spPr>
            <a:xfrm rot="0">
              <a:off x="47808" y="2537116"/>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4"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5" tooltip="https://www.srgresearch.com/articles/cloud-market-share-trends-big-three-together-hold-63-while-oracle-and-the-neoclouds-inch-higher"/>
                </a:rPr>
                <a:t>ructure market in Q3 2025, maintaining its lead over Microsoft Azure (20%) and Google Cloud (13%)</a:t>
              </a:r>
            </a:p>
          </p:txBody>
        </p:sp>
        <p:sp>
          <p:nvSpPr>
            <p:cNvPr name="TextBox 17" id="17"/>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8" id="18"/>
            <p:cNvSpPr txBox="true"/>
            <p:nvPr/>
          </p:nvSpPr>
          <p:spPr>
            <a:xfrm rot="0">
              <a:off x="1797745" y="-190500"/>
              <a:ext cx="1901002"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12</a:t>
              </a:r>
            </a:p>
          </p:txBody>
        </p:sp>
      </p:grpSp>
      <p:sp>
        <p:nvSpPr>
          <p:cNvPr name="TextBox 19" id="19"/>
          <p:cNvSpPr txBox="true"/>
          <p:nvPr/>
        </p:nvSpPr>
        <p:spPr>
          <a:xfrm rot="0">
            <a:off x="1028700" y="4297045"/>
            <a:ext cx="6712998" cy="4235450"/>
          </a:xfrm>
          <a:prstGeom prst="rect">
            <a:avLst/>
          </a:prstGeom>
        </p:spPr>
        <p:txBody>
          <a:bodyPr anchor="t" rtlCol="false" tIns="0" lIns="0" bIns="0" rIns="0">
            <a:spAutoFit/>
          </a:bodyPr>
          <a:lstStyle/>
          <a:p>
            <a:pPr algn="l">
              <a:lnSpc>
                <a:spcPts val="2800"/>
              </a:lnSpc>
              <a:spcBef>
                <a:spcPct val="0"/>
              </a:spcBef>
            </a:pPr>
            <a:r>
              <a:rPr lang="en-US" sz="2000" spc="-20">
                <a:solidFill>
                  <a:srgbClr val="A6A6A6"/>
                </a:solidFill>
                <a:latin typeface="Helvetica World"/>
                <a:ea typeface="Helvetica World"/>
                <a:cs typeface="Helvetica World"/>
                <a:sym typeface="Helvetica World"/>
              </a:rPr>
              <a:t>AWS </a:t>
            </a:r>
            <a:r>
              <a:rPr lang="en-US" sz="2000" spc="-20">
                <a:solidFill>
                  <a:srgbClr val="A6A6A6"/>
                </a:solidFill>
                <a:latin typeface="Helvetica World"/>
                <a:ea typeface="Helvetica World"/>
                <a:cs typeface="Helvetica World"/>
                <a:sym typeface="Helvetica World"/>
              </a:rPr>
              <a:t>holds a near-monopoly in the cloud market, creating high barriers for startups and smaller companies due to steep costs and complex pricing, which can exacerbate economic inequalities (SDG 10). At the same time, its AI services and large-scale data centers require massive water usage for cooling. Despite efforts to improve efficiency and use renewable resources, the </a:t>
            </a:r>
            <a:r>
              <a:rPr lang="en-US" sz="2000" spc="-20">
                <a:solidFill>
                  <a:srgbClr val="A6A6A6"/>
                </a:solidFill>
                <a:latin typeface="Helvetica World"/>
                <a:ea typeface="Helvetica World"/>
                <a:cs typeface="Helvetica World"/>
                <a:sym typeface="Helvetica World"/>
              </a:rPr>
              <a:t>scale of operations raises concerns about sustainable production and resource management (SDG 12). While AWS’s technological and market power enables global innovation and service delivery, it also presents challenges for social equity and environmental sustainability.</a:t>
            </a:r>
          </a:p>
        </p:txBody>
      </p:sp>
      <p:sp>
        <p:nvSpPr>
          <p:cNvPr name="TextBox 20" id="2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 SDG - Negative</a:t>
            </a:r>
          </a:p>
        </p:txBody>
      </p:sp>
      <p:grpSp>
        <p:nvGrpSpPr>
          <p:cNvPr name="Group 21" id="21"/>
          <p:cNvGrpSpPr/>
          <p:nvPr/>
        </p:nvGrpSpPr>
        <p:grpSpPr>
          <a:xfrm rot="0">
            <a:off x="1028700" y="9258300"/>
            <a:ext cx="16230600" cy="301625"/>
            <a:chOff x="0" y="0"/>
            <a:chExt cx="21640800" cy="402167"/>
          </a:xfrm>
        </p:grpSpPr>
        <p:sp>
          <p:nvSpPr>
            <p:cNvPr name="TextBox 22" id="2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 - Cloud Computing Service</a:t>
              </a:r>
            </a:p>
          </p:txBody>
        </p:sp>
        <p:sp>
          <p:nvSpPr>
            <p:cNvPr name="TextBox 23" id="2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42</a:t>
              </a: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5531257" y="2423509"/>
            <a:ext cx="7225486" cy="5439983"/>
          </a:xfrm>
          <a:custGeom>
            <a:avLst/>
            <a:gdLst/>
            <a:ahLst/>
            <a:cxnLst/>
            <a:rect r="r" b="b" t="t" l="l"/>
            <a:pathLst>
              <a:path h="5439983" w="7225486">
                <a:moveTo>
                  <a:pt x="0" y="0"/>
                </a:moveTo>
                <a:lnTo>
                  <a:pt x="7225486" y="0"/>
                </a:lnTo>
                <a:lnTo>
                  <a:pt x="7225486" y="5439982"/>
                </a:lnTo>
                <a:lnTo>
                  <a:pt x="0" y="5439982"/>
                </a:lnTo>
                <a:lnTo>
                  <a:pt x="0" y="0"/>
                </a:lnTo>
                <a:close/>
              </a:path>
            </a:pathLst>
          </a:custGeom>
          <a:blipFill>
            <a:blip r:embed="rId2"/>
            <a:stretch>
              <a:fillRect l="0" t="-16410" r="0" b="-16410"/>
            </a:stretch>
          </a:blipFill>
        </p:spPr>
      </p:sp>
      <p:sp>
        <p:nvSpPr>
          <p:cNvPr name="TextBox 3" id="3"/>
          <p:cNvSpPr txBox="true"/>
          <p:nvPr/>
        </p:nvSpPr>
        <p:spPr>
          <a:xfrm rot="0">
            <a:off x="1028700" y="4412933"/>
            <a:ext cx="16492053" cy="1365885"/>
          </a:xfrm>
          <a:prstGeom prst="rect">
            <a:avLst/>
          </a:prstGeom>
        </p:spPr>
        <p:txBody>
          <a:bodyPr anchor="t" rtlCol="false" tIns="0" lIns="0" bIns="0" rIns="0">
            <a:spAutoFit/>
          </a:bodyPr>
          <a:lstStyle/>
          <a:p>
            <a:pPr algn="ctr">
              <a:lnSpc>
                <a:spcPts val="5040"/>
              </a:lnSpc>
            </a:pPr>
            <a:r>
              <a:rPr lang="en-US" sz="3600" i="true" spc="-36">
                <a:solidFill>
                  <a:srgbClr val="FFFFFF"/>
                </a:solidFill>
                <a:latin typeface="Helvetica World Italics"/>
                <a:ea typeface="Helvetica World Italics"/>
                <a:cs typeface="Helvetica World Italics"/>
                <a:sym typeface="Helvetica World Italics"/>
              </a:rPr>
              <a:t>“AWS’s core value is scalable, on-demand cloud infrastructure—letting organizations build, store, and run digital services quickly without owning physical servers.”</a:t>
            </a:r>
          </a:p>
        </p:txBody>
      </p:sp>
      <p:grpSp>
        <p:nvGrpSpPr>
          <p:cNvPr name="Group 4" id="4"/>
          <p:cNvGrpSpPr/>
          <p:nvPr/>
        </p:nvGrpSpPr>
        <p:grpSpPr>
          <a:xfrm rot="0">
            <a:off x="1028700" y="9258300"/>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Service Component II - Cloud Computing Service: Conclusion</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43</a:t>
              </a:r>
            </a:p>
          </p:txBody>
        </p:sp>
      </p:gr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February 9th, 2026 </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5" id="5"/>
          <p:cNvSpPr txBox="true"/>
          <p:nvPr/>
        </p:nvSpPr>
        <p:spPr>
          <a:xfrm rot="0">
            <a:off x="1028700" y="7468870"/>
            <a:ext cx="6255242" cy="1063625"/>
          </a:xfrm>
          <a:prstGeom prst="rect">
            <a:avLst/>
          </a:prstGeom>
        </p:spPr>
        <p:txBody>
          <a:bodyPr anchor="t" rtlCol="false" tIns="0" lIns="0" bIns="0" rIns="0">
            <a:spAutoFit/>
          </a:bodyPr>
          <a:lstStyle/>
          <a:p>
            <a:pPr algn="l">
              <a:lnSpc>
                <a:spcPts val="2800"/>
              </a:lnSpc>
            </a:pPr>
            <a:r>
              <a:rPr lang="en-US" sz="2000" spc="-20">
                <a:solidFill>
                  <a:srgbClr val="A6A6A6"/>
                </a:solidFill>
                <a:latin typeface="Helvetica World"/>
                <a:ea typeface="Helvetica World"/>
                <a:cs typeface="Helvetica World"/>
                <a:sym typeface="Helvetica World"/>
              </a:rPr>
              <a:t>Prime Membership Subscription | ~30% (Estimated)</a:t>
            </a:r>
          </a:p>
          <a:p>
            <a:pPr algn="l">
              <a:lnSpc>
                <a:spcPts val="2800"/>
              </a:lnSpc>
            </a:pPr>
            <a:r>
              <a:rPr lang="en-US" sz="2000" spc="-20">
                <a:solidFill>
                  <a:srgbClr val="A6A6A6"/>
                </a:solidFill>
                <a:latin typeface="Helvetica World"/>
                <a:ea typeface="Helvetica World"/>
                <a:cs typeface="Helvetica World"/>
                <a:sym typeface="Helvetica World"/>
              </a:rPr>
              <a:t> Prime Video Advertisement | ~5% (Estimated)</a:t>
            </a:r>
          </a:p>
          <a:p>
            <a:pPr algn="l">
              <a:lnSpc>
                <a:spcPts val="2800"/>
              </a:lnSpc>
              <a:spcBef>
                <a:spcPct val="0"/>
              </a:spcBef>
            </a:pPr>
            <a:r>
              <a:rPr lang="en-US" sz="2000" spc="-20">
                <a:solidFill>
                  <a:srgbClr val="A6A6A6"/>
                </a:solidFill>
                <a:latin typeface="Helvetica World"/>
                <a:ea typeface="Helvetica World"/>
                <a:cs typeface="Helvetica World"/>
                <a:sym typeface="Helvetica World"/>
              </a:rPr>
              <a:t>Video Total | ~36% (Estimated)</a:t>
            </a:r>
          </a:p>
        </p:txBody>
      </p:sp>
      <p:sp>
        <p:nvSpPr>
          <p:cNvPr name="TextBox 6" id="6"/>
          <p:cNvSpPr txBox="true"/>
          <p:nvPr/>
        </p:nvSpPr>
        <p:spPr>
          <a:xfrm rot="0">
            <a:off x="6475889" y="-481965"/>
            <a:ext cx="10783411" cy="9277350"/>
          </a:xfrm>
          <a:prstGeom prst="rect">
            <a:avLst/>
          </a:prstGeom>
        </p:spPr>
        <p:txBody>
          <a:bodyPr anchor="t" rtlCol="false" tIns="0" lIns="0" bIns="0" rIns="0">
            <a:spAutoFit/>
          </a:bodyPr>
          <a:lstStyle/>
          <a:p>
            <a:pPr algn="r">
              <a:lnSpc>
                <a:spcPts val="75600"/>
              </a:lnSpc>
            </a:pPr>
            <a:r>
              <a:rPr lang="en-US" sz="54000" spc="-2700">
                <a:solidFill>
                  <a:srgbClr val="FFFFFF"/>
                </a:solidFill>
                <a:latin typeface="Helvetica World"/>
                <a:ea typeface="Helvetica World"/>
                <a:cs typeface="Helvetica World"/>
                <a:sym typeface="Helvetica World"/>
              </a:rPr>
              <a:t>6</a:t>
            </a:r>
          </a:p>
        </p:txBody>
      </p:sp>
      <p:sp>
        <p:nvSpPr>
          <p:cNvPr name="Freeform 7" id="7"/>
          <p:cNvSpPr/>
          <p:nvPr/>
        </p:nvSpPr>
        <p:spPr>
          <a:xfrm flipH="false" flipV="false" rot="0">
            <a:off x="1028700" y="2209016"/>
            <a:ext cx="3878560" cy="2293199"/>
          </a:xfrm>
          <a:custGeom>
            <a:avLst/>
            <a:gdLst/>
            <a:ahLst/>
            <a:cxnLst/>
            <a:rect r="r" b="b" t="t" l="l"/>
            <a:pathLst>
              <a:path h="2293199" w="3878560">
                <a:moveTo>
                  <a:pt x="0" y="0"/>
                </a:moveTo>
                <a:lnTo>
                  <a:pt x="3878560" y="0"/>
                </a:lnTo>
                <a:lnTo>
                  <a:pt x="3878560" y="2293199"/>
                </a:lnTo>
                <a:lnTo>
                  <a:pt x="0" y="2293199"/>
                </a:lnTo>
                <a:lnTo>
                  <a:pt x="0" y="0"/>
                </a:lnTo>
                <a:close/>
              </a:path>
            </a:pathLst>
          </a:custGeom>
          <a:blipFill>
            <a:blip r:embed="rId2"/>
            <a:stretch>
              <a:fillRect l="0" t="0" r="0" b="0"/>
            </a:stretch>
          </a:blipFill>
        </p:spPr>
      </p:sp>
      <p:grpSp>
        <p:nvGrpSpPr>
          <p:cNvPr name="Group 8" id="8"/>
          <p:cNvGrpSpPr/>
          <p:nvPr/>
        </p:nvGrpSpPr>
        <p:grpSpPr>
          <a:xfrm rot="0">
            <a:off x="1028700" y="9258300"/>
            <a:ext cx="16230600" cy="301625"/>
            <a:chOff x="0" y="0"/>
            <a:chExt cx="21640800" cy="402167"/>
          </a:xfrm>
        </p:grpSpPr>
        <p:sp>
          <p:nvSpPr>
            <p:cNvPr name="TextBox 9" id="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0" id="1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44</a:t>
              </a:r>
            </a:p>
          </p:txBody>
        </p:sp>
      </p:grpSp>
      <p:sp>
        <p:nvSpPr>
          <p:cNvPr name="TextBox 11" id="11"/>
          <p:cNvSpPr txBox="true"/>
          <p:nvPr/>
        </p:nvSpPr>
        <p:spPr>
          <a:xfrm rot="0">
            <a:off x="10483491" y="6596381"/>
            <a:ext cx="6775809" cy="2199004"/>
          </a:xfrm>
          <a:prstGeom prst="rect">
            <a:avLst/>
          </a:prstGeom>
        </p:spPr>
        <p:txBody>
          <a:bodyPr anchor="t" rtlCol="false" tIns="0" lIns="0" bIns="0" rIns="0">
            <a:spAutoFit/>
          </a:bodyPr>
          <a:lstStyle/>
          <a:p>
            <a:pPr algn="r">
              <a:lnSpc>
                <a:spcPts val="17920"/>
              </a:lnSpc>
            </a:pPr>
            <a:r>
              <a:rPr lang="en-US" sz="12800" spc="-128">
                <a:solidFill>
                  <a:srgbClr val="FFFFFF"/>
                </a:solidFill>
                <a:latin typeface="Helvetica World"/>
                <a:ea typeface="Helvetica World"/>
                <a:cs typeface="Helvetica World"/>
                <a:sym typeface="Helvetica World"/>
              </a:rPr>
              <a:t>%</a:t>
            </a:r>
          </a:p>
        </p:txBody>
      </p:sp>
      <p:sp>
        <p:nvSpPr>
          <p:cNvPr name="TextBox 12" id="12"/>
          <p:cNvSpPr txBox="true"/>
          <p:nvPr/>
        </p:nvSpPr>
        <p:spPr>
          <a:xfrm rot="0">
            <a:off x="10483491" y="8427720"/>
            <a:ext cx="6775809" cy="830580"/>
          </a:xfrm>
          <a:prstGeom prst="rect">
            <a:avLst/>
          </a:prstGeom>
        </p:spPr>
        <p:txBody>
          <a:bodyPr anchor="t" rtlCol="false" tIns="0" lIns="0" bIns="0" rIns="0">
            <a:spAutoFit/>
          </a:bodyPr>
          <a:lstStyle/>
          <a:p>
            <a:pPr algn="r">
              <a:lnSpc>
                <a:spcPts val="6719"/>
              </a:lnSpc>
            </a:pPr>
            <a:r>
              <a:rPr lang="en-US" sz="4800" spc="-48">
                <a:solidFill>
                  <a:srgbClr val="FFFFFF">
                    <a:alpha val="49804"/>
                  </a:srgbClr>
                </a:solidFill>
                <a:latin typeface="Helvetica World"/>
                <a:ea typeface="Helvetica World"/>
                <a:cs typeface="Helvetica World"/>
                <a:sym typeface="Helvetica World"/>
              </a:rPr>
              <a:t>of total revenue</a:t>
            </a:r>
          </a:p>
        </p:txBody>
      </p:sp>
      <p:sp>
        <p:nvSpPr>
          <p:cNvPr name="TextBox 13" id="13"/>
          <p:cNvSpPr txBox="true"/>
          <p:nvPr/>
        </p:nvSpPr>
        <p:spPr>
          <a:xfrm rot="0">
            <a:off x="1028700" y="5245408"/>
            <a:ext cx="5648846" cy="972185"/>
          </a:xfrm>
          <a:prstGeom prst="rect">
            <a:avLst/>
          </a:prstGeom>
        </p:spPr>
        <p:txBody>
          <a:bodyPr anchor="t" rtlCol="false" tIns="0" lIns="0" bIns="0" rIns="0">
            <a:spAutoFit/>
          </a:bodyPr>
          <a:lstStyle/>
          <a:p>
            <a:pPr algn="l">
              <a:lnSpc>
                <a:spcPts val="7840"/>
              </a:lnSpc>
              <a:spcBef>
                <a:spcPct val="0"/>
              </a:spcBef>
            </a:pPr>
            <a:r>
              <a:rPr lang="en-US" sz="5600" spc="-56">
                <a:solidFill>
                  <a:srgbClr val="A6A6A6"/>
                </a:solidFill>
                <a:latin typeface="Helvetica World"/>
                <a:ea typeface="Helvetica World"/>
                <a:cs typeface="Helvetica World"/>
                <a:sym typeface="Helvetica World"/>
              </a:rPr>
              <a:t>Streaming Service</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sp>
        <p:nvSpPr>
          <p:cNvPr name="TextBox 3" id="3"/>
          <p:cNvSpPr txBox="true"/>
          <p:nvPr/>
        </p:nvSpPr>
        <p:spPr>
          <a:xfrm rot="0">
            <a:off x="1028700" y="4445065"/>
            <a:ext cx="6712998" cy="2825750"/>
          </a:xfrm>
          <a:prstGeom prst="rect">
            <a:avLst/>
          </a:prstGeom>
        </p:spPr>
        <p:txBody>
          <a:bodyPr anchor="t" rtlCol="false" tIns="0" lIns="0" bIns="0" rIns="0">
            <a:spAutoFit/>
          </a:bodyPr>
          <a:lstStyle/>
          <a:p>
            <a:pPr algn="l">
              <a:lnSpc>
                <a:spcPts val="2800"/>
              </a:lnSpc>
              <a:spcBef>
                <a:spcPct val="0"/>
              </a:spcBef>
            </a:pPr>
            <a:r>
              <a:rPr lang="en-US" sz="2000" spc="-20">
                <a:solidFill>
                  <a:srgbClr val="FFFFFF"/>
                </a:solidFill>
                <a:latin typeface="Helvetica World"/>
                <a:ea typeface="Helvetica World"/>
                <a:cs typeface="Helvetica World"/>
                <a:sym typeface="Helvetica World"/>
              </a:rPr>
              <a:t>Amazon has expanded beyond its core e-commerce and cloud computing services, making a full-scale entry into the content streaming business in the mid-2010s. By integrating this with its Prime members</a:t>
            </a:r>
            <a:r>
              <a:rPr lang="en-US" sz="2000" spc="-20">
                <a:solidFill>
                  <a:srgbClr val="FFFFFF"/>
                </a:solidFill>
                <a:latin typeface="Helvetica World"/>
                <a:ea typeface="Helvetica World"/>
                <a:cs typeface="Helvetica World"/>
                <a:sym typeface="Helvetica World"/>
              </a:rPr>
              <a:t>hip (subscription), the company maximized customer lock-in effects while simultaneously pursuing vertical integration into the media and entertainment industry through expanding its proprietary IP portfolio via original series production and the acquisition of MGM.</a:t>
            </a:r>
          </a:p>
        </p:txBody>
      </p:sp>
      <p:sp>
        <p:nvSpPr>
          <p:cNvPr name="AutoShape 4" id="4"/>
          <p:cNvSpPr/>
          <p:nvPr/>
        </p:nvSpPr>
        <p:spPr>
          <a:xfrm>
            <a:off x="9134475" y="4502215"/>
            <a:ext cx="0" cy="4030280"/>
          </a:xfrm>
          <a:prstGeom prst="line">
            <a:avLst/>
          </a:prstGeom>
          <a:ln cap="rnd" w="19050">
            <a:solidFill>
              <a:srgbClr val="FFFFFF">
                <a:alpha val="29804"/>
              </a:srgbClr>
            </a:solidFill>
            <a:prstDash val="sysDash"/>
            <a:headEnd type="none" len="sm" w="sm"/>
            <a:tailEnd type="none" len="sm" w="sm"/>
          </a:ln>
        </p:spPr>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8" id="8"/>
          <p:cNvGrpSpPr/>
          <p:nvPr/>
        </p:nvGrpSpPr>
        <p:grpSpPr>
          <a:xfrm rot="0">
            <a:off x="9684898" y="4502215"/>
            <a:ext cx="7284917" cy="1845299"/>
            <a:chOff x="0" y="0"/>
            <a:chExt cx="9713223" cy="2460399"/>
          </a:xfrm>
        </p:grpSpPr>
        <p:sp>
          <p:nvSpPr>
            <p:cNvPr name="TextBox 9" id="9"/>
            <p:cNvSpPr txBox="true"/>
            <p:nvPr/>
          </p:nvSpPr>
          <p:spPr>
            <a:xfrm rot="0">
              <a:off x="0" y="0"/>
              <a:ext cx="2792893" cy="2019300"/>
            </a:xfrm>
            <a:prstGeom prst="rect">
              <a:avLst/>
            </a:prstGeom>
          </p:spPr>
          <p:txBody>
            <a:bodyPr anchor="t" rtlCol="false" tIns="0" lIns="0" bIns="0" rIns="0">
              <a:spAutoFit/>
            </a:bodyPr>
            <a:lstStyle/>
            <a:p>
              <a:pPr algn="l">
                <a:lnSpc>
                  <a:spcPts val="11999"/>
                </a:lnSpc>
                <a:spcBef>
                  <a:spcPct val="0"/>
                </a:spcBef>
              </a:pPr>
              <a:r>
                <a:rPr lang="en-US" sz="9999" spc="-99">
                  <a:solidFill>
                    <a:srgbClr val="A6A6A6"/>
                  </a:solidFill>
                  <a:latin typeface="Helvetica World"/>
                  <a:ea typeface="Helvetica World"/>
                  <a:cs typeface="Helvetica World"/>
                  <a:sym typeface="Helvetica World"/>
                </a:rPr>
                <a:t>399</a:t>
              </a:r>
            </a:p>
          </p:txBody>
        </p:sp>
        <p:sp>
          <p:nvSpPr>
            <p:cNvPr name="TextBox 10" id="10"/>
            <p:cNvSpPr txBox="true"/>
            <p:nvPr/>
          </p:nvSpPr>
          <p:spPr>
            <a:xfrm rot="0">
              <a:off x="3815622" y="288925"/>
              <a:ext cx="5897600" cy="1431925"/>
            </a:xfrm>
            <a:prstGeom prst="rect">
              <a:avLst/>
            </a:prstGeom>
          </p:spPr>
          <p:txBody>
            <a:bodyPr anchor="t" rtlCol="false" tIns="0" lIns="0" bIns="0" rIns="0">
              <a:spAutoFit/>
            </a:bodyPr>
            <a:lstStyle/>
            <a:p>
              <a:pPr algn="r">
                <a:lnSpc>
                  <a:spcPts val="2160"/>
                </a:lnSpc>
                <a:spcBef>
                  <a:spcPct val="0"/>
                </a:spcBef>
              </a:pPr>
              <a:r>
                <a:rPr lang="en-US" sz="1800" spc="-18">
                  <a:solidFill>
                    <a:srgbClr val="A6A6A6"/>
                  </a:solidFill>
                  <a:latin typeface="Helvetica World"/>
                  <a:ea typeface="Helvetica World"/>
                  <a:cs typeface="Helvetica World"/>
                  <a:sym typeface="Helvetica World"/>
                </a:rPr>
                <a:t>of OTT video u</a:t>
              </a:r>
              <a:r>
                <a:rPr lang="en-US" sz="1800" spc="-18">
                  <a:solidFill>
                    <a:srgbClr val="A6A6A6"/>
                  </a:solidFill>
                  <a:latin typeface="Helvetica World"/>
                  <a:ea typeface="Helvetica World"/>
                  <a:cs typeface="Helvetica World"/>
                  <a:sym typeface="Helvetica World"/>
                </a:rPr>
                <a:t>s</a:t>
              </a:r>
              <a:r>
                <a:rPr lang="en-US" sz="1800" spc="-18">
                  <a:solidFill>
                    <a:srgbClr val="A6A6A6"/>
                  </a:solidFill>
                  <a:latin typeface="Helvetica World"/>
                  <a:ea typeface="Helvetica World"/>
                  <a:cs typeface="Helvetica World"/>
                  <a:sym typeface="Helvetica World"/>
                </a:rPr>
                <a:t>ers worldwide</a:t>
              </a:r>
            </a:p>
            <a:p>
              <a:pPr algn="r">
                <a:lnSpc>
                  <a:spcPts val="2160"/>
                </a:lnSpc>
                <a:spcBef>
                  <a:spcPct val="0"/>
                </a:spcBef>
              </a:pPr>
              <a:r>
                <a:rPr lang="en-US" sz="1800" spc="-18">
                  <a:solidFill>
                    <a:srgbClr val="A6A6A6"/>
                  </a:solidFill>
                  <a:latin typeface="Helvetica World"/>
                  <a:ea typeface="Helvetica World"/>
                  <a:cs typeface="Helvetica World"/>
                  <a:sym typeface="Helvetica World"/>
                </a:rPr>
                <a:t>( $340+ billion of global OTT video revenue in 2025, with the United States accounting for the largest share)</a:t>
              </a:r>
            </a:p>
          </p:txBody>
        </p:sp>
        <p:sp>
          <p:nvSpPr>
            <p:cNvPr name="TextBox 11" id="11"/>
            <p:cNvSpPr txBox="true"/>
            <p:nvPr/>
          </p:nvSpPr>
          <p:spPr>
            <a:xfrm rot="0">
              <a:off x="2792893" y="492125"/>
              <a:ext cx="744339" cy="1025525"/>
            </a:xfrm>
            <a:prstGeom prst="rect">
              <a:avLst/>
            </a:prstGeom>
          </p:spPr>
          <p:txBody>
            <a:bodyPr anchor="t" rtlCol="false" tIns="0" lIns="0" bIns="0" rIns="0">
              <a:spAutoFit/>
            </a:bodyPr>
            <a:lstStyle/>
            <a:p>
              <a:pPr algn="l">
                <a:lnSpc>
                  <a:spcPts val="6000"/>
                </a:lnSpc>
                <a:spcBef>
                  <a:spcPct val="0"/>
                </a:spcBef>
              </a:pPr>
              <a:r>
                <a:rPr lang="en-US" sz="5000" spc="-50">
                  <a:solidFill>
                    <a:srgbClr val="A6A6A6"/>
                  </a:solidFill>
                  <a:latin typeface="Helvetica World"/>
                  <a:ea typeface="Helvetica World"/>
                  <a:cs typeface="Helvetica World"/>
                  <a:sym typeface="Helvetica World"/>
                </a:rPr>
                <a:t>M</a:t>
              </a:r>
            </a:p>
          </p:txBody>
        </p:sp>
        <p:sp>
          <p:nvSpPr>
            <p:cNvPr name="TextBox 12" id="12"/>
            <p:cNvSpPr txBox="true"/>
            <p:nvPr/>
          </p:nvSpPr>
          <p:spPr>
            <a:xfrm rot="0">
              <a:off x="0" y="1968274"/>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A6A6A6"/>
                  </a:solidFill>
                  <a:latin typeface="Helvetica World"/>
                  <a:ea typeface="Helvetica World"/>
                  <a:cs typeface="Helvetica World"/>
                  <a:sym typeface="Helvetica World"/>
                </a:rPr>
                <a:t>Source: Statista Market Insights Link: </a:t>
              </a:r>
              <a:r>
                <a:rPr lang="en-US" sz="1200" spc="-12" u="sng">
                  <a:solidFill>
                    <a:srgbClr val="A6A6A6"/>
                  </a:solidFill>
                  <a:latin typeface="Helvetica World"/>
                  <a:ea typeface="Helvetica World"/>
                  <a:cs typeface="Helvetica World"/>
                  <a:sym typeface="Helvetica World"/>
                  <a:hlinkClick r:id="rId2" tooltip="https://www.statista.com/topics/7527/video-streaming-worldwide/"/>
                </a:rPr>
                <a:t>Source: Synergy Research Group (November 2025) of the global cloud infr</a:t>
              </a:r>
              <a:r>
                <a:rPr lang="en-US" sz="1200" spc="-12" u="sng">
                  <a:solidFill>
                    <a:srgbClr val="A6A6A6"/>
                  </a:solidFill>
                  <a:latin typeface="Helvetica World"/>
                  <a:ea typeface="Helvetica World"/>
                  <a:cs typeface="Helvetica World"/>
                  <a:sym typeface="Helvetica World"/>
                  <a:hlinkClick r:id="rId3" tooltip="https://www.statista.com/topics/7527/video-streaming-worldwide/"/>
                </a:rPr>
                <a:t>ast</a:t>
              </a:r>
              <a:r>
                <a:rPr lang="en-US" sz="1200" spc="-12" u="sng">
                  <a:solidFill>
                    <a:srgbClr val="A6A6A6"/>
                  </a:solidFill>
                  <a:latin typeface="Helvetica World"/>
                  <a:ea typeface="Helvetica World"/>
                  <a:cs typeface="Helvetica World"/>
                  <a:sym typeface="Helvetica World"/>
                  <a:hlinkClick r:id="rId4" tooltip="https://www.statista.com/topics/7527/video-streaming-worldwide/"/>
                </a:rPr>
                <a:t>ructure market in Q3 2025, maintaining its lead over Microsoft Azure (20%) and Google Cloud (13%)</a:t>
              </a:r>
            </a:p>
          </p:txBody>
        </p:sp>
      </p:grpSp>
      <p:grpSp>
        <p:nvGrpSpPr>
          <p:cNvPr name="Group 13" id="13"/>
          <p:cNvGrpSpPr/>
          <p:nvPr/>
        </p:nvGrpSpPr>
        <p:grpSpPr>
          <a:xfrm rot="0">
            <a:off x="9684898" y="6746558"/>
            <a:ext cx="7284917" cy="1785938"/>
            <a:chOff x="0" y="0"/>
            <a:chExt cx="9713223" cy="2381250"/>
          </a:xfrm>
        </p:grpSpPr>
        <p:sp>
          <p:nvSpPr>
            <p:cNvPr name="TextBox 14" id="14"/>
            <p:cNvSpPr txBox="true"/>
            <p:nvPr/>
          </p:nvSpPr>
          <p:spPr>
            <a:xfrm rot="0">
              <a:off x="161479" y="0"/>
              <a:ext cx="1849636" cy="2019300"/>
            </a:xfrm>
            <a:prstGeom prst="rect">
              <a:avLst/>
            </a:prstGeom>
          </p:spPr>
          <p:txBody>
            <a:bodyPr anchor="t" rtlCol="false" tIns="0" lIns="0" bIns="0" rIns="0">
              <a:spAutoFit/>
            </a:bodyPr>
            <a:lstStyle/>
            <a:p>
              <a:pPr algn="l">
                <a:lnSpc>
                  <a:spcPts val="11999"/>
                </a:lnSpc>
                <a:spcBef>
                  <a:spcPct val="0"/>
                </a:spcBef>
              </a:pPr>
              <a:r>
                <a:rPr lang="en-US" sz="9999" spc="-99">
                  <a:solidFill>
                    <a:srgbClr val="A6A6A6"/>
                  </a:solidFill>
                  <a:latin typeface="Helvetica World"/>
                  <a:ea typeface="Helvetica World"/>
                  <a:cs typeface="Helvetica World"/>
                  <a:sym typeface="Helvetica World"/>
                </a:rPr>
                <a:t>53</a:t>
              </a:r>
            </a:p>
          </p:txBody>
        </p:sp>
        <p:sp>
          <p:nvSpPr>
            <p:cNvPr name="TextBox 15" id="15"/>
            <p:cNvSpPr txBox="true"/>
            <p:nvPr/>
          </p:nvSpPr>
          <p:spPr>
            <a:xfrm rot="0">
              <a:off x="3815622" y="644525"/>
              <a:ext cx="5897600" cy="720725"/>
            </a:xfrm>
            <a:prstGeom prst="rect">
              <a:avLst/>
            </a:prstGeom>
          </p:spPr>
          <p:txBody>
            <a:bodyPr anchor="t" rtlCol="false" tIns="0" lIns="0" bIns="0" rIns="0">
              <a:spAutoFit/>
            </a:bodyPr>
            <a:lstStyle/>
            <a:p>
              <a:pPr algn="r">
                <a:lnSpc>
                  <a:spcPts val="2160"/>
                </a:lnSpc>
                <a:spcBef>
                  <a:spcPct val="0"/>
                </a:spcBef>
              </a:pPr>
              <a:r>
                <a:rPr lang="en-US" sz="1800" spc="-18">
                  <a:solidFill>
                    <a:srgbClr val="A6A6A6"/>
                  </a:solidFill>
                  <a:latin typeface="Helvetica World"/>
                  <a:ea typeface="Helvetica World"/>
                  <a:cs typeface="Helvetica World"/>
                  <a:sym typeface="Helvetica World"/>
                </a:rPr>
                <a:t>of global OTT v</a:t>
              </a:r>
              <a:r>
                <a:rPr lang="en-US" sz="1800" spc="-18">
                  <a:solidFill>
                    <a:srgbClr val="A6A6A6"/>
                  </a:solidFill>
                  <a:latin typeface="Helvetica World"/>
                  <a:ea typeface="Helvetica World"/>
                  <a:cs typeface="Helvetica World"/>
                  <a:sym typeface="Helvetica World"/>
                </a:rPr>
                <a:t>ideo penetration rate in 2025 (projected to increase to 62.97% by 2030)</a:t>
              </a:r>
            </a:p>
          </p:txBody>
        </p:sp>
        <p:sp>
          <p:nvSpPr>
            <p:cNvPr name="TextBox 16" id="16"/>
            <p:cNvSpPr txBox="true"/>
            <p:nvPr/>
          </p:nvSpPr>
          <p:spPr>
            <a:xfrm rot="0">
              <a:off x="2011114" y="492125"/>
              <a:ext cx="1231999" cy="1025525"/>
            </a:xfrm>
            <a:prstGeom prst="rect">
              <a:avLst/>
            </a:prstGeom>
          </p:spPr>
          <p:txBody>
            <a:bodyPr anchor="t" rtlCol="false" tIns="0" lIns="0" bIns="0" rIns="0">
              <a:spAutoFit/>
            </a:bodyPr>
            <a:lstStyle/>
            <a:p>
              <a:pPr algn="l">
                <a:lnSpc>
                  <a:spcPts val="6000"/>
                </a:lnSpc>
                <a:spcBef>
                  <a:spcPct val="0"/>
                </a:spcBef>
              </a:pPr>
              <a:r>
                <a:rPr lang="en-US" sz="5000" spc="-50">
                  <a:solidFill>
                    <a:srgbClr val="A6A6A6"/>
                  </a:solidFill>
                  <a:latin typeface="Helvetica World"/>
                  <a:ea typeface="Helvetica World"/>
                  <a:cs typeface="Helvetica World"/>
                  <a:sym typeface="Helvetica World"/>
                </a:rPr>
                <a:t>%+</a:t>
              </a:r>
            </a:p>
          </p:txBody>
        </p:sp>
        <p:sp>
          <p:nvSpPr>
            <p:cNvPr name="TextBox 17" id="17"/>
            <p:cNvSpPr txBox="true"/>
            <p:nvPr/>
          </p:nvSpPr>
          <p:spPr>
            <a:xfrm rot="0">
              <a:off x="0" y="1647825"/>
              <a:ext cx="9713223" cy="733425"/>
            </a:xfrm>
            <a:prstGeom prst="rect">
              <a:avLst/>
            </a:prstGeom>
          </p:spPr>
          <p:txBody>
            <a:bodyPr anchor="t" rtlCol="false" tIns="0" lIns="0" bIns="0" rIns="0">
              <a:spAutoFit/>
            </a:bodyPr>
            <a:lstStyle/>
            <a:p>
              <a:pPr algn="r">
                <a:lnSpc>
                  <a:spcPts val="1439"/>
                </a:lnSpc>
              </a:pPr>
              <a:r>
                <a:rPr lang="en-US" sz="1200" spc="-12" u="sng">
                  <a:solidFill>
                    <a:srgbClr val="A6A6A6"/>
                  </a:solidFill>
                  <a:latin typeface="Helvetica World"/>
                  <a:ea typeface="Helvetica World"/>
                  <a:cs typeface="Helvetica World"/>
                  <a:sym typeface="Helvetica World"/>
                  <a:hlinkClick r:id="rId5" tooltip="https://aws.amazon.com/blogs/apn/say-hello-to-103-new-aws-competency-service-delivery-service-ready-and-msp-partners-added-in-february/"/>
                </a:rPr>
                <a:t>Source: Statista Market Insights</a:t>
              </a:r>
            </a:p>
            <a:p>
              <a:pPr algn="r">
                <a:lnSpc>
                  <a:spcPts val="1439"/>
                </a:lnSpc>
                <a:spcBef>
                  <a:spcPct val="0"/>
                </a:spcBef>
              </a:pPr>
              <a:r>
                <a:rPr lang="en-US" sz="1200" spc="-12" u="sng">
                  <a:solidFill>
                    <a:srgbClr val="A6A6A6"/>
                  </a:solidFill>
                  <a:latin typeface="Helvetica World"/>
                  <a:ea typeface="Helvetica World"/>
                  <a:cs typeface="Helvetica World"/>
                  <a:sym typeface="Helvetica World"/>
                  <a:hlinkClick r:id="rId6" tooltip="https://aws.amazon.com/blogs/apn/say-hello-to-103-new-aws-competency-service-delivery-service-ready-and-msp-partners-added-in-february/"/>
                </a:rPr>
                <a:t> Link: </a:t>
              </a:r>
              <a:r>
                <a:rPr lang="en-US" sz="1200" spc="-12" u="sng">
                  <a:solidFill>
                    <a:srgbClr val="A6A6A6"/>
                  </a:solidFill>
                  <a:latin typeface="Helvetica World"/>
                  <a:ea typeface="Helvetica World"/>
                  <a:cs typeface="Helvetica World"/>
                  <a:sym typeface="Helvetica World"/>
                  <a:hlinkClick r:id="rId7" tooltip="https://www.statista.com/topics/7527/video-streaming-worldwide/"/>
                </a:rPr>
                <a:t>Source: Synergy Research Group (November 2025) of the global cloud infr</a:t>
              </a:r>
              <a:r>
                <a:rPr lang="en-US" sz="1200" spc="-12" u="sng">
                  <a:solidFill>
                    <a:srgbClr val="A6A6A6"/>
                  </a:solidFill>
                  <a:latin typeface="Helvetica World"/>
                  <a:ea typeface="Helvetica World"/>
                  <a:cs typeface="Helvetica World"/>
                  <a:sym typeface="Helvetica World"/>
                  <a:hlinkClick r:id="rId8" tooltip="https://www.statista.com/topics/7527/video-streaming-worldwide/"/>
                </a:rPr>
                <a:t>ast</a:t>
              </a:r>
              <a:r>
                <a:rPr lang="en-US" sz="1200" spc="-12" u="sng">
                  <a:solidFill>
                    <a:srgbClr val="A6A6A6"/>
                  </a:solidFill>
                  <a:latin typeface="Helvetica World"/>
                  <a:ea typeface="Helvetica World"/>
                  <a:cs typeface="Helvetica World"/>
                  <a:sym typeface="Helvetica World"/>
                  <a:hlinkClick r:id="rId9" tooltip="https://www.statista.com/topics/7527/video-streaming-worldwide/"/>
                </a:rPr>
                <a:t>ructure market in Q3 2025, maintaining its lead over Microsoft Azure (20%) and Google Cloud (13%)</a:t>
              </a:r>
            </a:p>
          </p:txBody>
        </p:sp>
      </p:grpSp>
      <p:grpSp>
        <p:nvGrpSpPr>
          <p:cNvPr name="Group 18" id="18"/>
          <p:cNvGrpSpPr/>
          <p:nvPr/>
        </p:nvGrpSpPr>
        <p:grpSpPr>
          <a:xfrm rot="0">
            <a:off x="1028700" y="9258300"/>
            <a:ext cx="16230600" cy="301625"/>
            <a:chOff x="0" y="0"/>
            <a:chExt cx="21640800" cy="402167"/>
          </a:xfrm>
        </p:grpSpPr>
        <p:sp>
          <p:nvSpPr>
            <p:cNvPr name="TextBox 19" id="1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20" id="2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45</a:t>
              </a:r>
            </a:p>
          </p:txBody>
        </p:sp>
      </p:grpSp>
      <p:grpSp>
        <p:nvGrpSpPr>
          <p:cNvPr name="Group 21" id="21"/>
          <p:cNvGrpSpPr/>
          <p:nvPr/>
        </p:nvGrpSpPr>
        <p:grpSpPr>
          <a:xfrm rot="0">
            <a:off x="1028700" y="2209016"/>
            <a:ext cx="4581244" cy="1089885"/>
            <a:chOff x="0" y="0"/>
            <a:chExt cx="6108325" cy="1453180"/>
          </a:xfrm>
        </p:grpSpPr>
        <p:sp>
          <p:nvSpPr>
            <p:cNvPr name="TextBox 22" id="22"/>
            <p:cNvSpPr txBox="true"/>
            <p:nvPr/>
          </p:nvSpPr>
          <p:spPr>
            <a:xfrm rot="0">
              <a:off x="2880343" y="-57150"/>
              <a:ext cx="3227983"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Streaming Service</a:t>
              </a:r>
            </a:p>
          </p:txBody>
        </p:sp>
        <p:sp>
          <p:nvSpPr>
            <p:cNvPr name="Freeform 23" id="23"/>
            <p:cNvSpPr/>
            <p:nvPr/>
          </p:nvSpPr>
          <p:spPr>
            <a:xfrm flipH="false" flipV="false" rot="0">
              <a:off x="0" y="0"/>
              <a:ext cx="2457809" cy="1453180"/>
            </a:xfrm>
            <a:custGeom>
              <a:avLst/>
              <a:gdLst/>
              <a:ahLst/>
              <a:cxnLst/>
              <a:rect r="r" b="b" t="t" l="l"/>
              <a:pathLst>
                <a:path h="1453180" w="2457809">
                  <a:moveTo>
                    <a:pt x="0" y="0"/>
                  </a:moveTo>
                  <a:lnTo>
                    <a:pt x="2457809" y="0"/>
                  </a:lnTo>
                  <a:lnTo>
                    <a:pt x="2457809" y="1453180"/>
                  </a:lnTo>
                  <a:lnTo>
                    <a:pt x="0" y="1453180"/>
                  </a:lnTo>
                  <a:lnTo>
                    <a:pt x="0" y="0"/>
                  </a:lnTo>
                  <a:close/>
                </a:path>
              </a:pathLst>
            </a:custGeom>
            <a:blipFill>
              <a:blip r:embed="rId10"/>
              <a:stretch>
                <a:fillRect l="0" t="0" r="0" b="0"/>
              </a:stretch>
            </a:blipFill>
          </p:spPr>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3" id="3"/>
          <p:cNvSpPr txBox="true"/>
          <p:nvPr/>
        </p:nvSpPr>
        <p:spPr>
          <a:xfrm rot="0">
            <a:off x="1028700" y="4649470"/>
            <a:ext cx="8115300" cy="388302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Prime Video is a top-tier global streaming platform competing with Netflix and Disney+</a:t>
            </a:r>
          </a:p>
          <a:p>
            <a:pPr algn="l">
              <a:lnSpc>
                <a:spcPts val="2800"/>
              </a:lnSpc>
            </a:pPr>
          </a:p>
          <a:p>
            <a:pPr algn="l">
              <a:lnSpc>
                <a:spcPts val="2800"/>
              </a:lnSpc>
            </a:pPr>
            <a:r>
              <a:rPr lang="en-US" sz="2000" spc="-20">
                <a:solidFill>
                  <a:srgbClr val="FFFFFF"/>
                </a:solidFill>
                <a:latin typeface="Helvetica World"/>
                <a:ea typeface="Helvetica World"/>
                <a:cs typeface="Helvetica World"/>
                <a:sym typeface="Helvetica World"/>
              </a:rPr>
              <a:t>Its key differentiator is ecosystem integration (Prime bundle + Amazon devices + commerce) rather than pure content exclusivity</a:t>
            </a:r>
          </a:p>
          <a:p>
            <a:pPr algn="l">
              <a:lnSpc>
                <a:spcPts val="2800"/>
              </a:lnSpc>
            </a:pPr>
          </a:p>
          <a:p>
            <a:pPr algn="l">
              <a:lnSpc>
                <a:spcPts val="2800"/>
              </a:lnSpc>
            </a:pPr>
            <a:r>
              <a:rPr lang="en-US" sz="2000" spc="-20">
                <a:solidFill>
                  <a:srgbClr val="FFFFFF"/>
                </a:solidFill>
                <a:latin typeface="Helvetica World"/>
                <a:ea typeface="Helvetica World"/>
                <a:cs typeface="Helvetica World"/>
                <a:sym typeface="Helvetica World"/>
              </a:rPr>
              <a:t>It uses pricing/value bundling to win on convenience and perceived affordability</a:t>
            </a:r>
          </a:p>
          <a:p>
            <a:pPr algn="l">
              <a:lnSpc>
                <a:spcPts val="2800"/>
              </a:lnSpc>
            </a:pPr>
          </a:p>
          <a:p>
            <a:pPr algn="l">
              <a:lnSpc>
                <a:spcPts val="2800"/>
              </a:lnSpc>
            </a:pPr>
            <a:r>
              <a:rPr lang="en-US" sz="2000" spc="-20">
                <a:solidFill>
                  <a:srgbClr val="FFFFFF"/>
                </a:solidFill>
                <a:latin typeface="Helvetica World"/>
                <a:ea typeface="Helvetica World"/>
                <a:cs typeface="Helvetica World"/>
                <a:sym typeface="Helvetica World"/>
              </a:rPr>
              <a:t>The platform benefits from Amazon’s scale in distribution, data, and infrastructure</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7" id="7"/>
          <p:cNvGrpSpPr/>
          <p:nvPr/>
        </p:nvGrpSpPr>
        <p:grpSpPr>
          <a:xfrm rot="0">
            <a:off x="10106723" y="2209016"/>
            <a:ext cx="7152577" cy="1875791"/>
            <a:chOff x="0" y="0"/>
            <a:chExt cx="9536769" cy="2501054"/>
          </a:xfrm>
        </p:grpSpPr>
        <p:sp>
          <p:nvSpPr>
            <p:cNvPr name="TextBox 8" id="8"/>
            <p:cNvSpPr txBox="true"/>
            <p:nvPr/>
          </p:nvSpPr>
          <p:spPr>
            <a:xfrm rot="0">
              <a:off x="0" y="-190500"/>
              <a:ext cx="9536769" cy="2214034"/>
            </a:xfrm>
            <a:prstGeom prst="rect">
              <a:avLst/>
            </a:prstGeom>
          </p:spPr>
          <p:txBody>
            <a:bodyPr anchor="t" rtlCol="false" tIns="0" lIns="0" bIns="0" rIns="0">
              <a:spAutoFit/>
            </a:bodyPr>
            <a:lstStyle/>
            <a:p>
              <a:pPr algn="r">
                <a:lnSpc>
                  <a:spcPts val="13999"/>
                </a:lnSpc>
              </a:pPr>
              <a:r>
                <a:rPr lang="en-US" sz="9999" spc="-99">
                  <a:solidFill>
                    <a:srgbClr val="FFFFFF"/>
                  </a:solidFill>
                  <a:latin typeface="Helvetica World"/>
                  <a:ea typeface="Helvetica World"/>
                  <a:cs typeface="Helvetica World"/>
                  <a:sym typeface="Helvetica World"/>
                </a:rPr>
                <a:t>IP/Content</a:t>
              </a:r>
            </a:p>
          </p:txBody>
        </p:sp>
        <p:sp>
          <p:nvSpPr>
            <p:cNvPr name="TextBox 9" id="9"/>
            <p:cNvSpPr txBox="true"/>
            <p:nvPr/>
          </p:nvSpPr>
          <p:spPr>
            <a:xfrm rot="0">
              <a:off x="3483569" y="1966384"/>
              <a:ext cx="6053200" cy="534670"/>
            </a:xfrm>
            <a:prstGeom prst="rect">
              <a:avLst/>
            </a:prstGeom>
          </p:spPr>
          <p:txBody>
            <a:bodyPr anchor="t" rtlCol="false" tIns="0" lIns="0" bIns="0" rIns="0">
              <a:spAutoFit/>
            </a:bodyPr>
            <a:lstStyle/>
            <a:p>
              <a:pPr algn="r">
                <a:lnSpc>
                  <a:spcPts val="3359"/>
                </a:lnSpc>
              </a:pPr>
              <a:r>
                <a:rPr lang="en-US" sz="2400" spc="-24">
                  <a:solidFill>
                    <a:srgbClr val="FFFFFF">
                      <a:alpha val="49804"/>
                    </a:srgbClr>
                  </a:solidFill>
                  <a:latin typeface="Helvetica World"/>
                  <a:ea typeface="Helvetica World"/>
                  <a:cs typeface="Helvetica World"/>
                  <a:sym typeface="Helvetica World"/>
                </a:rPr>
                <a:t>[Core Value - What People Want]</a:t>
              </a:r>
            </a:p>
          </p:txBody>
        </p:sp>
      </p:grpSp>
      <p:sp>
        <p:nvSpPr>
          <p:cNvPr name="TextBox 10" id="10"/>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sp>
        <p:nvSpPr>
          <p:cNvPr name="AutoShape 11" id="11"/>
          <p:cNvSpPr/>
          <p:nvPr/>
        </p:nvSpPr>
        <p:spPr>
          <a:xfrm>
            <a:off x="9144000" y="2209016"/>
            <a:ext cx="0" cy="6323479"/>
          </a:xfrm>
          <a:prstGeom prst="line">
            <a:avLst/>
          </a:prstGeom>
          <a:ln cap="rnd" w="19050">
            <a:solidFill>
              <a:srgbClr val="FFFFFF">
                <a:alpha val="29804"/>
              </a:srgbClr>
            </a:solidFill>
            <a:prstDash val="sysDash"/>
            <a:headEnd type="none" len="sm" w="sm"/>
            <a:tailEnd type="none" len="sm" w="sm"/>
          </a:ln>
        </p:spPr>
      </p:sp>
      <p:grpSp>
        <p:nvGrpSpPr>
          <p:cNvPr name="Group 12" id="12"/>
          <p:cNvGrpSpPr/>
          <p:nvPr/>
        </p:nvGrpSpPr>
        <p:grpSpPr>
          <a:xfrm rot="0">
            <a:off x="1028700" y="9258300"/>
            <a:ext cx="16230600" cy="301625"/>
            <a:chOff x="0" y="0"/>
            <a:chExt cx="21640800" cy="402167"/>
          </a:xfrm>
        </p:grpSpPr>
        <p:sp>
          <p:nvSpPr>
            <p:cNvPr name="TextBox 13" id="1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4" id="1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46</a:t>
              </a:r>
            </a:p>
          </p:txBody>
        </p:sp>
      </p:grpSp>
      <p:grpSp>
        <p:nvGrpSpPr>
          <p:cNvPr name="Group 15" id="15"/>
          <p:cNvGrpSpPr/>
          <p:nvPr/>
        </p:nvGrpSpPr>
        <p:grpSpPr>
          <a:xfrm rot="0">
            <a:off x="1028700" y="2209016"/>
            <a:ext cx="4581244" cy="1089885"/>
            <a:chOff x="0" y="0"/>
            <a:chExt cx="6108325" cy="1453180"/>
          </a:xfrm>
        </p:grpSpPr>
        <p:sp>
          <p:nvSpPr>
            <p:cNvPr name="TextBox 16" id="16"/>
            <p:cNvSpPr txBox="true"/>
            <p:nvPr/>
          </p:nvSpPr>
          <p:spPr>
            <a:xfrm rot="0">
              <a:off x="2880343" y="-57150"/>
              <a:ext cx="3227983"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Streaming Service</a:t>
              </a:r>
            </a:p>
          </p:txBody>
        </p:sp>
        <p:sp>
          <p:nvSpPr>
            <p:cNvPr name="Freeform 17" id="17"/>
            <p:cNvSpPr/>
            <p:nvPr/>
          </p:nvSpPr>
          <p:spPr>
            <a:xfrm flipH="false" flipV="false" rot="0">
              <a:off x="0" y="0"/>
              <a:ext cx="2457809" cy="1453180"/>
            </a:xfrm>
            <a:custGeom>
              <a:avLst/>
              <a:gdLst/>
              <a:ahLst/>
              <a:cxnLst/>
              <a:rect r="r" b="b" t="t" l="l"/>
              <a:pathLst>
                <a:path h="1453180" w="2457809">
                  <a:moveTo>
                    <a:pt x="0" y="0"/>
                  </a:moveTo>
                  <a:lnTo>
                    <a:pt x="2457809" y="0"/>
                  </a:lnTo>
                  <a:lnTo>
                    <a:pt x="2457809" y="1453180"/>
                  </a:lnTo>
                  <a:lnTo>
                    <a:pt x="0" y="1453180"/>
                  </a:lnTo>
                  <a:lnTo>
                    <a:pt x="0" y="0"/>
                  </a:lnTo>
                  <a:close/>
                </a:path>
              </a:pathLst>
            </a:custGeom>
            <a:blipFill>
              <a:blip r:embed="rId3"/>
              <a:stretch>
                <a:fillRect l="0" t="0" r="0" b="0"/>
              </a:stretch>
            </a:blipFill>
          </p:spPr>
        </p:sp>
      </p:grpSp>
    </p:spTree>
  </p:cSld>
  <p:clrMapOvr>
    <a:masterClrMapping/>
  </p:clrMapOvr>
</p:sld>
</file>

<file path=ppt/slides/slide51.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2293574"/>
            <a:ext cx="16230600" cy="5699852"/>
            <a:chOff x="0" y="0"/>
            <a:chExt cx="21640800" cy="7599803"/>
          </a:xfrm>
        </p:grpSpPr>
        <p:sp>
          <p:nvSpPr>
            <p:cNvPr name="TextBox 3" id="3"/>
            <p:cNvSpPr txBox="true"/>
            <p:nvPr/>
          </p:nvSpPr>
          <p:spPr>
            <a:xfrm rot="0">
              <a:off x="0" y="775123"/>
              <a:ext cx="18494962" cy="929217"/>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Prime Video provides continuous entertainment that increases perceived Prime value, helping retain subscribers and justify ongoing membership fees.</a:t>
              </a:r>
            </a:p>
          </p:txBody>
        </p:sp>
        <p:sp>
          <p:nvSpPr>
            <p:cNvPr name="TextBox 4" id="4"/>
            <p:cNvSpPr txBox="true"/>
            <p:nvPr/>
          </p:nvSpPr>
          <p:spPr>
            <a:xfrm rot="0">
              <a:off x="0" y="-66675"/>
              <a:ext cx="9627691" cy="632248"/>
            </a:xfrm>
            <a:prstGeom prst="rect">
              <a:avLst/>
            </a:prstGeom>
          </p:spPr>
          <p:txBody>
            <a:bodyPr anchor="t" rtlCol="false" tIns="0" lIns="0" bIns="0" rIns="0">
              <a:spAutoFit/>
            </a:bodyPr>
            <a:lstStyle/>
            <a:p>
              <a:pPr algn="l">
                <a:lnSpc>
                  <a:spcPts val="3920"/>
                </a:lnSpc>
              </a:pPr>
              <a:r>
                <a:rPr lang="en-US" sz="2800" spc="-28">
                  <a:solidFill>
                    <a:srgbClr val="FFFFFF"/>
                  </a:solidFill>
                  <a:latin typeface="Helvetica World"/>
                  <a:ea typeface="Helvetica World"/>
                  <a:cs typeface="Helvetica World"/>
                  <a:sym typeface="Helvetica World"/>
                </a:rPr>
                <a:t>Prime membership retention and bundled value</a:t>
              </a:r>
            </a:p>
          </p:txBody>
        </p:sp>
        <p:sp>
          <p:nvSpPr>
            <p:cNvPr name="TextBox 5" id="5"/>
            <p:cNvSpPr txBox="true"/>
            <p:nvPr/>
          </p:nvSpPr>
          <p:spPr>
            <a:xfrm rot="0">
              <a:off x="0" y="3722854"/>
              <a:ext cx="18494962" cy="929217"/>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Watching content keeps users within the Amazon ecosystem longer, increasing the likelihood of shopping, device usage, and repeated platform interactions.</a:t>
              </a:r>
            </a:p>
          </p:txBody>
        </p:sp>
        <p:sp>
          <p:nvSpPr>
            <p:cNvPr name="TextBox 6" id="6"/>
            <p:cNvSpPr txBox="true"/>
            <p:nvPr/>
          </p:nvSpPr>
          <p:spPr>
            <a:xfrm rot="0">
              <a:off x="0" y="2881057"/>
              <a:ext cx="11280279" cy="632248"/>
            </a:xfrm>
            <a:prstGeom prst="rect">
              <a:avLst/>
            </a:prstGeom>
          </p:spPr>
          <p:txBody>
            <a:bodyPr anchor="t" rtlCol="false" tIns="0" lIns="0" bIns="0" rIns="0">
              <a:spAutoFit/>
            </a:bodyPr>
            <a:lstStyle/>
            <a:p>
              <a:pPr algn="l">
                <a:lnSpc>
                  <a:spcPts val="3920"/>
                </a:lnSpc>
              </a:pPr>
              <a:r>
                <a:rPr lang="en-US" sz="2800" spc="-28">
                  <a:solidFill>
                    <a:srgbClr val="FFFFFF"/>
                  </a:solidFill>
                  <a:latin typeface="Helvetica World"/>
                  <a:ea typeface="Helvetica World"/>
                  <a:cs typeface="Helvetica World"/>
                  <a:sym typeface="Helvetica World"/>
                </a:rPr>
                <a:t>Extended ecosystem engagement and cross-service lift</a:t>
              </a:r>
            </a:p>
          </p:txBody>
        </p:sp>
        <p:sp>
          <p:nvSpPr>
            <p:cNvPr name="TextBox 7" id="7"/>
            <p:cNvSpPr txBox="true"/>
            <p:nvPr/>
          </p:nvSpPr>
          <p:spPr>
            <a:xfrm rot="0">
              <a:off x="0" y="6670586"/>
              <a:ext cx="18494962" cy="929217"/>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Viewing behavior generates first-party data that improves recommendations not only for content, but also for products and ads across Amazon.</a:t>
              </a:r>
            </a:p>
          </p:txBody>
        </p:sp>
        <p:sp>
          <p:nvSpPr>
            <p:cNvPr name="TextBox 8" id="8"/>
            <p:cNvSpPr txBox="true"/>
            <p:nvPr/>
          </p:nvSpPr>
          <p:spPr>
            <a:xfrm rot="0">
              <a:off x="0" y="5828788"/>
              <a:ext cx="9247481" cy="632248"/>
            </a:xfrm>
            <a:prstGeom prst="rect">
              <a:avLst/>
            </a:prstGeom>
          </p:spPr>
          <p:txBody>
            <a:bodyPr anchor="t" rtlCol="false" tIns="0" lIns="0" bIns="0" rIns="0">
              <a:spAutoFit/>
            </a:bodyPr>
            <a:lstStyle/>
            <a:p>
              <a:pPr algn="l">
                <a:lnSpc>
                  <a:spcPts val="3920"/>
                </a:lnSpc>
              </a:pPr>
              <a:r>
                <a:rPr lang="en-US" sz="2800" spc="-28">
                  <a:solidFill>
                    <a:srgbClr val="FFFFFF"/>
                  </a:solidFill>
                  <a:latin typeface="Helvetica World"/>
                  <a:ea typeface="Helvetica World"/>
                  <a:cs typeface="Helvetica World"/>
                  <a:sym typeface="Helvetica World"/>
                </a:rPr>
                <a:t>Data-driven personalization across services</a:t>
              </a:r>
            </a:p>
          </p:txBody>
        </p:sp>
        <p:sp>
          <p:nvSpPr>
            <p:cNvPr name="AutoShape 9" id="9"/>
            <p:cNvSpPr/>
            <p:nvPr/>
          </p:nvSpPr>
          <p:spPr>
            <a:xfrm flipH="true" flipV="true">
              <a:off x="0" y="2326035"/>
              <a:ext cx="21640800" cy="0"/>
            </a:xfrm>
            <a:prstGeom prst="line">
              <a:avLst/>
            </a:prstGeom>
            <a:ln cap="rnd" w="25400">
              <a:solidFill>
                <a:srgbClr val="FFFFFF">
                  <a:alpha val="29804"/>
                </a:srgbClr>
              </a:solidFill>
              <a:prstDash val="sysDash"/>
              <a:headEnd type="none" len="sm" w="sm"/>
              <a:tailEnd type="none" len="sm" w="sm"/>
            </a:ln>
          </p:spPr>
        </p:sp>
        <p:sp>
          <p:nvSpPr>
            <p:cNvPr name="AutoShape 10" id="10"/>
            <p:cNvSpPr/>
            <p:nvPr/>
          </p:nvSpPr>
          <p:spPr>
            <a:xfrm flipH="true" flipV="true">
              <a:off x="0" y="5273767"/>
              <a:ext cx="21640800" cy="0"/>
            </a:xfrm>
            <a:prstGeom prst="line">
              <a:avLst/>
            </a:prstGeom>
            <a:ln cap="rnd" w="25400">
              <a:solidFill>
                <a:srgbClr val="FFFFFF">
                  <a:alpha val="29804"/>
                </a:srgbClr>
              </a:solidFill>
              <a:prstDash val="sysDash"/>
              <a:headEnd type="none" len="sm" w="sm"/>
              <a:tailEnd type="none" len="sm" w="sm"/>
            </a:ln>
          </p:spPr>
        </p:sp>
      </p:grpSp>
      <p:grpSp>
        <p:nvGrpSpPr>
          <p:cNvPr name="Group 11" id="11"/>
          <p:cNvGrpSpPr/>
          <p:nvPr/>
        </p:nvGrpSpPr>
        <p:grpSpPr>
          <a:xfrm rot="0">
            <a:off x="1028700" y="727075"/>
            <a:ext cx="16230600" cy="301625"/>
            <a:chOff x="0" y="0"/>
            <a:chExt cx="21640800" cy="402167"/>
          </a:xfrm>
        </p:grpSpPr>
        <p:sp>
          <p:nvSpPr>
            <p:cNvPr name="TextBox 12" id="1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3" id="1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4" id="14"/>
          <p:cNvSpPr txBox="true"/>
          <p:nvPr/>
        </p:nvSpPr>
        <p:spPr>
          <a:xfrm rot="0">
            <a:off x="1028700" y="971550"/>
            <a:ext cx="1324645"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Background</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47</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9498028"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2027</a:t>
            </a:r>
          </a:p>
        </p:txBody>
      </p:sp>
      <p:grpSp>
        <p:nvGrpSpPr>
          <p:cNvPr name="Group 3" id="3"/>
          <p:cNvGrpSpPr/>
          <p:nvPr/>
        </p:nvGrpSpPr>
        <p:grpSpPr>
          <a:xfrm rot="0">
            <a:off x="9498028" y="4502215"/>
            <a:ext cx="3048973" cy="1282571"/>
            <a:chOff x="0" y="0"/>
            <a:chExt cx="4065297" cy="1710094"/>
          </a:xfrm>
        </p:grpSpPr>
        <p:sp>
          <p:nvSpPr>
            <p:cNvPr name="TextBox 4" id="4"/>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Ad Technology</a:t>
              </a:r>
            </a:p>
          </p:txBody>
        </p:sp>
        <p:sp>
          <p:nvSpPr>
            <p:cNvPr name="TextBox 5" id="5"/>
            <p:cNvSpPr txBox="true"/>
            <p:nvPr/>
          </p:nvSpPr>
          <p:spPr>
            <a:xfrm rot="0">
              <a:off x="0" y="748069"/>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AMC Viewing Insights</a:t>
              </a:r>
            </a:p>
            <a:p>
              <a:pPr algn="l">
                <a:lnSpc>
                  <a:spcPts val="1919"/>
                </a:lnSpc>
              </a:pPr>
              <a:r>
                <a:rPr lang="en-US" sz="1599" spc="-15">
                  <a:solidFill>
                    <a:srgbClr val="FFFFFF">
                      <a:alpha val="49804"/>
                    </a:srgbClr>
                  </a:solidFill>
                  <a:latin typeface="Helvetica World"/>
                  <a:ea typeface="Helvetica World"/>
                  <a:cs typeface="Helvetica World"/>
                  <a:sym typeface="Helvetica World"/>
                </a:rPr>
                <a:t>Shoppable Ads Expansion</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AI-Powered Personalization</a:t>
              </a:r>
            </a:p>
          </p:txBody>
        </p:sp>
      </p:grpSp>
      <p:sp>
        <p:nvSpPr>
          <p:cNvPr name="TextBox 6" id="6"/>
          <p:cNvSpPr txBox="true"/>
          <p:nvPr/>
        </p:nvSpPr>
        <p:spPr>
          <a:xfrm rot="0">
            <a:off x="13892137"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2029</a:t>
            </a:r>
          </a:p>
        </p:txBody>
      </p:sp>
      <p:grpSp>
        <p:nvGrpSpPr>
          <p:cNvPr name="Group 7" id="7"/>
          <p:cNvGrpSpPr/>
          <p:nvPr/>
        </p:nvGrpSpPr>
        <p:grpSpPr>
          <a:xfrm rot="0">
            <a:off x="13890727" y="4502215"/>
            <a:ext cx="3048973" cy="806321"/>
            <a:chOff x="0" y="0"/>
            <a:chExt cx="4065297" cy="1075094"/>
          </a:xfrm>
        </p:grpSpPr>
        <p:sp>
          <p:nvSpPr>
            <p:cNvPr name="TextBox 8" id="8"/>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Long-term Goals</a:t>
              </a:r>
            </a:p>
          </p:txBody>
        </p:sp>
        <p:sp>
          <p:nvSpPr>
            <p:cNvPr name="TextBox 9" id="9"/>
            <p:cNvSpPr txBox="true"/>
            <p:nvPr/>
          </p:nvSpPr>
          <p:spPr>
            <a:xfrm rot="0">
              <a:off x="0" y="748069"/>
              <a:ext cx="4065297" cy="327025"/>
            </a:xfrm>
            <a:prstGeom prst="rect">
              <a:avLst/>
            </a:prstGeom>
          </p:spPr>
          <p:txBody>
            <a:bodyPr anchor="t" rtlCol="false" tIns="0" lIns="0" bIns="0" rIns="0">
              <a:spAutoFit/>
            </a:bodyPr>
            <a:lstStyle/>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269 Million Global Subscribers</a:t>
              </a:r>
            </a:p>
          </p:txBody>
        </p:sp>
      </p:grpSp>
      <p:sp>
        <p:nvSpPr>
          <p:cNvPr name="AutoShape 10" id="10"/>
          <p:cNvSpPr/>
          <p:nvPr/>
        </p:nvSpPr>
        <p:spPr>
          <a:xfrm>
            <a:off x="4750592" y="4502215"/>
            <a:ext cx="0" cy="4030280"/>
          </a:xfrm>
          <a:prstGeom prst="line">
            <a:avLst/>
          </a:prstGeom>
          <a:ln cap="rnd" w="19050">
            <a:solidFill>
              <a:srgbClr val="FFFFFF">
                <a:alpha val="29804"/>
              </a:srgbClr>
            </a:solidFill>
            <a:prstDash val="sysDash"/>
            <a:headEnd type="none" len="sm" w="sm"/>
            <a:tailEnd type="none" len="sm" w="sm"/>
          </a:ln>
        </p:spPr>
      </p:sp>
      <p:sp>
        <p:nvSpPr>
          <p:cNvPr name="AutoShape 11" id="11"/>
          <p:cNvSpPr/>
          <p:nvPr/>
        </p:nvSpPr>
        <p:spPr>
          <a:xfrm>
            <a:off x="9144000" y="4502215"/>
            <a:ext cx="0" cy="4030280"/>
          </a:xfrm>
          <a:prstGeom prst="line">
            <a:avLst/>
          </a:prstGeom>
          <a:ln cap="rnd" w="19050">
            <a:solidFill>
              <a:srgbClr val="FFFFFF">
                <a:alpha val="29804"/>
              </a:srgbClr>
            </a:solidFill>
            <a:prstDash val="sysDash"/>
            <a:headEnd type="none" len="sm" w="sm"/>
            <a:tailEnd type="none" len="sm" w="sm"/>
          </a:ln>
        </p:spPr>
      </p:sp>
      <p:sp>
        <p:nvSpPr>
          <p:cNvPr name="AutoShape 12" id="12"/>
          <p:cNvSpPr/>
          <p:nvPr/>
        </p:nvSpPr>
        <p:spPr>
          <a:xfrm>
            <a:off x="13537405" y="4502215"/>
            <a:ext cx="0" cy="4030280"/>
          </a:xfrm>
          <a:prstGeom prst="line">
            <a:avLst/>
          </a:prstGeom>
          <a:ln cap="rnd" w="19050">
            <a:solidFill>
              <a:srgbClr val="FFFFFF">
                <a:alpha val="29804"/>
              </a:srgbClr>
            </a:solidFill>
            <a:prstDash val="sysDash"/>
            <a:headEnd type="none" len="sm" w="sm"/>
            <a:tailEnd type="none" len="sm" w="sm"/>
          </a:ln>
        </p:spPr>
      </p:sp>
      <p:sp>
        <p:nvSpPr>
          <p:cNvPr name="TextBox 13" id="13"/>
          <p:cNvSpPr txBox="true"/>
          <p:nvPr/>
        </p:nvSpPr>
        <p:spPr>
          <a:xfrm rot="0">
            <a:off x="5081588"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2026</a:t>
            </a:r>
          </a:p>
        </p:txBody>
      </p:sp>
      <p:grpSp>
        <p:nvGrpSpPr>
          <p:cNvPr name="Group 14" id="14"/>
          <p:cNvGrpSpPr/>
          <p:nvPr/>
        </p:nvGrpSpPr>
        <p:grpSpPr>
          <a:xfrm rot="0">
            <a:off x="5081588" y="4502215"/>
            <a:ext cx="3433642" cy="1282571"/>
            <a:chOff x="0" y="0"/>
            <a:chExt cx="4578190" cy="1710094"/>
          </a:xfrm>
        </p:grpSpPr>
        <p:sp>
          <p:nvSpPr>
            <p:cNvPr name="TextBox 15" id="15"/>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Sports Dominance</a:t>
              </a:r>
            </a:p>
          </p:txBody>
        </p:sp>
        <p:sp>
          <p:nvSpPr>
            <p:cNvPr name="TextBox 16" id="16"/>
            <p:cNvSpPr txBox="true"/>
            <p:nvPr/>
          </p:nvSpPr>
          <p:spPr>
            <a:xfrm rot="0">
              <a:off x="0" y="748069"/>
              <a:ext cx="4578190"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$3.8B Sports Investment (27% share)</a:t>
              </a:r>
            </a:p>
            <a:p>
              <a:pPr algn="l">
                <a:lnSpc>
                  <a:spcPts val="1919"/>
                </a:lnSpc>
              </a:pPr>
              <a:r>
                <a:rPr lang="en-US" sz="1599" spc="-15">
                  <a:solidFill>
                    <a:srgbClr val="FFFFFF">
                      <a:alpha val="49804"/>
                    </a:srgbClr>
                  </a:solidFill>
                  <a:latin typeface="Helvetica World"/>
                  <a:ea typeface="Helvetica World"/>
                  <a:cs typeface="Helvetica World"/>
                  <a:sym typeface="Helvetica World"/>
                </a:rPr>
                <a:t>NBA Rights Start ($1.8B/yr)</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UFC &amp; UEFA Champions League</a:t>
              </a:r>
            </a:p>
          </p:txBody>
        </p:sp>
      </p:grpSp>
      <p:grpSp>
        <p:nvGrpSpPr>
          <p:cNvPr name="Group 17" id="17"/>
          <p:cNvGrpSpPr/>
          <p:nvPr/>
        </p:nvGrpSpPr>
        <p:grpSpPr>
          <a:xfrm rot="0">
            <a:off x="5081588" y="7248272"/>
            <a:ext cx="3048973" cy="807973"/>
            <a:chOff x="0" y="0"/>
            <a:chExt cx="4065297" cy="1077297"/>
          </a:xfrm>
        </p:grpSpPr>
        <p:sp>
          <p:nvSpPr>
            <p:cNvPr name="TextBox 18" id="18"/>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Infrastructure</a:t>
              </a:r>
            </a:p>
          </p:txBody>
        </p:sp>
        <p:sp>
          <p:nvSpPr>
            <p:cNvPr name="TextBox 19" id="19"/>
            <p:cNvSpPr txBox="true"/>
            <p:nvPr/>
          </p:nvSpPr>
          <p:spPr>
            <a:xfrm rot="0">
              <a:off x="0" y="750272"/>
              <a:ext cx="4065297" cy="327025"/>
            </a:xfrm>
            <a:prstGeom prst="rect">
              <a:avLst/>
            </a:prstGeom>
          </p:spPr>
          <p:txBody>
            <a:bodyPr anchor="t" rtlCol="false" tIns="0" lIns="0" bIns="0" rIns="0">
              <a:spAutoFit/>
            </a:bodyPr>
            <a:lstStyle/>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Shared AI CapEx ($200B Total)</a:t>
              </a:r>
            </a:p>
          </p:txBody>
        </p:sp>
      </p:grpSp>
      <p:sp>
        <p:nvSpPr>
          <p:cNvPr name="TextBox 20" id="20"/>
          <p:cNvSpPr txBox="true"/>
          <p:nvPr/>
        </p:nvSpPr>
        <p:spPr>
          <a:xfrm rot="0">
            <a:off x="1028700" y="3411952"/>
            <a:ext cx="1280852" cy="561975"/>
          </a:xfrm>
          <a:prstGeom prst="rect">
            <a:avLst/>
          </a:prstGeom>
        </p:spPr>
        <p:txBody>
          <a:bodyPr anchor="t" rtlCol="false" tIns="0" lIns="0" bIns="0" rIns="0">
            <a:spAutoFit/>
          </a:bodyPr>
          <a:lstStyle/>
          <a:p>
            <a:pPr algn="l">
              <a:lnSpc>
                <a:spcPts val="4320"/>
              </a:lnSpc>
              <a:spcBef>
                <a:spcPct val="0"/>
              </a:spcBef>
            </a:pPr>
            <a:r>
              <a:rPr lang="en-US" sz="3600" spc="-36">
                <a:solidFill>
                  <a:srgbClr val="FFFFFF"/>
                </a:solidFill>
                <a:latin typeface="Helvetica World"/>
                <a:ea typeface="Helvetica World"/>
                <a:cs typeface="Helvetica World"/>
                <a:sym typeface="Helvetica World"/>
              </a:rPr>
              <a:t>2025</a:t>
            </a:r>
          </a:p>
        </p:txBody>
      </p:sp>
      <p:grpSp>
        <p:nvGrpSpPr>
          <p:cNvPr name="Group 21" id="21"/>
          <p:cNvGrpSpPr/>
          <p:nvPr/>
        </p:nvGrpSpPr>
        <p:grpSpPr>
          <a:xfrm rot="0">
            <a:off x="1028700" y="4502215"/>
            <a:ext cx="3048973" cy="1282571"/>
            <a:chOff x="0" y="0"/>
            <a:chExt cx="4065297" cy="1710094"/>
          </a:xfrm>
        </p:grpSpPr>
        <p:sp>
          <p:nvSpPr>
            <p:cNvPr name="TextBox 22" id="22"/>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Investment</a:t>
              </a:r>
            </a:p>
          </p:txBody>
        </p:sp>
        <p:sp>
          <p:nvSpPr>
            <p:cNvPr name="TextBox 23" id="23"/>
            <p:cNvSpPr txBox="true"/>
            <p:nvPr/>
          </p:nvSpPr>
          <p:spPr>
            <a:xfrm rot="0">
              <a:off x="0" y="748069"/>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$22.4B Content Spend (+10%)</a:t>
              </a:r>
            </a:p>
            <a:p>
              <a:pPr algn="l">
                <a:lnSpc>
                  <a:spcPts val="1919"/>
                </a:lnSpc>
              </a:pPr>
              <a:r>
                <a:rPr lang="en-US" sz="1599" spc="-15">
                  <a:solidFill>
                    <a:srgbClr val="FFFFFF">
                      <a:alpha val="49804"/>
                    </a:srgbClr>
                  </a:solidFill>
                  <a:latin typeface="Helvetica World"/>
                  <a:ea typeface="Helvetica World"/>
                  <a:cs typeface="Helvetica World"/>
                  <a:sym typeface="Helvetica World"/>
                </a:rPr>
                <a:t>$21.5B Video Content</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NFL &amp; NASCAR Rights</a:t>
              </a:r>
            </a:p>
          </p:txBody>
        </p:sp>
      </p:grpSp>
      <p:grpSp>
        <p:nvGrpSpPr>
          <p:cNvPr name="Group 24" id="24"/>
          <p:cNvGrpSpPr/>
          <p:nvPr/>
        </p:nvGrpSpPr>
        <p:grpSpPr>
          <a:xfrm rot="0">
            <a:off x="1028700" y="7248272"/>
            <a:ext cx="3048973" cy="1284223"/>
            <a:chOff x="0" y="0"/>
            <a:chExt cx="4065297" cy="1712297"/>
          </a:xfrm>
        </p:grpSpPr>
        <p:sp>
          <p:nvSpPr>
            <p:cNvPr name="TextBox 25" id="25"/>
            <p:cNvSpPr txBox="true"/>
            <p:nvPr/>
          </p:nvSpPr>
          <p:spPr>
            <a:xfrm rot="0">
              <a:off x="0" y="-9525"/>
              <a:ext cx="4065297" cy="530225"/>
            </a:xfrm>
            <a:prstGeom prst="rect">
              <a:avLst/>
            </a:prstGeom>
          </p:spPr>
          <p:txBody>
            <a:bodyPr anchor="t" rtlCol="false" tIns="0" lIns="0" bIns="0" rIns="0">
              <a:spAutoFit/>
            </a:bodyPr>
            <a:lstStyle/>
            <a:p>
              <a:pPr algn="l">
                <a:lnSpc>
                  <a:spcPts val="3120"/>
                </a:lnSpc>
                <a:spcBef>
                  <a:spcPct val="0"/>
                </a:spcBef>
              </a:pPr>
              <a:r>
                <a:rPr lang="en-US" sz="2600" spc="-26">
                  <a:solidFill>
                    <a:srgbClr val="FFFFFF"/>
                  </a:solidFill>
                  <a:latin typeface="Helvetica World"/>
                  <a:ea typeface="Helvetica World"/>
                  <a:cs typeface="Helvetica World"/>
                  <a:sym typeface="Helvetica World"/>
                </a:rPr>
                <a:t>Growth</a:t>
              </a:r>
            </a:p>
          </p:txBody>
        </p:sp>
        <p:sp>
          <p:nvSpPr>
            <p:cNvPr name="TextBox 26" id="26"/>
            <p:cNvSpPr txBox="true"/>
            <p:nvPr/>
          </p:nvSpPr>
          <p:spPr>
            <a:xfrm rot="0">
              <a:off x="0" y="750272"/>
              <a:ext cx="4065297" cy="962025"/>
            </a:xfrm>
            <a:prstGeom prst="rect">
              <a:avLst/>
            </a:prstGeom>
          </p:spPr>
          <p:txBody>
            <a:bodyPr anchor="t" rtlCol="false" tIns="0" lIns="0" bIns="0" rIns="0">
              <a:spAutoFit/>
            </a:bodyPr>
            <a:lstStyle/>
            <a:p>
              <a:pPr algn="l">
                <a:lnSpc>
                  <a:spcPts val="1919"/>
                </a:lnSpc>
              </a:pPr>
              <a:r>
                <a:rPr lang="en-US" sz="1599" spc="-15">
                  <a:solidFill>
                    <a:srgbClr val="FFFFFF">
                      <a:alpha val="49804"/>
                    </a:srgbClr>
                  </a:solidFill>
                  <a:latin typeface="Helvetica World"/>
                  <a:ea typeface="Helvetica World"/>
                  <a:cs typeface="Helvetica World"/>
                  <a:sym typeface="Helvetica World"/>
                </a:rPr>
                <a:t>Ad Revenue: $806M (+86%)</a:t>
              </a:r>
            </a:p>
            <a:p>
              <a:pPr algn="l">
                <a:lnSpc>
                  <a:spcPts val="1919"/>
                </a:lnSpc>
              </a:pPr>
              <a:r>
                <a:rPr lang="en-US" sz="1599" spc="-15">
                  <a:solidFill>
                    <a:srgbClr val="FFFFFF">
                      <a:alpha val="49804"/>
                    </a:srgbClr>
                  </a:solidFill>
                  <a:latin typeface="Helvetica World"/>
                  <a:ea typeface="Helvetica World"/>
                  <a:cs typeface="Helvetica World"/>
                  <a:sym typeface="Helvetica World"/>
                </a:rPr>
                <a:t>US Subscribers: 128M</a:t>
              </a:r>
            </a:p>
            <a:p>
              <a:pPr algn="l">
                <a:lnSpc>
                  <a:spcPts val="1919"/>
                </a:lnSpc>
                <a:spcBef>
                  <a:spcPct val="0"/>
                </a:spcBef>
              </a:pPr>
              <a:r>
                <a:rPr lang="en-US" sz="1599" spc="-15">
                  <a:solidFill>
                    <a:srgbClr val="FFFFFF">
                      <a:alpha val="49804"/>
                    </a:srgbClr>
                  </a:solidFill>
                  <a:latin typeface="Helvetica World"/>
                  <a:ea typeface="Helvetica World"/>
                  <a:cs typeface="Helvetica World"/>
                  <a:sym typeface="Helvetica World"/>
                </a:rPr>
                <a:t>Global Users: 315M</a:t>
              </a:r>
            </a:p>
          </p:txBody>
        </p:sp>
      </p:grpSp>
      <p:grpSp>
        <p:nvGrpSpPr>
          <p:cNvPr name="Group 27" id="27"/>
          <p:cNvGrpSpPr/>
          <p:nvPr/>
        </p:nvGrpSpPr>
        <p:grpSpPr>
          <a:xfrm rot="0">
            <a:off x="1028700" y="727075"/>
            <a:ext cx="16230600" cy="301625"/>
            <a:chOff x="0" y="0"/>
            <a:chExt cx="21640800" cy="402167"/>
          </a:xfrm>
        </p:grpSpPr>
        <p:sp>
          <p:nvSpPr>
            <p:cNvPr name="TextBox 28" id="2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29" id="2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30" id="3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Roadmap - Amazon Prime (Streaming)</a:t>
            </a:r>
          </a:p>
        </p:txBody>
      </p:sp>
      <p:grpSp>
        <p:nvGrpSpPr>
          <p:cNvPr name="Group 31" id="31"/>
          <p:cNvGrpSpPr/>
          <p:nvPr/>
        </p:nvGrpSpPr>
        <p:grpSpPr>
          <a:xfrm rot="0">
            <a:off x="1028700" y="9258300"/>
            <a:ext cx="16230600" cy="301625"/>
            <a:chOff x="0" y="0"/>
            <a:chExt cx="21640800" cy="402167"/>
          </a:xfrm>
        </p:grpSpPr>
        <p:sp>
          <p:nvSpPr>
            <p:cNvPr name="TextBox 32" id="3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33" id="3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48</a:t>
              </a:r>
            </a:p>
          </p:txBody>
        </p:sp>
      </p:grpSp>
      <p:grpSp>
        <p:nvGrpSpPr>
          <p:cNvPr name="Group 34" id="34"/>
          <p:cNvGrpSpPr/>
          <p:nvPr/>
        </p:nvGrpSpPr>
        <p:grpSpPr>
          <a:xfrm rot="0">
            <a:off x="1028700" y="2209016"/>
            <a:ext cx="4581244" cy="1089885"/>
            <a:chOff x="0" y="0"/>
            <a:chExt cx="6108325" cy="1453180"/>
          </a:xfrm>
        </p:grpSpPr>
        <p:sp>
          <p:nvSpPr>
            <p:cNvPr name="TextBox 35" id="35"/>
            <p:cNvSpPr txBox="true"/>
            <p:nvPr/>
          </p:nvSpPr>
          <p:spPr>
            <a:xfrm rot="0">
              <a:off x="2880343" y="-57150"/>
              <a:ext cx="3227983"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Streaming Service</a:t>
              </a:r>
            </a:p>
          </p:txBody>
        </p:sp>
        <p:sp>
          <p:nvSpPr>
            <p:cNvPr name="Freeform 36" id="36"/>
            <p:cNvSpPr/>
            <p:nvPr/>
          </p:nvSpPr>
          <p:spPr>
            <a:xfrm flipH="false" flipV="false" rot="0">
              <a:off x="0" y="0"/>
              <a:ext cx="2457809" cy="1453180"/>
            </a:xfrm>
            <a:custGeom>
              <a:avLst/>
              <a:gdLst/>
              <a:ahLst/>
              <a:cxnLst/>
              <a:rect r="r" b="b" t="t" l="l"/>
              <a:pathLst>
                <a:path h="1453180" w="2457809">
                  <a:moveTo>
                    <a:pt x="0" y="0"/>
                  </a:moveTo>
                  <a:lnTo>
                    <a:pt x="2457809" y="0"/>
                  </a:lnTo>
                  <a:lnTo>
                    <a:pt x="2457809" y="1453180"/>
                  </a:lnTo>
                  <a:lnTo>
                    <a:pt x="0" y="1453180"/>
                  </a:lnTo>
                  <a:lnTo>
                    <a:pt x="0" y="0"/>
                  </a:lnTo>
                  <a:close/>
                </a:path>
              </a:pathLst>
            </a:custGeom>
            <a:blipFill>
              <a:blip r:embed="rId2"/>
              <a:stretch>
                <a:fillRect l="0" t="0" r="0" b="0"/>
              </a:stretch>
            </a:blipFill>
          </p:spPr>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Service Details - Amazon Prime Streaming</a:t>
            </a:r>
          </a:p>
        </p:txBody>
      </p:sp>
      <p:sp>
        <p:nvSpPr>
          <p:cNvPr name="TextBox 3" id="3"/>
          <p:cNvSpPr txBox="true"/>
          <p:nvPr/>
        </p:nvSpPr>
        <p:spPr>
          <a:xfrm rot="0">
            <a:off x="1028700" y="4445065"/>
            <a:ext cx="2963297"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Live Sports Streaming</a:t>
            </a:r>
          </a:p>
        </p:txBody>
      </p:sp>
      <p:grpSp>
        <p:nvGrpSpPr>
          <p:cNvPr name="Group 4" id="4"/>
          <p:cNvGrpSpPr/>
          <p:nvPr/>
        </p:nvGrpSpPr>
        <p:grpSpPr>
          <a:xfrm rot="0">
            <a:off x="1028700" y="727075"/>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7" id="7"/>
          <p:cNvSpPr txBox="true"/>
          <p:nvPr/>
        </p:nvSpPr>
        <p:spPr>
          <a:xfrm rot="0">
            <a:off x="1028700" y="3768827"/>
            <a:ext cx="3433393" cy="448310"/>
          </a:xfrm>
          <a:prstGeom prst="rect">
            <a:avLst/>
          </a:prstGeom>
        </p:spPr>
        <p:txBody>
          <a:bodyPr anchor="t" rtlCol="false" tIns="0" lIns="0" bIns="0" rIns="0">
            <a:spAutoFit/>
          </a:bodyPr>
          <a:lstStyle/>
          <a:p>
            <a:pPr algn="l">
              <a:lnSpc>
                <a:spcPts val="3640"/>
              </a:lnSpc>
            </a:pPr>
            <a:r>
              <a:rPr lang="en-US" sz="2600" spc="-26">
                <a:solidFill>
                  <a:srgbClr val="FFFFFF"/>
                </a:solidFill>
                <a:latin typeface="Helvetica World"/>
                <a:ea typeface="Helvetica World"/>
                <a:cs typeface="Helvetica World"/>
                <a:sym typeface="Helvetica World"/>
              </a:rPr>
              <a:t>IP/Content Ecosystem</a:t>
            </a:r>
          </a:p>
        </p:txBody>
      </p:sp>
      <p:sp>
        <p:nvSpPr>
          <p:cNvPr name="TextBox 8" id="8"/>
          <p:cNvSpPr txBox="true"/>
          <p:nvPr/>
        </p:nvSpPr>
        <p:spPr>
          <a:xfrm rot="0">
            <a:off x="7497604" y="3768827"/>
            <a:ext cx="3433393" cy="448310"/>
          </a:xfrm>
          <a:prstGeom prst="rect">
            <a:avLst/>
          </a:prstGeom>
        </p:spPr>
        <p:txBody>
          <a:bodyPr anchor="t" rtlCol="false" tIns="0" lIns="0" bIns="0" rIns="0">
            <a:spAutoFit/>
          </a:bodyPr>
          <a:lstStyle/>
          <a:p>
            <a:pPr algn="l">
              <a:lnSpc>
                <a:spcPts val="3640"/>
              </a:lnSpc>
            </a:pPr>
            <a:r>
              <a:rPr lang="en-US" sz="2600" spc="-26">
                <a:solidFill>
                  <a:srgbClr val="FFFFFF"/>
                </a:solidFill>
                <a:latin typeface="Helvetica World"/>
                <a:ea typeface="Helvetica World"/>
                <a:cs typeface="Helvetica World"/>
                <a:sym typeface="Helvetica World"/>
              </a:rPr>
              <a:t>Advertising Technology</a:t>
            </a:r>
          </a:p>
        </p:txBody>
      </p:sp>
      <p:sp>
        <p:nvSpPr>
          <p:cNvPr name="TextBox 9" id="9"/>
          <p:cNvSpPr txBox="true"/>
          <p:nvPr/>
        </p:nvSpPr>
        <p:spPr>
          <a:xfrm rot="0">
            <a:off x="1028700" y="6353544"/>
            <a:ext cx="2963297" cy="711200"/>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Original Programing Flagship Series</a:t>
            </a:r>
          </a:p>
        </p:txBody>
      </p:sp>
      <p:sp>
        <p:nvSpPr>
          <p:cNvPr name="TextBox 10" id="10"/>
          <p:cNvSpPr txBox="true"/>
          <p:nvPr/>
        </p:nvSpPr>
        <p:spPr>
          <a:xfrm rot="0">
            <a:off x="7497604" y="4445065"/>
            <a:ext cx="3259504" cy="358775"/>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Personalized Shoppable Ads</a:t>
            </a:r>
          </a:p>
        </p:txBody>
      </p:sp>
      <p:sp>
        <p:nvSpPr>
          <p:cNvPr name="AutoShape 11" id="11"/>
          <p:cNvSpPr/>
          <p:nvPr/>
        </p:nvSpPr>
        <p:spPr>
          <a:xfrm flipH="true">
            <a:off x="5979849" y="3825977"/>
            <a:ext cx="0" cy="3238766"/>
          </a:xfrm>
          <a:prstGeom prst="line">
            <a:avLst/>
          </a:prstGeom>
          <a:ln cap="rnd" w="19050">
            <a:solidFill>
              <a:srgbClr val="FFFFFF">
                <a:alpha val="29804"/>
              </a:srgbClr>
            </a:solidFill>
            <a:prstDash val="sysDash"/>
            <a:headEnd type="none" len="sm" w="sm"/>
            <a:tailEnd type="none" len="sm" w="sm"/>
          </a:ln>
        </p:spPr>
      </p:sp>
      <p:sp>
        <p:nvSpPr>
          <p:cNvPr name="TextBox 12" id="12"/>
          <p:cNvSpPr txBox="true"/>
          <p:nvPr/>
        </p:nvSpPr>
        <p:spPr>
          <a:xfrm rot="0">
            <a:off x="1032835" y="7153910"/>
            <a:ext cx="16226465" cy="1378585"/>
          </a:xfrm>
          <a:prstGeom prst="rect">
            <a:avLst/>
          </a:prstGeom>
        </p:spPr>
        <p:txBody>
          <a:bodyPr anchor="t" rtlCol="false" tIns="0" lIns="0" bIns="0" rIns="0">
            <a:spAutoFit/>
          </a:bodyPr>
          <a:lstStyle/>
          <a:p>
            <a:pPr algn="just">
              <a:lnSpc>
                <a:spcPts val="2239"/>
              </a:lnSpc>
            </a:pPr>
            <a:r>
              <a:rPr lang="en-US" sz="1599" spc="-15">
                <a:solidFill>
                  <a:srgbClr val="FFFFFF"/>
                </a:solidFill>
                <a:latin typeface="Helvetica World"/>
                <a:ea typeface="Helvetica World"/>
                <a:cs typeface="Helvetica World"/>
                <a:sym typeface="Helvetica World"/>
              </a:rPr>
              <a:t>Prime Video has pioneered personalized shoppable ads that leverage Amazon's e-commerce data to turn viewing into immediate purchasing. Viewers see customized product placements during live sports and original programming that they can buy with a single click without leaving the stream. The platform integrates live channels, interactive features, and ad-supported tiers while enabling live shopping experiences that merge entertainment with instant commerce.This strategy aims to dominate the convergence of entertainment and retail. By controlling premium live sports, original content, and personalized shopping technology, Amazon captures both attention and purchasing power simultaneously. Prime Video is positioning itself to own the future of streaming where live content and commerce are seamlessly unified, locking users into the Prime ecosystem as a long-term play for market dominance.</a:t>
            </a:r>
          </a:p>
        </p:txBody>
      </p:sp>
      <p:sp>
        <p:nvSpPr>
          <p:cNvPr name="TextBox 13" id="13"/>
          <p:cNvSpPr txBox="true"/>
          <p:nvPr/>
        </p:nvSpPr>
        <p:spPr>
          <a:xfrm rot="0">
            <a:off x="9558325" y="2170916"/>
            <a:ext cx="7700975" cy="1378585"/>
          </a:xfrm>
          <a:prstGeom prst="rect">
            <a:avLst/>
          </a:prstGeom>
        </p:spPr>
        <p:txBody>
          <a:bodyPr anchor="t" rtlCol="false" tIns="0" lIns="0" bIns="0" rIns="0">
            <a:spAutoFit/>
          </a:bodyPr>
          <a:lstStyle/>
          <a:p>
            <a:pPr algn="r">
              <a:lnSpc>
                <a:spcPts val="2239"/>
              </a:lnSpc>
            </a:pPr>
            <a:r>
              <a:rPr lang="en-US" sz="1599" spc="-15">
                <a:solidFill>
                  <a:srgbClr val="FFFFFF">
                    <a:alpha val="49804"/>
                  </a:srgbClr>
                </a:solidFill>
                <a:latin typeface="Helvetica World"/>
                <a:ea typeface="Helvetica World"/>
                <a:cs typeface="Helvetica World"/>
                <a:sym typeface="Helvetica World"/>
              </a:rPr>
              <a:t>Amazon Prime Video is transforming from a traditional streaming platform into a live content and commerce powerhouse. The company has secured exclusive live sports rights like NFL Thursday Night Football and Premier League matches while investing heavily in original IP and premium content to build a diverse library that drives sustained engagement.</a:t>
            </a:r>
          </a:p>
        </p:txBody>
      </p:sp>
      <p:grpSp>
        <p:nvGrpSpPr>
          <p:cNvPr name="Group 14" id="14"/>
          <p:cNvGrpSpPr/>
          <p:nvPr/>
        </p:nvGrpSpPr>
        <p:grpSpPr>
          <a:xfrm rot="0">
            <a:off x="1028700" y="9258300"/>
            <a:ext cx="16230600" cy="301625"/>
            <a:chOff x="0" y="0"/>
            <a:chExt cx="21640800" cy="402167"/>
          </a:xfrm>
        </p:grpSpPr>
        <p:sp>
          <p:nvSpPr>
            <p:cNvPr name="TextBox 15" id="1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6" id="1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49</a:t>
              </a:r>
            </a:p>
          </p:txBody>
        </p:sp>
      </p:grpSp>
      <p:grpSp>
        <p:nvGrpSpPr>
          <p:cNvPr name="Group 17" id="17"/>
          <p:cNvGrpSpPr/>
          <p:nvPr/>
        </p:nvGrpSpPr>
        <p:grpSpPr>
          <a:xfrm rot="0">
            <a:off x="1028700" y="2209016"/>
            <a:ext cx="4581244" cy="1089885"/>
            <a:chOff x="0" y="0"/>
            <a:chExt cx="6108325" cy="1453180"/>
          </a:xfrm>
        </p:grpSpPr>
        <p:sp>
          <p:nvSpPr>
            <p:cNvPr name="TextBox 18" id="18"/>
            <p:cNvSpPr txBox="true"/>
            <p:nvPr/>
          </p:nvSpPr>
          <p:spPr>
            <a:xfrm rot="0">
              <a:off x="2880343" y="-57150"/>
              <a:ext cx="3227983"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Streaming Service</a:t>
              </a:r>
            </a:p>
          </p:txBody>
        </p:sp>
        <p:sp>
          <p:nvSpPr>
            <p:cNvPr name="Freeform 19" id="19"/>
            <p:cNvSpPr/>
            <p:nvPr/>
          </p:nvSpPr>
          <p:spPr>
            <a:xfrm flipH="false" flipV="false" rot="0">
              <a:off x="0" y="0"/>
              <a:ext cx="2457809" cy="1453180"/>
            </a:xfrm>
            <a:custGeom>
              <a:avLst/>
              <a:gdLst/>
              <a:ahLst/>
              <a:cxnLst/>
              <a:rect r="r" b="b" t="t" l="l"/>
              <a:pathLst>
                <a:path h="1453180" w="2457809">
                  <a:moveTo>
                    <a:pt x="0" y="0"/>
                  </a:moveTo>
                  <a:lnTo>
                    <a:pt x="2457809" y="0"/>
                  </a:lnTo>
                  <a:lnTo>
                    <a:pt x="2457809" y="1453180"/>
                  </a:lnTo>
                  <a:lnTo>
                    <a:pt x="0" y="1453180"/>
                  </a:lnTo>
                  <a:lnTo>
                    <a:pt x="0" y="0"/>
                  </a:lnTo>
                  <a:close/>
                </a:path>
              </a:pathLst>
            </a:custGeom>
            <a:blipFill>
              <a:blip r:embed="rId2"/>
              <a:stretch>
                <a:fillRect l="0" t="0" r="0" b="0"/>
              </a:stretch>
            </a:blipFill>
          </p:spPr>
        </p:sp>
      </p:grpSp>
    </p:spTree>
  </p:cSld>
  <p:clrMapOvr>
    <a:masterClrMapping/>
  </p:clrMapOvr>
</p:sld>
</file>

<file path=ppt/slides/slide54.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3441573"/>
            <a:ext cx="8273047" cy="1835784"/>
            <a:chOff x="0" y="0"/>
            <a:chExt cx="11030729" cy="2447712"/>
          </a:xfrm>
        </p:grpSpPr>
        <p:sp>
          <p:nvSpPr>
            <p:cNvPr name="TextBox 3" id="3"/>
            <p:cNvSpPr txBox="true"/>
            <p:nvPr/>
          </p:nvSpPr>
          <p:spPr>
            <a:xfrm rot="0">
              <a:off x="0" y="1891030"/>
              <a:ext cx="4448519" cy="556682"/>
            </a:xfrm>
            <a:prstGeom prst="rect">
              <a:avLst/>
            </a:prstGeom>
          </p:spPr>
          <p:txBody>
            <a:bodyPr anchor="t" rtlCol="false" tIns="0" lIns="0" bIns="0" rIns="0">
              <a:spAutoFit/>
            </a:bodyPr>
            <a:lstStyle/>
            <a:p>
              <a:pPr algn="l">
                <a:lnSpc>
                  <a:spcPts val="3500"/>
                </a:lnSpc>
              </a:pPr>
              <a:r>
                <a:rPr lang="en-US" sz="2500" spc="-25">
                  <a:solidFill>
                    <a:srgbClr val="FFFFFF">
                      <a:alpha val="49804"/>
                    </a:srgbClr>
                  </a:solidFill>
                  <a:latin typeface="Helvetica World"/>
                  <a:ea typeface="Helvetica World"/>
                  <a:cs typeface="Helvetica World"/>
                  <a:sym typeface="Helvetica World"/>
                </a:rPr>
                <a:t>Content</a:t>
              </a:r>
            </a:p>
          </p:txBody>
        </p:sp>
        <p:sp>
          <p:nvSpPr>
            <p:cNvPr name="TextBox 4" id="4"/>
            <p:cNvSpPr txBox="true"/>
            <p:nvPr/>
          </p:nvSpPr>
          <p:spPr>
            <a:xfrm rot="0">
              <a:off x="0" y="-190500"/>
              <a:ext cx="11030729" cy="2138680"/>
            </a:xfrm>
            <a:prstGeom prst="rect">
              <a:avLst/>
            </a:prstGeom>
          </p:spPr>
          <p:txBody>
            <a:bodyPr anchor="t" rtlCol="false" tIns="0" lIns="0" bIns="0" rIns="0">
              <a:spAutoFit/>
            </a:bodyPr>
            <a:lstStyle/>
            <a:p>
              <a:pPr algn="l">
                <a:lnSpc>
                  <a:spcPts val="13439"/>
                </a:lnSpc>
              </a:pPr>
              <a:r>
                <a:rPr lang="en-US" sz="9600" spc="-96">
                  <a:solidFill>
                    <a:srgbClr val="FFFFFF">
                      <a:alpha val="49804"/>
                    </a:srgbClr>
                  </a:solidFill>
                  <a:latin typeface="Helvetica World"/>
                  <a:ea typeface="Helvetica World"/>
                  <a:cs typeface="Helvetica World"/>
                  <a:sym typeface="Helvetica World"/>
                </a:rPr>
                <a:t>On-demand </a:t>
              </a:r>
            </a:p>
          </p:txBody>
        </p:sp>
      </p:grpSp>
      <p:grpSp>
        <p:nvGrpSpPr>
          <p:cNvPr name="Group 5" id="5"/>
          <p:cNvGrpSpPr/>
          <p:nvPr/>
        </p:nvGrpSpPr>
        <p:grpSpPr>
          <a:xfrm rot="0">
            <a:off x="10803934" y="3066924"/>
            <a:ext cx="6455366" cy="1835784"/>
            <a:chOff x="0" y="0"/>
            <a:chExt cx="8607154" cy="2447712"/>
          </a:xfrm>
        </p:grpSpPr>
        <p:sp>
          <p:nvSpPr>
            <p:cNvPr name="TextBox 6" id="6"/>
            <p:cNvSpPr txBox="true"/>
            <p:nvPr/>
          </p:nvSpPr>
          <p:spPr>
            <a:xfrm rot="0">
              <a:off x="0" y="309032"/>
              <a:ext cx="8607154" cy="2138680"/>
            </a:xfrm>
            <a:prstGeom prst="rect">
              <a:avLst/>
            </a:prstGeom>
          </p:spPr>
          <p:txBody>
            <a:bodyPr anchor="t" rtlCol="false" tIns="0" lIns="0" bIns="0" rIns="0">
              <a:spAutoFit/>
            </a:bodyPr>
            <a:lstStyle/>
            <a:p>
              <a:pPr algn="r">
                <a:lnSpc>
                  <a:spcPts val="13439"/>
                </a:lnSpc>
              </a:pPr>
              <a:r>
                <a:rPr lang="en-US" sz="9600" spc="-96">
                  <a:solidFill>
                    <a:srgbClr val="FFFFFF"/>
                  </a:solidFill>
                  <a:latin typeface="Helvetica World"/>
                  <a:ea typeface="Helvetica World"/>
                  <a:cs typeface="Helvetica World"/>
                  <a:sym typeface="Helvetica World"/>
                </a:rPr>
                <a:t>Live</a:t>
              </a:r>
            </a:p>
          </p:txBody>
        </p:sp>
        <p:sp>
          <p:nvSpPr>
            <p:cNvPr name="TextBox 7" id="7"/>
            <p:cNvSpPr txBox="true"/>
            <p:nvPr/>
          </p:nvSpPr>
          <p:spPr>
            <a:xfrm rot="0">
              <a:off x="4158635" y="-57150"/>
              <a:ext cx="4448519" cy="556682"/>
            </a:xfrm>
            <a:prstGeom prst="rect">
              <a:avLst/>
            </a:prstGeom>
          </p:spPr>
          <p:txBody>
            <a:bodyPr anchor="t" rtlCol="false" tIns="0" lIns="0" bIns="0" rIns="0">
              <a:spAutoFit/>
            </a:bodyPr>
            <a:lstStyle/>
            <a:p>
              <a:pPr algn="r">
                <a:lnSpc>
                  <a:spcPts val="3500"/>
                </a:lnSpc>
              </a:pPr>
              <a:r>
                <a:rPr lang="en-US" sz="2500" spc="-25">
                  <a:solidFill>
                    <a:srgbClr val="FFFFFF"/>
                  </a:solidFill>
                  <a:latin typeface="Helvetica World"/>
                  <a:ea typeface="Helvetica World"/>
                  <a:cs typeface="Helvetica World"/>
                  <a:sym typeface="Helvetica World"/>
                </a:rPr>
                <a:t>Sports Broadcasting</a:t>
              </a:r>
            </a:p>
          </p:txBody>
        </p:sp>
      </p:grpSp>
      <p:sp>
        <p:nvSpPr>
          <p:cNvPr name="TextBox 8" id="8"/>
          <p:cNvSpPr txBox="true"/>
          <p:nvPr/>
        </p:nvSpPr>
        <p:spPr>
          <a:xfrm rot="0">
            <a:off x="6951158" y="6411595"/>
            <a:ext cx="10308142" cy="2120900"/>
          </a:xfrm>
          <a:prstGeom prst="rect">
            <a:avLst/>
          </a:prstGeom>
        </p:spPr>
        <p:txBody>
          <a:bodyPr anchor="t" rtlCol="false" tIns="0" lIns="0" bIns="0" rIns="0">
            <a:spAutoFit/>
          </a:bodyPr>
          <a:lstStyle/>
          <a:p>
            <a:pPr algn="l">
              <a:lnSpc>
                <a:spcPts val="2800"/>
              </a:lnSpc>
            </a:pPr>
            <a:r>
              <a:rPr lang="en-US" sz="2000" spc="-20">
                <a:solidFill>
                  <a:srgbClr val="FFFFFF">
                    <a:alpha val="49804"/>
                  </a:srgbClr>
                </a:solidFill>
                <a:latin typeface="Helvetica World"/>
                <a:ea typeface="Helvetica World"/>
                <a:cs typeface="Helvetica World"/>
                <a:sym typeface="Helvetica World"/>
              </a:rPr>
              <a:t>Prime Video transforms from content platform to commerce-integrated sports powerhouse. With $3.8 billion sports investment in 2026, securing NBA, UFC, and UEFA Champions League alongside NFL and NASCAR, sports becomes the core engagement engine. This unlocks AI-powered shoppable ads that turn live viewing into instant purchases through Amazon Marketing Cloud. By 2029, reaching 269 million global subscribers, Prime Video completes its evolution into a platform where viewers don't just watch the game, they shop it in real-time.</a:t>
            </a:r>
          </a:p>
        </p:txBody>
      </p:sp>
      <p:sp>
        <p:nvSpPr>
          <p:cNvPr name="TextBox 9" id="9"/>
          <p:cNvSpPr txBox="true"/>
          <p:nvPr/>
        </p:nvSpPr>
        <p:spPr>
          <a:xfrm rot="0">
            <a:off x="1028700" y="5542312"/>
            <a:ext cx="10308142"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Amazon Prime Video's 2026-2030 Vision: Sports-Driven Commerce Streaming</a:t>
            </a:r>
          </a:p>
        </p:txBody>
      </p:sp>
      <p:grpSp>
        <p:nvGrpSpPr>
          <p:cNvPr name="Group 10" id="10"/>
          <p:cNvGrpSpPr/>
          <p:nvPr/>
        </p:nvGrpSpPr>
        <p:grpSpPr>
          <a:xfrm rot="0">
            <a:off x="1028700" y="2209016"/>
            <a:ext cx="16230600" cy="457200"/>
            <a:chOff x="0" y="0"/>
            <a:chExt cx="21640800" cy="609600"/>
          </a:xfrm>
        </p:grpSpPr>
        <p:sp>
          <p:nvSpPr>
            <p:cNvPr name="TextBox 11" id="11"/>
            <p:cNvSpPr txBox="true"/>
            <p:nvPr/>
          </p:nvSpPr>
          <p:spPr>
            <a:xfrm rot="0">
              <a:off x="0" y="-66675"/>
              <a:ext cx="6503031" cy="676275"/>
            </a:xfrm>
            <a:prstGeom prst="rect">
              <a:avLst/>
            </a:prstGeom>
          </p:spPr>
          <p:txBody>
            <a:bodyPr anchor="t" rtlCol="false" tIns="0" lIns="0" bIns="0" rIns="0">
              <a:spAutoFit/>
            </a:bodyPr>
            <a:lstStyle/>
            <a:p>
              <a:pPr algn="l">
                <a:lnSpc>
                  <a:spcPts val="4200"/>
                </a:lnSpc>
              </a:pPr>
              <a:r>
                <a:rPr lang="en-US" sz="3000" spc="-30">
                  <a:solidFill>
                    <a:srgbClr val="FFFFFF">
                      <a:alpha val="29804"/>
                    </a:srgbClr>
                  </a:solidFill>
                  <a:latin typeface="Helvetica World"/>
                  <a:ea typeface="Helvetica World"/>
                  <a:cs typeface="Helvetica World"/>
                  <a:sym typeface="Helvetica World"/>
                </a:rPr>
                <a:t>[2026]</a:t>
              </a:r>
            </a:p>
          </p:txBody>
        </p:sp>
        <p:sp>
          <p:nvSpPr>
            <p:cNvPr name="TextBox 12" id="12"/>
            <p:cNvSpPr txBox="true"/>
            <p:nvPr/>
          </p:nvSpPr>
          <p:spPr>
            <a:xfrm rot="0">
              <a:off x="15137769" y="-66675"/>
              <a:ext cx="6503031" cy="676275"/>
            </a:xfrm>
            <a:prstGeom prst="rect">
              <a:avLst/>
            </a:prstGeom>
          </p:spPr>
          <p:txBody>
            <a:bodyPr anchor="t" rtlCol="false" tIns="0" lIns="0" bIns="0" rIns="0">
              <a:spAutoFit/>
            </a:bodyPr>
            <a:lstStyle/>
            <a:p>
              <a:pPr algn="r">
                <a:lnSpc>
                  <a:spcPts val="4200"/>
                </a:lnSpc>
              </a:pPr>
              <a:r>
                <a:rPr lang="en-US" sz="3000" spc="-30">
                  <a:solidFill>
                    <a:srgbClr val="FFFFFF">
                      <a:alpha val="29804"/>
                    </a:srgbClr>
                  </a:solidFill>
                  <a:latin typeface="Helvetica World"/>
                  <a:ea typeface="Helvetica World"/>
                  <a:cs typeface="Helvetica World"/>
                  <a:sym typeface="Helvetica World"/>
                </a:rPr>
                <a:t>[2030]</a:t>
              </a:r>
            </a:p>
          </p:txBody>
        </p:sp>
      </p:grpSp>
      <p:sp>
        <p:nvSpPr>
          <p:cNvPr name="AutoShape 13" id="13"/>
          <p:cNvSpPr/>
          <p:nvPr/>
        </p:nvSpPr>
        <p:spPr>
          <a:xfrm>
            <a:off x="7991681" y="4172141"/>
            <a:ext cx="2304638" cy="0"/>
          </a:xfrm>
          <a:prstGeom prst="line">
            <a:avLst/>
          </a:prstGeom>
          <a:ln cap="flat" w="19050">
            <a:solidFill>
              <a:srgbClr val="FFFFFF"/>
            </a:solidFill>
            <a:prstDash val="sysDash"/>
            <a:headEnd type="none" len="sm" w="sm"/>
            <a:tailEnd type="arrow" len="sm" w="med"/>
          </a:ln>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182397" y="565427"/>
            <a:ext cx="15923206" cy="9156145"/>
          </a:xfrm>
          <a:custGeom>
            <a:avLst/>
            <a:gdLst/>
            <a:ahLst/>
            <a:cxnLst/>
            <a:rect r="r" b="b" t="t" l="l"/>
            <a:pathLst>
              <a:path h="9156145" w="15923206">
                <a:moveTo>
                  <a:pt x="0" y="0"/>
                </a:moveTo>
                <a:lnTo>
                  <a:pt x="15923206" y="0"/>
                </a:lnTo>
                <a:lnTo>
                  <a:pt x="15923206" y="9156146"/>
                </a:lnTo>
                <a:lnTo>
                  <a:pt x="0" y="9156146"/>
                </a:lnTo>
                <a:lnTo>
                  <a:pt x="0" y="0"/>
                </a:lnTo>
                <a:close/>
              </a:path>
            </a:pathLst>
          </a:custGeom>
          <a:blipFill>
            <a:blip r:embed="rId2"/>
            <a:stretch>
              <a:fillRect l="-6418" t="-14550" r="-6418" b="0"/>
            </a:stretch>
          </a:blipFill>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6" id="6"/>
          <p:cNvGrpSpPr/>
          <p:nvPr/>
        </p:nvGrpSpPr>
        <p:grpSpPr>
          <a:xfrm rot="0">
            <a:off x="1032835" y="8956675"/>
            <a:ext cx="16230600" cy="301625"/>
            <a:chOff x="0" y="0"/>
            <a:chExt cx="21640800" cy="402167"/>
          </a:xfrm>
        </p:grpSpPr>
        <p:sp>
          <p:nvSpPr>
            <p:cNvPr name="TextBox 7" id="7"/>
            <p:cNvSpPr txBox="true"/>
            <p:nvPr/>
          </p:nvSpPr>
          <p:spPr>
            <a:xfrm rot="0">
              <a:off x="0" y="-57150"/>
              <a:ext cx="6245920" cy="459317"/>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Primary Stakeholder - Core Services</a:t>
              </a:r>
            </a:p>
          </p:txBody>
        </p:sp>
        <p:sp>
          <p:nvSpPr>
            <p:cNvPr name="TextBox 8" id="8"/>
            <p:cNvSpPr txBox="true"/>
            <p:nvPr/>
          </p:nvSpPr>
          <p:spPr>
            <a:xfrm rot="0">
              <a:off x="12070017" y="0"/>
              <a:ext cx="9570783" cy="402167"/>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Prime members, families, casual viewers, international audiences</a:t>
              </a:r>
            </a:p>
          </p:txBody>
        </p:sp>
      </p:grpSp>
      <p:sp>
        <p:nvSpPr>
          <p:cNvPr name="TextBox 9" id="9"/>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2" id="12"/>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51</a:t>
              </a:r>
            </a:p>
          </p:txBody>
        </p:sp>
      </p:grpSp>
      <p:sp>
        <p:nvSpPr>
          <p:cNvPr name="Freeform 13" id="13"/>
          <p:cNvSpPr/>
          <p:nvPr/>
        </p:nvSpPr>
        <p:spPr>
          <a:xfrm flipH="false" flipV="false" rot="0">
            <a:off x="15415943" y="1028700"/>
            <a:ext cx="1843357" cy="1089885"/>
          </a:xfrm>
          <a:custGeom>
            <a:avLst/>
            <a:gdLst/>
            <a:ahLst/>
            <a:cxnLst/>
            <a:rect r="r" b="b" t="t" l="l"/>
            <a:pathLst>
              <a:path h="1089885" w="1843357">
                <a:moveTo>
                  <a:pt x="0" y="0"/>
                </a:moveTo>
                <a:lnTo>
                  <a:pt x="1843357" y="0"/>
                </a:lnTo>
                <a:lnTo>
                  <a:pt x="1843357" y="1089885"/>
                </a:lnTo>
                <a:lnTo>
                  <a:pt x="0" y="1089885"/>
                </a:lnTo>
                <a:lnTo>
                  <a:pt x="0" y="0"/>
                </a:lnTo>
                <a:close/>
              </a:path>
            </a:pathLst>
          </a:custGeom>
          <a:blipFill>
            <a:blip r:embed="rId3"/>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189037" y="566634"/>
            <a:ext cx="15909926" cy="9153731"/>
          </a:xfrm>
          <a:custGeom>
            <a:avLst/>
            <a:gdLst/>
            <a:ahLst/>
            <a:cxnLst/>
            <a:rect r="r" b="b" t="t" l="l"/>
            <a:pathLst>
              <a:path h="9153731" w="15909926">
                <a:moveTo>
                  <a:pt x="0" y="0"/>
                </a:moveTo>
                <a:lnTo>
                  <a:pt x="15909926" y="0"/>
                </a:lnTo>
                <a:lnTo>
                  <a:pt x="15909926" y="9153732"/>
                </a:lnTo>
                <a:lnTo>
                  <a:pt x="0" y="9153732"/>
                </a:lnTo>
                <a:lnTo>
                  <a:pt x="0" y="0"/>
                </a:lnTo>
                <a:close/>
              </a:path>
            </a:pathLst>
          </a:custGeom>
          <a:blipFill>
            <a:blip r:embed="rId2"/>
            <a:stretch>
              <a:fillRect l="-6438" t="-14525" r="-6438" b="0"/>
            </a:stretch>
          </a:blipFill>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6" id="6"/>
          <p:cNvGrpSpPr/>
          <p:nvPr/>
        </p:nvGrpSpPr>
        <p:grpSpPr>
          <a:xfrm rot="0">
            <a:off x="1028700" y="8956675"/>
            <a:ext cx="16230600" cy="301625"/>
            <a:chOff x="0" y="0"/>
            <a:chExt cx="21640800" cy="402167"/>
          </a:xfrm>
        </p:grpSpPr>
        <p:sp>
          <p:nvSpPr>
            <p:cNvPr name="TextBox 7" id="7"/>
            <p:cNvSpPr txBox="true"/>
            <p:nvPr/>
          </p:nvSpPr>
          <p:spPr>
            <a:xfrm rot="0">
              <a:off x="0" y="-57150"/>
              <a:ext cx="6245920" cy="459317"/>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Secondary stakeholder</a:t>
              </a:r>
            </a:p>
          </p:txBody>
        </p:sp>
        <p:sp>
          <p:nvSpPr>
            <p:cNvPr name="TextBox 8" id="8"/>
            <p:cNvSpPr txBox="true"/>
            <p:nvPr/>
          </p:nvSpPr>
          <p:spPr>
            <a:xfrm rot="0">
              <a:off x="12070017" y="0"/>
              <a:ext cx="9570783" cy="402167"/>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 Studios, producers, talent, distributors, advertisers</a:t>
              </a:r>
            </a:p>
          </p:txBody>
        </p:sp>
      </p:grpSp>
      <p:sp>
        <p:nvSpPr>
          <p:cNvPr name="TextBox 9" id="9"/>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2" id="12"/>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52</a:t>
              </a:r>
            </a:p>
          </p:txBody>
        </p:sp>
      </p:grpSp>
      <p:sp>
        <p:nvSpPr>
          <p:cNvPr name="Freeform 13" id="13"/>
          <p:cNvSpPr/>
          <p:nvPr/>
        </p:nvSpPr>
        <p:spPr>
          <a:xfrm flipH="false" flipV="false" rot="0">
            <a:off x="15415943" y="1028700"/>
            <a:ext cx="1843357" cy="1089885"/>
          </a:xfrm>
          <a:custGeom>
            <a:avLst/>
            <a:gdLst/>
            <a:ahLst/>
            <a:cxnLst/>
            <a:rect r="r" b="b" t="t" l="l"/>
            <a:pathLst>
              <a:path h="1089885" w="1843357">
                <a:moveTo>
                  <a:pt x="0" y="0"/>
                </a:moveTo>
                <a:lnTo>
                  <a:pt x="1843357" y="0"/>
                </a:lnTo>
                <a:lnTo>
                  <a:pt x="1843357" y="1089885"/>
                </a:lnTo>
                <a:lnTo>
                  <a:pt x="0" y="1089885"/>
                </a:lnTo>
                <a:lnTo>
                  <a:pt x="0" y="0"/>
                </a:lnTo>
                <a:close/>
              </a:path>
            </a:pathLst>
          </a:custGeom>
          <a:blipFill>
            <a:blip r:embed="rId3"/>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1184461" y="566634"/>
            <a:ext cx="15919077" cy="9153731"/>
          </a:xfrm>
          <a:custGeom>
            <a:avLst/>
            <a:gdLst/>
            <a:ahLst/>
            <a:cxnLst/>
            <a:rect r="r" b="b" t="t" l="l"/>
            <a:pathLst>
              <a:path h="9153731" w="15919077">
                <a:moveTo>
                  <a:pt x="0" y="0"/>
                </a:moveTo>
                <a:lnTo>
                  <a:pt x="15919078" y="0"/>
                </a:lnTo>
                <a:lnTo>
                  <a:pt x="15919078" y="9153732"/>
                </a:lnTo>
                <a:lnTo>
                  <a:pt x="0" y="9153732"/>
                </a:lnTo>
                <a:lnTo>
                  <a:pt x="0" y="0"/>
                </a:lnTo>
                <a:close/>
              </a:path>
            </a:pathLst>
          </a:custGeom>
          <a:blipFill>
            <a:blip r:embed="rId2"/>
            <a:stretch>
              <a:fillRect l="-6406" t="-14525" r="-6406" b="0"/>
            </a:stretch>
          </a:blipFill>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6" id="6"/>
          <p:cNvGrpSpPr/>
          <p:nvPr/>
        </p:nvGrpSpPr>
        <p:grpSpPr>
          <a:xfrm rot="0">
            <a:off x="1028700" y="8956675"/>
            <a:ext cx="16230600" cy="301625"/>
            <a:chOff x="0" y="0"/>
            <a:chExt cx="21640800" cy="402167"/>
          </a:xfrm>
        </p:grpSpPr>
        <p:sp>
          <p:nvSpPr>
            <p:cNvPr name="TextBox 7" id="7"/>
            <p:cNvSpPr txBox="true"/>
            <p:nvPr/>
          </p:nvSpPr>
          <p:spPr>
            <a:xfrm rot="0">
              <a:off x="0" y="-47625"/>
              <a:ext cx="7729224" cy="449792"/>
            </a:xfrm>
            <a:prstGeom prst="rect">
              <a:avLst/>
            </a:prstGeom>
          </p:spPr>
          <p:txBody>
            <a:bodyPr anchor="t" rtlCol="false" tIns="0" lIns="0" bIns="0" rIns="0">
              <a:spAutoFit/>
            </a:bodyPr>
            <a:lstStyle/>
            <a:p>
              <a:pPr algn="l">
                <a:lnSpc>
                  <a:spcPts val="2799"/>
                </a:lnSpc>
              </a:pPr>
              <a:r>
                <a:rPr lang="en-US" sz="1999" spc="-19">
                  <a:solidFill>
                    <a:srgbClr val="FFFFFF"/>
                  </a:solidFill>
                  <a:latin typeface="Helvetica World"/>
                  <a:ea typeface="Helvetica World"/>
                  <a:cs typeface="Helvetica World"/>
                  <a:sym typeface="Helvetica World"/>
                </a:rPr>
                <a:t>Tertiary Stakeholders - Peripheral Stakeholders</a:t>
              </a:r>
            </a:p>
          </p:txBody>
        </p:sp>
        <p:sp>
          <p:nvSpPr>
            <p:cNvPr name="TextBox 8" id="8"/>
            <p:cNvSpPr txBox="true"/>
            <p:nvPr/>
          </p:nvSpPr>
          <p:spPr>
            <a:xfrm rot="0">
              <a:off x="12070017" y="0"/>
              <a:ext cx="9570783" cy="402167"/>
            </a:xfrm>
            <a:prstGeom prst="rect">
              <a:avLst/>
            </a:prstGeom>
          </p:spPr>
          <p:txBody>
            <a:bodyPr anchor="t" rtlCol="false" tIns="0" lIns="0" bIns="0" rIns="0">
              <a:spAutoFit/>
            </a:bodyPr>
            <a:lstStyle/>
            <a:p>
              <a:pPr algn="r">
                <a:lnSpc>
                  <a:spcPts val="2200"/>
                </a:lnSpc>
              </a:pPr>
              <a:r>
                <a:rPr lang="en-US" sz="2000" spc="-20">
                  <a:solidFill>
                    <a:srgbClr val="FFFFFF"/>
                  </a:solidFill>
                  <a:latin typeface="Helvetica World"/>
                  <a:ea typeface="Helvetica World"/>
                  <a:cs typeface="Helvetica World"/>
                  <a:sym typeface="Helvetica World"/>
                </a:rPr>
                <a:t> Studios, producers, talent, distributors, advertisers</a:t>
              </a:r>
            </a:p>
          </p:txBody>
        </p:sp>
      </p:grpSp>
      <p:sp>
        <p:nvSpPr>
          <p:cNvPr name="TextBox 9" id="9"/>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Stakeholder Mapping</a:t>
            </a:r>
          </a:p>
        </p:txBody>
      </p:sp>
      <p:grpSp>
        <p:nvGrpSpPr>
          <p:cNvPr name="Group 10" id="10"/>
          <p:cNvGrpSpPr/>
          <p:nvPr/>
        </p:nvGrpSpPr>
        <p:grpSpPr>
          <a:xfrm rot="0">
            <a:off x="1028700" y="9258300"/>
            <a:ext cx="16230600" cy="301625"/>
            <a:chOff x="0" y="0"/>
            <a:chExt cx="21640800" cy="402167"/>
          </a:xfrm>
        </p:grpSpPr>
        <p:sp>
          <p:nvSpPr>
            <p:cNvPr name="TextBox 11" id="11"/>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2" id="12"/>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53</a:t>
              </a:r>
            </a:p>
          </p:txBody>
        </p:sp>
      </p:grpSp>
      <p:sp>
        <p:nvSpPr>
          <p:cNvPr name="Freeform 13" id="13"/>
          <p:cNvSpPr/>
          <p:nvPr/>
        </p:nvSpPr>
        <p:spPr>
          <a:xfrm flipH="false" flipV="false" rot="0">
            <a:off x="15415943" y="1028700"/>
            <a:ext cx="1843357" cy="1089885"/>
          </a:xfrm>
          <a:custGeom>
            <a:avLst/>
            <a:gdLst/>
            <a:ahLst/>
            <a:cxnLst/>
            <a:rect r="r" b="b" t="t" l="l"/>
            <a:pathLst>
              <a:path h="1089885" w="1843357">
                <a:moveTo>
                  <a:pt x="0" y="0"/>
                </a:moveTo>
                <a:lnTo>
                  <a:pt x="1843357" y="0"/>
                </a:lnTo>
                <a:lnTo>
                  <a:pt x="1843357" y="1089885"/>
                </a:lnTo>
                <a:lnTo>
                  <a:pt x="0" y="1089885"/>
                </a:lnTo>
                <a:lnTo>
                  <a:pt x="0" y="0"/>
                </a:lnTo>
                <a:close/>
              </a:path>
            </a:pathLst>
          </a:custGeom>
          <a:blipFill>
            <a:blip r:embed="rId3"/>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5268719" y="2340529"/>
            <a:ext cx="7750561" cy="5605942"/>
          </a:xfrm>
          <a:custGeom>
            <a:avLst/>
            <a:gdLst/>
            <a:ahLst/>
            <a:cxnLst/>
            <a:rect r="r" b="b" t="t" l="l"/>
            <a:pathLst>
              <a:path h="5605942" w="7750561">
                <a:moveTo>
                  <a:pt x="0" y="0"/>
                </a:moveTo>
                <a:lnTo>
                  <a:pt x="7750562" y="0"/>
                </a:lnTo>
                <a:lnTo>
                  <a:pt x="7750562" y="5605942"/>
                </a:lnTo>
                <a:lnTo>
                  <a:pt x="0" y="5605942"/>
                </a:lnTo>
                <a:lnTo>
                  <a:pt x="0" y="0"/>
                </a:lnTo>
                <a:close/>
              </a:path>
            </a:pathLst>
          </a:custGeom>
          <a:blipFill>
            <a:blip r:embed="rId2"/>
            <a:stretch>
              <a:fillRect l="0" t="-19128" r="0" b="-19128"/>
            </a:stretch>
          </a:blipFill>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Business Model</a:t>
            </a:r>
          </a:p>
        </p:txBody>
      </p:sp>
      <p:sp>
        <p:nvSpPr>
          <p:cNvPr name="TextBox 7" id="7"/>
          <p:cNvSpPr txBox="true"/>
          <p:nvPr/>
        </p:nvSpPr>
        <p:spPr>
          <a:xfrm rot="0">
            <a:off x="10266394" y="4894506"/>
            <a:ext cx="6992906" cy="933450"/>
          </a:xfrm>
          <a:prstGeom prst="rect">
            <a:avLst/>
          </a:prstGeom>
        </p:spPr>
        <p:txBody>
          <a:bodyPr anchor="t" rtlCol="false" tIns="0" lIns="0" bIns="0" rIns="0">
            <a:spAutoFit/>
          </a:bodyPr>
          <a:lstStyle/>
          <a:p>
            <a:pPr algn="l">
              <a:lnSpc>
                <a:spcPts val="2400"/>
              </a:lnSpc>
            </a:pPr>
            <a:r>
              <a:rPr lang="en-US" sz="2000" spc="-20">
                <a:solidFill>
                  <a:srgbClr val="FFFFFF">
                    <a:alpha val="49804"/>
                  </a:srgbClr>
                </a:solidFill>
                <a:latin typeface="Helvetica World"/>
                <a:ea typeface="Helvetica World"/>
                <a:cs typeface="Helvetica World"/>
                <a:sym typeface="Helvetica World"/>
              </a:rPr>
              <a:t>Primary - Prime members, families, casual viewers</a:t>
            </a:r>
          </a:p>
          <a:p>
            <a:pPr algn="l">
              <a:lnSpc>
                <a:spcPts val="2400"/>
              </a:lnSpc>
            </a:pPr>
          </a:p>
          <a:p>
            <a:pPr algn="l">
              <a:lnSpc>
                <a:spcPts val="2400"/>
              </a:lnSpc>
            </a:pPr>
            <a:r>
              <a:rPr lang="en-US" sz="2000" spc="-20">
                <a:solidFill>
                  <a:srgbClr val="FFFFFF">
                    <a:alpha val="49804"/>
                  </a:srgbClr>
                </a:solidFill>
                <a:latin typeface="Helvetica World"/>
                <a:ea typeface="Helvetica World"/>
                <a:cs typeface="Helvetica World"/>
                <a:sym typeface="Helvetica World"/>
              </a:rPr>
              <a:t>Secondary - advertisers, content partners</a:t>
            </a:r>
          </a:p>
        </p:txBody>
      </p:sp>
      <p:sp>
        <p:nvSpPr>
          <p:cNvPr name="TextBox 8" id="8"/>
          <p:cNvSpPr txBox="true"/>
          <p:nvPr/>
        </p:nvSpPr>
        <p:spPr>
          <a:xfrm rot="0">
            <a:off x="2017885" y="4780206"/>
            <a:ext cx="6455366" cy="10477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Market Segments</a:t>
            </a:r>
          </a:p>
        </p:txBody>
      </p:sp>
      <p:sp>
        <p:nvSpPr>
          <p:cNvPr name="AutoShape 9" id="9"/>
          <p:cNvSpPr/>
          <p:nvPr/>
        </p:nvSpPr>
        <p:spPr>
          <a:xfrm>
            <a:off x="9144000" y="4784732"/>
            <a:ext cx="0" cy="1172048"/>
          </a:xfrm>
          <a:prstGeom prst="line">
            <a:avLst/>
          </a:prstGeom>
          <a:ln cap="rnd" w="19050">
            <a:solidFill>
              <a:srgbClr val="FFFFFF">
                <a:alpha val="29804"/>
              </a:srgbClr>
            </a:solidFill>
            <a:prstDash val="sysDash"/>
            <a:headEnd type="none" len="sm" w="sm"/>
            <a:tailEnd type="none" len="sm" w="sm"/>
          </a:ln>
        </p:spPr>
      </p:sp>
      <p:grpSp>
        <p:nvGrpSpPr>
          <p:cNvPr name="Group 10" id="10"/>
          <p:cNvGrpSpPr/>
          <p:nvPr/>
        </p:nvGrpSpPr>
        <p:grpSpPr>
          <a:xfrm rot="0">
            <a:off x="2017885" y="2209016"/>
            <a:ext cx="15241415" cy="1172048"/>
            <a:chOff x="0" y="0"/>
            <a:chExt cx="20321887" cy="1562730"/>
          </a:xfrm>
        </p:grpSpPr>
        <p:sp>
          <p:nvSpPr>
            <p:cNvPr name="TextBox 11" id="11"/>
            <p:cNvSpPr txBox="true"/>
            <p:nvPr/>
          </p:nvSpPr>
          <p:spPr>
            <a:xfrm rot="0">
              <a:off x="10998012" y="152715"/>
              <a:ext cx="9323874" cy="1238250"/>
            </a:xfrm>
            <a:prstGeom prst="rect">
              <a:avLst/>
            </a:prstGeom>
          </p:spPr>
          <p:txBody>
            <a:bodyPr anchor="t" rtlCol="false" tIns="0" lIns="0" bIns="0" rIns="0">
              <a:spAutoFit/>
            </a:bodyPr>
            <a:lstStyle/>
            <a:p>
              <a:pPr algn="l">
                <a:lnSpc>
                  <a:spcPts val="2400"/>
                </a:lnSpc>
              </a:pPr>
              <a:r>
                <a:rPr lang="en-US" sz="2000" spc="-20">
                  <a:solidFill>
                    <a:srgbClr val="FFFFFF">
                      <a:alpha val="49804"/>
                    </a:srgbClr>
                  </a:solidFill>
                  <a:latin typeface="Helvetica World"/>
                  <a:ea typeface="Helvetica World"/>
                  <a:cs typeface="Helvetica World"/>
                  <a:sym typeface="Helvetica World"/>
                </a:rPr>
                <a:t>Bundled, convenient access to streaming content within Prime</a:t>
              </a:r>
            </a:p>
            <a:p>
              <a:pPr algn="l">
                <a:lnSpc>
                  <a:spcPts val="2400"/>
                </a:lnSpc>
              </a:pPr>
            </a:p>
            <a:p>
              <a:pPr algn="l">
                <a:lnSpc>
                  <a:spcPts val="2400"/>
                </a:lnSpc>
              </a:pPr>
              <a:r>
                <a:rPr lang="en-US" sz="2000" spc="-20">
                  <a:solidFill>
                    <a:srgbClr val="FFFFFF">
                      <a:alpha val="49804"/>
                    </a:srgbClr>
                  </a:solidFill>
                  <a:latin typeface="Helvetica World"/>
                  <a:ea typeface="Helvetica World"/>
                  <a:cs typeface="Helvetica World"/>
                  <a:sym typeface="Helvetica World"/>
                </a:rPr>
                <a:t>Multi-device support with personalized recommendations</a:t>
              </a:r>
            </a:p>
          </p:txBody>
        </p:sp>
        <p:sp>
          <p:nvSpPr>
            <p:cNvPr name="TextBox 12" id="12"/>
            <p:cNvSpPr txBox="true"/>
            <p:nvPr/>
          </p:nvSpPr>
          <p:spPr>
            <a:xfrm rot="0">
              <a:off x="0" y="38415"/>
              <a:ext cx="8607154" cy="13525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Value Proposition</a:t>
              </a:r>
            </a:p>
          </p:txBody>
        </p:sp>
        <p:sp>
          <p:nvSpPr>
            <p:cNvPr name="AutoShape 13" id="13"/>
            <p:cNvSpPr/>
            <p:nvPr/>
          </p:nvSpPr>
          <p:spPr>
            <a:xfrm>
              <a:off x="9488787" y="0"/>
              <a:ext cx="0" cy="1562730"/>
            </a:xfrm>
            <a:prstGeom prst="line">
              <a:avLst/>
            </a:prstGeom>
            <a:ln cap="rnd" w="25400">
              <a:solidFill>
                <a:srgbClr val="FFFFFF">
                  <a:alpha val="29804"/>
                </a:srgbClr>
              </a:solidFill>
              <a:prstDash val="sysDash"/>
              <a:headEnd type="none" len="sm" w="sm"/>
              <a:tailEnd type="none" len="sm" w="sm"/>
            </a:ln>
          </p:spPr>
        </p:sp>
      </p:grpSp>
      <p:sp>
        <p:nvSpPr>
          <p:cNvPr name="TextBox 14" id="14"/>
          <p:cNvSpPr txBox="true"/>
          <p:nvPr/>
        </p:nvSpPr>
        <p:spPr>
          <a:xfrm rot="0">
            <a:off x="10266394" y="7470221"/>
            <a:ext cx="6992906" cy="933450"/>
          </a:xfrm>
          <a:prstGeom prst="rect">
            <a:avLst/>
          </a:prstGeom>
        </p:spPr>
        <p:txBody>
          <a:bodyPr anchor="t" rtlCol="false" tIns="0" lIns="0" bIns="0" rIns="0">
            <a:spAutoFit/>
          </a:bodyPr>
          <a:lstStyle/>
          <a:p>
            <a:pPr algn="l">
              <a:lnSpc>
                <a:spcPts val="2400"/>
              </a:lnSpc>
            </a:pPr>
            <a:r>
              <a:rPr lang="en-US" sz="2000" spc="-20">
                <a:solidFill>
                  <a:srgbClr val="FFFFFF">
                    <a:alpha val="49804"/>
                  </a:srgbClr>
                </a:solidFill>
                <a:latin typeface="Helvetica World"/>
                <a:ea typeface="Helvetica World"/>
                <a:cs typeface="Helvetica World"/>
                <a:sym typeface="Helvetica World"/>
              </a:rPr>
              <a:t>Content/IP creation/contraction</a:t>
            </a:r>
          </a:p>
          <a:p>
            <a:pPr algn="l">
              <a:lnSpc>
                <a:spcPts val="2400"/>
              </a:lnSpc>
            </a:pPr>
          </a:p>
          <a:p>
            <a:pPr algn="l">
              <a:lnSpc>
                <a:spcPts val="2400"/>
              </a:lnSpc>
            </a:pPr>
            <a:r>
              <a:rPr lang="en-US" sz="2000" spc="-20">
                <a:solidFill>
                  <a:srgbClr val="FFFFFF">
                    <a:alpha val="49804"/>
                  </a:srgbClr>
                </a:solidFill>
                <a:latin typeface="Helvetica World"/>
                <a:ea typeface="Helvetica World"/>
                <a:cs typeface="Helvetica World"/>
                <a:sym typeface="Helvetica World"/>
              </a:rPr>
              <a:t>Advertisement/monetization</a:t>
            </a:r>
          </a:p>
        </p:txBody>
      </p:sp>
      <p:sp>
        <p:nvSpPr>
          <p:cNvPr name="TextBox 15" id="15"/>
          <p:cNvSpPr txBox="true"/>
          <p:nvPr/>
        </p:nvSpPr>
        <p:spPr>
          <a:xfrm rot="0">
            <a:off x="2017885" y="7355921"/>
            <a:ext cx="6455366" cy="10477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Key Activities</a:t>
            </a:r>
          </a:p>
        </p:txBody>
      </p:sp>
      <p:sp>
        <p:nvSpPr>
          <p:cNvPr name="AutoShape 16" id="16"/>
          <p:cNvSpPr/>
          <p:nvPr/>
        </p:nvSpPr>
        <p:spPr>
          <a:xfrm>
            <a:off x="9153525" y="7360447"/>
            <a:ext cx="0" cy="1172048"/>
          </a:xfrm>
          <a:prstGeom prst="line">
            <a:avLst/>
          </a:prstGeom>
          <a:ln cap="rnd" w="19050">
            <a:solidFill>
              <a:srgbClr val="FFFFFF">
                <a:alpha val="29804"/>
              </a:srgbClr>
            </a:solidFill>
            <a:prstDash val="sysDash"/>
            <a:headEnd type="none" len="sm" w="sm"/>
            <a:tailEnd type="none" len="sm" w="sm"/>
          </a:ln>
        </p:spPr>
      </p:sp>
      <p:grpSp>
        <p:nvGrpSpPr>
          <p:cNvPr name="Group 17" id="17"/>
          <p:cNvGrpSpPr/>
          <p:nvPr/>
        </p:nvGrpSpPr>
        <p:grpSpPr>
          <a:xfrm rot="0">
            <a:off x="1028700" y="9258300"/>
            <a:ext cx="16230600" cy="301625"/>
            <a:chOff x="0" y="0"/>
            <a:chExt cx="21640800" cy="402167"/>
          </a:xfrm>
        </p:grpSpPr>
        <p:sp>
          <p:nvSpPr>
            <p:cNvPr name="TextBox 18" id="1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9" id="1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54</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2956364" y="727075"/>
            <a:ext cx="12375271" cy="8832850"/>
          </a:xfrm>
          <a:custGeom>
            <a:avLst/>
            <a:gdLst/>
            <a:ahLst/>
            <a:cxnLst/>
            <a:rect r="r" b="b" t="t" l="l"/>
            <a:pathLst>
              <a:path h="8832850" w="12375271">
                <a:moveTo>
                  <a:pt x="0" y="0"/>
                </a:moveTo>
                <a:lnTo>
                  <a:pt x="12375272" y="0"/>
                </a:lnTo>
                <a:lnTo>
                  <a:pt x="12375272" y="8832850"/>
                </a:lnTo>
                <a:lnTo>
                  <a:pt x="0" y="8832850"/>
                </a:lnTo>
                <a:lnTo>
                  <a:pt x="0" y="0"/>
                </a:lnTo>
                <a:close/>
              </a:path>
            </a:pathLst>
          </a:custGeom>
          <a:blipFill>
            <a:blip r:embed="rId2"/>
            <a:stretch>
              <a:fillRect l="0" t="0" r="0" b="0"/>
            </a:stretch>
          </a:blipFill>
        </p:spPr>
      </p:sp>
      <p:grpSp>
        <p:nvGrpSpPr>
          <p:cNvPr name="Group 3" id="3"/>
          <p:cNvGrpSpPr/>
          <p:nvPr/>
        </p:nvGrpSpPr>
        <p:grpSpPr>
          <a:xfrm rot="0">
            <a:off x="11081109" y="2643940"/>
            <a:ext cx="264092" cy="26409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D6D6"/>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028700" y="727075"/>
            <a:ext cx="16230600" cy="301625"/>
            <a:chOff x="0" y="0"/>
            <a:chExt cx="21640800" cy="402167"/>
          </a:xfrm>
        </p:grpSpPr>
        <p:sp>
          <p:nvSpPr>
            <p:cNvPr name="TextBox 7" id="7"/>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9" id="9"/>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Market Positioning</a:t>
            </a:r>
          </a:p>
        </p:txBody>
      </p:sp>
      <p:sp>
        <p:nvSpPr>
          <p:cNvPr name="TextBox 10" id="10"/>
          <p:cNvSpPr txBox="true"/>
          <p:nvPr/>
        </p:nvSpPr>
        <p:spPr>
          <a:xfrm rot="0">
            <a:off x="1032835" y="7773186"/>
            <a:ext cx="7347687" cy="1238250"/>
          </a:xfrm>
          <a:prstGeom prst="rect">
            <a:avLst/>
          </a:prstGeom>
        </p:spPr>
        <p:txBody>
          <a:bodyPr anchor="t" rtlCol="false" tIns="0" lIns="0" bIns="0" rIns="0">
            <a:spAutoFit/>
          </a:bodyPr>
          <a:lstStyle/>
          <a:p>
            <a:pPr algn="l">
              <a:lnSpc>
                <a:spcPts val="2400"/>
              </a:lnSpc>
            </a:pPr>
            <a:r>
              <a:rPr lang="en-US" sz="2000" spc="-20">
                <a:solidFill>
                  <a:srgbClr val="FFFFFF">
                    <a:alpha val="49804"/>
                  </a:srgbClr>
                </a:solidFill>
                <a:latin typeface="Helvetica World"/>
                <a:ea typeface="Helvetica World"/>
                <a:cs typeface="Helvetica World"/>
                <a:sym typeface="Helvetica World"/>
              </a:rPr>
              <a:t>Prime Video has built its streaming ecosystem based on Amazon's existing infrastructure, showing fast market adaptability. However, compared to competitors like Netflix and Disney+, it still has areas requiring improvement in content maturity.</a:t>
            </a:r>
          </a:p>
        </p:txBody>
      </p:sp>
      <p:grpSp>
        <p:nvGrpSpPr>
          <p:cNvPr name="Group 11" id="11"/>
          <p:cNvGrpSpPr/>
          <p:nvPr/>
        </p:nvGrpSpPr>
        <p:grpSpPr>
          <a:xfrm rot="0">
            <a:off x="1028700" y="9258300"/>
            <a:ext cx="16230600" cy="301625"/>
            <a:chOff x="0" y="0"/>
            <a:chExt cx="21640800" cy="402167"/>
          </a:xfrm>
        </p:grpSpPr>
        <p:sp>
          <p:nvSpPr>
            <p:cNvPr name="TextBox 12" id="1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3" id="1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55</a:t>
              </a:r>
            </a:p>
          </p:txBody>
        </p:sp>
      </p:grpSp>
      <p:sp>
        <p:nvSpPr>
          <p:cNvPr name="AutoShape 14" id="14"/>
          <p:cNvSpPr/>
          <p:nvPr/>
        </p:nvSpPr>
        <p:spPr>
          <a:xfrm>
            <a:off x="11345202" y="2775986"/>
            <a:ext cx="3267151" cy="0"/>
          </a:xfrm>
          <a:prstGeom prst="line">
            <a:avLst/>
          </a:prstGeom>
          <a:ln cap="rnd" w="19050">
            <a:solidFill>
              <a:srgbClr val="FFFFFF">
                <a:alpha val="29804"/>
              </a:srgbClr>
            </a:solidFill>
            <a:prstDash val="sysDash"/>
            <a:headEnd type="none" len="sm" w="sm"/>
            <a:tailEnd type="none" len="sm" w="sm"/>
          </a:ln>
        </p:spPr>
      </p:sp>
      <p:sp>
        <p:nvSpPr>
          <p:cNvPr name="Freeform 15" id="15"/>
          <p:cNvSpPr/>
          <p:nvPr/>
        </p:nvSpPr>
        <p:spPr>
          <a:xfrm flipH="false" flipV="false" rot="0">
            <a:off x="14634413" y="2363753"/>
            <a:ext cx="1394445" cy="824466"/>
          </a:xfrm>
          <a:custGeom>
            <a:avLst/>
            <a:gdLst/>
            <a:ahLst/>
            <a:cxnLst/>
            <a:rect r="r" b="b" t="t" l="l"/>
            <a:pathLst>
              <a:path h="824466" w="1394445">
                <a:moveTo>
                  <a:pt x="0" y="0"/>
                </a:moveTo>
                <a:lnTo>
                  <a:pt x="1394445" y="0"/>
                </a:lnTo>
                <a:lnTo>
                  <a:pt x="1394445" y="824466"/>
                </a:lnTo>
                <a:lnTo>
                  <a:pt x="0" y="824466"/>
                </a:lnTo>
                <a:lnTo>
                  <a:pt x="0" y="0"/>
                </a:lnTo>
                <a:close/>
              </a:path>
            </a:pathLst>
          </a:custGeom>
          <a:blipFill>
            <a:blip r:embed="rId3"/>
            <a:stretch>
              <a:fillRect l="0" t="0" r="0" b="0"/>
            </a:stretch>
          </a:blipFill>
        </p:spPr>
      </p:sp>
      <p:grpSp>
        <p:nvGrpSpPr>
          <p:cNvPr name="Group 16" id="16"/>
          <p:cNvGrpSpPr/>
          <p:nvPr/>
        </p:nvGrpSpPr>
        <p:grpSpPr>
          <a:xfrm rot="0">
            <a:off x="10801426" y="2364760"/>
            <a:ext cx="823459" cy="82345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lgDash"/>
              <a:miter/>
            </a:ln>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2956364" y="727075"/>
            <a:ext cx="12375271" cy="8832850"/>
          </a:xfrm>
          <a:custGeom>
            <a:avLst/>
            <a:gdLst/>
            <a:ahLst/>
            <a:cxnLst/>
            <a:rect r="r" b="b" t="t" l="l"/>
            <a:pathLst>
              <a:path h="8832850" w="12375271">
                <a:moveTo>
                  <a:pt x="0" y="0"/>
                </a:moveTo>
                <a:lnTo>
                  <a:pt x="12375272" y="0"/>
                </a:lnTo>
                <a:lnTo>
                  <a:pt x="12375272" y="8832850"/>
                </a:lnTo>
                <a:lnTo>
                  <a:pt x="0" y="8832850"/>
                </a:lnTo>
                <a:lnTo>
                  <a:pt x="0" y="0"/>
                </a:lnTo>
                <a:close/>
              </a:path>
            </a:pathLst>
          </a:custGeom>
          <a:blipFill>
            <a:blip r:embed="rId2"/>
            <a:stretch>
              <a:fillRect l="0" t="0" r="0" b="0"/>
            </a:stretch>
          </a:blipFill>
        </p:spPr>
      </p:sp>
      <p:grpSp>
        <p:nvGrpSpPr>
          <p:cNvPr name="Group 3" id="3"/>
          <p:cNvGrpSpPr/>
          <p:nvPr/>
        </p:nvGrpSpPr>
        <p:grpSpPr>
          <a:xfrm rot="0">
            <a:off x="11081109" y="2643940"/>
            <a:ext cx="264092" cy="26409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D6D6"/>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520"/>
                </a:lnSpc>
              </a:pPr>
            </a:p>
          </p:txBody>
        </p:sp>
      </p:grpSp>
      <p:sp>
        <p:nvSpPr>
          <p:cNvPr name="AutoShape 6" id="6"/>
          <p:cNvSpPr/>
          <p:nvPr/>
        </p:nvSpPr>
        <p:spPr>
          <a:xfrm>
            <a:off x="11345202" y="2775986"/>
            <a:ext cx="3267151" cy="0"/>
          </a:xfrm>
          <a:prstGeom prst="line">
            <a:avLst/>
          </a:prstGeom>
          <a:ln cap="rnd" w="19050">
            <a:solidFill>
              <a:srgbClr val="FFFFFF">
                <a:alpha val="29804"/>
              </a:srgbClr>
            </a:solidFill>
            <a:prstDash val="sysDash"/>
            <a:headEnd type="none" len="sm" w="sm"/>
            <a:tailEnd type="none" len="sm" w="sm"/>
          </a:ln>
        </p:spPr>
      </p:sp>
      <p:sp>
        <p:nvSpPr>
          <p:cNvPr name="Freeform 7" id="7"/>
          <p:cNvSpPr/>
          <p:nvPr/>
        </p:nvSpPr>
        <p:spPr>
          <a:xfrm flipH="false" flipV="false" rot="0">
            <a:off x="14634413" y="2363753"/>
            <a:ext cx="1394445" cy="824466"/>
          </a:xfrm>
          <a:custGeom>
            <a:avLst/>
            <a:gdLst/>
            <a:ahLst/>
            <a:cxnLst/>
            <a:rect r="r" b="b" t="t" l="l"/>
            <a:pathLst>
              <a:path h="824466" w="1394445">
                <a:moveTo>
                  <a:pt x="0" y="0"/>
                </a:moveTo>
                <a:lnTo>
                  <a:pt x="1394445" y="0"/>
                </a:lnTo>
                <a:lnTo>
                  <a:pt x="1394445" y="824466"/>
                </a:lnTo>
                <a:lnTo>
                  <a:pt x="0" y="824466"/>
                </a:lnTo>
                <a:lnTo>
                  <a:pt x="0" y="0"/>
                </a:lnTo>
                <a:close/>
              </a:path>
            </a:pathLst>
          </a:custGeom>
          <a:blipFill>
            <a:blip r:embed="rId3"/>
            <a:stretch>
              <a:fillRect l="0" t="0" r="0" b="0"/>
            </a:stretch>
          </a:blipFill>
        </p:spPr>
      </p:sp>
      <p:grpSp>
        <p:nvGrpSpPr>
          <p:cNvPr name="Group 8" id="8"/>
          <p:cNvGrpSpPr/>
          <p:nvPr/>
        </p:nvGrpSpPr>
        <p:grpSpPr>
          <a:xfrm rot="0">
            <a:off x="10801426" y="2364760"/>
            <a:ext cx="823459" cy="82345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lgDash"/>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5" id="5"/>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Revenue Structure/Cost Structure</a:t>
            </a:r>
          </a:p>
        </p:txBody>
      </p:sp>
      <p:sp>
        <p:nvSpPr>
          <p:cNvPr name="AutoShape 6" id="6"/>
          <p:cNvSpPr/>
          <p:nvPr/>
        </p:nvSpPr>
        <p:spPr>
          <a:xfrm>
            <a:off x="9142699" y="4502215"/>
            <a:ext cx="0" cy="4030280"/>
          </a:xfrm>
          <a:prstGeom prst="line">
            <a:avLst/>
          </a:prstGeom>
          <a:ln cap="rnd" w="19050">
            <a:solidFill>
              <a:srgbClr val="FFFFFF">
                <a:alpha val="29804"/>
              </a:srgbClr>
            </a:solidFill>
            <a:prstDash val="sysDash"/>
            <a:headEnd type="none" len="sm" w="sm"/>
            <a:tailEnd type="none" len="sm" w="sm"/>
          </a:ln>
        </p:spPr>
      </p:sp>
      <p:sp>
        <p:nvSpPr>
          <p:cNvPr name="TextBox 7" id="7"/>
          <p:cNvSpPr txBox="true"/>
          <p:nvPr/>
        </p:nvSpPr>
        <p:spPr>
          <a:xfrm rot="0">
            <a:off x="11060678" y="59767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Content acquisition and licensing</a:t>
            </a:r>
          </a:p>
        </p:txBody>
      </p:sp>
      <p:sp>
        <p:nvSpPr>
          <p:cNvPr name="TextBox 8" id="8"/>
          <p:cNvSpPr txBox="true"/>
          <p:nvPr/>
        </p:nvSpPr>
        <p:spPr>
          <a:xfrm rot="0">
            <a:off x="11060678" y="67006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Infrastructure and streaming delivery</a:t>
            </a:r>
          </a:p>
        </p:txBody>
      </p:sp>
      <p:sp>
        <p:nvSpPr>
          <p:cNvPr name="TextBox 9" id="9"/>
          <p:cNvSpPr txBox="true"/>
          <p:nvPr/>
        </p:nvSpPr>
        <p:spPr>
          <a:xfrm rot="0">
            <a:off x="1032835" y="6700668"/>
            <a:ext cx="6198622"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Rentals, purchases, channels, ads</a:t>
            </a:r>
          </a:p>
        </p:txBody>
      </p:sp>
      <p:sp>
        <p:nvSpPr>
          <p:cNvPr name="TextBox 10" id="10"/>
          <p:cNvSpPr txBox="true"/>
          <p:nvPr/>
        </p:nvSpPr>
        <p:spPr>
          <a:xfrm rot="0">
            <a:off x="11060678" y="7424568"/>
            <a:ext cx="6198622" cy="371475"/>
          </a:xfrm>
          <a:prstGeom prst="rect">
            <a:avLst/>
          </a:prstGeom>
        </p:spPr>
        <p:txBody>
          <a:bodyPr anchor="t" rtlCol="false" tIns="0" lIns="0" bIns="0" rIns="0">
            <a:spAutoFit/>
          </a:bodyPr>
          <a:lstStyle/>
          <a:p>
            <a:pPr algn="r">
              <a:lnSpc>
                <a:spcPts val="2879"/>
              </a:lnSpc>
            </a:pPr>
            <a:r>
              <a:rPr lang="en-US" sz="2399" spc="-23">
                <a:solidFill>
                  <a:srgbClr val="A6A6A6"/>
                </a:solidFill>
                <a:latin typeface="Helvetica World"/>
                <a:ea typeface="Helvetica World"/>
                <a:cs typeface="Helvetica World"/>
                <a:sym typeface="Helvetica World"/>
              </a:rPr>
              <a:t>Royalties and platform maintenance</a:t>
            </a:r>
          </a:p>
        </p:txBody>
      </p:sp>
      <p:sp>
        <p:nvSpPr>
          <p:cNvPr name="TextBox 11" id="11"/>
          <p:cNvSpPr txBox="true"/>
          <p:nvPr/>
        </p:nvSpPr>
        <p:spPr>
          <a:xfrm rot="0">
            <a:off x="1032835" y="7424568"/>
            <a:ext cx="6198622"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Indirect e-commerce </a:t>
            </a:r>
          </a:p>
        </p:txBody>
      </p:sp>
      <p:sp>
        <p:nvSpPr>
          <p:cNvPr name="TextBox 12" id="12"/>
          <p:cNvSpPr txBox="true"/>
          <p:nvPr/>
        </p:nvSpPr>
        <p:spPr>
          <a:xfrm rot="0">
            <a:off x="1028700" y="4368865"/>
            <a:ext cx="6455366" cy="1047750"/>
          </a:xfrm>
          <a:prstGeom prst="rect">
            <a:avLst/>
          </a:prstGeom>
        </p:spPr>
        <p:txBody>
          <a:bodyPr anchor="t" rtlCol="false" tIns="0" lIns="0" bIns="0" rIns="0">
            <a:spAutoFit/>
          </a:bodyPr>
          <a:lstStyle/>
          <a:p>
            <a:pPr algn="l">
              <a:lnSpc>
                <a:spcPts val="8400"/>
              </a:lnSpc>
            </a:pPr>
            <a:r>
              <a:rPr lang="en-US" sz="6000" spc="-60">
                <a:solidFill>
                  <a:srgbClr val="FFFFFF"/>
                </a:solidFill>
                <a:latin typeface="Helvetica World"/>
                <a:ea typeface="Helvetica World"/>
                <a:cs typeface="Helvetica World"/>
                <a:sym typeface="Helvetica World"/>
              </a:rPr>
              <a:t>Revenue Structure</a:t>
            </a:r>
          </a:p>
        </p:txBody>
      </p:sp>
      <p:sp>
        <p:nvSpPr>
          <p:cNvPr name="TextBox 13" id="13"/>
          <p:cNvSpPr txBox="true"/>
          <p:nvPr/>
        </p:nvSpPr>
        <p:spPr>
          <a:xfrm rot="0">
            <a:off x="10803934" y="4368865"/>
            <a:ext cx="6455366" cy="104775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Cost Structure</a:t>
            </a:r>
          </a:p>
        </p:txBody>
      </p:sp>
      <p:sp>
        <p:nvSpPr>
          <p:cNvPr name="TextBox 14" id="14"/>
          <p:cNvSpPr txBox="true"/>
          <p:nvPr/>
        </p:nvSpPr>
        <p:spPr>
          <a:xfrm rot="0">
            <a:off x="1032835" y="5976768"/>
            <a:ext cx="6198622" cy="371475"/>
          </a:xfrm>
          <a:prstGeom prst="rect">
            <a:avLst/>
          </a:prstGeom>
        </p:spPr>
        <p:txBody>
          <a:bodyPr anchor="t" rtlCol="false" tIns="0" lIns="0" bIns="0" rIns="0">
            <a:spAutoFit/>
          </a:bodyPr>
          <a:lstStyle/>
          <a:p>
            <a:pPr algn="l">
              <a:lnSpc>
                <a:spcPts val="2879"/>
              </a:lnSpc>
            </a:pPr>
            <a:r>
              <a:rPr lang="en-US" sz="2399" spc="-23">
                <a:solidFill>
                  <a:srgbClr val="A6A6A6"/>
                </a:solidFill>
                <a:latin typeface="Helvetica World"/>
                <a:ea typeface="Helvetica World"/>
                <a:cs typeface="Helvetica World"/>
                <a:sym typeface="Helvetica World"/>
              </a:rPr>
              <a:t>Prime subscriptions (retention-driven)</a:t>
            </a:r>
          </a:p>
        </p:txBody>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56</a:t>
              </a:r>
            </a:p>
          </p:txBody>
        </p:sp>
      </p:grpSp>
      <p:grpSp>
        <p:nvGrpSpPr>
          <p:cNvPr name="Group 18" id="18"/>
          <p:cNvGrpSpPr/>
          <p:nvPr/>
        </p:nvGrpSpPr>
        <p:grpSpPr>
          <a:xfrm rot="0">
            <a:off x="1028700" y="2209016"/>
            <a:ext cx="4581244" cy="1089885"/>
            <a:chOff x="0" y="0"/>
            <a:chExt cx="6108325" cy="1453180"/>
          </a:xfrm>
        </p:grpSpPr>
        <p:sp>
          <p:nvSpPr>
            <p:cNvPr name="TextBox 19" id="19"/>
            <p:cNvSpPr txBox="true"/>
            <p:nvPr/>
          </p:nvSpPr>
          <p:spPr>
            <a:xfrm rot="0">
              <a:off x="2880343" y="-57150"/>
              <a:ext cx="3227983"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Streaming Service</a:t>
              </a:r>
            </a:p>
          </p:txBody>
        </p:sp>
        <p:sp>
          <p:nvSpPr>
            <p:cNvPr name="Freeform 20" id="20"/>
            <p:cNvSpPr/>
            <p:nvPr/>
          </p:nvSpPr>
          <p:spPr>
            <a:xfrm flipH="false" flipV="false" rot="0">
              <a:off x="0" y="0"/>
              <a:ext cx="2457809" cy="1453180"/>
            </a:xfrm>
            <a:custGeom>
              <a:avLst/>
              <a:gdLst/>
              <a:ahLst/>
              <a:cxnLst/>
              <a:rect r="r" b="b" t="t" l="l"/>
              <a:pathLst>
                <a:path h="1453180" w="2457809">
                  <a:moveTo>
                    <a:pt x="0" y="0"/>
                  </a:moveTo>
                  <a:lnTo>
                    <a:pt x="2457809" y="0"/>
                  </a:lnTo>
                  <a:lnTo>
                    <a:pt x="2457809" y="1453180"/>
                  </a:lnTo>
                  <a:lnTo>
                    <a:pt x="0" y="1453180"/>
                  </a:lnTo>
                  <a:lnTo>
                    <a:pt x="0" y="0"/>
                  </a:lnTo>
                  <a:close/>
                </a:path>
              </a:pathLst>
            </a:custGeom>
            <a:blipFill>
              <a:blip r:embed="rId2"/>
              <a:stretch>
                <a:fillRect l="0" t="0" r="0" b="0"/>
              </a:stretch>
            </a:blipFill>
          </p:spPr>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Vision and Goal of the Brand</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885825" y="4435540"/>
            <a:ext cx="1075730"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Vision</a:t>
            </a:r>
          </a:p>
        </p:txBody>
      </p:sp>
      <p:sp>
        <p:nvSpPr>
          <p:cNvPr name="TextBox 7" id="7"/>
          <p:cNvSpPr txBox="true"/>
          <p:nvPr/>
        </p:nvSpPr>
        <p:spPr>
          <a:xfrm rot="0">
            <a:off x="889960" y="6353544"/>
            <a:ext cx="3138193" cy="71120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Convenience, Choice, “Customer Obsession”</a:t>
            </a:r>
          </a:p>
        </p:txBody>
      </p:sp>
      <p:sp>
        <p:nvSpPr>
          <p:cNvPr name="TextBox 8" id="8"/>
          <p:cNvSpPr txBox="true"/>
          <p:nvPr/>
        </p:nvSpPr>
        <p:spPr>
          <a:xfrm rot="0">
            <a:off x="7454915" y="6353544"/>
            <a:ext cx="2805777" cy="71120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Increase Prime value and engagement</a:t>
            </a:r>
          </a:p>
        </p:txBody>
      </p:sp>
      <p:sp>
        <p:nvSpPr>
          <p:cNvPr name="TextBox 9" id="9"/>
          <p:cNvSpPr txBox="true"/>
          <p:nvPr/>
        </p:nvSpPr>
        <p:spPr>
          <a:xfrm rot="0">
            <a:off x="13689692" y="6353544"/>
            <a:ext cx="3426733" cy="711200"/>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Growth vs User Autonomy; Scale vs Subscription Fatigue</a:t>
            </a:r>
          </a:p>
        </p:txBody>
      </p:sp>
      <p:sp>
        <p:nvSpPr>
          <p:cNvPr name="TextBox 10" id="10"/>
          <p:cNvSpPr txBox="true"/>
          <p:nvPr/>
        </p:nvSpPr>
        <p:spPr>
          <a:xfrm rot="0">
            <a:off x="3458811" y="7937500"/>
            <a:ext cx="11084629" cy="594995"/>
          </a:xfrm>
          <a:prstGeom prst="rect">
            <a:avLst/>
          </a:prstGeom>
        </p:spPr>
        <p:txBody>
          <a:bodyPr anchor="t" rtlCol="false" tIns="0" lIns="0" bIns="0" rIns="0">
            <a:spAutoFit/>
          </a:bodyPr>
          <a:lstStyle/>
          <a:p>
            <a:pPr algn="ctr">
              <a:lnSpc>
                <a:spcPts val="4480"/>
              </a:lnSpc>
            </a:pPr>
            <a:r>
              <a:rPr lang="en-US" sz="3200" i="true" spc="-32">
                <a:solidFill>
                  <a:srgbClr val="FFFFFF"/>
                </a:solidFill>
                <a:latin typeface="Helvetica World Italics"/>
                <a:ea typeface="Helvetica World Italics"/>
                <a:cs typeface="Helvetica World Italics"/>
                <a:sym typeface="Helvetica World Italics"/>
              </a:rPr>
              <a:t>Lock-in Contents(Live)/Interactive Contents</a:t>
            </a:r>
          </a:p>
        </p:txBody>
      </p:sp>
      <p:sp>
        <p:nvSpPr>
          <p:cNvPr name="TextBox 11" id="11"/>
          <p:cNvSpPr txBox="true"/>
          <p:nvPr/>
        </p:nvSpPr>
        <p:spPr>
          <a:xfrm rot="0">
            <a:off x="7454915" y="4435540"/>
            <a:ext cx="837009"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Goal</a:t>
            </a:r>
          </a:p>
        </p:txBody>
      </p:sp>
      <p:sp>
        <p:nvSpPr>
          <p:cNvPr name="TextBox 12" id="12"/>
          <p:cNvSpPr txBox="true"/>
          <p:nvPr/>
        </p:nvSpPr>
        <p:spPr>
          <a:xfrm rot="0">
            <a:off x="13689692" y="4435540"/>
            <a:ext cx="1362373" cy="547370"/>
          </a:xfrm>
          <a:prstGeom prst="rect">
            <a:avLst/>
          </a:prstGeom>
        </p:spPr>
        <p:txBody>
          <a:bodyPr anchor="t" rtlCol="false" tIns="0" lIns="0" bIns="0" rIns="0">
            <a:spAutoFit/>
          </a:bodyPr>
          <a:lstStyle/>
          <a:p>
            <a:pPr algn="l">
              <a:lnSpc>
                <a:spcPts val="4480"/>
              </a:lnSpc>
            </a:pPr>
            <a:r>
              <a:rPr lang="en-US" sz="3200" spc="-32">
                <a:solidFill>
                  <a:srgbClr val="FFFFFF"/>
                </a:solidFill>
                <a:latin typeface="Helvetica World"/>
                <a:ea typeface="Helvetica World"/>
                <a:cs typeface="Helvetica World"/>
                <a:sym typeface="Helvetica World"/>
              </a:rPr>
              <a:t>Tension</a:t>
            </a:r>
          </a:p>
        </p:txBody>
      </p:sp>
      <p:sp>
        <p:nvSpPr>
          <p:cNvPr name="AutoShape 13" id="13"/>
          <p:cNvSpPr/>
          <p:nvPr/>
        </p:nvSpPr>
        <p:spPr>
          <a:xfrm flipH="true">
            <a:off x="5884409" y="4502215"/>
            <a:ext cx="0" cy="2562529"/>
          </a:xfrm>
          <a:prstGeom prst="line">
            <a:avLst/>
          </a:prstGeom>
          <a:ln cap="rnd" w="19050">
            <a:solidFill>
              <a:srgbClr val="FFFFFF">
                <a:alpha val="29804"/>
              </a:srgbClr>
            </a:solidFill>
            <a:prstDash val="sysDash"/>
            <a:headEnd type="none" len="sm" w="sm"/>
            <a:tailEnd type="none" len="sm" w="sm"/>
          </a:ln>
        </p:spPr>
      </p:sp>
      <p:sp>
        <p:nvSpPr>
          <p:cNvPr name="AutoShape 14" id="14"/>
          <p:cNvSpPr/>
          <p:nvPr/>
        </p:nvSpPr>
        <p:spPr>
          <a:xfrm>
            <a:off x="12118067" y="4502215"/>
            <a:ext cx="0" cy="2562529"/>
          </a:xfrm>
          <a:prstGeom prst="line">
            <a:avLst/>
          </a:prstGeom>
          <a:ln cap="rnd" w="19050">
            <a:solidFill>
              <a:srgbClr val="FFFFFF">
                <a:alpha val="29804"/>
              </a:srgbClr>
            </a:solidFill>
            <a:prstDash val="sysDash"/>
            <a:headEnd type="none" len="sm" w="sm"/>
            <a:tailEnd type="none" len="sm" w="sm"/>
          </a:ln>
        </p:spPr>
      </p:sp>
      <p:grpSp>
        <p:nvGrpSpPr>
          <p:cNvPr name="Group 15" id="15"/>
          <p:cNvGrpSpPr/>
          <p:nvPr/>
        </p:nvGrpSpPr>
        <p:grpSpPr>
          <a:xfrm rot="0">
            <a:off x="1028700" y="9258300"/>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57</a:t>
              </a:r>
            </a:p>
          </p:txBody>
        </p:sp>
      </p:grpSp>
      <p:grpSp>
        <p:nvGrpSpPr>
          <p:cNvPr name="Group 18" id="18"/>
          <p:cNvGrpSpPr/>
          <p:nvPr/>
        </p:nvGrpSpPr>
        <p:grpSpPr>
          <a:xfrm rot="0">
            <a:off x="1028700" y="2209016"/>
            <a:ext cx="4581244" cy="1089885"/>
            <a:chOff x="0" y="0"/>
            <a:chExt cx="6108325" cy="1453180"/>
          </a:xfrm>
        </p:grpSpPr>
        <p:sp>
          <p:nvSpPr>
            <p:cNvPr name="TextBox 19" id="19"/>
            <p:cNvSpPr txBox="true"/>
            <p:nvPr/>
          </p:nvSpPr>
          <p:spPr>
            <a:xfrm rot="0">
              <a:off x="2880343" y="-57150"/>
              <a:ext cx="3227983"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Streaming Service</a:t>
              </a:r>
            </a:p>
          </p:txBody>
        </p:sp>
        <p:sp>
          <p:nvSpPr>
            <p:cNvPr name="Freeform 20" id="20"/>
            <p:cNvSpPr/>
            <p:nvPr/>
          </p:nvSpPr>
          <p:spPr>
            <a:xfrm flipH="false" flipV="false" rot="0">
              <a:off x="0" y="0"/>
              <a:ext cx="2457809" cy="1453180"/>
            </a:xfrm>
            <a:custGeom>
              <a:avLst/>
              <a:gdLst/>
              <a:ahLst/>
              <a:cxnLst/>
              <a:rect r="r" b="b" t="t" l="l"/>
              <a:pathLst>
                <a:path h="1453180" w="2457809">
                  <a:moveTo>
                    <a:pt x="0" y="0"/>
                  </a:moveTo>
                  <a:lnTo>
                    <a:pt x="2457809" y="0"/>
                  </a:lnTo>
                  <a:lnTo>
                    <a:pt x="2457809" y="1453180"/>
                  </a:lnTo>
                  <a:lnTo>
                    <a:pt x="0" y="1453180"/>
                  </a:lnTo>
                  <a:lnTo>
                    <a:pt x="0" y="0"/>
                  </a:lnTo>
                  <a:close/>
                </a:path>
              </a:pathLst>
            </a:custGeom>
            <a:blipFill>
              <a:blip r:embed="rId2"/>
              <a:stretch>
                <a:fillRect l="0" t="0" r="0" b="0"/>
              </a:stretch>
            </a:blipFill>
          </p:spPr>
        </p:sp>
      </p:grpSp>
      <p:sp>
        <p:nvSpPr>
          <p:cNvPr name="TextBox 21" id="21"/>
          <p:cNvSpPr txBox="true"/>
          <p:nvPr/>
        </p:nvSpPr>
        <p:spPr>
          <a:xfrm rot="0">
            <a:off x="9354014" y="2075666"/>
            <a:ext cx="7905286" cy="1104265"/>
          </a:xfrm>
          <a:prstGeom prst="rect">
            <a:avLst/>
          </a:prstGeom>
        </p:spPr>
        <p:txBody>
          <a:bodyPr anchor="t" rtlCol="false" tIns="0" lIns="0" bIns="0" rIns="0">
            <a:spAutoFit/>
          </a:bodyPr>
          <a:lstStyle/>
          <a:p>
            <a:pPr algn="r">
              <a:lnSpc>
                <a:spcPts val="8959"/>
              </a:lnSpc>
            </a:pPr>
            <a:r>
              <a:rPr lang="en-US" sz="6399" spc="-63">
                <a:solidFill>
                  <a:srgbClr val="FFFFFF"/>
                </a:solidFill>
                <a:latin typeface="Helvetica World"/>
                <a:ea typeface="Helvetica World"/>
                <a:cs typeface="Helvetica World"/>
                <a:sym typeface="Helvetica World"/>
              </a:rPr>
              <a:t>Opportunity</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4412932"/>
            <a:ext cx="6455366" cy="1289049"/>
            <a:chOff x="0" y="0"/>
            <a:chExt cx="8607154" cy="1718732"/>
          </a:xfrm>
        </p:grpSpPr>
        <p:sp>
          <p:nvSpPr>
            <p:cNvPr name="TextBox 3" id="3"/>
            <p:cNvSpPr txBox="true"/>
            <p:nvPr/>
          </p:nvSpPr>
          <p:spPr>
            <a:xfrm rot="0">
              <a:off x="0" y="1162050"/>
              <a:ext cx="4448519" cy="556682"/>
            </a:xfrm>
            <a:prstGeom prst="rect">
              <a:avLst/>
            </a:prstGeom>
          </p:spPr>
          <p:txBody>
            <a:bodyPr anchor="t" rtlCol="false" tIns="0" lIns="0" bIns="0" rIns="0">
              <a:spAutoFit/>
            </a:bodyPr>
            <a:lstStyle/>
            <a:p>
              <a:pPr algn="l">
                <a:lnSpc>
                  <a:spcPts val="3500"/>
                </a:lnSpc>
              </a:pPr>
            </a:p>
          </p:txBody>
        </p:sp>
        <p:sp>
          <p:nvSpPr>
            <p:cNvPr name="TextBox 4" id="4"/>
            <p:cNvSpPr txBox="true"/>
            <p:nvPr/>
          </p:nvSpPr>
          <p:spPr>
            <a:xfrm rot="0">
              <a:off x="0" y="-133350"/>
              <a:ext cx="8607154" cy="1352550"/>
            </a:xfrm>
            <a:prstGeom prst="rect">
              <a:avLst/>
            </a:prstGeom>
          </p:spPr>
          <p:txBody>
            <a:bodyPr anchor="t" rtlCol="false" tIns="0" lIns="0" bIns="0" rIns="0">
              <a:spAutoFit/>
            </a:bodyPr>
            <a:lstStyle/>
            <a:p>
              <a:pPr algn="l">
                <a:lnSpc>
                  <a:spcPts val="8400"/>
                </a:lnSpc>
              </a:pPr>
              <a:r>
                <a:rPr lang="en-US" sz="6000" spc="-60">
                  <a:solidFill>
                    <a:srgbClr val="FFFFFF">
                      <a:alpha val="49804"/>
                    </a:srgbClr>
                  </a:solidFill>
                  <a:latin typeface="Helvetica World"/>
                  <a:ea typeface="Helvetica World"/>
                  <a:cs typeface="Helvetica World"/>
                  <a:sym typeface="Helvetica World"/>
                </a:rPr>
                <a:t>Ecosystem Value</a:t>
              </a:r>
            </a:p>
          </p:txBody>
        </p:sp>
      </p:grpSp>
      <p:grpSp>
        <p:nvGrpSpPr>
          <p:cNvPr name="Group 5" id="5"/>
          <p:cNvGrpSpPr/>
          <p:nvPr/>
        </p:nvGrpSpPr>
        <p:grpSpPr>
          <a:xfrm rot="0">
            <a:off x="10296319" y="4038283"/>
            <a:ext cx="6962981" cy="1289049"/>
            <a:chOff x="0" y="0"/>
            <a:chExt cx="9283974" cy="1718732"/>
          </a:xfrm>
        </p:grpSpPr>
        <p:sp>
          <p:nvSpPr>
            <p:cNvPr name="TextBox 6" id="6"/>
            <p:cNvSpPr txBox="true"/>
            <p:nvPr/>
          </p:nvSpPr>
          <p:spPr>
            <a:xfrm rot="0">
              <a:off x="0" y="366182"/>
              <a:ext cx="9283974" cy="1352550"/>
            </a:xfrm>
            <a:prstGeom prst="rect">
              <a:avLst/>
            </a:prstGeom>
          </p:spPr>
          <p:txBody>
            <a:bodyPr anchor="t" rtlCol="false" tIns="0" lIns="0" bIns="0" rIns="0">
              <a:spAutoFit/>
            </a:bodyPr>
            <a:lstStyle/>
            <a:p>
              <a:pPr algn="r">
                <a:lnSpc>
                  <a:spcPts val="8400"/>
                </a:lnSpc>
              </a:pPr>
              <a:r>
                <a:rPr lang="en-US" sz="6000" spc="-60">
                  <a:solidFill>
                    <a:srgbClr val="FFFFFF"/>
                  </a:solidFill>
                  <a:latin typeface="Helvetica World"/>
                  <a:ea typeface="Helvetica World"/>
                  <a:cs typeface="Helvetica World"/>
                  <a:sym typeface="Helvetica World"/>
                </a:rPr>
                <a:t>Behavior &amp; Systems</a:t>
              </a:r>
            </a:p>
          </p:txBody>
        </p:sp>
        <p:sp>
          <p:nvSpPr>
            <p:cNvPr name="TextBox 7" id="7"/>
            <p:cNvSpPr txBox="true"/>
            <p:nvPr/>
          </p:nvSpPr>
          <p:spPr>
            <a:xfrm rot="0">
              <a:off x="4485648" y="-57150"/>
              <a:ext cx="4798327" cy="556682"/>
            </a:xfrm>
            <a:prstGeom prst="rect">
              <a:avLst/>
            </a:prstGeom>
          </p:spPr>
          <p:txBody>
            <a:bodyPr anchor="t" rtlCol="false" tIns="0" lIns="0" bIns="0" rIns="0">
              <a:spAutoFit/>
            </a:bodyPr>
            <a:lstStyle/>
            <a:p>
              <a:pPr algn="r">
                <a:lnSpc>
                  <a:spcPts val="3500"/>
                </a:lnSpc>
              </a:pPr>
            </a:p>
          </p:txBody>
        </p:sp>
      </p:grpSp>
      <p:sp>
        <p:nvSpPr>
          <p:cNvPr name="TextBox 8" id="8"/>
          <p:cNvSpPr txBox="true"/>
          <p:nvPr/>
        </p:nvSpPr>
        <p:spPr>
          <a:xfrm rot="0">
            <a:off x="6951158" y="6411595"/>
            <a:ext cx="10308142" cy="2120900"/>
          </a:xfrm>
          <a:prstGeom prst="rect">
            <a:avLst/>
          </a:prstGeom>
        </p:spPr>
        <p:txBody>
          <a:bodyPr anchor="t" rtlCol="false" tIns="0" lIns="0" bIns="0" rIns="0">
            <a:spAutoFit/>
          </a:bodyPr>
          <a:lstStyle/>
          <a:p>
            <a:pPr algn="r">
              <a:lnSpc>
                <a:spcPts val="2800"/>
              </a:lnSpc>
            </a:pPr>
            <a:r>
              <a:rPr lang="en-US" sz="2000" spc="-20">
                <a:solidFill>
                  <a:srgbClr val="FFFFFF">
                    <a:alpha val="49804"/>
                  </a:srgbClr>
                </a:solidFill>
                <a:latin typeface="Helvetica World"/>
                <a:ea typeface="Helvetica World"/>
                <a:cs typeface="Helvetica World"/>
                <a:sym typeface="Helvetica World"/>
              </a:rPr>
              <a:t>Prime Video strengthens Amazon’s ecosystem by increasing perceived Prime value and extending daily engagement beyond shopping. Bundled access, viewing, and personalization enhance user convenience and partner reach. However, engagement-driven design patterns and large-scale streaming infrastructure also shape attention habits, platform dependency, and growing data and energy demands. The brand’s impact lies not only in entertainment but in how behavior and system expectations are normalized.</a:t>
            </a:r>
          </a:p>
        </p:txBody>
      </p:sp>
      <p:grpSp>
        <p:nvGrpSpPr>
          <p:cNvPr name="Group 9" id="9"/>
          <p:cNvGrpSpPr/>
          <p:nvPr/>
        </p:nvGrpSpPr>
        <p:grpSpPr>
          <a:xfrm rot="0">
            <a:off x="1028700" y="5473382"/>
            <a:ext cx="16230600" cy="457200"/>
            <a:chOff x="0" y="0"/>
            <a:chExt cx="21640800" cy="609600"/>
          </a:xfrm>
        </p:grpSpPr>
        <p:sp>
          <p:nvSpPr>
            <p:cNvPr name="TextBox 10" id="10"/>
            <p:cNvSpPr txBox="true"/>
            <p:nvPr/>
          </p:nvSpPr>
          <p:spPr>
            <a:xfrm rot="0">
              <a:off x="0" y="-66675"/>
              <a:ext cx="6503031" cy="676275"/>
            </a:xfrm>
            <a:prstGeom prst="rect">
              <a:avLst/>
            </a:prstGeom>
          </p:spPr>
          <p:txBody>
            <a:bodyPr anchor="t" rtlCol="false" tIns="0" lIns="0" bIns="0" rIns="0">
              <a:spAutoFit/>
            </a:bodyPr>
            <a:lstStyle/>
            <a:p>
              <a:pPr algn="l">
                <a:lnSpc>
                  <a:spcPts val="4200"/>
                </a:lnSpc>
              </a:pPr>
              <a:r>
                <a:rPr lang="en-US" sz="3000" spc="-30">
                  <a:solidFill>
                    <a:srgbClr val="FFFFFF">
                      <a:alpha val="29804"/>
                    </a:srgbClr>
                  </a:solidFill>
                  <a:latin typeface="Helvetica World"/>
                  <a:ea typeface="Helvetica World"/>
                  <a:cs typeface="Helvetica World"/>
                  <a:sym typeface="Helvetica World"/>
                </a:rPr>
                <a:t>[Convenience]</a:t>
              </a:r>
            </a:p>
          </p:txBody>
        </p:sp>
        <p:sp>
          <p:nvSpPr>
            <p:cNvPr name="TextBox 11" id="11"/>
            <p:cNvSpPr txBox="true"/>
            <p:nvPr/>
          </p:nvSpPr>
          <p:spPr>
            <a:xfrm rot="0">
              <a:off x="15137769" y="-66675"/>
              <a:ext cx="6503031" cy="676275"/>
            </a:xfrm>
            <a:prstGeom prst="rect">
              <a:avLst/>
            </a:prstGeom>
          </p:spPr>
          <p:txBody>
            <a:bodyPr anchor="t" rtlCol="false" tIns="0" lIns="0" bIns="0" rIns="0">
              <a:spAutoFit/>
            </a:bodyPr>
            <a:lstStyle/>
            <a:p>
              <a:pPr algn="r">
                <a:lnSpc>
                  <a:spcPts val="4200"/>
                </a:lnSpc>
              </a:pPr>
              <a:r>
                <a:rPr lang="en-US" sz="3000" spc="-30">
                  <a:solidFill>
                    <a:srgbClr val="FFFFFF">
                      <a:alpha val="29804"/>
                    </a:srgbClr>
                  </a:solidFill>
                  <a:latin typeface="Helvetica World"/>
                  <a:ea typeface="Helvetica World"/>
                  <a:cs typeface="Helvetica World"/>
                  <a:sym typeface="Helvetica World"/>
                </a:rPr>
                <a:t>[Influence]</a:t>
              </a:r>
            </a:p>
          </p:txBody>
        </p:sp>
      </p:grpSp>
      <p:sp>
        <p:nvSpPr>
          <p:cNvPr name="AutoShape 12" id="12"/>
          <p:cNvSpPr/>
          <p:nvPr/>
        </p:nvSpPr>
        <p:spPr>
          <a:xfrm>
            <a:off x="7991681" y="5143500"/>
            <a:ext cx="2304638" cy="0"/>
          </a:xfrm>
          <a:prstGeom prst="line">
            <a:avLst/>
          </a:prstGeom>
          <a:ln cap="flat" w="19050">
            <a:solidFill>
              <a:srgbClr val="FFFFFF"/>
            </a:solidFill>
            <a:prstDash val="sysDash"/>
            <a:headEnd type="none" len="sm" w="sm"/>
            <a:tailEnd type="arrow" len="sm" w="med"/>
          </a:ln>
        </p:spPr>
      </p:sp>
      <p:grpSp>
        <p:nvGrpSpPr>
          <p:cNvPr name="Group 13" id="13"/>
          <p:cNvGrpSpPr/>
          <p:nvPr/>
        </p:nvGrpSpPr>
        <p:grpSpPr>
          <a:xfrm rot="0">
            <a:off x="1028700" y="2209016"/>
            <a:ext cx="4581244" cy="1089885"/>
            <a:chOff x="0" y="0"/>
            <a:chExt cx="6108325" cy="1453180"/>
          </a:xfrm>
        </p:grpSpPr>
        <p:sp>
          <p:nvSpPr>
            <p:cNvPr name="TextBox 14" id="14"/>
            <p:cNvSpPr txBox="true"/>
            <p:nvPr/>
          </p:nvSpPr>
          <p:spPr>
            <a:xfrm rot="0">
              <a:off x="2880343" y="-57150"/>
              <a:ext cx="3227983" cy="534670"/>
            </a:xfrm>
            <a:prstGeom prst="rect">
              <a:avLst/>
            </a:prstGeom>
          </p:spPr>
          <p:txBody>
            <a:bodyPr anchor="t" rtlCol="false" tIns="0" lIns="0" bIns="0" rIns="0">
              <a:spAutoFit/>
            </a:bodyPr>
            <a:lstStyle/>
            <a:p>
              <a:pPr algn="l">
                <a:lnSpc>
                  <a:spcPts val="3359"/>
                </a:lnSpc>
                <a:spcBef>
                  <a:spcPct val="0"/>
                </a:spcBef>
              </a:pPr>
              <a:r>
                <a:rPr lang="en-US" sz="2400" spc="-24">
                  <a:solidFill>
                    <a:srgbClr val="A6A6A6"/>
                  </a:solidFill>
                  <a:latin typeface="Helvetica World"/>
                  <a:ea typeface="Helvetica World"/>
                  <a:cs typeface="Helvetica World"/>
                  <a:sym typeface="Helvetica World"/>
                </a:rPr>
                <a:t>Streaming Service</a:t>
              </a:r>
            </a:p>
          </p:txBody>
        </p:sp>
        <p:sp>
          <p:nvSpPr>
            <p:cNvPr name="Freeform 15" id="15"/>
            <p:cNvSpPr/>
            <p:nvPr/>
          </p:nvSpPr>
          <p:spPr>
            <a:xfrm flipH="false" flipV="false" rot="0">
              <a:off x="0" y="0"/>
              <a:ext cx="2457809" cy="1453180"/>
            </a:xfrm>
            <a:custGeom>
              <a:avLst/>
              <a:gdLst/>
              <a:ahLst/>
              <a:cxnLst/>
              <a:rect r="r" b="b" t="t" l="l"/>
              <a:pathLst>
                <a:path h="1453180" w="2457809">
                  <a:moveTo>
                    <a:pt x="0" y="0"/>
                  </a:moveTo>
                  <a:lnTo>
                    <a:pt x="2457809" y="0"/>
                  </a:lnTo>
                  <a:lnTo>
                    <a:pt x="2457809" y="1453180"/>
                  </a:lnTo>
                  <a:lnTo>
                    <a:pt x="0" y="1453180"/>
                  </a:lnTo>
                  <a:lnTo>
                    <a:pt x="0" y="0"/>
                  </a:lnTo>
                  <a:close/>
                </a:path>
              </a:pathLst>
            </a:custGeom>
            <a:blipFill>
              <a:blip r:embed="rId2"/>
              <a:stretch>
                <a:fillRect l="0" t="0" r="0" b="0"/>
              </a:stretch>
            </a:blipFill>
          </p:spPr>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a:off x="9134475" y="2209016"/>
            <a:ext cx="0" cy="6323479"/>
          </a:xfrm>
          <a:prstGeom prst="line">
            <a:avLst/>
          </a:prstGeom>
          <a:ln cap="rnd" w="19050">
            <a:solidFill>
              <a:srgbClr val="FFFFFF">
                <a:alpha val="29804"/>
              </a:srgbClr>
            </a:solidFill>
            <a:prstDash val="sysDash"/>
            <a:headEnd type="none" len="sm" w="sm"/>
            <a:tailEnd type="none" len="sm" w="sm"/>
          </a:ln>
        </p:spPr>
      </p:sp>
      <p:sp>
        <p:nvSpPr>
          <p:cNvPr name="TextBox 3" id="3"/>
          <p:cNvSpPr txBox="true"/>
          <p:nvPr/>
        </p:nvSpPr>
        <p:spPr>
          <a:xfrm rot="0">
            <a:off x="1028700" y="4649470"/>
            <a:ext cx="6712998" cy="3883025"/>
          </a:xfrm>
          <a:prstGeom prst="rect">
            <a:avLst/>
          </a:prstGeom>
        </p:spPr>
        <p:txBody>
          <a:bodyPr anchor="t" rtlCol="false" tIns="0" lIns="0" bIns="0" rIns="0">
            <a:spAutoFit/>
          </a:bodyPr>
          <a:lstStyle/>
          <a:p>
            <a:pPr algn="l">
              <a:lnSpc>
                <a:spcPts val="2800"/>
              </a:lnSpc>
              <a:spcBef>
                <a:spcPct val="0"/>
              </a:spcBef>
            </a:pPr>
            <a:r>
              <a:rPr lang="en-US" sz="2000" spc="-20">
                <a:solidFill>
                  <a:srgbClr val="A6A6A6"/>
                </a:solidFill>
                <a:latin typeface="Helvetica World"/>
                <a:ea typeface="Helvetica World"/>
                <a:cs typeface="Helvetica World"/>
                <a:sym typeface="Helvetica World"/>
              </a:rPr>
              <a:t>Prime Video positively impacts multiple stakeholders within and beyond the Amazon ecosystem. Viewers and Prime members benefit from greater content value through bundled access and convenience, while families and multi-device households experience easier shared viewing across profiles and devices. Stud</a:t>
            </a:r>
            <a:r>
              <a:rPr lang="en-US" sz="2000" spc="-20">
                <a:solidFill>
                  <a:srgbClr val="A6A6A6"/>
                </a:solidFill>
                <a:latin typeface="Helvetica World"/>
                <a:ea typeface="Helvetica World"/>
                <a:cs typeface="Helvetica World"/>
                <a:sym typeface="Helvetica World"/>
              </a:rPr>
              <a:t>ios and rights holders gain additional distribution reach and monetization channels, and advertisers benefit from access to high-attention inventory and targeted placement opportunities. Internally, Amazon ecosystem teams benefit through stronger Prime retention and increased cross-service engagement.</a:t>
            </a:r>
          </a:p>
        </p:txBody>
      </p:sp>
      <p:sp>
        <p:nvSpPr>
          <p:cNvPr name="TextBox 4" id="4"/>
          <p:cNvSpPr txBox="true"/>
          <p:nvPr/>
        </p:nvSpPr>
        <p:spPr>
          <a:xfrm rot="0">
            <a:off x="1028700" y="2104241"/>
            <a:ext cx="7485906"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Who get Good impacted by</a:t>
            </a:r>
          </a:p>
        </p:txBody>
      </p:sp>
      <p:grpSp>
        <p:nvGrpSpPr>
          <p:cNvPr name="Group 5" id="5"/>
          <p:cNvGrpSpPr/>
          <p:nvPr/>
        </p:nvGrpSpPr>
        <p:grpSpPr>
          <a:xfrm rot="0">
            <a:off x="1028700" y="727075"/>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8" id="8"/>
          <p:cNvGrpSpPr/>
          <p:nvPr/>
        </p:nvGrpSpPr>
        <p:grpSpPr>
          <a:xfrm rot="0">
            <a:off x="9845842" y="2209016"/>
            <a:ext cx="7320773" cy="2070101"/>
            <a:chOff x="0" y="0"/>
            <a:chExt cx="9761031" cy="2760134"/>
          </a:xfrm>
        </p:grpSpPr>
        <p:sp>
          <p:nvSpPr>
            <p:cNvPr name="TextBox 9" id="9"/>
            <p:cNvSpPr txBox="true"/>
            <p:nvPr/>
          </p:nvSpPr>
          <p:spPr>
            <a:xfrm rot="0">
              <a:off x="3273106" y="1302809"/>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Supports monetization opportunities for st</a:t>
              </a:r>
              <a:r>
                <a:rPr lang="en-US" sz="1800" spc="-18">
                  <a:solidFill>
                    <a:srgbClr val="FFFFFF"/>
                  </a:solidFill>
                  <a:latin typeface="Helvetica World"/>
                  <a:ea typeface="Helvetica World"/>
                  <a:cs typeface="Helvetica World"/>
                  <a:sym typeface="Helvetica World"/>
                </a:rPr>
                <a:t>udios, creators, and media partners</a:t>
              </a:r>
            </a:p>
          </p:txBody>
        </p:sp>
        <p:sp>
          <p:nvSpPr>
            <p:cNvPr name="TextBox 10" id="10"/>
            <p:cNvSpPr txBox="true"/>
            <p:nvPr/>
          </p:nvSpPr>
          <p:spPr>
            <a:xfrm rot="0">
              <a:off x="3273106" y="395672"/>
              <a:ext cx="6487925"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 Decent Work and Economic Growth</a:t>
              </a:r>
            </a:p>
          </p:txBody>
        </p:sp>
        <p:sp>
          <p:nvSpPr>
            <p:cNvPr name="TextBox 11" id="11"/>
            <p:cNvSpPr txBox="true"/>
            <p:nvPr/>
          </p:nvSpPr>
          <p:spPr>
            <a:xfrm rot="0">
              <a:off x="47808" y="2268009"/>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2"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3" tooltip="https://www.srgresearch.com/articles/cloud-market-share-trends-big-three-together-hold-63-while-oracle-and-the-neoclouds-inch-higher"/>
                </a:rPr>
                <a:t>ructure market in Q3 2025, maintaining its lead over Microsoft Azure (20%) and Google Cloud (13%)</a:t>
              </a:r>
            </a:p>
          </p:txBody>
        </p:sp>
        <p:sp>
          <p:nvSpPr>
            <p:cNvPr name="TextBox 12" id="12"/>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3" id="13"/>
            <p:cNvSpPr txBox="true"/>
            <p:nvPr/>
          </p:nvSpPr>
          <p:spPr>
            <a:xfrm rot="0">
              <a:off x="1797745" y="-190500"/>
              <a:ext cx="924818"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8</a:t>
              </a:r>
            </a:p>
          </p:txBody>
        </p:sp>
      </p:grpSp>
      <p:grpSp>
        <p:nvGrpSpPr>
          <p:cNvPr name="Group 14" id="14"/>
          <p:cNvGrpSpPr/>
          <p:nvPr/>
        </p:nvGrpSpPr>
        <p:grpSpPr>
          <a:xfrm rot="0">
            <a:off x="9845842" y="6260565"/>
            <a:ext cx="7320773" cy="2271930"/>
            <a:chOff x="0" y="0"/>
            <a:chExt cx="9761031" cy="3029241"/>
          </a:xfrm>
        </p:grpSpPr>
        <p:sp>
          <p:nvSpPr>
            <p:cNvPr name="TextBox 15" id="15"/>
            <p:cNvSpPr txBox="true"/>
            <p:nvPr/>
          </p:nvSpPr>
          <p:spPr>
            <a:xfrm rot="0">
              <a:off x="3273106" y="1571916"/>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Expands scalable digital infrast</a:t>
              </a:r>
              <a:r>
                <a:rPr lang="en-US" sz="1800" spc="-18">
                  <a:solidFill>
                    <a:srgbClr val="FFFFFF"/>
                  </a:solidFill>
                  <a:latin typeface="Helvetica World"/>
                  <a:ea typeface="Helvetica World"/>
                  <a:cs typeface="Helvetica World"/>
                  <a:sym typeface="Helvetica World"/>
                </a:rPr>
                <a:t>ructure and global content distribution</a:t>
              </a:r>
            </a:p>
          </p:txBody>
        </p:sp>
        <p:sp>
          <p:nvSpPr>
            <p:cNvPr name="TextBox 16" id="16"/>
            <p:cNvSpPr txBox="true"/>
            <p:nvPr/>
          </p:nvSpPr>
          <p:spPr>
            <a:xfrm rot="0">
              <a:off x="3392121" y="646642"/>
              <a:ext cx="6368909"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Industry, Innovation and Infrastructure</a:t>
              </a:r>
            </a:p>
          </p:txBody>
        </p:sp>
        <p:sp>
          <p:nvSpPr>
            <p:cNvPr name="TextBox 17" id="17"/>
            <p:cNvSpPr txBox="true"/>
            <p:nvPr/>
          </p:nvSpPr>
          <p:spPr>
            <a:xfrm rot="0">
              <a:off x="47808" y="2537116"/>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4"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5" tooltip="https://www.srgresearch.com/articles/cloud-market-share-trends-big-three-together-hold-63-while-oracle-and-the-neoclouds-inch-higher"/>
                </a:rPr>
                <a:t>ructure market in Q3 2025, maintaining its lead over Microsoft Azure (20%) and Google Cloud (13%)</a:t>
              </a:r>
            </a:p>
          </p:txBody>
        </p:sp>
        <p:sp>
          <p:nvSpPr>
            <p:cNvPr name="TextBox 18" id="18"/>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9" id="19"/>
            <p:cNvSpPr txBox="true"/>
            <p:nvPr/>
          </p:nvSpPr>
          <p:spPr>
            <a:xfrm rot="0">
              <a:off x="1797745" y="-190500"/>
              <a:ext cx="924818"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9</a:t>
              </a:r>
            </a:p>
          </p:txBody>
        </p:sp>
      </p:grpSp>
      <p:sp>
        <p:nvSpPr>
          <p:cNvPr name="TextBox 20" id="2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 SDG - Positive</a:t>
            </a:r>
          </a:p>
        </p:txBody>
      </p:sp>
      <p:grpSp>
        <p:nvGrpSpPr>
          <p:cNvPr name="Group 21" id="21"/>
          <p:cNvGrpSpPr/>
          <p:nvPr/>
        </p:nvGrpSpPr>
        <p:grpSpPr>
          <a:xfrm rot="0">
            <a:off x="1028700" y="9258300"/>
            <a:ext cx="16230600" cy="301625"/>
            <a:chOff x="0" y="0"/>
            <a:chExt cx="21640800" cy="402167"/>
          </a:xfrm>
        </p:grpSpPr>
        <p:sp>
          <p:nvSpPr>
            <p:cNvPr name="TextBox 22" id="2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23" id="2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59</a:t>
              </a:r>
            </a:p>
          </p:txBody>
        </p:sp>
      </p:gr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AutoShape 2" id="2"/>
          <p:cNvSpPr/>
          <p:nvPr/>
        </p:nvSpPr>
        <p:spPr>
          <a:xfrm flipH="true">
            <a:off x="9134475" y="2209016"/>
            <a:ext cx="0" cy="6323479"/>
          </a:xfrm>
          <a:prstGeom prst="line">
            <a:avLst/>
          </a:prstGeom>
          <a:ln cap="rnd" w="19050">
            <a:solidFill>
              <a:srgbClr val="FFFFFF">
                <a:alpha val="29804"/>
              </a:srgbClr>
            </a:solidFill>
            <a:prstDash val="sysDash"/>
            <a:headEnd type="none" len="sm" w="sm"/>
            <a:tailEnd type="none" len="sm" w="sm"/>
          </a:ln>
        </p:spPr>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6" id="6"/>
          <p:cNvSpPr txBox="true"/>
          <p:nvPr/>
        </p:nvSpPr>
        <p:spPr>
          <a:xfrm rot="0">
            <a:off x="1028700" y="4649470"/>
            <a:ext cx="6712998" cy="3883025"/>
          </a:xfrm>
          <a:prstGeom prst="rect">
            <a:avLst/>
          </a:prstGeom>
        </p:spPr>
        <p:txBody>
          <a:bodyPr anchor="t" rtlCol="false" tIns="0" lIns="0" bIns="0" rIns="0">
            <a:spAutoFit/>
          </a:bodyPr>
          <a:lstStyle/>
          <a:p>
            <a:pPr algn="l">
              <a:lnSpc>
                <a:spcPts val="2800"/>
              </a:lnSpc>
              <a:spcBef>
                <a:spcPct val="0"/>
              </a:spcBef>
            </a:pPr>
            <a:r>
              <a:rPr lang="en-US" sz="2000" spc="-20">
                <a:solidFill>
                  <a:srgbClr val="A6A6A6"/>
                </a:solidFill>
                <a:latin typeface="Helvetica World"/>
                <a:ea typeface="Helvetica World"/>
                <a:cs typeface="Helvetica World"/>
                <a:sym typeface="Helvetica World"/>
              </a:rPr>
              <a:t>Prime Video can negatively impact certain stakeholders within its ecosystem. Heavy users, particularly youth audiences, may be affected by attention-maximizing design patterns such as autoplay and continuous recommendations. Low-income or less digitally literate users may experience confusion around paid add-ons, rentals, or subscription layers. Independent creat</a:t>
            </a:r>
            <a:r>
              <a:rPr lang="en-US" sz="2000" spc="-20">
                <a:solidFill>
                  <a:srgbClr val="A6A6A6"/>
                </a:solidFill>
                <a:latin typeface="Helvetica World"/>
                <a:ea typeface="Helvetica World"/>
                <a:cs typeface="Helvetica World"/>
                <a:sym typeface="Helvetica World"/>
              </a:rPr>
              <a:t>ors and smaller studios may face dependency and limited bargaining power within platform-driven distribution systems. At scale, increased streaming activity also contributes to growing data and energy demands, affecting broader environmental stakeholders.</a:t>
            </a:r>
          </a:p>
        </p:txBody>
      </p:sp>
      <p:sp>
        <p:nvSpPr>
          <p:cNvPr name="TextBox 7" id="7"/>
          <p:cNvSpPr txBox="true"/>
          <p:nvPr/>
        </p:nvSpPr>
        <p:spPr>
          <a:xfrm rot="0">
            <a:off x="1028700" y="2104241"/>
            <a:ext cx="7068145"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Who get Bad impacted by</a:t>
            </a:r>
          </a:p>
        </p:txBody>
      </p:sp>
      <p:grpSp>
        <p:nvGrpSpPr>
          <p:cNvPr name="Group 8" id="8"/>
          <p:cNvGrpSpPr/>
          <p:nvPr/>
        </p:nvGrpSpPr>
        <p:grpSpPr>
          <a:xfrm rot="0">
            <a:off x="9845842" y="2209016"/>
            <a:ext cx="7320773" cy="2070101"/>
            <a:chOff x="0" y="0"/>
            <a:chExt cx="9761031" cy="2760134"/>
          </a:xfrm>
        </p:grpSpPr>
        <p:sp>
          <p:nvSpPr>
            <p:cNvPr name="TextBox 9" id="9"/>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0" id="10"/>
            <p:cNvSpPr txBox="true"/>
            <p:nvPr/>
          </p:nvSpPr>
          <p:spPr>
            <a:xfrm rot="0">
              <a:off x="1797745" y="-190500"/>
              <a:ext cx="924818"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3</a:t>
              </a:r>
            </a:p>
          </p:txBody>
        </p:sp>
        <p:sp>
          <p:nvSpPr>
            <p:cNvPr name="TextBox 11" id="11"/>
            <p:cNvSpPr txBox="true"/>
            <p:nvPr/>
          </p:nvSpPr>
          <p:spPr>
            <a:xfrm rot="0">
              <a:off x="3273106" y="1302809"/>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Prolonged viewing patterns may affect attent</a:t>
              </a:r>
              <a:r>
                <a:rPr lang="en-US" sz="1800" spc="-18">
                  <a:solidFill>
                    <a:srgbClr val="FFFFFF"/>
                  </a:solidFill>
                  <a:latin typeface="Helvetica World"/>
                  <a:ea typeface="Helvetica World"/>
                  <a:cs typeface="Helvetica World"/>
                  <a:sym typeface="Helvetica World"/>
                </a:rPr>
                <a:t>ion, balance, and digital well-being</a:t>
              </a:r>
            </a:p>
          </p:txBody>
        </p:sp>
        <p:sp>
          <p:nvSpPr>
            <p:cNvPr name="TextBox 12" id="12"/>
            <p:cNvSpPr txBox="true"/>
            <p:nvPr/>
          </p:nvSpPr>
          <p:spPr>
            <a:xfrm rot="0">
              <a:off x="3273106" y="395672"/>
              <a:ext cx="6487925" cy="4540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Good Health and Well-being</a:t>
              </a:r>
            </a:p>
          </p:txBody>
        </p:sp>
        <p:sp>
          <p:nvSpPr>
            <p:cNvPr name="TextBox 13" id="13"/>
            <p:cNvSpPr txBox="true"/>
            <p:nvPr/>
          </p:nvSpPr>
          <p:spPr>
            <a:xfrm rot="0">
              <a:off x="47808" y="2268009"/>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2"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3" tooltip="https://www.srgresearch.com/articles/cloud-market-share-trends-big-three-together-hold-63-while-oracle-and-the-neoclouds-inch-higher"/>
                </a:rPr>
                <a:t>ructure market in Q3 2025, maintaining its lead over Microsoft Azure (20%) and Google Cloud (13%)</a:t>
              </a:r>
            </a:p>
          </p:txBody>
        </p:sp>
      </p:grpSp>
      <p:grpSp>
        <p:nvGrpSpPr>
          <p:cNvPr name="Group 14" id="14"/>
          <p:cNvGrpSpPr/>
          <p:nvPr/>
        </p:nvGrpSpPr>
        <p:grpSpPr>
          <a:xfrm rot="0">
            <a:off x="9845842" y="6260565"/>
            <a:ext cx="7320773" cy="2271930"/>
            <a:chOff x="0" y="0"/>
            <a:chExt cx="9761031" cy="3029241"/>
          </a:xfrm>
        </p:grpSpPr>
        <p:sp>
          <p:nvSpPr>
            <p:cNvPr name="TextBox 15" id="15"/>
            <p:cNvSpPr txBox="true"/>
            <p:nvPr/>
          </p:nvSpPr>
          <p:spPr>
            <a:xfrm rot="0">
              <a:off x="3273106" y="1571916"/>
              <a:ext cx="6487925" cy="720725"/>
            </a:xfrm>
            <a:prstGeom prst="rect">
              <a:avLst/>
            </a:prstGeom>
          </p:spPr>
          <p:txBody>
            <a:bodyPr anchor="t" rtlCol="false" tIns="0" lIns="0" bIns="0" rIns="0">
              <a:spAutoFit/>
            </a:bodyPr>
            <a:lstStyle/>
            <a:p>
              <a:pPr algn="r">
                <a:lnSpc>
                  <a:spcPts val="2160"/>
                </a:lnSpc>
                <a:spcBef>
                  <a:spcPct val="0"/>
                </a:spcBef>
              </a:pPr>
              <a:r>
                <a:rPr lang="en-US" sz="1800" spc="-18">
                  <a:solidFill>
                    <a:srgbClr val="FFFFFF"/>
                  </a:solidFill>
                  <a:latin typeface="Helvetica World"/>
                  <a:ea typeface="Helvetica World"/>
                  <a:cs typeface="Helvetica World"/>
                  <a:sym typeface="Helvetica World"/>
                </a:rPr>
                <a:t>Engagement-driven design can encourage excessiv</a:t>
              </a:r>
              <a:r>
                <a:rPr lang="en-US" sz="1800" spc="-18">
                  <a:solidFill>
                    <a:srgbClr val="FFFFFF"/>
                  </a:solidFill>
                  <a:latin typeface="Helvetica World"/>
                  <a:ea typeface="Helvetica World"/>
                  <a:cs typeface="Helvetica World"/>
                  <a:sym typeface="Helvetica World"/>
                </a:rPr>
                <a:t>e digital consumption</a:t>
              </a:r>
            </a:p>
          </p:txBody>
        </p:sp>
        <p:sp>
          <p:nvSpPr>
            <p:cNvPr name="TextBox 16" id="16"/>
            <p:cNvSpPr txBox="true"/>
            <p:nvPr/>
          </p:nvSpPr>
          <p:spPr>
            <a:xfrm rot="0">
              <a:off x="3392121" y="307063"/>
              <a:ext cx="6368909" cy="898525"/>
            </a:xfrm>
            <a:prstGeom prst="rect">
              <a:avLst/>
            </a:prstGeom>
          </p:spPr>
          <p:txBody>
            <a:bodyPr anchor="t" rtlCol="false" tIns="0" lIns="0" bIns="0" rIns="0">
              <a:spAutoFit/>
            </a:bodyPr>
            <a:lstStyle/>
            <a:p>
              <a:pPr algn="r">
                <a:lnSpc>
                  <a:spcPts val="2639"/>
                </a:lnSpc>
                <a:spcBef>
                  <a:spcPct val="0"/>
                </a:spcBef>
              </a:pPr>
              <a:r>
                <a:rPr lang="en-US" sz="2199" spc="-21">
                  <a:solidFill>
                    <a:srgbClr val="FFFFFF"/>
                  </a:solidFill>
                  <a:latin typeface="Helvetica World"/>
                  <a:ea typeface="Helvetica World"/>
                  <a:cs typeface="Helvetica World"/>
                  <a:sym typeface="Helvetica World"/>
                </a:rPr>
                <a:t>Responsible Consumption and Production</a:t>
              </a:r>
            </a:p>
          </p:txBody>
        </p:sp>
        <p:sp>
          <p:nvSpPr>
            <p:cNvPr name="TextBox 17" id="17"/>
            <p:cNvSpPr txBox="true"/>
            <p:nvPr/>
          </p:nvSpPr>
          <p:spPr>
            <a:xfrm rot="0">
              <a:off x="47808" y="2537116"/>
              <a:ext cx="9713223" cy="492125"/>
            </a:xfrm>
            <a:prstGeom prst="rect">
              <a:avLst/>
            </a:prstGeom>
          </p:spPr>
          <p:txBody>
            <a:bodyPr anchor="t" rtlCol="false" tIns="0" lIns="0" bIns="0" rIns="0">
              <a:spAutoFit/>
            </a:bodyPr>
            <a:lstStyle/>
            <a:p>
              <a:pPr algn="r">
                <a:lnSpc>
                  <a:spcPts val="1439"/>
                </a:lnSpc>
                <a:spcBef>
                  <a:spcPct val="0"/>
                </a:spcBef>
              </a:pPr>
              <a:r>
                <a:rPr lang="en-US" sz="1200" spc="-12">
                  <a:solidFill>
                    <a:srgbClr val="FFFFFF">
                      <a:alpha val="49804"/>
                    </a:srgbClr>
                  </a:solidFill>
                  <a:latin typeface="Helvetica World"/>
                  <a:ea typeface="Helvetica World"/>
                  <a:cs typeface="Helvetica World"/>
                  <a:sym typeface="Helvetica World"/>
                </a:rPr>
                <a:t>Source: Synergy Research Group (November 2025) </a:t>
              </a:r>
              <a:r>
                <a:rPr lang="en-US" sz="1200" spc="-12" u="sng">
                  <a:solidFill>
                    <a:srgbClr val="FFFFFF">
                      <a:alpha val="49804"/>
                    </a:srgbClr>
                  </a:solidFill>
                  <a:latin typeface="Helvetica World"/>
                  <a:ea typeface="Helvetica World"/>
                  <a:cs typeface="Helvetica World"/>
                  <a:sym typeface="Helvetica World"/>
                  <a:hlinkClick r:id="rId4" tooltip="https://www.srgresearch.com/articles/cloud-market-share-trends-big-three-together-hold-63-while-oracle-and-the-neoclouds-inch-higher"/>
                </a:rPr>
                <a:t>of the global cloud infrast</a:t>
              </a:r>
              <a:r>
                <a:rPr lang="en-US" sz="1200" spc="-12" u="sng">
                  <a:solidFill>
                    <a:srgbClr val="FFFFFF">
                      <a:alpha val="49804"/>
                    </a:srgbClr>
                  </a:solidFill>
                  <a:latin typeface="Helvetica World"/>
                  <a:ea typeface="Helvetica World"/>
                  <a:cs typeface="Helvetica World"/>
                  <a:sym typeface="Helvetica World"/>
                  <a:hlinkClick r:id="rId5" tooltip="https://www.srgresearch.com/articles/cloud-market-share-trends-big-three-together-hold-63-while-oracle-and-the-neoclouds-inch-higher"/>
                </a:rPr>
                <a:t>ructure market in Q3 2025, maintaining its lead over Microsoft Azure (20%) and Google Cloud (13%)</a:t>
              </a:r>
            </a:p>
          </p:txBody>
        </p:sp>
        <p:sp>
          <p:nvSpPr>
            <p:cNvPr name="TextBox 18" id="18"/>
            <p:cNvSpPr txBox="true"/>
            <p:nvPr/>
          </p:nvSpPr>
          <p:spPr>
            <a:xfrm rot="0">
              <a:off x="0" y="684588"/>
              <a:ext cx="1797745" cy="1116542"/>
            </a:xfrm>
            <a:prstGeom prst="rect">
              <a:avLst/>
            </a:prstGeom>
          </p:spPr>
          <p:txBody>
            <a:bodyPr anchor="t" rtlCol="false" tIns="0" lIns="0" bIns="0" rIns="0">
              <a:spAutoFit/>
            </a:bodyPr>
            <a:lstStyle/>
            <a:p>
              <a:pPr algn="l">
                <a:lnSpc>
                  <a:spcPts val="7000"/>
                </a:lnSpc>
              </a:pPr>
              <a:r>
                <a:rPr lang="en-US" sz="5000" spc="-50">
                  <a:solidFill>
                    <a:srgbClr val="FFFFFF"/>
                  </a:solidFill>
                  <a:latin typeface="Helvetica World"/>
                  <a:ea typeface="Helvetica World"/>
                  <a:cs typeface="Helvetica World"/>
                  <a:sym typeface="Helvetica World"/>
                </a:rPr>
                <a:t>SDG</a:t>
              </a:r>
            </a:p>
          </p:txBody>
        </p:sp>
        <p:sp>
          <p:nvSpPr>
            <p:cNvPr name="TextBox 19" id="19"/>
            <p:cNvSpPr txBox="true"/>
            <p:nvPr/>
          </p:nvSpPr>
          <p:spPr>
            <a:xfrm rot="0">
              <a:off x="1797745" y="-190500"/>
              <a:ext cx="1901002" cy="2214034"/>
            </a:xfrm>
            <a:prstGeom prst="rect">
              <a:avLst/>
            </a:prstGeom>
          </p:spPr>
          <p:txBody>
            <a:bodyPr anchor="t" rtlCol="false" tIns="0" lIns="0" bIns="0" rIns="0">
              <a:spAutoFit/>
            </a:bodyPr>
            <a:lstStyle/>
            <a:p>
              <a:pPr algn="l">
                <a:lnSpc>
                  <a:spcPts val="13999"/>
                </a:lnSpc>
              </a:pPr>
              <a:r>
                <a:rPr lang="en-US" sz="9999" spc="-99">
                  <a:solidFill>
                    <a:srgbClr val="FFFFFF"/>
                  </a:solidFill>
                  <a:latin typeface="Helvetica World"/>
                  <a:ea typeface="Helvetica World"/>
                  <a:cs typeface="Helvetica World"/>
                  <a:sym typeface="Helvetica World"/>
                </a:rPr>
                <a:t>12</a:t>
              </a:r>
            </a:p>
          </p:txBody>
        </p:sp>
      </p:grpSp>
      <p:sp>
        <p:nvSpPr>
          <p:cNvPr name="TextBox 20" id="20"/>
          <p:cNvSpPr txBox="true"/>
          <p:nvPr/>
        </p:nvSpPr>
        <p:spPr>
          <a:xfrm rot="0">
            <a:off x="1032835" y="971550"/>
            <a:ext cx="5918323"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Impact | SDG - Negative</a:t>
            </a:r>
          </a:p>
        </p:txBody>
      </p:sp>
      <p:grpSp>
        <p:nvGrpSpPr>
          <p:cNvPr name="Group 21" id="21"/>
          <p:cNvGrpSpPr/>
          <p:nvPr/>
        </p:nvGrpSpPr>
        <p:grpSpPr>
          <a:xfrm rot="0">
            <a:off x="1028700" y="9258300"/>
            <a:ext cx="16230600" cy="301625"/>
            <a:chOff x="0" y="0"/>
            <a:chExt cx="21640800" cy="402167"/>
          </a:xfrm>
        </p:grpSpPr>
        <p:sp>
          <p:nvSpPr>
            <p:cNvPr name="TextBox 22" id="22"/>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Service Component III - Streaming Service</a:t>
              </a:r>
            </a:p>
          </p:txBody>
        </p:sp>
        <p:sp>
          <p:nvSpPr>
            <p:cNvPr name="TextBox 23" id="23"/>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60</a:t>
              </a:r>
            </a:p>
          </p:txBody>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Freeform 2" id="2"/>
          <p:cNvSpPr/>
          <p:nvPr/>
        </p:nvSpPr>
        <p:spPr>
          <a:xfrm flipH="false" flipV="false" rot="0">
            <a:off x="5268719" y="2340529"/>
            <a:ext cx="7750561" cy="5605942"/>
          </a:xfrm>
          <a:custGeom>
            <a:avLst/>
            <a:gdLst/>
            <a:ahLst/>
            <a:cxnLst/>
            <a:rect r="r" b="b" t="t" l="l"/>
            <a:pathLst>
              <a:path h="5605942" w="7750561">
                <a:moveTo>
                  <a:pt x="0" y="0"/>
                </a:moveTo>
                <a:lnTo>
                  <a:pt x="7750562" y="0"/>
                </a:lnTo>
                <a:lnTo>
                  <a:pt x="7750562" y="5605942"/>
                </a:lnTo>
                <a:lnTo>
                  <a:pt x="0" y="5605942"/>
                </a:lnTo>
                <a:lnTo>
                  <a:pt x="0" y="0"/>
                </a:lnTo>
                <a:close/>
              </a:path>
            </a:pathLst>
          </a:custGeom>
          <a:blipFill>
            <a:blip r:embed="rId2"/>
            <a:stretch>
              <a:fillRect l="0" t="-19128" r="0" b="-19128"/>
            </a:stretch>
          </a:blipFill>
        </p:spPr>
      </p:sp>
      <p:sp>
        <p:nvSpPr>
          <p:cNvPr name="TextBox 3" id="3"/>
          <p:cNvSpPr txBox="true"/>
          <p:nvPr/>
        </p:nvSpPr>
        <p:spPr>
          <a:xfrm rot="0">
            <a:off x="2685508" y="4412933"/>
            <a:ext cx="12916984" cy="2051685"/>
          </a:xfrm>
          <a:prstGeom prst="rect">
            <a:avLst/>
          </a:prstGeom>
        </p:spPr>
        <p:txBody>
          <a:bodyPr anchor="t" rtlCol="false" tIns="0" lIns="0" bIns="0" rIns="0">
            <a:spAutoFit/>
          </a:bodyPr>
          <a:lstStyle/>
          <a:p>
            <a:pPr algn="ctr">
              <a:lnSpc>
                <a:spcPts val="5040"/>
              </a:lnSpc>
            </a:pPr>
            <a:r>
              <a:rPr lang="en-US" sz="3600" i="true" spc="-36">
                <a:solidFill>
                  <a:srgbClr val="FFFFFF"/>
                </a:solidFill>
                <a:latin typeface="Helvetica World Italics"/>
                <a:ea typeface="Helvetica World Italics"/>
                <a:cs typeface="Helvetica World Italics"/>
                <a:sym typeface="Helvetica World Italics"/>
              </a:rPr>
              <a:t>“Prime Video’s core value is bundled convenience—frictionless, personalized streaming inside Prime that increases loyalty and keeps users in Amazon’s ecosystem”</a:t>
            </a:r>
          </a:p>
        </p:txBody>
      </p:sp>
      <p:grpSp>
        <p:nvGrpSpPr>
          <p:cNvPr name="Group 4" id="4"/>
          <p:cNvGrpSpPr/>
          <p:nvPr/>
        </p:nvGrpSpPr>
        <p:grpSpPr>
          <a:xfrm rot="0">
            <a:off x="1028700" y="9258300"/>
            <a:ext cx="16230600" cy="301625"/>
            <a:chOff x="0" y="0"/>
            <a:chExt cx="21640800" cy="402167"/>
          </a:xfrm>
        </p:grpSpPr>
        <p:sp>
          <p:nvSpPr>
            <p:cNvPr name="TextBox 5" id="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Service Component III - Streaming Service: Conclusion</a:t>
              </a:r>
            </a:p>
          </p:txBody>
        </p:sp>
        <p:sp>
          <p:nvSpPr>
            <p:cNvPr name="TextBox 6" id="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61</a:t>
              </a:r>
            </a:p>
          </p:txBody>
        </p:sp>
      </p:gr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60000"/>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60000"/>
                    </a:srgbClr>
                  </a:solidFill>
                  <a:latin typeface="Helvetica World"/>
                  <a:ea typeface="Helvetica World"/>
                  <a:cs typeface="Helvetica World"/>
                  <a:sym typeface="Helvetica World"/>
                </a:rPr>
                <a:t>February 9th, 2026 </a:t>
              </a:r>
            </a:p>
          </p:txBody>
        </p:sp>
      </p:gr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051033" y="2394436"/>
            <a:ext cx="7208267" cy="1083945"/>
            <a:chOff x="0" y="0"/>
            <a:chExt cx="9611023" cy="1445260"/>
          </a:xfrm>
        </p:grpSpPr>
        <p:sp>
          <p:nvSpPr>
            <p:cNvPr name="TextBox 3" id="3"/>
            <p:cNvSpPr txBox="true"/>
            <p:nvPr/>
          </p:nvSpPr>
          <p:spPr>
            <a:xfrm rot="0">
              <a:off x="0" y="-104775"/>
              <a:ext cx="9611023" cy="1072515"/>
            </a:xfrm>
            <a:prstGeom prst="rect">
              <a:avLst/>
            </a:prstGeom>
          </p:spPr>
          <p:txBody>
            <a:bodyPr anchor="t" rtlCol="false" tIns="0" lIns="0" bIns="0" rIns="0">
              <a:spAutoFit/>
            </a:bodyPr>
            <a:lstStyle/>
            <a:p>
              <a:pPr algn="r">
                <a:lnSpc>
                  <a:spcPts val="6719"/>
                </a:lnSpc>
              </a:pPr>
              <a:r>
                <a:rPr lang="en-US" sz="4800" spc="-48">
                  <a:solidFill>
                    <a:srgbClr val="FFFFFF"/>
                  </a:solidFill>
                  <a:latin typeface="Helvetica World"/>
                  <a:ea typeface="Helvetica World"/>
                  <a:cs typeface="Helvetica World"/>
                  <a:sym typeface="Helvetica World"/>
                </a:rPr>
                <a:t>AI - Personalized Prediction</a:t>
              </a:r>
            </a:p>
          </p:txBody>
        </p:sp>
        <p:sp>
          <p:nvSpPr>
            <p:cNvPr name="TextBox 4" id="4"/>
            <p:cNvSpPr txBox="true"/>
            <p:nvPr/>
          </p:nvSpPr>
          <p:spPr>
            <a:xfrm rot="0">
              <a:off x="5620246" y="910590"/>
              <a:ext cx="3990777" cy="534670"/>
            </a:xfrm>
            <a:prstGeom prst="rect">
              <a:avLst/>
            </a:prstGeom>
          </p:spPr>
          <p:txBody>
            <a:bodyPr anchor="t" rtlCol="false" tIns="0" lIns="0" bIns="0" rIns="0">
              <a:spAutoFit/>
            </a:bodyPr>
            <a:lstStyle/>
            <a:p>
              <a:pPr algn="r">
                <a:lnSpc>
                  <a:spcPts val="3359"/>
                </a:lnSpc>
              </a:pPr>
              <a:r>
                <a:rPr lang="en-US" sz="2400" spc="-24">
                  <a:solidFill>
                    <a:srgbClr val="FFFFFF">
                      <a:alpha val="49804"/>
                    </a:srgbClr>
                  </a:solidFill>
                  <a:latin typeface="Helvetica World"/>
                  <a:ea typeface="Helvetica World"/>
                  <a:cs typeface="Helvetica World"/>
                  <a:sym typeface="Helvetica World"/>
                </a:rPr>
                <a:t>Amazon - e-commerce</a:t>
              </a:r>
            </a:p>
          </p:txBody>
        </p:sp>
      </p:grpSp>
      <p:grpSp>
        <p:nvGrpSpPr>
          <p:cNvPr name="Group 5" id="5"/>
          <p:cNvGrpSpPr/>
          <p:nvPr/>
        </p:nvGrpSpPr>
        <p:grpSpPr>
          <a:xfrm rot="0">
            <a:off x="10783863" y="4601260"/>
            <a:ext cx="6475437" cy="1083945"/>
            <a:chOff x="0" y="0"/>
            <a:chExt cx="8633916" cy="1445260"/>
          </a:xfrm>
        </p:grpSpPr>
        <p:sp>
          <p:nvSpPr>
            <p:cNvPr name="TextBox 6" id="6"/>
            <p:cNvSpPr txBox="true"/>
            <p:nvPr/>
          </p:nvSpPr>
          <p:spPr>
            <a:xfrm rot="0">
              <a:off x="0" y="-104775"/>
              <a:ext cx="8633916" cy="1072515"/>
            </a:xfrm>
            <a:prstGeom prst="rect">
              <a:avLst/>
            </a:prstGeom>
          </p:spPr>
          <p:txBody>
            <a:bodyPr anchor="t" rtlCol="false" tIns="0" lIns="0" bIns="0" rIns="0">
              <a:spAutoFit/>
            </a:bodyPr>
            <a:lstStyle/>
            <a:p>
              <a:pPr algn="r">
                <a:lnSpc>
                  <a:spcPts val="6719"/>
                </a:lnSpc>
              </a:pPr>
              <a:r>
                <a:rPr lang="en-US" sz="4800" spc="-48">
                  <a:solidFill>
                    <a:srgbClr val="FFFFFF"/>
                  </a:solidFill>
                  <a:latin typeface="Helvetica World"/>
                  <a:ea typeface="Helvetica World"/>
                  <a:cs typeface="Helvetica World"/>
                  <a:sym typeface="Helvetica World"/>
                </a:rPr>
                <a:t>Digital AI Service Builder</a:t>
              </a:r>
            </a:p>
          </p:txBody>
        </p:sp>
        <p:sp>
          <p:nvSpPr>
            <p:cNvPr name="TextBox 7" id="7"/>
            <p:cNvSpPr txBox="true"/>
            <p:nvPr/>
          </p:nvSpPr>
          <p:spPr>
            <a:xfrm rot="0">
              <a:off x="4361557" y="910590"/>
              <a:ext cx="4272359" cy="534670"/>
            </a:xfrm>
            <a:prstGeom prst="rect">
              <a:avLst/>
            </a:prstGeom>
          </p:spPr>
          <p:txBody>
            <a:bodyPr anchor="t" rtlCol="false" tIns="0" lIns="0" bIns="0" rIns="0">
              <a:spAutoFit/>
            </a:bodyPr>
            <a:lstStyle/>
            <a:p>
              <a:pPr algn="r">
                <a:lnSpc>
                  <a:spcPts val="3359"/>
                </a:lnSpc>
              </a:pPr>
              <a:r>
                <a:rPr lang="en-US" sz="2400" spc="-24">
                  <a:solidFill>
                    <a:srgbClr val="FFFFFF">
                      <a:alpha val="49804"/>
                    </a:srgbClr>
                  </a:solidFill>
                  <a:latin typeface="Helvetica World"/>
                  <a:ea typeface="Helvetica World"/>
                  <a:cs typeface="Helvetica World"/>
                  <a:sym typeface="Helvetica World"/>
                </a:rPr>
                <a:t>AWS - Cloud Computing</a:t>
              </a:r>
            </a:p>
          </p:txBody>
        </p:sp>
      </p:grpSp>
      <p:grpSp>
        <p:nvGrpSpPr>
          <p:cNvPr name="Group 8" id="8"/>
          <p:cNvGrpSpPr/>
          <p:nvPr/>
        </p:nvGrpSpPr>
        <p:grpSpPr>
          <a:xfrm rot="0">
            <a:off x="9622408" y="6820205"/>
            <a:ext cx="7636892" cy="1083945"/>
            <a:chOff x="0" y="0"/>
            <a:chExt cx="10182523" cy="1445260"/>
          </a:xfrm>
        </p:grpSpPr>
        <p:sp>
          <p:nvSpPr>
            <p:cNvPr name="TextBox 9" id="9"/>
            <p:cNvSpPr txBox="true"/>
            <p:nvPr/>
          </p:nvSpPr>
          <p:spPr>
            <a:xfrm rot="0">
              <a:off x="0" y="-104775"/>
              <a:ext cx="10182523" cy="1072515"/>
            </a:xfrm>
            <a:prstGeom prst="rect">
              <a:avLst/>
            </a:prstGeom>
          </p:spPr>
          <p:txBody>
            <a:bodyPr anchor="t" rtlCol="false" tIns="0" lIns="0" bIns="0" rIns="0">
              <a:spAutoFit/>
            </a:bodyPr>
            <a:lstStyle/>
            <a:p>
              <a:pPr algn="r">
                <a:lnSpc>
                  <a:spcPts val="6719"/>
                </a:lnSpc>
              </a:pPr>
              <a:r>
                <a:rPr lang="en-US" sz="4800" spc="-48">
                  <a:solidFill>
                    <a:srgbClr val="FFFFFF"/>
                  </a:solidFill>
                  <a:latin typeface="Helvetica World"/>
                  <a:ea typeface="Helvetica World"/>
                  <a:cs typeface="Helvetica World"/>
                  <a:sym typeface="Helvetica World"/>
                </a:rPr>
                <a:t>Live Contents / IP Ecosystem</a:t>
              </a:r>
            </a:p>
          </p:txBody>
        </p:sp>
        <p:sp>
          <p:nvSpPr>
            <p:cNvPr name="TextBox 10" id="10"/>
            <p:cNvSpPr txBox="true"/>
            <p:nvPr/>
          </p:nvSpPr>
          <p:spPr>
            <a:xfrm rot="0">
              <a:off x="4219873" y="910590"/>
              <a:ext cx="5962650" cy="534670"/>
            </a:xfrm>
            <a:prstGeom prst="rect">
              <a:avLst/>
            </a:prstGeom>
          </p:spPr>
          <p:txBody>
            <a:bodyPr anchor="t" rtlCol="false" tIns="0" lIns="0" bIns="0" rIns="0">
              <a:spAutoFit/>
            </a:bodyPr>
            <a:lstStyle/>
            <a:p>
              <a:pPr algn="r">
                <a:lnSpc>
                  <a:spcPts val="3359"/>
                </a:lnSpc>
              </a:pPr>
              <a:r>
                <a:rPr lang="en-US" sz="2400" spc="-24">
                  <a:solidFill>
                    <a:srgbClr val="FFFFFF">
                      <a:alpha val="49804"/>
                    </a:srgbClr>
                  </a:solidFill>
                  <a:latin typeface="Helvetica World"/>
                  <a:ea typeface="Helvetica World"/>
                  <a:cs typeface="Helvetica World"/>
                  <a:sym typeface="Helvetica World"/>
                </a:rPr>
                <a:t>Amazon Prime - Cloud Computing</a:t>
              </a:r>
            </a:p>
          </p:txBody>
        </p:sp>
      </p:grpSp>
      <p:sp>
        <p:nvSpPr>
          <p:cNvPr name="AutoShape 11" id="11"/>
          <p:cNvSpPr/>
          <p:nvPr/>
        </p:nvSpPr>
        <p:spPr>
          <a:xfrm>
            <a:off x="9134475" y="2394436"/>
            <a:ext cx="0" cy="5498664"/>
          </a:xfrm>
          <a:prstGeom prst="line">
            <a:avLst/>
          </a:prstGeom>
          <a:ln cap="rnd" w="19050">
            <a:solidFill>
              <a:srgbClr val="FFFFFF">
                <a:alpha val="29804"/>
              </a:srgbClr>
            </a:solidFill>
            <a:prstDash val="sysDash"/>
            <a:headEnd type="none" len="sm" w="sm"/>
            <a:tailEnd type="none" len="sm" w="sm"/>
          </a:ln>
        </p:spPr>
      </p:sp>
      <p:sp>
        <p:nvSpPr>
          <p:cNvPr name="TextBox 12" id="12"/>
          <p:cNvSpPr txBox="true"/>
          <p:nvPr/>
        </p:nvSpPr>
        <p:spPr>
          <a:xfrm rot="0">
            <a:off x="1028700" y="971550"/>
            <a:ext cx="1849934"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Future of Service</a:t>
            </a:r>
          </a:p>
        </p:txBody>
      </p:sp>
      <p:sp>
        <p:nvSpPr>
          <p:cNvPr name="TextBox 13" id="13"/>
          <p:cNvSpPr txBox="true"/>
          <p:nvPr/>
        </p:nvSpPr>
        <p:spPr>
          <a:xfrm rot="0">
            <a:off x="1028700" y="8191525"/>
            <a:ext cx="16230600" cy="711200"/>
          </a:xfrm>
          <a:prstGeom prst="rect">
            <a:avLst/>
          </a:prstGeom>
        </p:spPr>
        <p:txBody>
          <a:bodyPr anchor="t" rtlCol="false" tIns="0" lIns="0" bIns="0" rIns="0">
            <a:spAutoFit/>
          </a:bodyPr>
          <a:lstStyle/>
          <a:p>
            <a:pPr algn="l">
              <a:lnSpc>
                <a:spcPts val="2800"/>
              </a:lnSpc>
              <a:spcBef>
                <a:spcPct val="0"/>
              </a:spcBef>
            </a:pPr>
            <a:r>
              <a:rPr lang="en-US" sz="2000" spc="-30">
                <a:solidFill>
                  <a:srgbClr val="FFFFFF">
                    <a:alpha val="49804"/>
                  </a:srgbClr>
                </a:solidFill>
                <a:latin typeface="Helvetica World"/>
                <a:ea typeface="Helvetica World"/>
                <a:cs typeface="Helvetica World"/>
                <a:sym typeface="Helvetica World"/>
              </a:rPr>
              <a:t>Amazon has guided its strategy by aligning with the vision and long‑term goals within its core services. This approach opens space to grow service areas, tackle issues identified in the SDG matrix, and create solutions that match emerging needs.</a:t>
            </a:r>
          </a:p>
        </p:txBody>
      </p:sp>
      <p:grpSp>
        <p:nvGrpSpPr>
          <p:cNvPr name="Group 14" id="14"/>
          <p:cNvGrpSpPr/>
          <p:nvPr/>
        </p:nvGrpSpPr>
        <p:grpSpPr>
          <a:xfrm rot="0">
            <a:off x="1028700" y="727075"/>
            <a:ext cx="16230600" cy="301625"/>
            <a:chOff x="0" y="0"/>
            <a:chExt cx="21640800" cy="402167"/>
          </a:xfrm>
        </p:grpSpPr>
        <p:sp>
          <p:nvSpPr>
            <p:cNvPr name="TextBox 15" id="15"/>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6" id="16"/>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17" id="17"/>
          <p:cNvGrpSpPr/>
          <p:nvPr/>
        </p:nvGrpSpPr>
        <p:grpSpPr>
          <a:xfrm rot="0">
            <a:off x="1028700" y="9258300"/>
            <a:ext cx="16230600" cy="301625"/>
            <a:chOff x="0" y="0"/>
            <a:chExt cx="21640800" cy="402167"/>
          </a:xfrm>
        </p:grpSpPr>
        <p:sp>
          <p:nvSpPr>
            <p:cNvPr name="TextBox 18" id="1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Future of Service</a:t>
              </a:r>
            </a:p>
          </p:txBody>
        </p:sp>
        <p:sp>
          <p:nvSpPr>
            <p:cNvPr name="TextBox 19" id="1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62</a:t>
              </a:r>
            </a:p>
          </p:txBody>
        </p:sp>
      </p:grpSp>
      <p:sp>
        <p:nvSpPr>
          <p:cNvPr name="Freeform 20" id="20"/>
          <p:cNvSpPr/>
          <p:nvPr/>
        </p:nvSpPr>
        <p:spPr>
          <a:xfrm flipH="false" flipV="false" rot="0">
            <a:off x="1028700" y="2414121"/>
            <a:ext cx="3532813" cy="1064260"/>
          </a:xfrm>
          <a:custGeom>
            <a:avLst/>
            <a:gdLst/>
            <a:ahLst/>
            <a:cxnLst/>
            <a:rect r="r" b="b" t="t" l="l"/>
            <a:pathLst>
              <a:path h="1064260" w="3532813">
                <a:moveTo>
                  <a:pt x="0" y="0"/>
                </a:moveTo>
                <a:lnTo>
                  <a:pt x="3532813" y="0"/>
                </a:lnTo>
                <a:lnTo>
                  <a:pt x="3532813" y="1064260"/>
                </a:lnTo>
                <a:lnTo>
                  <a:pt x="0" y="1064260"/>
                </a:lnTo>
                <a:lnTo>
                  <a:pt x="0" y="0"/>
                </a:lnTo>
                <a:close/>
              </a:path>
            </a:pathLst>
          </a:custGeom>
          <a:blipFill>
            <a:blip r:embed="rId2"/>
            <a:stretch>
              <a:fillRect l="0" t="0" r="0" b="0"/>
            </a:stretch>
          </a:blipFill>
        </p:spPr>
      </p:sp>
      <p:sp>
        <p:nvSpPr>
          <p:cNvPr name="Freeform 21" id="21"/>
          <p:cNvSpPr/>
          <p:nvPr/>
        </p:nvSpPr>
        <p:spPr>
          <a:xfrm flipH="false" flipV="false" rot="0">
            <a:off x="1028700" y="6936949"/>
            <a:ext cx="1438404" cy="850456"/>
          </a:xfrm>
          <a:custGeom>
            <a:avLst/>
            <a:gdLst/>
            <a:ahLst/>
            <a:cxnLst/>
            <a:rect r="r" b="b" t="t" l="l"/>
            <a:pathLst>
              <a:path h="850456" w="1438404">
                <a:moveTo>
                  <a:pt x="0" y="0"/>
                </a:moveTo>
                <a:lnTo>
                  <a:pt x="1438404" y="0"/>
                </a:lnTo>
                <a:lnTo>
                  <a:pt x="1438404" y="850456"/>
                </a:lnTo>
                <a:lnTo>
                  <a:pt x="0" y="850456"/>
                </a:lnTo>
                <a:lnTo>
                  <a:pt x="0" y="0"/>
                </a:lnTo>
                <a:close/>
              </a:path>
            </a:pathLst>
          </a:custGeom>
          <a:blipFill>
            <a:blip r:embed="rId3"/>
            <a:stretch>
              <a:fillRect l="0" t="0" r="0" b="0"/>
            </a:stretch>
          </a:blipFill>
        </p:spPr>
      </p:sp>
      <p:sp>
        <p:nvSpPr>
          <p:cNvPr name="Freeform 22" id="22"/>
          <p:cNvSpPr/>
          <p:nvPr/>
        </p:nvSpPr>
        <p:spPr>
          <a:xfrm flipH="false" flipV="false" rot="0">
            <a:off x="1028700" y="4691268"/>
            <a:ext cx="1435177" cy="903927"/>
          </a:xfrm>
          <a:custGeom>
            <a:avLst/>
            <a:gdLst/>
            <a:ahLst/>
            <a:cxnLst/>
            <a:rect r="r" b="b" t="t" l="l"/>
            <a:pathLst>
              <a:path h="903927" w="1435177">
                <a:moveTo>
                  <a:pt x="0" y="0"/>
                </a:moveTo>
                <a:lnTo>
                  <a:pt x="1435177" y="0"/>
                </a:lnTo>
                <a:lnTo>
                  <a:pt x="1435177" y="903928"/>
                </a:lnTo>
                <a:lnTo>
                  <a:pt x="0" y="903928"/>
                </a:lnTo>
                <a:lnTo>
                  <a:pt x="0" y="0"/>
                </a:lnTo>
                <a:close/>
              </a:path>
            </a:pathLst>
          </a:custGeom>
          <a:blipFill>
            <a:blip r:embed="rId4"/>
            <a:stretch>
              <a:fillRect l="0" t="-34638" r="0" b="-24132"/>
            </a:stretch>
          </a:blipFill>
        </p:spPr>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9258300"/>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Future of Service</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63</a:t>
              </a:r>
            </a:p>
          </p:txBody>
        </p:sp>
      </p:grpSp>
      <p:sp>
        <p:nvSpPr>
          <p:cNvPr name="AutoShape 5" id="5"/>
          <p:cNvSpPr/>
          <p:nvPr/>
        </p:nvSpPr>
        <p:spPr>
          <a:xfrm>
            <a:off x="6623439" y="4502215"/>
            <a:ext cx="0" cy="1099927"/>
          </a:xfrm>
          <a:prstGeom prst="line">
            <a:avLst/>
          </a:prstGeom>
          <a:ln cap="rnd" w="19050">
            <a:solidFill>
              <a:srgbClr val="FFFFFF">
                <a:alpha val="29804"/>
              </a:srgbClr>
            </a:solidFill>
            <a:prstDash val="sysDash"/>
            <a:headEnd type="none" len="sm" w="sm"/>
            <a:tailEnd type="none" len="sm" w="sm"/>
          </a:ln>
        </p:spPr>
      </p:sp>
      <p:sp>
        <p:nvSpPr>
          <p:cNvPr name="AutoShape 6" id="6"/>
          <p:cNvSpPr/>
          <p:nvPr/>
        </p:nvSpPr>
        <p:spPr>
          <a:xfrm>
            <a:off x="11825288" y="4502215"/>
            <a:ext cx="0" cy="1099927"/>
          </a:xfrm>
          <a:prstGeom prst="line">
            <a:avLst/>
          </a:prstGeom>
          <a:ln cap="rnd" w="19050">
            <a:solidFill>
              <a:srgbClr val="FFFFFF">
                <a:alpha val="29804"/>
              </a:srgbClr>
            </a:solidFill>
            <a:prstDash val="sysDash"/>
            <a:headEnd type="none" len="sm" w="sm"/>
            <a:tailEnd type="none" len="sm" w="sm"/>
          </a:ln>
        </p:spPr>
      </p:sp>
      <p:sp>
        <p:nvSpPr>
          <p:cNvPr name="TextBox 7" id="7"/>
          <p:cNvSpPr txBox="true"/>
          <p:nvPr/>
        </p:nvSpPr>
        <p:spPr>
          <a:xfrm rot="0">
            <a:off x="1028700" y="971550"/>
            <a:ext cx="1878881"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Possible Solution</a:t>
            </a:r>
          </a:p>
        </p:txBody>
      </p:sp>
      <p:sp>
        <p:nvSpPr>
          <p:cNvPr name="TextBox 8" id="8"/>
          <p:cNvSpPr txBox="true"/>
          <p:nvPr/>
        </p:nvSpPr>
        <p:spPr>
          <a:xfrm rot="0">
            <a:off x="1110363" y="7348009"/>
            <a:ext cx="16230600" cy="1092200"/>
          </a:xfrm>
          <a:prstGeom prst="rect">
            <a:avLst/>
          </a:prstGeom>
        </p:spPr>
        <p:txBody>
          <a:bodyPr anchor="t" rtlCol="false" tIns="0" lIns="0" bIns="0" rIns="0">
            <a:spAutoFit/>
          </a:bodyPr>
          <a:lstStyle/>
          <a:p>
            <a:pPr algn="ctr">
              <a:lnSpc>
                <a:spcPts val="2800"/>
              </a:lnSpc>
              <a:spcBef>
                <a:spcPct val="0"/>
              </a:spcBef>
            </a:pPr>
            <a:r>
              <a:rPr lang="en-US" b="true" sz="2000" spc="-30">
                <a:solidFill>
                  <a:srgbClr val="FFFFFF"/>
                </a:solidFill>
                <a:latin typeface="Helvetica World Bold"/>
                <a:ea typeface="Helvetica World Bold"/>
                <a:cs typeface="Helvetica World Bold"/>
                <a:sym typeface="Helvetica World Bold"/>
              </a:rPr>
              <a:t>(1) E</a:t>
            </a:r>
            <a:r>
              <a:rPr lang="en-US" b="true" sz="2000" spc="-30">
                <a:solidFill>
                  <a:srgbClr val="FFFFFF"/>
                </a:solidFill>
                <a:latin typeface="Helvetica World Bold"/>
                <a:ea typeface="Helvetica World Bold"/>
                <a:cs typeface="Helvetica World Bold"/>
                <a:sym typeface="Helvetica World Bold"/>
              </a:rPr>
              <a:t>missions &amp; Energy intensity, (2) Waste &amp; Circularity, and (3) Labor pressure &amp; Transparency.</a:t>
            </a:r>
          </a:p>
          <a:p>
            <a:pPr algn="ctr">
              <a:lnSpc>
                <a:spcPts val="2800"/>
              </a:lnSpc>
              <a:spcBef>
                <a:spcPct val="0"/>
              </a:spcBef>
            </a:pPr>
          </a:p>
          <a:p>
            <a:pPr algn="ctr">
              <a:lnSpc>
                <a:spcPts val="2800"/>
              </a:lnSpc>
              <a:spcBef>
                <a:spcPct val="0"/>
              </a:spcBef>
            </a:pPr>
            <a:r>
              <a:rPr lang="en-US" sz="2000" spc="-30">
                <a:solidFill>
                  <a:srgbClr val="FFFFFF"/>
                </a:solidFill>
                <a:latin typeface="Helvetica World"/>
                <a:ea typeface="Helvetica World"/>
                <a:cs typeface="Helvetica World"/>
                <a:sym typeface="Helvetica World"/>
              </a:rPr>
              <a:t>These gaps are reinforced by growth incentives: speed, scale, and always-on engagement.</a:t>
            </a:r>
          </a:p>
        </p:txBody>
      </p:sp>
      <p:grpSp>
        <p:nvGrpSpPr>
          <p:cNvPr name="Group 9" id="9"/>
          <p:cNvGrpSpPr/>
          <p:nvPr/>
        </p:nvGrpSpPr>
        <p:grpSpPr>
          <a:xfrm rot="0">
            <a:off x="1028700" y="727075"/>
            <a:ext cx="16230600" cy="301625"/>
            <a:chOff x="0" y="0"/>
            <a:chExt cx="21640800" cy="402167"/>
          </a:xfrm>
        </p:grpSpPr>
        <p:sp>
          <p:nvSpPr>
            <p:cNvPr name="TextBox 10" id="10"/>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1" id="11"/>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2" id="12"/>
          <p:cNvSpPr txBox="true"/>
          <p:nvPr/>
        </p:nvSpPr>
        <p:spPr>
          <a:xfrm rot="0">
            <a:off x="4433367" y="2043641"/>
            <a:ext cx="9421267" cy="863600"/>
          </a:xfrm>
          <a:prstGeom prst="rect">
            <a:avLst/>
          </a:prstGeom>
        </p:spPr>
        <p:txBody>
          <a:bodyPr anchor="t" rtlCol="false" tIns="0" lIns="0" bIns="0" rIns="0">
            <a:spAutoFit/>
          </a:bodyPr>
          <a:lstStyle/>
          <a:p>
            <a:pPr algn="l">
              <a:lnSpc>
                <a:spcPts val="7000"/>
              </a:lnSpc>
              <a:spcBef>
                <a:spcPct val="0"/>
              </a:spcBef>
            </a:pPr>
            <a:r>
              <a:rPr lang="en-US" sz="5000" spc="-50">
                <a:solidFill>
                  <a:srgbClr val="FFFFFF"/>
                </a:solidFill>
                <a:latin typeface="Helvetica World"/>
                <a:ea typeface="Helvetica World"/>
                <a:cs typeface="Helvetica World"/>
                <a:sym typeface="Helvetica World"/>
              </a:rPr>
              <a:t>Where Amazon’s Ecosystem Fails </a:t>
            </a:r>
          </a:p>
        </p:txBody>
      </p:sp>
      <p:sp>
        <p:nvSpPr>
          <p:cNvPr name="TextBox 13" id="13"/>
          <p:cNvSpPr txBox="true"/>
          <p:nvPr/>
        </p:nvSpPr>
        <p:spPr>
          <a:xfrm rot="0">
            <a:off x="2942515" y="6266944"/>
            <a:ext cx="12566297" cy="711200"/>
          </a:xfrm>
          <a:prstGeom prst="rect">
            <a:avLst/>
          </a:prstGeom>
        </p:spPr>
        <p:txBody>
          <a:bodyPr anchor="t" rtlCol="false" tIns="0" lIns="0" bIns="0" rIns="0">
            <a:spAutoFit/>
          </a:bodyPr>
          <a:lstStyle/>
          <a:p>
            <a:pPr algn="ctr">
              <a:lnSpc>
                <a:spcPts val="2800"/>
              </a:lnSpc>
            </a:pPr>
            <a:r>
              <a:rPr lang="en-US" sz="2000" spc="-20">
                <a:solidFill>
                  <a:srgbClr val="727171"/>
                </a:solidFill>
                <a:latin typeface="Helvetica World"/>
                <a:ea typeface="Helvetica World"/>
                <a:cs typeface="Helvetica World"/>
                <a:sym typeface="Helvetica World"/>
              </a:rPr>
              <a:t>We used post-2010 public frameworks (UN SDGs) as our reference to evaluate Amazon’s ecosystem.</a:t>
            </a:r>
          </a:p>
          <a:p>
            <a:pPr algn="ctr">
              <a:lnSpc>
                <a:spcPts val="2800"/>
              </a:lnSpc>
              <a:spcBef>
                <a:spcPct val="0"/>
              </a:spcBef>
            </a:pPr>
            <a:r>
              <a:rPr lang="en-US" sz="2000" spc="-20">
                <a:solidFill>
                  <a:srgbClr val="727171"/>
                </a:solidFill>
                <a:latin typeface="Helvetica World"/>
                <a:ea typeface="Helvetica World"/>
                <a:cs typeface="Helvetica World"/>
                <a:sym typeface="Helvetica World"/>
              </a:rPr>
              <a:t>A</a:t>
            </a:r>
            <a:r>
              <a:rPr lang="en-US" sz="2000" spc="-20">
                <a:solidFill>
                  <a:srgbClr val="727171"/>
                </a:solidFill>
                <a:latin typeface="Helvetica World"/>
                <a:ea typeface="Helvetica World"/>
                <a:cs typeface="Helvetica World"/>
                <a:sym typeface="Helvetica World"/>
              </a:rPr>
              <a:t>cross e-commerce logistics, Prime’s digital consumption, and AWS infrastructure, the biggest gaps concentrate in:</a:t>
            </a:r>
          </a:p>
        </p:txBody>
      </p:sp>
      <p:sp>
        <p:nvSpPr>
          <p:cNvPr name="Freeform 14" id="14"/>
          <p:cNvSpPr/>
          <p:nvPr/>
        </p:nvSpPr>
        <p:spPr>
          <a:xfrm flipH="false" flipV="false" rot="0">
            <a:off x="7457957" y="4575512"/>
            <a:ext cx="3532813" cy="1064260"/>
          </a:xfrm>
          <a:custGeom>
            <a:avLst/>
            <a:gdLst/>
            <a:ahLst/>
            <a:cxnLst/>
            <a:rect r="r" b="b" t="t" l="l"/>
            <a:pathLst>
              <a:path h="1064260" w="3532813">
                <a:moveTo>
                  <a:pt x="0" y="0"/>
                </a:moveTo>
                <a:lnTo>
                  <a:pt x="3532813" y="0"/>
                </a:lnTo>
                <a:lnTo>
                  <a:pt x="3532813" y="1064260"/>
                </a:lnTo>
                <a:lnTo>
                  <a:pt x="0" y="1064260"/>
                </a:lnTo>
                <a:lnTo>
                  <a:pt x="0" y="0"/>
                </a:lnTo>
                <a:close/>
              </a:path>
            </a:pathLst>
          </a:custGeom>
          <a:blipFill>
            <a:blip r:embed="rId2">
              <a:alphaModFix amt="50000"/>
            </a:blip>
            <a:stretch>
              <a:fillRect l="0" t="0" r="0" b="0"/>
            </a:stretch>
          </a:blipFill>
        </p:spPr>
      </p:sp>
      <p:sp>
        <p:nvSpPr>
          <p:cNvPr name="Freeform 15" id="15"/>
          <p:cNvSpPr/>
          <p:nvPr/>
        </p:nvSpPr>
        <p:spPr>
          <a:xfrm flipH="false" flipV="false" rot="0">
            <a:off x="12663488" y="4562700"/>
            <a:ext cx="1843357" cy="1089885"/>
          </a:xfrm>
          <a:custGeom>
            <a:avLst/>
            <a:gdLst/>
            <a:ahLst/>
            <a:cxnLst/>
            <a:rect r="r" b="b" t="t" l="l"/>
            <a:pathLst>
              <a:path h="1089885" w="1843357">
                <a:moveTo>
                  <a:pt x="0" y="0"/>
                </a:moveTo>
                <a:lnTo>
                  <a:pt x="1843357" y="0"/>
                </a:lnTo>
                <a:lnTo>
                  <a:pt x="1843357" y="1089884"/>
                </a:lnTo>
                <a:lnTo>
                  <a:pt x="0" y="1089884"/>
                </a:lnTo>
                <a:lnTo>
                  <a:pt x="0" y="0"/>
                </a:lnTo>
                <a:close/>
              </a:path>
            </a:pathLst>
          </a:custGeom>
          <a:blipFill>
            <a:blip r:embed="rId3">
              <a:alphaModFix amt="50000"/>
            </a:blip>
            <a:stretch>
              <a:fillRect l="0" t="0" r="0" b="0"/>
            </a:stretch>
          </a:blipFill>
        </p:spPr>
      </p:sp>
      <p:sp>
        <p:nvSpPr>
          <p:cNvPr name="Freeform 16" id="16"/>
          <p:cNvSpPr/>
          <p:nvPr/>
        </p:nvSpPr>
        <p:spPr>
          <a:xfrm flipH="false" flipV="false" rot="0">
            <a:off x="3946018" y="4528437"/>
            <a:ext cx="1839222" cy="1158410"/>
          </a:xfrm>
          <a:custGeom>
            <a:avLst/>
            <a:gdLst/>
            <a:ahLst/>
            <a:cxnLst/>
            <a:rect r="r" b="b" t="t" l="l"/>
            <a:pathLst>
              <a:path h="1158410" w="1839222">
                <a:moveTo>
                  <a:pt x="0" y="0"/>
                </a:moveTo>
                <a:lnTo>
                  <a:pt x="1839221" y="0"/>
                </a:lnTo>
                <a:lnTo>
                  <a:pt x="1839221" y="1158410"/>
                </a:lnTo>
                <a:lnTo>
                  <a:pt x="0" y="1158410"/>
                </a:lnTo>
                <a:lnTo>
                  <a:pt x="0" y="0"/>
                </a:lnTo>
                <a:close/>
              </a:path>
            </a:pathLst>
          </a:custGeom>
          <a:blipFill>
            <a:blip r:embed="rId4">
              <a:alphaModFix amt="50000"/>
            </a:blip>
            <a:stretch>
              <a:fillRect l="0" t="-34638" r="0" b="-24132"/>
            </a:stretch>
          </a:blipFill>
        </p:spPr>
      </p:sp>
    </p:spTree>
  </p:cSld>
  <p:clrMapOvr>
    <a:masterClrMapping/>
  </p:clrMapOvr>
</p:sld>
</file>

<file path=ppt/slides/slide69.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9258300"/>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Possible Solution</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64</a:t>
              </a:r>
            </a:p>
          </p:txBody>
        </p:sp>
      </p:grpSp>
      <p:sp>
        <p:nvSpPr>
          <p:cNvPr name="TextBox 5" id="5"/>
          <p:cNvSpPr txBox="true"/>
          <p:nvPr/>
        </p:nvSpPr>
        <p:spPr>
          <a:xfrm rot="0">
            <a:off x="1028700" y="3820703"/>
            <a:ext cx="13871221" cy="358775"/>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Clean energy, efficiency, lower-carbon logistics</a:t>
            </a:r>
          </a:p>
        </p:txBody>
      </p:sp>
      <p:sp>
        <p:nvSpPr>
          <p:cNvPr name="TextBox 6" id="6"/>
          <p:cNvSpPr txBox="true"/>
          <p:nvPr/>
        </p:nvSpPr>
        <p:spPr>
          <a:xfrm rot="0">
            <a:off x="1028700" y="3186973"/>
            <a:ext cx="7220769" cy="490854"/>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Decarbonize/Water Sustainability Operations</a:t>
            </a:r>
          </a:p>
        </p:txBody>
      </p:sp>
      <p:sp>
        <p:nvSpPr>
          <p:cNvPr name="TextBox 7" id="7"/>
          <p:cNvSpPr txBox="true"/>
          <p:nvPr/>
        </p:nvSpPr>
        <p:spPr>
          <a:xfrm rot="0">
            <a:off x="1028700" y="5679076"/>
            <a:ext cx="13871221" cy="358775"/>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Packaging, returns, reuse, waste reduction</a:t>
            </a:r>
          </a:p>
        </p:txBody>
      </p:sp>
      <p:sp>
        <p:nvSpPr>
          <p:cNvPr name="TextBox 8" id="8"/>
          <p:cNvSpPr txBox="true"/>
          <p:nvPr/>
        </p:nvSpPr>
        <p:spPr>
          <a:xfrm rot="0">
            <a:off x="1028700" y="5045347"/>
            <a:ext cx="8460209" cy="490854"/>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Design for Circularity</a:t>
            </a:r>
          </a:p>
        </p:txBody>
      </p:sp>
      <p:sp>
        <p:nvSpPr>
          <p:cNvPr name="TextBox 9" id="9"/>
          <p:cNvSpPr txBox="true"/>
          <p:nvPr/>
        </p:nvSpPr>
        <p:spPr>
          <a:xfrm rot="0">
            <a:off x="1028700" y="7537450"/>
            <a:ext cx="13871221" cy="358775"/>
          </a:xfrm>
          <a:prstGeom prst="rect">
            <a:avLst/>
          </a:prstGeom>
        </p:spPr>
        <p:txBody>
          <a:bodyPr anchor="t" rtlCol="false" tIns="0" lIns="0" bIns="0" rIns="0">
            <a:spAutoFit/>
          </a:bodyPr>
          <a:lstStyle/>
          <a:p>
            <a:pPr algn="l">
              <a:lnSpc>
                <a:spcPts val="2800"/>
              </a:lnSpc>
            </a:pPr>
            <a:r>
              <a:rPr lang="en-US" sz="2000" spc="-30">
                <a:solidFill>
                  <a:srgbClr val="FFFFFF">
                    <a:alpha val="49804"/>
                  </a:srgbClr>
                </a:solidFill>
                <a:latin typeface="Helvetica World"/>
                <a:ea typeface="Helvetica World"/>
                <a:cs typeface="Helvetica World"/>
                <a:sym typeface="Helvetica World"/>
              </a:rPr>
              <a:t>Labor safeguards, supplier transparency, auditability</a:t>
            </a:r>
          </a:p>
        </p:txBody>
      </p:sp>
      <p:sp>
        <p:nvSpPr>
          <p:cNvPr name="TextBox 10" id="10"/>
          <p:cNvSpPr txBox="true"/>
          <p:nvPr/>
        </p:nvSpPr>
        <p:spPr>
          <a:xfrm rot="0">
            <a:off x="1028700" y="6903721"/>
            <a:ext cx="12675817" cy="490854"/>
          </a:xfrm>
          <a:prstGeom prst="rect">
            <a:avLst/>
          </a:prstGeom>
        </p:spPr>
        <p:txBody>
          <a:bodyPr anchor="t" rtlCol="false" tIns="0" lIns="0" bIns="0" rIns="0">
            <a:spAutoFit/>
          </a:bodyPr>
          <a:lstStyle/>
          <a:p>
            <a:pPr algn="l">
              <a:lnSpc>
                <a:spcPts val="3920"/>
              </a:lnSpc>
            </a:pPr>
            <a:r>
              <a:rPr lang="en-US" sz="2800" spc="-42">
                <a:solidFill>
                  <a:srgbClr val="FFFFFF"/>
                </a:solidFill>
                <a:latin typeface="Helvetica World"/>
                <a:ea typeface="Helvetica World"/>
                <a:cs typeface="Helvetica World"/>
                <a:sym typeface="Helvetica World"/>
              </a:rPr>
              <a:t>Strengthen Social Responsibility through more Inclusive Subscription Accessibility</a:t>
            </a:r>
          </a:p>
        </p:txBody>
      </p:sp>
      <p:sp>
        <p:nvSpPr>
          <p:cNvPr name="AutoShape 11" id="11"/>
          <p:cNvSpPr/>
          <p:nvPr/>
        </p:nvSpPr>
        <p:spPr>
          <a:xfrm flipH="true" flipV="true">
            <a:off x="1028700" y="4645750"/>
            <a:ext cx="15548074" cy="0"/>
          </a:xfrm>
          <a:prstGeom prst="line">
            <a:avLst/>
          </a:prstGeom>
          <a:ln cap="rnd" w="19050">
            <a:solidFill>
              <a:srgbClr val="FFFFFF">
                <a:alpha val="29804"/>
              </a:srgbClr>
            </a:solidFill>
            <a:prstDash val="sysDash"/>
            <a:headEnd type="none" len="sm" w="sm"/>
            <a:tailEnd type="none" len="sm" w="sm"/>
          </a:ln>
        </p:spPr>
      </p:sp>
      <p:sp>
        <p:nvSpPr>
          <p:cNvPr name="AutoShape 12" id="12"/>
          <p:cNvSpPr/>
          <p:nvPr/>
        </p:nvSpPr>
        <p:spPr>
          <a:xfrm flipH="true">
            <a:off x="1028700" y="6504123"/>
            <a:ext cx="15548074" cy="0"/>
          </a:xfrm>
          <a:prstGeom prst="line">
            <a:avLst/>
          </a:prstGeom>
          <a:ln cap="rnd" w="19050">
            <a:solidFill>
              <a:srgbClr val="FFFFFF">
                <a:alpha val="29804"/>
              </a:srgbClr>
            </a:solidFill>
            <a:prstDash val="sysDash"/>
            <a:headEnd type="none" len="sm" w="sm"/>
            <a:tailEnd type="none" len="sm" w="sm"/>
          </a:ln>
        </p:spPr>
      </p:sp>
      <p:sp>
        <p:nvSpPr>
          <p:cNvPr name="TextBox 13" id="13"/>
          <p:cNvSpPr txBox="true"/>
          <p:nvPr/>
        </p:nvSpPr>
        <p:spPr>
          <a:xfrm rot="0">
            <a:off x="1028700" y="2104241"/>
            <a:ext cx="15548074" cy="863600"/>
          </a:xfrm>
          <a:prstGeom prst="rect">
            <a:avLst/>
          </a:prstGeom>
        </p:spPr>
        <p:txBody>
          <a:bodyPr anchor="t" rtlCol="false" tIns="0" lIns="0" bIns="0" rIns="0">
            <a:spAutoFit/>
          </a:bodyPr>
          <a:lstStyle/>
          <a:p>
            <a:pPr algn="l">
              <a:lnSpc>
                <a:spcPts val="7000"/>
              </a:lnSpc>
              <a:spcBef>
                <a:spcPct val="0"/>
              </a:spcBef>
            </a:pPr>
            <a:r>
              <a:rPr lang="en-US" sz="5000" spc="-50">
                <a:solidFill>
                  <a:srgbClr val="FFFFFF"/>
                </a:solidFill>
                <a:latin typeface="Helvetica World"/>
                <a:ea typeface="Helvetica World"/>
                <a:cs typeface="Helvetica World"/>
                <a:sym typeface="Helvetica World"/>
              </a:rPr>
              <a:t>Transformation Actions: A Responsible Ecosystem Model</a:t>
            </a:r>
          </a:p>
        </p:txBody>
      </p:sp>
      <p:sp>
        <p:nvSpPr>
          <p:cNvPr name="TextBox 14" id="14"/>
          <p:cNvSpPr txBox="true"/>
          <p:nvPr/>
        </p:nvSpPr>
        <p:spPr>
          <a:xfrm rot="0">
            <a:off x="1028700" y="971550"/>
            <a:ext cx="1878881"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Possible Solution</a:t>
            </a:r>
          </a:p>
        </p:txBody>
      </p:sp>
      <p:grpSp>
        <p:nvGrpSpPr>
          <p:cNvPr name="Group 15" id="15"/>
          <p:cNvGrpSpPr/>
          <p:nvPr/>
        </p:nvGrpSpPr>
        <p:grpSpPr>
          <a:xfrm rot="0">
            <a:off x="1028700" y="727075"/>
            <a:ext cx="16230600" cy="301625"/>
            <a:chOff x="0" y="0"/>
            <a:chExt cx="21640800" cy="402167"/>
          </a:xfrm>
        </p:grpSpPr>
        <p:sp>
          <p:nvSpPr>
            <p:cNvPr name="TextBox 16" id="1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7" id="1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Tree>
  </p:cSld>
  <p:clrMapOvr>
    <a:masterClrMapping/>
  </p:clrMapOvr>
</p:sld>
</file>

<file path=ppt/slides/slide70.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9258300"/>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Possible Solution</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65</a:t>
              </a:r>
            </a:p>
          </p:txBody>
        </p:sp>
      </p:grpSp>
      <p:sp>
        <p:nvSpPr>
          <p:cNvPr name="TextBox 5" id="5"/>
          <p:cNvSpPr txBox="true"/>
          <p:nvPr/>
        </p:nvSpPr>
        <p:spPr>
          <a:xfrm rot="0">
            <a:off x="1725141" y="3638615"/>
            <a:ext cx="14837718" cy="863600"/>
          </a:xfrm>
          <a:prstGeom prst="rect">
            <a:avLst/>
          </a:prstGeom>
        </p:spPr>
        <p:txBody>
          <a:bodyPr anchor="t" rtlCol="false" tIns="0" lIns="0" bIns="0" rIns="0">
            <a:spAutoFit/>
          </a:bodyPr>
          <a:lstStyle/>
          <a:p>
            <a:pPr algn="l">
              <a:lnSpc>
                <a:spcPts val="7000"/>
              </a:lnSpc>
              <a:spcBef>
                <a:spcPct val="0"/>
              </a:spcBef>
            </a:pPr>
            <a:r>
              <a:rPr lang="en-US" sz="5000" spc="-50">
                <a:solidFill>
                  <a:srgbClr val="FFFFFF"/>
                </a:solidFill>
                <a:latin typeface="Helvetica World"/>
                <a:ea typeface="Helvetica World"/>
                <a:cs typeface="Helvetica World"/>
                <a:sym typeface="Helvetica World"/>
              </a:rPr>
              <a:t>After-State: What Changes When the Model Is Applied</a:t>
            </a:r>
          </a:p>
        </p:txBody>
      </p:sp>
      <p:sp>
        <p:nvSpPr>
          <p:cNvPr name="TextBox 6" id="6"/>
          <p:cNvSpPr txBox="true"/>
          <p:nvPr/>
        </p:nvSpPr>
        <p:spPr>
          <a:xfrm rot="0">
            <a:off x="1028700" y="971550"/>
            <a:ext cx="1878881"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Possible Solution</a:t>
            </a:r>
          </a:p>
        </p:txBody>
      </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0" id="10"/>
          <p:cNvSpPr txBox="true"/>
          <p:nvPr/>
        </p:nvSpPr>
        <p:spPr>
          <a:xfrm rot="0">
            <a:off x="2907581" y="4818713"/>
            <a:ext cx="12566297" cy="1553845"/>
          </a:xfrm>
          <a:prstGeom prst="rect">
            <a:avLst/>
          </a:prstGeom>
        </p:spPr>
        <p:txBody>
          <a:bodyPr anchor="t" rtlCol="false" tIns="0" lIns="0" bIns="0" rIns="0">
            <a:spAutoFit/>
          </a:bodyPr>
          <a:lstStyle/>
          <a:p>
            <a:pPr algn="ctr">
              <a:lnSpc>
                <a:spcPts val="3079"/>
              </a:lnSpc>
            </a:pPr>
            <a:r>
              <a:rPr lang="en-US" sz="2199" spc="-21">
                <a:solidFill>
                  <a:srgbClr val="727171"/>
                </a:solidFill>
                <a:latin typeface="Helvetica World"/>
                <a:ea typeface="Helvetica World"/>
                <a:cs typeface="Helvetica World"/>
                <a:sym typeface="Helvetica World"/>
              </a:rPr>
              <a:t>If applied, the ecosystem reduces hidden externalities: lower emissions per delivery and per stream, less packaging waste, and improved worker protections through clearer standards and reporting. </a:t>
            </a:r>
            <a:r>
              <a:rPr lang="en-US" sz="2199" spc="-21">
                <a:solidFill>
                  <a:srgbClr val="727171"/>
                </a:solidFill>
                <a:latin typeface="Helvetica World"/>
                <a:ea typeface="Helvetica World"/>
                <a:cs typeface="Helvetica World"/>
                <a:sym typeface="Helvetica World"/>
              </a:rPr>
              <a:t>The brand shifts from “fastest and cheapest” toward trusted infrastructure for responsible convenience</a:t>
            </a:r>
          </a:p>
          <a:p>
            <a:pPr algn="ctr">
              <a:lnSpc>
                <a:spcPts val="3079"/>
              </a:lnSpc>
              <a:spcBef>
                <a:spcPct val="0"/>
              </a:spcBef>
            </a:pPr>
            <a:r>
              <a:rPr lang="en-US" sz="2199" spc="-21">
                <a:solidFill>
                  <a:srgbClr val="727171"/>
                </a:solidFill>
                <a:latin typeface="Helvetica World"/>
                <a:ea typeface="Helvetica World"/>
                <a:cs typeface="Helvetica World"/>
                <a:sym typeface="Helvetica World"/>
              </a:rPr>
              <a:t>—where convenience is delivered with accountability.</a:t>
            </a:r>
          </a:p>
        </p:txBody>
      </p:sp>
      <p:sp>
        <p:nvSpPr>
          <p:cNvPr name="TextBox 11" id="11"/>
          <p:cNvSpPr txBox="true"/>
          <p:nvPr/>
        </p:nvSpPr>
        <p:spPr>
          <a:xfrm rot="0">
            <a:off x="2154771" y="6670007"/>
            <a:ext cx="13978458" cy="533718"/>
          </a:xfrm>
          <a:prstGeom prst="rect">
            <a:avLst/>
          </a:prstGeom>
        </p:spPr>
        <p:txBody>
          <a:bodyPr anchor="t" rtlCol="false" tIns="0" lIns="0" bIns="0" rIns="0">
            <a:spAutoFit/>
          </a:bodyPr>
          <a:lstStyle/>
          <a:p>
            <a:pPr algn="ctr">
              <a:lnSpc>
                <a:spcPts val="3919"/>
              </a:lnSpc>
              <a:spcBef>
                <a:spcPct val="0"/>
              </a:spcBef>
            </a:pPr>
            <a:r>
              <a:rPr lang="en-US" sz="2799" i="true" spc="-41">
                <a:solidFill>
                  <a:srgbClr val="FFFFFF"/>
                </a:solidFill>
                <a:latin typeface="Helvetica World Italics"/>
                <a:ea typeface="Helvetica World Italics"/>
                <a:cs typeface="Helvetica World Italics"/>
                <a:sym typeface="Helvetica World Italics"/>
              </a:rPr>
              <a:t>“This positions Amazon as a b</a:t>
            </a:r>
            <a:r>
              <a:rPr lang="en-US" sz="2799" i="true" spc="-41">
                <a:solidFill>
                  <a:srgbClr val="FFFFFF"/>
                </a:solidFill>
                <a:latin typeface="Helvetica World Italics"/>
                <a:ea typeface="Helvetica World Italics"/>
                <a:cs typeface="Helvetica World Italics"/>
                <a:sym typeface="Helvetica World Italics"/>
              </a:rPr>
              <a:t>enchmark platform for measurable responsibility, not just scale”</a:t>
            </a:r>
          </a:p>
        </p:txBody>
      </p:sp>
    </p:spTree>
  </p:cSld>
  <p:clrMapOvr>
    <a:masterClrMapping/>
  </p:clrMapOvr>
</p:sld>
</file>

<file path=ppt/slides/slide71.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9258300"/>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Possible Solution</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66</a:t>
              </a:r>
            </a:p>
          </p:txBody>
        </p:sp>
      </p:grpSp>
      <p:sp>
        <p:nvSpPr>
          <p:cNvPr name="TextBox 5" id="5"/>
          <p:cNvSpPr txBox="true"/>
          <p:nvPr/>
        </p:nvSpPr>
        <p:spPr>
          <a:xfrm rot="0">
            <a:off x="1028700" y="2104241"/>
            <a:ext cx="8954616"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Streamlined Delivery Automation</a:t>
            </a:r>
          </a:p>
        </p:txBody>
      </p:sp>
      <p:sp>
        <p:nvSpPr>
          <p:cNvPr name="TextBox 6" id="6"/>
          <p:cNvSpPr txBox="true"/>
          <p:nvPr/>
        </p:nvSpPr>
        <p:spPr>
          <a:xfrm rot="0">
            <a:off x="1028700" y="971550"/>
            <a:ext cx="1878881"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Possible Solution</a:t>
            </a:r>
          </a:p>
        </p:txBody>
      </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0" id="10"/>
          <p:cNvSpPr txBox="true"/>
          <p:nvPr/>
        </p:nvSpPr>
        <p:spPr>
          <a:xfrm rot="0">
            <a:off x="1028700" y="1760706"/>
            <a:ext cx="2888010" cy="448310"/>
          </a:xfrm>
          <a:prstGeom prst="rect">
            <a:avLst/>
          </a:prstGeom>
        </p:spPr>
        <p:txBody>
          <a:bodyPr anchor="t" rtlCol="false" tIns="0" lIns="0" bIns="0" rIns="0">
            <a:spAutoFit/>
          </a:bodyPr>
          <a:lstStyle/>
          <a:p>
            <a:pPr algn="l">
              <a:lnSpc>
                <a:spcPts val="3640"/>
              </a:lnSpc>
              <a:spcBef>
                <a:spcPct val="0"/>
              </a:spcBef>
            </a:pPr>
            <a:r>
              <a:rPr lang="en-US" sz="2600" spc="-26">
                <a:solidFill>
                  <a:srgbClr val="A6A6A6"/>
                </a:solidFill>
                <a:latin typeface="Helvetica World"/>
                <a:ea typeface="Helvetica World"/>
                <a:cs typeface="Helvetica World"/>
                <a:sym typeface="Helvetica World"/>
              </a:rPr>
              <a:t>Speculative Model 1</a:t>
            </a:r>
          </a:p>
        </p:txBody>
      </p:sp>
      <p:grpSp>
        <p:nvGrpSpPr>
          <p:cNvPr name="Group 11" id="11"/>
          <p:cNvGrpSpPr/>
          <p:nvPr/>
        </p:nvGrpSpPr>
        <p:grpSpPr>
          <a:xfrm rot="0">
            <a:off x="1019175" y="4502215"/>
            <a:ext cx="16249650" cy="1884045"/>
            <a:chOff x="0" y="0"/>
            <a:chExt cx="21666200" cy="2512060"/>
          </a:xfrm>
        </p:grpSpPr>
        <p:sp>
          <p:nvSpPr>
            <p:cNvPr name="TextBox 12" id="12"/>
            <p:cNvSpPr txBox="true"/>
            <p:nvPr/>
          </p:nvSpPr>
          <p:spPr>
            <a:xfrm rot="0">
              <a:off x="0" y="-47625"/>
              <a:ext cx="4877880" cy="493818"/>
            </a:xfrm>
            <a:prstGeom prst="rect">
              <a:avLst/>
            </a:prstGeom>
          </p:spPr>
          <p:txBody>
            <a:bodyPr anchor="t" rtlCol="false" tIns="0" lIns="0" bIns="0" rIns="0">
              <a:spAutoFit/>
            </a:bodyPr>
            <a:lstStyle/>
            <a:p>
              <a:pPr algn="l">
                <a:lnSpc>
                  <a:spcPts val="3079"/>
                </a:lnSpc>
                <a:spcBef>
                  <a:spcPct val="0"/>
                </a:spcBef>
              </a:pPr>
              <a:r>
                <a:rPr lang="en-US" sz="2199" spc="-21">
                  <a:solidFill>
                    <a:srgbClr val="FFFFFF"/>
                  </a:solidFill>
                  <a:latin typeface="Helvetica World"/>
                  <a:ea typeface="Helvetica World"/>
                  <a:cs typeface="Helvetica World"/>
                  <a:sym typeface="Helvetica World"/>
                </a:rPr>
                <a:t>Robotics/Drones/Rovers</a:t>
              </a:r>
            </a:p>
          </p:txBody>
        </p:sp>
        <p:sp>
          <p:nvSpPr>
            <p:cNvPr name="TextBox 13" id="13"/>
            <p:cNvSpPr txBox="true"/>
            <p:nvPr/>
          </p:nvSpPr>
          <p:spPr>
            <a:xfrm rot="0">
              <a:off x="8479798" y="-47625"/>
              <a:ext cx="4681204" cy="493818"/>
            </a:xfrm>
            <a:prstGeom prst="rect">
              <a:avLst/>
            </a:prstGeom>
          </p:spPr>
          <p:txBody>
            <a:bodyPr anchor="t" rtlCol="false" tIns="0" lIns="0" bIns="0" rIns="0">
              <a:spAutoFit/>
            </a:bodyPr>
            <a:lstStyle/>
            <a:p>
              <a:pPr algn="ctr">
                <a:lnSpc>
                  <a:spcPts val="3079"/>
                </a:lnSpc>
                <a:spcBef>
                  <a:spcPct val="0"/>
                </a:spcBef>
              </a:pPr>
              <a:r>
                <a:rPr lang="en-US" sz="2199" spc="-21">
                  <a:solidFill>
                    <a:srgbClr val="FFFFFF"/>
                  </a:solidFill>
                  <a:latin typeface="Helvetica World"/>
                  <a:ea typeface="Helvetica World"/>
                  <a:cs typeface="Helvetica World"/>
                  <a:sym typeface="Helvetica World"/>
                </a:rPr>
                <a:t>Delivery Quality Moderator</a:t>
              </a:r>
            </a:p>
          </p:txBody>
        </p:sp>
        <p:sp>
          <p:nvSpPr>
            <p:cNvPr name="TextBox 14" id="14"/>
            <p:cNvSpPr txBox="true"/>
            <p:nvPr/>
          </p:nvSpPr>
          <p:spPr>
            <a:xfrm rot="0">
              <a:off x="15442386" y="-47625"/>
              <a:ext cx="6198414" cy="493818"/>
            </a:xfrm>
            <a:prstGeom prst="rect">
              <a:avLst/>
            </a:prstGeom>
          </p:spPr>
          <p:txBody>
            <a:bodyPr anchor="t" rtlCol="false" tIns="0" lIns="0" bIns="0" rIns="0">
              <a:spAutoFit/>
            </a:bodyPr>
            <a:lstStyle/>
            <a:p>
              <a:pPr algn="r">
                <a:lnSpc>
                  <a:spcPts val="3079"/>
                </a:lnSpc>
                <a:spcBef>
                  <a:spcPct val="0"/>
                </a:spcBef>
              </a:pPr>
              <a:r>
                <a:rPr lang="en-US" sz="2199" spc="-21">
                  <a:solidFill>
                    <a:srgbClr val="FFFFFF"/>
                  </a:solidFill>
                  <a:latin typeface="Helvetica World"/>
                  <a:ea typeface="Helvetica World"/>
                  <a:cs typeface="Helvetica World"/>
                  <a:sym typeface="Helvetica World"/>
                </a:rPr>
                <a:t>Last-mile Aftercare Service</a:t>
              </a:r>
            </a:p>
          </p:txBody>
        </p:sp>
        <p:sp>
          <p:nvSpPr>
            <p:cNvPr name="TextBox 15" id="15"/>
            <p:cNvSpPr txBox="true"/>
            <p:nvPr/>
          </p:nvSpPr>
          <p:spPr>
            <a:xfrm rot="0">
              <a:off x="7132355" y="2052743"/>
              <a:ext cx="7376090" cy="459317"/>
            </a:xfrm>
            <a:prstGeom prst="rect">
              <a:avLst/>
            </a:prstGeom>
          </p:spPr>
          <p:txBody>
            <a:bodyPr anchor="t" rtlCol="false" tIns="0" lIns="0" bIns="0" rIns="0">
              <a:spAutoFit/>
            </a:bodyPr>
            <a:lstStyle/>
            <a:p>
              <a:pPr algn="ctr">
                <a:lnSpc>
                  <a:spcPts val="2800"/>
                </a:lnSpc>
                <a:spcBef>
                  <a:spcPct val="0"/>
                </a:spcBef>
              </a:pPr>
              <a:r>
                <a:rPr lang="en-US" sz="2000" spc="-20">
                  <a:solidFill>
                    <a:srgbClr val="727171"/>
                  </a:solidFill>
                  <a:latin typeface="Helvetica World"/>
                  <a:ea typeface="Helvetica World"/>
                  <a:cs typeface="Helvetica World"/>
                  <a:sym typeface="Helvetica World"/>
                </a:rPr>
                <a:t>AI/Logistics Operations Center (LOC)</a:t>
              </a:r>
            </a:p>
          </p:txBody>
        </p:sp>
        <p:sp>
          <p:nvSpPr>
            <p:cNvPr name="TextBox 16" id="16"/>
            <p:cNvSpPr txBox="true"/>
            <p:nvPr/>
          </p:nvSpPr>
          <p:spPr>
            <a:xfrm rot="0">
              <a:off x="0" y="2052743"/>
              <a:ext cx="7376090" cy="459317"/>
            </a:xfrm>
            <a:prstGeom prst="rect">
              <a:avLst/>
            </a:prstGeom>
          </p:spPr>
          <p:txBody>
            <a:bodyPr anchor="t" rtlCol="false" tIns="0" lIns="0" bIns="0" rIns="0">
              <a:spAutoFit/>
            </a:bodyPr>
            <a:lstStyle/>
            <a:p>
              <a:pPr algn="l">
                <a:lnSpc>
                  <a:spcPts val="2800"/>
                </a:lnSpc>
                <a:spcBef>
                  <a:spcPct val="0"/>
                </a:spcBef>
              </a:pPr>
              <a:r>
                <a:rPr lang="en-US" sz="2000" spc="-20">
                  <a:solidFill>
                    <a:srgbClr val="727171"/>
                  </a:solidFill>
                  <a:latin typeface="Helvetica World"/>
                  <a:ea typeface="Helvetica World"/>
                  <a:cs typeface="Helvetica World"/>
                  <a:sym typeface="Helvetica World"/>
                </a:rPr>
                <a:t>Autonomous Fleet Operations (AFO)</a:t>
              </a:r>
            </a:p>
          </p:txBody>
        </p:sp>
        <p:sp>
          <p:nvSpPr>
            <p:cNvPr name="TextBox 17" id="17"/>
            <p:cNvSpPr txBox="true"/>
            <p:nvPr/>
          </p:nvSpPr>
          <p:spPr>
            <a:xfrm rot="0">
              <a:off x="14264710" y="2052743"/>
              <a:ext cx="7376090" cy="459317"/>
            </a:xfrm>
            <a:prstGeom prst="rect">
              <a:avLst/>
            </a:prstGeom>
          </p:spPr>
          <p:txBody>
            <a:bodyPr anchor="t" rtlCol="false" tIns="0" lIns="0" bIns="0" rIns="0">
              <a:spAutoFit/>
            </a:bodyPr>
            <a:lstStyle/>
            <a:p>
              <a:pPr algn="r">
                <a:lnSpc>
                  <a:spcPts val="2800"/>
                </a:lnSpc>
                <a:spcBef>
                  <a:spcPct val="0"/>
                </a:spcBef>
              </a:pPr>
              <a:r>
                <a:rPr lang="en-US" sz="2000" spc="-20">
                  <a:solidFill>
                    <a:srgbClr val="727171"/>
                  </a:solidFill>
                  <a:latin typeface="Helvetica World"/>
                  <a:ea typeface="Helvetica World"/>
                  <a:cs typeface="Helvetica World"/>
                  <a:sym typeface="Helvetica World"/>
                </a:rPr>
                <a:t>Customer Delivery Experience Team (CDX)</a:t>
              </a:r>
            </a:p>
          </p:txBody>
        </p:sp>
        <p:sp>
          <p:nvSpPr>
            <p:cNvPr name="AutoShape 18" id="18"/>
            <p:cNvSpPr/>
            <p:nvPr/>
          </p:nvSpPr>
          <p:spPr>
            <a:xfrm flipH="true">
              <a:off x="10833100" y="649393"/>
              <a:ext cx="0" cy="1257300"/>
            </a:xfrm>
            <a:prstGeom prst="line">
              <a:avLst/>
            </a:prstGeom>
            <a:ln cap="rnd" w="25400">
              <a:solidFill>
                <a:srgbClr val="FFFFFF">
                  <a:alpha val="29804"/>
                </a:srgbClr>
              </a:solidFill>
              <a:prstDash val="sysDash"/>
              <a:headEnd type="none" len="sm" w="sm"/>
              <a:tailEnd type="none" len="sm" w="sm"/>
            </a:ln>
          </p:spPr>
        </p:sp>
        <p:sp>
          <p:nvSpPr>
            <p:cNvPr name="AutoShape 19" id="19"/>
            <p:cNvSpPr/>
            <p:nvPr/>
          </p:nvSpPr>
          <p:spPr>
            <a:xfrm flipH="true">
              <a:off x="12700" y="649393"/>
              <a:ext cx="0" cy="1257300"/>
            </a:xfrm>
            <a:prstGeom prst="line">
              <a:avLst/>
            </a:prstGeom>
            <a:ln cap="rnd" w="25400">
              <a:solidFill>
                <a:srgbClr val="FFFFFF">
                  <a:alpha val="29804"/>
                </a:srgbClr>
              </a:solidFill>
              <a:prstDash val="sysDash"/>
              <a:headEnd type="none" len="sm" w="sm"/>
              <a:tailEnd type="none" len="sm" w="sm"/>
            </a:ln>
          </p:spPr>
        </p:sp>
        <p:sp>
          <p:nvSpPr>
            <p:cNvPr name="AutoShape 20" id="20"/>
            <p:cNvSpPr/>
            <p:nvPr/>
          </p:nvSpPr>
          <p:spPr>
            <a:xfrm flipH="true">
              <a:off x="21653500" y="649393"/>
              <a:ext cx="0" cy="1257300"/>
            </a:xfrm>
            <a:prstGeom prst="line">
              <a:avLst/>
            </a:prstGeom>
            <a:ln cap="rnd" w="25400">
              <a:solidFill>
                <a:srgbClr val="FFFFFF">
                  <a:alpha val="29804"/>
                </a:srgbClr>
              </a:solidFill>
              <a:prstDash val="sysDash"/>
              <a:headEnd type="none" len="sm" w="sm"/>
              <a:tailEnd type="none" len="sm" w="sm"/>
            </a:ln>
          </p:spPr>
        </p:sp>
        <p:sp>
          <p:nvSpPr>
            <p:cNvPr name="TextBox 21" id="21"/>
            <p:cNvSpPr txBox="true"/>
            <p:nvPr/>
          </p:nvSpPr>
          <p:spPr>
            <a:xfrm rot="0">
              <a:off x="183928" y="1007322"/>
              <a:ext cx="4877880" cy="493818"/>
            </a:xfrm>
            <a:prstGeom prst="rect">
              <a:avLst/>
            </a:prstGeom>
          </p:spPr>
          <p:txBody>
            <a:bodyPr anchor="t" rtlCol="false" tIns="0" lIns="0" bIns="0" rIns="0">
              <a:spAutoFit/>
            </a:bodyPr>
            <a:lstStyle/>
            <a:p>
              <a:pPr algn="l">
                <a:lnSpc>
                  <a:spcPts val="3079"/>
                </a:lnSpc>
                <a:spcBef>
                  <a:spcPct val="0"/>
                </a:spcBef>
              </a:pPr>
              <a:r>
                <a:rPr lang="en-US" sz="2199" spc="-21">
                  <a:solidFill>
                    <a:srgbClr val="B2B2B2"/>
                  </a:solidFill>
                  <a:latin typeface="Helvetica World"/>
                  <a:ea typeface="Helvetica World"/>
                  <a:cs typeface="Helvetica World"/>
                  <a:sym typeface="Helvetica World"/>
                </a:rPr>
                <a:t>Robotics-driven</a:t>
              </a:r>
            </a:p>
          </p:txBody>
        </p:sp>
        <p:sp>
          <p:nvSpPr>
            <p:cNvPr name="TextBox 22" id="22"/>
            <p:cNvSpPr txBox="true"/>
            <p:nvPr/>
          </p:nvSpPr>
          <p:spPr>
            <a:xfrm rot="0">
              <a:off x="5502164" y="1007322"/>
              <a:ext cx="4877880" cy="493818"/>
            </a:xfrm>
            <a:prstGeom prst="rect">
              <a:avLst/>
            </a:prstGeom>
          </p:spPr>
          <p:txBody>
            <a:bodyPr anchor="t" rtlCol="false" tIns="0" lIns="0" bIns="0" rIns="0">
              <a:spAutoFit/>
            </a:bodyPr>
            <a:lstStyle/>
            <a:p>
              <a:pPr algn="r">
                <a:lnSpc>
                  <a:spcPts val="3079"/>
                </a:lnSpc>
                <a:spcBef>
                  <a:spcPct val="0"/>
                </a:spcBef>
              </a:pPr>
              <a:r>
                <a:rPr lang="en-US" sz="2199" spc="-21">
                  <a:solidFill>
                    <a:srgbClr val="B2B2B2"/>
                  </a:solidFill>
                  <a:latin typeface="Helvetica World"/>
                  <a:ea typeface="Helvetica World"/>
                  <a:cs typeface="Helvetica World"/>
                  <a:sym typeface="Helvetica World"/>
                </a:rPr>
                <a:t>AI-Powered</a:t>
              </a:r>
            </a:p>
          </p:txBody>
        </p:sp>
        <p:sp>
          <p:nvSpPr>
            <p:cNvPr name="TextBox 23" id="23"/>
            <p:cNvSpPr txBox="true"/>
            <p:nvPr/>
          </p:nvSpPr>
          <p:spPr>
            <a:xfrm rot="0">
              <a:off x="13804360" y="1007322"/>
              <a:ext cx="4877880" cy="493818"/>
            </a:xfrm>
            <a:prstGeom prst="rect">
              <a:avLst/>
            </a:prstGeom>
          </p:spPr>
          <p:txBody>
            <a:bodyPr anchor="t" rtlCol="false" tIns="0" lIns="0" bIns="0" rIns="0">
              <a:spAutoFit/>
            </a:bodyPr>
            <a:lstStyle/>
            <a:p>
              <a:pPr algn="ctr">
                <a:lnSpc>
                  <a:spcPts val="3079"/>
                </a:lnSpc>
                <a:spcBef>
                  <a:spcPct val="0"/>
                </a:spcBef>
              </a:pPr>
              <a:r>
                <a:rPr lang="en-US" sz="2199" spc="-21">
                  <a:solidFill>
                    <a:srgbClr val="B2B2B2"/>
                  </a:solidFill>
                  <a:latin typeface="Helvetica World"/>
                  <a:ea typeface="Helvetica World"/>
                  <a:cs typeface="Helvetica World"/>
                  <a:sym typeface="Helvetica World"/>
                </a:rPr>
                <a:t>Human-Driven</a:t>
              </a:r>
            </a:p>
          </p:txBody>
        </p:sp>
      </p:grpSp>
      <p:sp>
        <p:nvSpPr>
          <p:cNvPr name="TextBox 24" id="24"/>
          <p:cNvSpPr txBox="true"/>
          <p:nvPr/>
        </p:nvSpPr>
        <p:spPr>
          <a:xfrm rot="0">
            <a:off x="1038225" y="6742818"/>
            <a:ext cx="16240125" cy="809625"/>
          </a:xfrm>
          <a:prstGeom prst="rect">
            <a:avLst/>
          </a:prstGeom>
        </p:spPr>
        <p:txBody>
          <a:bodyPr anchor="t" rtlCol="false" tIns="0" lIns="0" bIns="0" rIns="0">
            <a:spAutoFit/>
          </a:bodyPr>
          <a:lstStyle/>
          <a:p>
            <a:pPr algn="l">
              <a:lnSpc>
                <a:spcPts val="2160"/>
              </a:lnSpc>
            </a:pPr>
            <a:r>
              <a:rPr lang="en-US" sz="1800" spc="-18">
                <a:solidFill>
                  <a:srgbClr val="FFFFFF"/>
                </a:solidFill>
                <a:latin typeface="Helvetica World"/>
                <a:ea typeface="Helvetica World"/>
                <a:cs typeface="Helvetica World"/>
                <a:sym typeface="Helvetica World"/>
              </a:rPr>
              <a:t>Automation through robotics and AI is expected to protect workers from intense labor and overwork, serve as a solution that can transform workers from simple manual laborers into on-site managers, lead to logistics optimization and full automation, and furthermore, by automating the collection of packaging through robotics, it is anticipated to create a truly circular system.</a:t>
            </a:r>
          </a:p>
        </p:txBody>
      </p:sp>
      <p:sp>
        <p:nvSpPr>
          <p:cNvPr name="TextBox 25" id="25"/>
          <p:cNvSpPr txBox="true"/>
          <p:nvPr/>
        </p:nvSpPr>
        <p:spPr>
          <a:xfrm rot="0">
            <a:off x="3794229" y="8116887"/>
            <a:ext cx="10699541" cy="415608"/>
          </a:xfrm>
          <a:prstGeom prst="rect">
            <a:avLst/>
          </a:prstGeom>
        </p:spPr>
        <p:txBody>
          <a:bodyPr anchor="t" rtlCol="false" tIns="0" lIns="0" bIns="0" rIns="0">
            <a:spAutoFit/>
          </a:bodyPr>
          <a:lstStyle/>
          <a:p>
            <a:pPr algn="ctr">
              <a:lnSpc>
                <a:spcPts val="3079"/>
              </a:lnSpc>
              <a:spcBef>
                <a:spcPct val="0"/>
              </a:spcBef>
            </a:pPr>
            <a:r>
              <a:rPr lang="en-US" sz="2199" i="true" spc="-21">
                <a:solidFill>
                  <a:srgbClr val="727171"/>
                </a:solidFill>
                <a:latin typeface="Helvetica World Italics"/>
                <a:ea typeface="Helvetica World Italics"/>
                <a:cs typeface="Helvetica World Italics"/>
                <a:sym typeface="Helvetica World Italics"/>
              </a:rPr>
              <a:t>"AI-Powered Robotics for Circular Logistics and Labor Hazard Prevention"</a:t>
            </a:r>
          </a:p>
        </p:txBody>
      </p:sp>
    </p:spTree>
  </p:cSld>
  <p:clrMapOvr>
    <a:masterClrMapping/>
  </p:clrMapOvr>
</p:sld>
</file>

<file path=ppt/slides/slide72.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9258300"/>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Possible Solution</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67</a:t>
              </a:r>
            </a:p>
          </p:txBody>
        </p:sp>
      </p:grpSp>
      <p:sp>
        <p:nvSpPr>
          <p:cNvPr name="TextBox 5" id="5"/>
          <p:cNvSpPr txBox="true"/>
          <p:nvPr/>
        </p:nvSpPr>
        <p:spPr>
          <a:xfrm rot="0">
            <a:off x="1028700" y="2104241"/>
            <a:ext cx="6870427"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Agentic Database/Server</a:t>
            </a:r>
          </a:p>
        </p:txBody>
      </p:sp>
      <p:sp>
        <p:nvSpPr>
          <p:cNvPr name="TextBox 6" id="6"/>
          <p:cNvSpPr txBox="true"/>
          <p:nvPr/>
        </p:nvSpPr>
        <p:spPr>
          <a:xfrm rot="0">
            <a:off x="1028700" y="971550"/>
            <a:ext cx="1878881"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Possible Solution</a:t>
            </a:r>
          </a:p>
        </p:txBody>
      </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0" id="10"/>
          <p:cNvSpPr txBox="true"/>
          <p:nvPr/>
        </p:nvSpPr>
        <p:spPr>
          <a:xfrm rot="0">
            <a:off x="1028700" y="1760706"/>
            <a:ext cx="2888010" cy="448310"/>
          </a:xfrm>
          <a:prstGeom prst="rect">
            <a:avLst/>
          </a:prstGeom>
        </p:spPr>
        <p:txBody>
          <a:bodyPr anchor="t" rtlCol="false" tIns="0" lIns="0" bIns="0" rIns="0">
            <a:spAutoFit/>
          </a:bodyPr>
          <a:lstStyle/>
          <a:p>
            <a:pPr algn="l">
              <a:lnSpc>
                <a:spcPts val="3640"/>
              </a:lnSpc>
              <a:spcBef>
                <a:spcPct val="0"/>
              </a:spcBef>
            </a:pPr>
            <a:r>
              <a:rPr lang="en-US" sz="2600" spc="-26">
                <a:solidFill>
                  <a:srgbClr val="A6A6A6"/>
                </a:solidFill>
                <a:latin typeface="Helvetica World"/>
                <a:ea typeface="Helvetica World"/>
                <a:cs typeface="Helvetica World"/>
                <a:sym typeface="Helvetica World"/>
              </a:rPr>
              <a:t>Speculative Model 2</a:t>
            </a:r>
          </a:p>
        </p:txBody>
      </p:sp>
      <p:sp>
        <p:nvSpPr>
          <p:cNvPr name="TextBox 11" id="11"/>
          <p:cNvSpPr txBox="true"/>
          <p:nvPr/>
        </p:nvSpPr>
        <p:spPr>
          <a:xfrm rot="0">
            <a:off x="1038225" y="6742818"/>
            <a:ext cx="16240125" cy="809625"/>
          </a:xfrm>
          <a:prstGeom prst="rect">
            <a:avLst/>
          </a:prstGeom>
        </p:spPr>
        <p:txBody>
          <a:bodyPr anchor="t" rtlCol="false" tIns="0" lIns="0" bIns="0" rIns="0">
            <a:spAutoFit/>
          </a:bodyPr>
          <a:lstStyle/>
          <a:p>
            <a:pPr algn="l">
              <a:lnSpc>
                <a:spcPts val="2160"/>
              </a:lnSpc>
            </a:pPr>
            <a:r>
              <a:rPr lang="en-US" sz="1800" spc="-18">
                <a:solidFill>
                  <a:srgbClr val="FFFFFF"/>
                </a:solidFill>
                <a:latin typeface="Helvetica World"/>
                <a:ea typeface="Helvetica World"/>
                <a:cs typeface="Helvetica World"/>
                <a:sym typeface="Helvetica World"/>
              </a:rPr>
              <a:t>Amazon Agentic DB is a fully autonomous database platform that eliminates the need for manual database management at every stage. It begins by self-repairing, resolving performance issues and failures automatically. It then adapts itself, continuously learning business workload and optimizing across the entire data environment. Ultimately, it evolves itself, reshaping its own architecture as your business grows and changes.</a:t>
            </a:r>
          </a:p>
        </p:txBody>
      </p:sp>
      <p:sp>
        <p:nvSpPr>
          <p:cNvPr name="TextBox 12" id="12"/>
          <p:cNvSpPr txBox="true"/>
          <p:nvPr/>
        </p:nvSpPr>
        <p:spPr>
          <a:xfrm rot="0">
            <a:off x="2990445" y="8116887"/>
            <a:ext cx="12307110" cy="415608"/>
          </a:xfrm>
          <a:prstGeom prst="rect">
            <a:avLst/>
          </a:prstGeom>
        </p:spPr>
        <p:txBody>
          <a:bodyPr anchor="t" rtlCol="false" tIns="0" lIns="0" bIns="0" rIns="0">
            <a:spAutoFit/>
          </a:bodyPr>
          <a:lstStyle/>
          <a:p>
            <a:pPr algn="ctr">
              <a:lnSpc>
                <a:spcPts val="3079"/>
              </a:lnSpc>
              <a:spcBef>
                <a:spcPct val="0"/>
              </a:spcBef>
            </a:pPr>
            <a:r>
              <a:rPr lang="en-US" sz="2199" i="true" spc="-21">
                <a:solidFill>
                  <a:srgbClr val="727171"/>
                </a:solidFill>
                <a:latin typeface="Helvetica World Italics"/>
                <a:ea typeface="Helvetica World Italics"/>
                <a:cs typeface="Helvetica World Italics"/>
                <a:sym typeface="Helvetica World Italics"/>
              </a:rPr>
              <a:t>"</a:t>
            </a:r>
            <a:r>
              <a:rPr lang="en-US" sz="2199" i="true" spc="-21">
                <a:solidFill>
                  <a:srgbClr val="727171"/>
                </a:solidFill>
                <a:latin typeface="Helvetica World Italics"/>
                <a:ea typeface="Helvetica World Italics"/>
                <a:cs typeface="Helvetica World Italics"/>
                <a:sym typeface="Helvetica World Italics"/>
              </a:rPr>
              <a:t>An autonomous data platform that continuously adapts and optimizes for the digital business."</a:t>
            </a:r>
          </a:p>
        </p:txBody>
      </p:sp>
      <p:grpSp>
        <p:nvGrpSpPr>
          <p:cNvPr name="Group 13" id="13"/>
          <p:cNvGrpSpPr/>
          <p:nvPr/>
        </p:nvGrpSpPr>
        <p:grpSpPr>
          <a:xfrm rot="0">
            <a:off x="1019175" y="4502215"/>
            <a:ext cx="16249650" cy="1884045"/>
            <a:chOff x="0" y="0"/>
            <a:chExt cx="21666200" cy="2512060"/>
          </a:xfrm>
        </p:grpSpPr>
        <p:sp>
          <p:nvSpPr>
            <p:cNvPr name="TextBox 14" id="14"/>
            <p:cNvSpPr txBox="true"/>
            <p:nvPr/>
          </p:nvSpPr>
          <p:spPr>
            <a:xfrm rot="0">
              <a:off x="0" y="-47625"/>
              <a:ext cx="4877880" cy="493818"/>
            </a:xfrm>
            <a:prstGeom prst="rect">
              <a:avLst/>
            </a:prstGeom>
          </p:spPr>
          <p:txBody>
            <a:bodyPr anchor="t" rtlCol="false" tIns="0" lIns="0" bIns="0" rIns="0">
              <a:spAutoFit/>
            </a:bodyPr>
            <a:lstStyle/>
            <a:p>
              <a:pPr algn="l">
                <a:lnSpc>
                  <a:spcPts val="3079"/>
                </a:lnSpc>
                <a:spcBef>
                  <a:spcPct val="0"/>
                </a:spcBef>
              </a:pPr>
              <a:r>
                <a:rPr lang="en-US" sz="2199" spc="-21">
                  <a:solidFill>
                    <a:srgbClr val="FFFFFF"/>
                  </a:solidFill>
                  <a:latin typeface="Helvetica World"/>
                  <a:ea typeface="Helvetica World"/>
                  <a:cs typeface="Helvetica World"/>
                  <a:sym typeface="Helvetica World"/>
                </a:rPr>
                <a:t>Adaptive Intelligence</a:t>
              </a:r>
            </a:p>
          </p:txBody>
        </p:sp>
        <p:sp>
          <p:nvSpPr>
            <p:cNvPr name="TextBox 15" id="15"/>
            <p:cNvSpPr txBox="true"/>
            <p:nvPr/>
          </p:nvSpPr>
          <p:spPr>
            <a:xfrm rot="0">
              <a:off x="15442386" y="-47625"/>
              <a:ext cx="6198414" cy="493818"/>
            </a:xfrm>
            <a:prstGeom prst="rect">
              <a:avLst/>
            </a:prstGeom>
          </p:spPr>
          <p:txBody>
            <a:bodyPr anchor="t" rtlCol="false" tIns="0" lIns="0" bIns="0" rIns="0">
              <a:spAutoFit/>
            </a:bodyPr>
            <a:lstStyle/>
            <a:p>
              <a:pPr algn="r">
                <a:lnSpc>
                  <a:spcPts val="3079"/>
                </a:lnSpc>
                <a:spcBef>
                  <a:spcPct val="0"/>
                </a:spcBef>
              </a:pPr>
              <a:r>
                <a:rPr lang="en-US" sz="2199" spc="-21">
                  <a:solidFill>
                    <a:srgbClr val="FFFFFF"/>
                  </a:solidFill>
                  <a:latin typeface="Helvetica World"/>
                  <a:ea typeface="Helvetica World"/>
                  <a:cs typeface="Helvetica World"/>
                  <a:sym typeface="Helvetica World"/>
                </a:rPr>
                <a:t>Autonomous Evolution</a:t>
              </a:r>
            </a:p>
          </p:txBody>
        </p:sp>
        <p:sp>
          <p:nvSpPr>
            <p:cNvPr name="TextBox 16" id="16"/>
            <p:cNvSpPr txBox="true"/>
            <p:nvPr/>
          </p:nvSpPr>
          <p:spPr>
            <a:xfrm rot="0">
              <a:off x="0" y="2052743"/>
              <a:ext cx="7376090" cy="459317"/>
            </a:xfrm>
            <a:prstGeom prst="rect">
              <a:avLst/>
            </a:prstGeom>
          </p:spPr>
          <p:txBody>
            <a:bodyPr anchor="t" rtlCol="false" tIns="0" lIns="0" bIns="0" rIns="0">
              <a:spAutoFit/>
            </a:bodyPr>
            <a:lstStyle/>
            <a:p>
              <a:pPr algn="l">
                <a:lnSpc>
                  <a:spcPts val="2800"/>
                </a:lnSpc>
                <a:spcBef>
                  <a:spcPct val="0"/>
                </a:spcBef>
              </a:pPr>
              <a:r>
                <a:rPr lang="en-US" sz="2000" spc="-20">
                  <a:solidFill>
                    <a:srgbClr val="727171"/>
                  </a:solidFill>
                  <a:latin typeface="Helvetica World"/>
                  <a:ea typeface="Helvetica World"/>
                  <a:cs typeface="Helvetica World"/>
                  <a:sym typeface="Helvetica World"/>
                </a:rPr>
                <a:t>Amazon ForesightDB - Selftuning</a:t>
              </a:r>
            </a:p>
          </p:txBody>
        </p:sp>
        <p:sp>
          <p:nvSpPr>
            <p:cNvPr name="TextBox 17" id="17"/>
            <p:cNvSpPr txBox="true"/>
            <p:nvPr/>
          </p:nvSpPr>
          <p:spPr>
            <a:xfrm rot="0">
              <a:off x="14264710" y="2052743"/>
              <a:ext cx="7376090" cy="459317"/>
            </a:xfrm>
            <a:prstGeom prst="rect">
              <a:avLst/>
            </a:prstGeom>
          </p:spPr>
          <p:txBody>
            <a:bodyPr anchor="t" rtlCol="false" tIns="0" lIns="0" bIns="0" rIns="0">
              <a:spAutoFit/>
            </a:bodyPr>
            <a:lstStyle/>
            <a:p>
              <a:pPr algn="r">
                <a:lnSpc>
                  <a:spcPts val="2800"/>
                </a:lnSpc>
                <a:spcBef>
                  <a:spcPct val="0"/>
                </a:spcBef>
              </a:pPr>
              <a:r>
                <a:rPr lang="en-US" sz="2000" spc="-20">
                  <a:solidFill>
                    <a:srgbClr val="727171"/>
                  </a:solidFill>
                  <a:latin typeface="Helvetica World"/>
                  <a:ea typeface="Helvetica World"/>
                  <a:cs typeface="Helvetica World"/>
                  <a:sym typeface="Helvetica World"/>
                </a:rPr>
                <a:t>Amazon GovernAI DB</a:t>
              </a:r>
            </a:p>
          </p:txBody>
        </p:sp>
        <p:sp>
          <p:nvSpPr>
            <p:cNvPr name="AutoShape 18" id="18"/>
            <p:cNvSpPr/>
            <p:nvPr/>
          </p:nvSpPr>
          <p:spPr>
            <a:xfrm flipH="true">
              <a:off x="12700" y="649393"/>
              <a:ext cx="0" cy="1257300"/>
            </a:xfrm>
            <a:prstGeom prst="line">
              <a:avLst/>
            </a:prstGeom>
            <a:ln cap="rnd" w="25400">
              <a:solidFill>
                <a:srgbClr val="FFFFFF">
                  <a:alpha val="29804"/>
                </a:srgbClr>
              </a:solidFill>
              <a:prstDash val="sysDash"/>
              <a:headEnd type="none" len="sm" w="sm"/>
              <a:tailEnd type="none" len="sm" w="sm"/>
            </a:ln>
          </p:spPr>
        </p:sp>
        <p:sp>
          <p:nvSpPr>
            <p:cNvPr name="AutoShape 19" id="19"/>
            <p:cNvSpPr/>
            <p:nvPr/>
          </p:nvSpPr>
          <p:spPr>
            <a:xfrm flipH="true">
              <a:off x="21653500" y="649393"/>
              <a:ext cx="0" cy="1257300"/>
            </a:xfrm>
            <a:prstGeom prst="line">
              <a:avLst/>
            </a:prstGeom>
            <a:ln cap="rnd" w="25400">
              <a:solidFill>
                <a:srgbClr val="FFFFFF">
                  <a:alpha val="29804"/>
                </a:srgbClr>
              </a:solidFill>
              <a:prstDash val="sysDash"/>
              <a:headEnd type="none" len="sm" w="sm"/>
              <a:tailEnd type="none" len="sm" w="sm"/>
            </a:ln>
          </p:spPr>
        </p:sp>
        <p:sp>
          <p:nvSpPr>
            <p:cNvPr name="TextBox 20" id="20"/>
            <p:cNvSpPr txBox="true"/>
            <p:nvPr/>
          </p:nvSpPr>
          <p:spPr>
            <a:xfrm rot="0">
              <a:off x="183928" y="1007322"/>
              <a:ext cx="4877880" cy="493818"/>
            </a:xfrm>
            <a:prstGeom prst="rect">
              <a:avLst/>
            </a:prstGeom>
          </p:spPr>
          <p:txBody>
            <a:bodyPr anchor="t" rtlCol="false" tIns="0" lIns="0" bIns="0" rIns="0">
              <a:spAutoFit/>
            </a:bodyPr>
            <a:lstStyle/>
            <a:p>
              <a:pPr algn="l">
                <a:lnSpc>
                  <a:spcPts val="3079"/>
                </a:lnSpc>
                <a:spcBef>
                  <a:spcPct val="0"/>
                </a:spcBef>
              </a:pPr>
              <a:r>
                <a:rPr lang="en-US" sz="2199" spc="-21">
                  <a:solidFill>
                    <a:srgbClr val="B2B2B2"/>
                  </a:solidFill>
                  <a:latin typeface="Helvetica World"/>
                  <a:ea typeface="Helvetica World"/>
                  <a:cs typeface="Helvetica World"/>
                  <a:sym typeface="Helvetica World"/>
                </a:rPr>
                <a:t>Human</a:t>
              </a:r>
              <a:r>
                <a:rPr lang="en-US" sz="2199" spc="-21">
                  <a:solidFill>
                    <a:srgbClr val="B2B2B2"/>
                  </a:solidFill>
                  <a:latin typeface="Helvetica World"/>
                  <a:ea typeface="Helvetica World"/>
                  <a:cs typeface="Helvetica World"/>
                  <a:sym typeface="Helvetica World"/>
                </a:rPr>
                <a:t>-in-the-loop</a:t>
              </a:r>
            </a:p>
          </p:txBody>
        </p:sp>
        <p:sp>
          <p:nvSpPr>
            <p:cNvPr name="TextBox 21" id="21"/>
            <p:cNvSpPr txBox="true"/>
            <p:nvPr/>
          </p:nvSpPr>
          <p:spPr>
            <a:xfrm rot="0">
              <a:off x="16598900" y="1007322"/>
              <a:ext cx="4877880" cy="493818"/>
            </a:xfrm>
            <a:prstGeom prst="rect">
              <a:avLst/>
            </a:prstGeom>
          </p:spPr>
          <p:txBody>
            <a:bodyPr anchor="t" rtlCol="false" tIns="0" lIns="0" bIns="0" rIns="0">
              <a:spAutoFit/>
            </a:bodyPr>
            <a:lstStyle/>
            <a:p>
              <a:pPr algn="r">
                <a:lnSpc>
                  <a:spcPts val="3079"/>
                </a:lnSpc>
                <a:spcBef>
                  <a:spcPct val="0"/>
                </a:spcBef>
              </a:pPr>
              <a:r>
                <a:rPr lang="en-US" sz="2199" spc="-21">
                  <a:solidFill>
                    <a:srgbClr val="B2B2B2"/>
                  </a:solidFill>
                  <a:latin typeface="Helvetica World"/>
                  <a:ea typeface="Helvetica World"/>
                  <a:cs typeface="Helvetica World"/>
                  <a:sym typeface="Helvetica World"/>
                </a:rPr>
                <a:t>Fully </a:t>
              </a:r>
              <a:r>
                <a:rPr lang="en-US" sz="2199" spc="-21">
                  <a:solidFill>
                    <a:srgbClr val="B2B2B2"/>
                  </a:solidFill>
                  <a:latin typeface="Helvetica World"/>
                  <a:ea typeface="Helvetica World"/>
                  <a:cs typeface="Helvetica World"/>
                  <a:sym typeface="Helvetica World"/>
                </a:rPr>
                <a:t>AI-Powered</a:t>
              </a:r>
            </a:p>
          </p:txBody>
        </p:sp>
        <p:sp>
          <p:nvSpPr>
            <p:cNvPr name="AutoShape 22" id="22"/>
            <p:cNvSpPr/>
            <p:nvPr/>
          </p:nvSpPr>
          <p:spPr>
            <a:xfrm flipH="true">
              <a:off x="5061808" y="1278043"/>
              <a:ext cx="11357778" cy="0"/>
            </a:xfrm>
            <a:prstGeom prst="line">
              <a:avLst/>
            </a:prstGeom>
            <a:ln cap="rnd" w="25400">
              <a:solidFill>
                <a:srgbClr val="FFFFFF">
                  <a:alpha val="29804"/>
                </a:srgbClr>
              </a:solidFill>
              <a:prstDash val="sysDash"/>
              <a:headEnd type="arrow" len="sm" w="med"/>
              <a:tailEnd type="none" len="sm" w="sm"/>
            </a:ln>
          </p:spPr>
        </p:sp>
      </p:grpSp>
    </p:spTree>
  </p:cSld>
  <p:clrMapOvr>
    <a:masterClrMapping/>
  </p:clrMapOvr>
</p:sld>
</file>

<file path=ppt/slides/slide73.xml><?xml version="1.0" encoding="utf-8"?>
<p:sld xmlns:p="http://schemas.openxmlformats.org/presentationml/2006/main" xmlns:a="http://schemas.openxmlformats.org/drawingml/2006/main">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9258300"/>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Possible Solution</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68</a:t>
              </a:r>
            </a:p>
          </p:txBody>
        </p:sp>
      </p:grpSp>
      <p:sp>
        <p:nvSpPr>
          <p:cNvPr name="TextBox 5" id="5"/>
          <p:cNvSpPr txBox="true"/>
          <p:nvPr/>
        </p:nvSpPr>
        <p:spPr>
          <a:xfrm rot="0">
            <a:off x="1028700" y="2104241"/>
            <a:ext cx="5194771" cy="863600"/>
          </a:xfrm>
          <a:prstGeom prst="rect">
            <a:avLst/>
          </a:prstGeom>
        </p:spPr>
        <p:txBody>
          <a:bodyPr anchor="t" rtlCol="false" tIns="0" lIns="0" bIns="0" rIns="0">
            <a:spAutoFit/>
          </a:bodyPr>
          <a:lstStyle/>
          <a:p>
            <a:pPr algn="l">
              <a:lnSpc>
                <a:spcPts val="7000"/>
              </a:lnSpc>
              <a:spcBef>
                <a:spcPct val="0"/>
              </a:spcBef>
            </a:pPr>
            <a:r>
              <a:rPr lang="en-US" sz="5000" spc="-50">
                <a:solidFill>
                  <a:srgbClr val="A6A6A6"/>
                </a:solidFill>
                <a:latin typeface="Helvetica World"/>
                <a:ea typeface="Helvetica World"/>
                <a:cs typeface="Helvetica World"/>
                <a:sym typeface="Helvetica World"/>
              </a:rPr>
              <a:t>Streaming Solution</a:t>
            </a:r>
          </a:p>
        </p:txBody>
      </p:sp>
      <p:sp>
        <p:nvSpPr>
          <p:cNvPr name="TextBox 6" id="6"/>
          <p:cNvSpPr txBox="true"/>
          <p:nvPr/>
        </p:nvSpPr>
        <p:spPr>
          <a:xfrm rot="0">
            <a:off x="1028700" y="971550"/>
            <a:ext cx="1878881"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Possible Solution</a:t>
            </a:r>
          </a:p>
        </p:txBody>
      </p:sp>
      <p:grpSp>
        <p:nvGrpSpPr>
          <p:cNvPr name="Group 7" id="7"/>
          <p:cNvGrpSpPr/>
          <p:nvPr/>
        </p:nvGrpSpPr>
        <p:grpSpPr>
          <a:xfrm rot="0">
            <a:off x="1028700" y="727075"/>
            <a:ext cx="16230600" cy="301625"/>
            <a:chOff x="0" y="0"/>
            <a:chExt cx="21640800" cy="402167"/>
          </a:xfrm>
        </p:grpSpPr>
        <p:sp>
          <p:nvSpPr>
            <p:cNvPr name="TextBox 8" id="8"/>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0" id="10"/>
          <p:cNvSpPr txBox="true"/>
          <p:nvPr/>
        </p:nvSpPr>
        <p:spPr>
          <a:xfrm rot="0">
            <a:off x="1028700" y="1760706"/>
            <a:ext cx="2888010" cy="448310"/>
          </a:xfrm>
          <a:prstGeom prst="rect">
            <a:avLst/>
          </a:prstGeom>
        </p:spPr>
        <p:txBody>
          <a:bodyPr anchor="t" rtlCol="false" tIns="0" lIns="0" bIns="0" rIns="0">
            <a:spAutoFit/>
          </a:bodyPr>
          <a:lstStyle/>
          <a:p>
            <a:pPr algn="l">
              <a:lnSpc>
                <a:spcPts val="3640"/>
              </a:lnSpc>
              <a:spcBef>
                <a:spcPct val="0"/>
              </a:spcBef>
            </a:pPr>
            <a:r>
              <a:rPr lang="en-US" sz="2600" spc="-26">
                <a:solidFill>
                  <a:srgbClr val="A6A6A6"/>
                </a:solidFill>
                <a:latin typeface="Helvetica World"/>
                <a:ea typeface="Helvetica World"/>
                <a:cs typeface="Helvetica World"/>
                <a:sym typeface="Helvetica World"/>
              </a:rPr>
              <a:t>Speculative Model 3</a:t>
            </a:r>
          </a:p>
        </p:txBody>
      </p:sp>
      <p:grpSp>
        <p:nvGrpSpPr>
          <p:cNvPr name="Group 11" id="11"/>
          <p:cNvGrpSpPr/>
          <p:nvPr/>
        </p:nvGrpSpPr>
        <p:grpSpPr>
          <a:xfrm rot="0">
            <a:off x="1019175" y="4502215"/>
            <a:ext cx="16249650" cy="1884045"/>
            <a:chOff x="0" y="0"/>
            <a:chExt cx="21666200" cy="2512060"/>
          </a:xfrm>
        </p:grpSpPr>
        <p:sp>
          <p:nvSpPr>
            <p:cNvPr name="TextBox 12" id="12"/>
            <p:cNvSpPr txBox="true"/>
            <p:nvPr/>
          </p:nvSpPr>
          <p:spPr>
            <a:xfrm rot="0">
              <a:off x="0" y="-47625"/>
              <a:ext cx="4877880" cy="493818"/>
            </a:xfrm>
            <a:prstGeom prst="rect">
              <a:avLst/>
            </a:prstGeom>
          </p:spPr>
          <p:txBody>
            <a:bodyPr anchor="t" rtlCol="false" tIns="0" lIns="0" bIns="0" rIns="0">
              <a:spAutoFit/>
            </a:bodyPr>
            <a:lstStyle/>
            <a:p>
              <a:pPr algn="l">
                <a:lnSpc>
                  <a:spcPts val="3079"/>
                </a:lnSpc>
                <a:spcBef>
                  <a:spcPct val="0"/>
                </a:spcBef>
              </a:pPr>
              <a:r>
                <a:rPr lang="en-US" sz="2199" spc="-21">
                  <a:solidFill>
                    <a:srgbClr val="FFFFFF"/>
                  </a:solidFill>
                  <a:latin typeface="Helvetica World"/>
                  <a:ea typeface="Helvetica World"/>
                  <a:cs typeface="Helvetica World"/>
                  <a:sym typeface="Helvetica World"/>
                </a:rPr>
                <a:t>Flexible Subscription</a:t>
              </a:r>
            </a:p>
          </p:txBody>
        </p:sp>
        <p:sp>
          <p:nvSpPr>
            <p:cNvPr name="TextBox 13" id="13"/>
            <p:cNvSpPr txBox="true"/>
            <p:nvPr/>
          </p:nvSpPr>
          <p:spPr>
            <a:xfrm rot="0">
              <a:off x="8479798" y="-47625"/>
              <a:ext cx="4681204" cy="493818"/>
            </a:xfrm>
            <a:prstGeom prst="rect">
              <a:avLst/>
            </a:prstGeom>
          </p:spPr>
          <p:txBody>
            <a:bodyPr anchor="t" rtlCol="false" tIns="0" lIns="0" bIns="0" rIns="0">
              <a:spAutoFit/>
            </a:bodyPr>
            <a:lstStyle/>
            <a:p>
              <a:pPr algn="ctr">
                <a:lnSpc>
                  <a:spcPts val="3079"/>
                </a:lnSpc>
                <a:spcBef>
                  <a:spcPct val="0"/>
                </a:spcBef>
              </a:pPr>
              <a:r>
                <a:rPr lang="en-US" sz="2199" spc="-21">
                  <a:solidFill>
                    <a:srgbClr val="FFFFFF"/>
                  </a:solidFill>
                  <a:latin typeface="Helvetica World"/>
                  <a:ea typeface="Helvetica World"/>
                  <a:cs typeface="Helvetica World"/>
                  <a:sym typeface="Helvetica World"/>
                </a:rPr>
                <a:t>Universal Streaming Pass</a:t>
              </a:r>
            </a:p>
          </p:txBody>
        </p:sp>
        <p:sp>
          <p:nvSpPr>
            <p:cNvPr name="TextBox 14" id="14"/>
            <p:cNvSpPr txBox="true"/>
            <p:nvPr/>
          </p:nvSpPr>
          <p:spPr>
            <a:xfrm rot="0">
              <a:off x="15442386" y="-47625"/>
              <a:ext cx="6198414" cy="493818"/>
            </a:xfrm>
            <a:prstGeom prst="rect">
              <a:avLst/>
            </a:prstGeom>
          </p:spPr>
          <p:txBody>
            <a:bodyPr anchor="t" rtlCol="false" tIns="0" lIns="0" bIns="0" rIns="0">
              <a:spAutoFit/>
            </a:bodyPr>
            <a:lstStyle/>
            <a:p>
              <a:pPr algn="r">
                <a:lnSpc>
                  <a:spcPts val="3079"/>
                </a:lnSpc>
                <a:spcBef>
                  <a:spcPct val="0"/>
                </a:spcBef>
              </a:pPr>
              <a:r>
                <a:rPr lang="en-US" sz="2199" spc="-21">
                  <a:solidFill>
                    <a:srgbClr val="FFFFFF"/>
                  </a:solidFill>
                  <a:latin typeface="Helvetica World"/>
                  <a:ea typeface="Helvetica World"/>
                  <a:cs typeface="Helvetica World"/>
                  <a:sym typeface="Helvetica World"/>
                </a:rPr>
                <a:t>Collective Subscription</a:t>
              </a:r>
            </a:p>
          </p:txBody>
        </p:sp>
        <p:sp>
          <p:nvSpPr>
            <p:cNvPr name="TextBox 15" id="15"/>
            <p:cNvSpPr txBox="true"/>
            <p:nvPr/>
          </p:nvSpPr>
          <p:spPr>
            <a:xfrm rot="0">
              <a:off x="7132355" y="2052743"/>
              <a:ext cx="7376090" cy="459317"/>
            </a:xfrm>
            <a:prstGeom prst="rect">
              <a:avLst/>
            </a:prstGeom>
          </p:spPr>
          <p:txBody>
            <a:bodyPr anchor="t" rtlCol="false" tIns="0" lIns="0" bIns="0" rIns="0">
              <a:spAutoFit/>
            </a:bodyPr>
            <a:lstStyle/>
            <a:p>
              <a:pPr algn="ctr">
                <a:lnSpc>
                  <a:spcPts val="2800"/>
                </a:lnSpc>
                <a:spcBef>
                  <a:spcPct val="0"/>
                </a:spcBef>
              </a:pPr>
              <a:r>
                <a:rPr lang="en-US" sz="2000" spc="-20">
                  <a:solidFill>
                    <a:srgbClr val="727171"/>
                  </a:solidFill>
                  <a:latin typeface="Helvetica World"/>
                  <a:ea typeface="Helvetica World"/>
                  <a:cs typeface="Helvetica World"/>
                  <a:sym typeface="Helvetica World"/>
                </a:rPr>
                <a:t>Inter-platform Partnership</a:t>
              </a:r>
            </a:p>
          </p:txBody>
        </p:sp>
        <p:sp>
          <p:nvSpPr>
            <p:cNvPr name="TextBox 16" id="16"/>
            <p:cNvSpPr txBox="true"/>
            <p:nvPr/>
          </p:nvSpPr>
          <p:spPr>
            <a:xfrm rot="0">
              <a:off x="0" y="2052743"/>
              <a:ext cx="7376090" cy="459317"/>
            </a:xfrm>
            <a:prstGeom prst="rect">
              <a:avLst/>
            </a:prstGeom>
          </p:spPr>
          <p:txBody>
            <a:bodyPr anchor="t" rtlCol="false" tIns="0" lIns="0" bIns="0" rIns="0">
              <a:spAutoFit/>
            </a:bodyPr>
            <a:lstStyle/>
            <a:p>
              <a:pPr algn="l">
                <a:lnSpc>
                  <a:spcPts val="2800"/>
                </a:lnSpc>
                <a:spcBef>
                  <a:spcPct val="0"/>
                </a:spcBef>
              </a:pPr>
              <a:r>
                <a:rPr lang="en-US" sz="2000" spc="-20">
                  <a:solidFill>
                    <a:srgbClr val="727171"/>
                  </a:solidFill>
                  <a:latin typeface="Helvetica World"/>
                  <a:ea typeface="Helvetica World"/>
                  <a:cs typeface="Helvetica World"/>
                  <a:sym typeface="Helvetica World"/>
                </a:rPr>
                <a:t>Community-Pooled Subscription</a:t>
              </a:r>
            </a:p>
          </p:txBody>
        </p:sp>
        <p:sp>
          <p:nvSpPr>
            <p:cNvPr name="TextBox 17" id="17"/>
            <p:cNvSpPr txBox="true"/>
            <p:nvPr/>
          </p:nvSpPr>
          <p:spPr>
            <a:xfrm rot="0">
              <a:off x="14264710" y="2052743"/>
              <a:ext cx="7376090" cy="459317"/>
            </a:xfrm>
            <a:prstGeom prst="rect">
              <a:avLst/>
            </a:prstGeom>
          </p:spPr>
          <p:txBody>
            <a:bodyPr anchor="t" rtlCol="false" tIns="0" lIns="0" bIns="0" rIns="0">
              <a:spAutoFit/>
            </a:bodyPr>
            <a:lstStyle/>
            <a:p>
              <a:pPr algn="r">
                <a:lnSpc>
                  <a:spcPts val="2800"/>
                </a:lnSpc>
                <a:spcBef>
                  <a:spcPct val="0"/>
                </a:spcBef>
              </a:pPr>
              <a:r>
                <a:rPr lang="en-US" sz="2000" spc="-20">
                  <a:solidFill>
                    <a:srgbClr val="727171"/>
                  </a:solidFill>
                  <a:latin typeface="Helvetica World"/>
                  <a:ea typeface="Helvetica World"/>
                  <a:cs typeface="Helvetica World"/>
                  <a:sym typeface="Helvetica World"/>
                </a:rPr>
                <a:t>Community-Pooled Subscription</a:t>
              </a:r>
            </a:p>
          </p:txBody>
        </p:sp>
        <p:sp>
          <p:nvSpPr>
            <p:cNvPr name="AutoShape 18" id="18"/>
            <p:cNvSpPr/>
            <p:nvPr/>
          </p:nvSpPr>
          <p:spPr>
            <a:xfrm flipH="true">
              <a:off x="10833100" y="649393"/>
              <a:ext cx="0" cy="1257300"/>
            </a:xfrm>
            <a:prstGeom prst="line">
              <a:avLst/>
            </a:prstGeom>
            <a:ln cap="rnd" w="25400">
              <a:solidFill>
                <a:srgbClr val="FFFFFF">
                  <a:alpha val="29804"/>
                </a:srgbClr>
              </a:solidFill>
              <a:prstDash val="sysDash"/>
              <a:headEnd type="none" len="sm" w="sm"/>
              <a:tailEnd type="none" len="sm" w="sm"/>
            </a:ln>
          </p:spPr>
        </p:sp>
        <p:sp>
          <p:nvSpPr>
            <p:cNvPr name="AutoShape 19" id="19"/>
            <p:cNvSpPr/>
            <p:nvPr/>
          </p:nvSpPr>
          <p:spPr>
            <a:xfrm flipH="true">
              <a:off x="12700" y="649393"/>
              <a:ext cx="0" cy="1257300"/>
            </a:xfrm>
            <a:prstGeom prst="line">
              <a:avLst/>
            </a:prstGeom>
            <a:ln cap="rnd" w="25400">
              <a:solidFill>
                <a:srgbClr val="FFFFFF">
                  <a:alpha val="29804"/>
                </a:srgbClr>
              </a:solidFill>
              <a:prstDash val="sysDash"/>
              <a:headEnd type="none" len="sm" w="sm"/>
              <a:tailEnd type="none" len="sm" w="sm"/>
            </a:ln>
          </p:spPr>
        </p:sp>
        <p:sp>
          <p:nvSpPr>
            <p:cNvPr name="AutoShape 20" id="20"/>
            <p:cNvSpPr/>
            <p:nvPr/>
          </p:nvSpPr>
          <p:spPr>
            <a:xfrm flipH="true">
              <a:off x="21653500" y="649393"/>
              <a:ext cx="0" cy="1257300"/>
            </a:xfrm>
            <a:prstGeom prst="line">
              <a:avLst/>
            </a:prstGeom>
            <a:ln cap="rnd" w="25400">
              <a:solidFill>
                <a:srgbClr val="FFFFFF">
                  <a:alpha val="29804"/>
                </a:srgbClr>
              </a:solidFill>
              <a:prstDash val="sysDash"/>
              <a:headEnd type="none" len="sm" w="sm"/>
              <a:tailEnd type="none" len="sm" w="sm"/>
            </a:ln>
          </p:spPr>
        </p:sp>
        <p:sp>
          <p:nvSpPr>
            <p:cNvPr name="TextBox 21" id="21"/>
            <p:cNvSpPr txBox="true"/>
            <p:nvPr/>
          </p:nvSpPr>
          <p:spPr>
            <a:xfrm rot="0">
              <a:off x="183928" y="1007322"/>
              <a:ext cx="4877880" cy="493818"/>
            </a:xfrm>
            <a:prstGeom prst="rect">
              <a:avLst/>
            </a:prstGeom>
          </p:spPr>
          <p:txBody>
            <a:bodyPr anchor="t" rtlCol="false" tIns="0" lIns="0" bIns="0" rIns="0">
              <a:spAutoFit/>
            </a:bodyPr>
            <a:lstStyle/>
            <a:p>
              <a:pPr algn="l">
                <a:lnSpc>
                  <a:spcPts val="3079"/>
                </a:lnSpc>
                <a:spcBef>
                  <a:spcPct val="0"/>
                </a:spcBef>
              </a:pPr>
              <a:r>
                <a:rPr lang="en-US" sz="2199" spc="-21">
                  <a:solidFill>
                    <a:srgbClr val="B2B2B2"/>
                  </a:solidFill>
                  <a:latin typeface="Helvetica World"/>
                  <a:ea typeface="Helvetica World"/>
                  <a:cs typeface="Helvetica World"/>
                  <a:sym typeface="Helvetica World"/>
                </a:rPr>
                <a:t>User Data</a:t>
              </a:r>
            </a:p>
          </p:txBody>
        </p:sp>
        <p:sp>
          <p:nvSpPr>
            <p:cNvPr name="TextBox 22" id="22"/>
            <p:cNvSpPr txBox="true"/>
            <p:nvPr/>
          </p:nvSpPr>
          <p:spPr>
            <a:xfrm rot="0">
              <a:off x="5502164" y="1007322"/>
              <a:ext cx="4877880" cy="493818"/>
            </a:xfrm>
            <a:prstGeom prst="rect">
              <a:avLst/>
            </a:prstGeom>
          </p:spPr>
          <p:txBody>
            <a:bodyPr anchor="t" rtlCol="false" tIns="0" lIns="0" bIns="0" rIns="0">
              <a:spAutoFit/>
            </a:bodyPr>
            <a:lstStyle/>
            <a:p>
              <a:pPr algn="r">
                <a:lnSpc>
                  <a:spcPts val="3079"/>
                </a:lnSpc>
                <a:spcBef>
                  <a:spcPct val="0"/>
                </a:spcBef>
              </a:pPr>
              <a:r>
                <a:rPr lang="en-US" sz="2199" spc="-21">
                  <a:solidFill>
                    <a:srgbClr val="B2B2B2"/>
                  </a:solidFill>
                  <a:latin typeface="Helvetica World"/>
                  <a:ea typeface="Helvetica World"/>
                  <a:cs typeface="Helvetica World"/>
                  <a:sym typeface="Helvetica World"/>
                </a:rPr>
                <a:t>Streaming Coalition</a:t>
              </a:r>
            </a:p>
          </p:txBody>
        </p:sp>
        <p:sp>
          <p:nvSpPr>
            <p:cNvPr name="TextBox 23" id="23"/>
            <p:cNvSpPr txBox="true"/>
            <p:nvPr/>
          </p:nvSpPr>
          <p:spPr>
            <a:xfrm rot="0">
              <a:off x="13804360" y="1007322"/>
              <a:ext cx="4877880" cy="493818"/>
            </a:xfrm>
            <a:prstGeom prst="rect">
              <a:avLst/>
            </a:prstGeom>
          </p:spPr>
          <p:txBody>
            <a:bodyPr anchor="t" rtlCol="false" tIns="0" lIns="0" bIns="0" rIns="0">
              <a:spAutoFit/>
            </a:bodyPr>
            <a:lstStyle/>
            <a:p>
              <a:pPr algn="ctr">
                <a:lnSpc>
                  <a:spcPts val="3079"/>
                </a:lnSpc>
                <a:spcBef>
                  <a:spcPct val="0"/>
                </a:spcBef>
              </a:pPr>
              <a:r>
                <a:rPr lang="en-US" sz="2199" spc="-21">
                  <a:solidFill>
                    <a:srgbClr val="B2B2B2"/>
                  </a:solidFill>
                  <a:latin typeface="Helvetica World"/>
                  <a:ea typeface="Helvetica World"/>
                  <a:cs typeface="Helvetica World"/>
                  <a:sym typeface="Helvetica World"/>
                </a:rPr>
                <a:t>Better Accessibility</a:t>
              </a:r>
            </a:p>
          </p:txBody>
        </p:sp>
      </p:grpSp>
      <p:sp>
        <p:nvSpPr>
          <p:cNvPr name="TextBox 24" id="24"/>
          <p:cNvSpPr txBox="true"/>
          <p:nvPr/>
        </p:nvSpPr>
        <p:spPr>
          <a:xfrm rot="0">
            <a:off x="1028700" y="6760110"/>
            <a:ext cx="16240125" cy="542925"/>
          </a:xfrm>
          <a:prstGeom prst="rect">
            <a:avLst/>
          </a:prstGeom>
        </p:spPr>
        <p:txBody>
          <a:bodyPr anchor="t" rtlCol="false" tIns="0" lIns="0" bIns="0" rIns="0">
            <a:spAutoFit/>
          </a:bodyPr>
          <a:lstStyle/>
          <a:p>
            <a:pPr algn="l">
              <a:lnSpc>
                <a:spcPts val="2160"/>
              </a:lnSpc>
            </a:pPr>
            <a:r>
              <a:rPr lang="en-US" sz="1800" spc="-18">
                <a:solidFill>
                  <a:srgbClr val="FFFFFF"/>
                </a:solidFill>
                <a:latin typeface="Helvetica World"/>
                <a:ea typeface="Helvetica World"/>
                <a:cs typeface="Helvetica World"/>
                <a:sym typeface="Helvetica World"/>
              </a:rPr>
              <a:t>Elements such as inter-platform partnerships, collective subscription models, and usage-based variable pricing not only broaden the accessibility of Amazon's streaming service, but also enable more efficient user pool management, all of which can be further optimized through the integration of agentic AI.</a:t>
            </a:r>
          </a:p>
        </p:txBody>
      </p:sp>
      <p:sp>
        <p:nvSpPr>
          <p:cNvPr name="TextBox 25" id="25"/>
          <p:cNvSpPr txBox="true"/>
          <p:nvPr/>
        </p:nvSpPr>
        <p:spPr>
          <a:xfrm rot="0">
            <a:off x="3794229" y="8116887"/>
            <a:ext cx="10699541" cy="415608"/>
          </a:xfrm>
          <a:prstGeom prst="rect">
            <a:avLst/>
          </a:prstGeom>
        </p:spPr>
        <p:txBody>
          <a:bodyPr anchor="t" rtlCol="false" tIns="0" lIns="0" bIns="0" rIns="0">
            <a:spAutoFit/>
          </a:bodyPr>
          <a:lstStyle/>
          <a:p>
            <a:pPr algn="ctr">
              <a:lnSpc>
                <a:spcPts val="3079"/>
              </a:lnSpc>
              <a:spcBef>
                <a:spcPct val="0"/>
              </a:spcBef>
            </a:pPr>
            <a:r>
              <a:rPr lang="en-US" sz="2199" i="true" spc="-21">
                <a:solidFill>
                  <a:srgbClr val="727171"/>
                </a:solidFill>
                <a:latin typeface="Helvetica World Italics"/>
                <a:ea typeface="Helvetica World Italics"/>
                <a:cs typeface="Helvetica World Italics"/>
                <a:sym typeface="Helvetica World Italics"/>
              </a:rPr>
              <a:t>“</a:t>
            </a:r>
            <a:r>
              <a:rPr lang="en-US" sz="2199" i="true" spc="-21">
                <a:solidFill>
                  <a:srgbClr val="727171"/>
                </a:solidFill>
                <a:latin typeface="Helvetica World Italics"/>
                <a:ea typeface="Helvetica World Italics"/>
                <a:cs typeface="Helvetica World Italics"/>
                <a:sym typeface="Helvetica World Italics"/>
              </a:rPr>
              <a:t>Agentic AI for Accessible and Adaptive Streaming Subscriptions.”</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9258300"/>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Possible Solution</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69</a:t>
              </a:r>
            </a:p>
          </p:txBody>
        </p:sp>
      </p:grpSp>
      <p:sp>
        <p:nvSpPr>
          <p:cNvPr name="Freeform 5" id="5"/>
          <p:cNvSpPr/>
          <p:nvPr/>
        </p:nvSpPr>
        <p:spPr>
          <a:xfrm flipH="false" flipV="false" rot="0">
            <a:off x="1028700" y="31397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
        <p:nvSpPr>
          <p:cNvPr name="TextBox 6" id="6"/>
          <p:cNvSpPr txBox="true"/>
          <p:nvPr/>
        </p:nvSpPr>
        <p:spPr>
          <a:xfrm rot="0">
            <a:off x="5940499" y="2959069"/>
            <a:ext cx="5882878" cy="863600"/>
          </a:xfrm>
          <a:prstGeom prst="rect">
            <a:avLst/>
          </a:prstGeom>
        </p:spPr>
        <p:txBody>
          <a:bodyPr anchor="t" rtlCol="false" tIns="0" lIns="0" bIns="0" rIns="0">
            <a:spAutoFit/>
          </a:bodyPr>
          <a:lstStyle/>
          <a:p>
            <a:pPr algn="l">
              <a:lnSpc>
                <a:spcPts val="7000"/>
              </a:lnSpc>
              <a:spcBef>
                <a:spcPct val="0"/>
              </a:spcBef>
            </a:pPr>
            <a:r>
              <a:rPr lang="en-US" sz="5000" spc="-50">
                <a:solidFill>
                  <a:srgbClr val="FFFFFF"/>
                </a:solidFill>
                <a:latin typeface="Helvetica World"/>
                <a:ea typeface="Helvetica World"/>
                <a:cs typeface="Helvetica World"/>
                <a:sym typeface="Helvetica World"/>
              </a:rPr>
              <a:t>Limits &amp; Assumptions</a:t>
            </a:r>
          </a:p>
        </p:txBody>
      </p:sp>
      <p:sp>
        <p:nvSpPr>
          <p:cNvPr name="TextBox 7" id="7"/>
          <p:cNvSpPr txBox="true"/>
          <p:nvPr/>
        </p:nvSpPr>
        <p:spPr>
          <a:xfrm rot="0">
            <a:off x="1028700" y="971550"/>
            <a:ext cx="1878881" cy="358775"/>
          </a:xfrm>
          <a:prstGeom prst="rect">
            <a:avLst/>
          </a:prstGeom>
        </p:spPr>
        <p:txBody>
          <a:bodyPr anchor="t" rtlCol="false" tIns="0" lIns="0" bIns="0" rIns="0">
            <a:spAutoFit/>
          </a:bodyPr>
          <a:lstStyle/>
          <a:p>
            <a:pPr algn="l">
              <a:lnSpc>
                <a:spcPts val="2800"/>
              </a:lnSpc>
            </a:pPr>
            <a:r>
              <a:rPr lang="en-US" sz="2000" spc="-20">
                <a:solidFill>
                  <a:srgbClr val="FFFFFF"/>
                </a:solidFill>
                <a:latin typeface="Helvetica World"/>
                <a:ea typeface="Helvetica World"/>
                <a:cs typeface="Helvetica World"/>
                <a:sym typeface="Helvetica World"/>
              </a:rPr>
              <a:t>Possible Solution</a:t>
            </a:r>
          </a:p>
        </p:txBody>
      </p:sp>
      <p:grpSp>
        <p:nvGrpSpPr>
          <p:cNvPr name="Group 8" id="8"/>
          <p:cNvGrpSpPr/>
          <p:nvPr/>
        </p:nvGrpSpPr>
        <p:grpSpPr>
          <a:xfrm rot="0">
            <a:off x="1028700" y="727075"/>
            <a:ext cx="16230600" cy="301625"/>
            <a:chOff x="0" y="0"/>
            <a:chExt cx="21640800" cy="402167"/>
          </a:xfrm>
        </p:grpSpPr>
        <p:sp>
          <p:nvSpPr>
            <p:cNvPr name="TextBox 9" id="9"/>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10" id="10"/>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sp>
        <p:nvSpPr>
          <p:cNvPr name="TextBox 11" id="11"/>
          <p:cNvSpPr txBox="true"/>
          <p:nvPr/>
        </p:nvSpPr>
        <p:spPr>
          <a:xfrm rot="0">
            <a:off x="2413968" y="4316919"/>
            <a:ext cx="13460064" cy="1163320"/>
          </a:xfrm>
          <a:prstGeom prst="rect">
            <a:avLst/>
          </a:prstGeom>
        </p:spPr>
        <p:txBody>
          <a:bodyPr anchor="t" rtlCol="false" tIns="0" lIns="0" bIns="0" rIns="0">
            <a:spAutoFit/>
          </a:bodyPr>
          <a:lstStyle/>
          <a:p>
            <a:pPr algn="ctr">
              <a:lnSpc>
                <a:spcPts val="3079"/>
              </a:lnSpc>
              <a:spcBef>
                <a:spcPct val="0"/>
              </a:spcBef>
            </a:pPr>
            <a:r>
              <a:rPr lang="en-US" sz="2199" spc="-21">
                <a:solidFill>
                  <a:srgbClr val="A6A6A6"/>
                </a:solidFill>
                <a:latin typeface="Helvetica World"/>
                <a:ea typeface="Helvetica World"/>
                <a:cs typeface="Helvetica World"/>
                <a:sym typeface="Helvetica World"/>
              </a:rPr>
              <a:t>This audit relies on publicly available reporting and secondary sources; some impacts are difficult to verify due to limited disclosure and complex supply chains. Results may vary by region, vendor, and fulfillment method. </a:t>
            </a:r>
            <a:r>
              <a:rPr lang="en-US" sz="2199" spc="-21">
                <a:solidFill>
                  <a:srgbClr val="A6A6A6"/>
                </a:solidFill>
                <a:latin typeface="Helvetica World"/>
                <a:ea typeface="Helvetica World"/>
                <a:cs typeface="Helvetica World"/>
                <a:sym typeface="Helvetica World"/>
              </a:rPr>
              <a:t>Key dependencies include policy changes, supplier compliance, and reliable third-party measurement</a:t>
            </a:r>
          </a:p>
        </p:txBody>
      </p:sp>
      <p:sp>
        <p:nvSpPr>
          <p:cNvPr name="TextBox 12" id="12"/>
          <p:cNvSpPr txBox="true"/>
          <p:nvPr/>
        </p:nvSpPr>
        <p:spPr>
          <a:xfrm rot="0">
            <a:off x="2864035" y="6689438"/>
            <a:ext cx="12035805" cy="533718"/>
          </a:xfrm>
          <a:prstGeom prst="rect">
            <a:avLst/>
          </a:prstGeom>
        </p:spPr>
        <p:txBody>
          <a:bodyPr anchor="t" rtlCol="false" tIns="0" lIns="0" bIns="0" rIns="0">
            <a:spAutoFit/>
          </a:bodyPr>
          <a:lstStyle/>
          <a:p>
            <a:pPr algn="ctr">
              <a:lnSpc>
                <a:spcPts val="3919"/>
              </a:lnSpc>
              <a:spcBef>
                <a:spcPct val="0"/>
              </a:spcBef>
            </a:pPr>
            <a:r>
              <a:rPr lang="en-US" sz="2799" i="true" spc="-41">
                <a:solidFill>
                  <a:srgbClr val="FFFFFF"/>
                </a:solidFill>
                <a:latin typeface="Helvetica World Italics"/>
                <a:ea typeface="Helvetica World Italics"/>
                <a:cs typeface="Helvetica World Italics"/>
                <a:sym typeface="Helvetica World Italics"/>
              </a:rPr>
              <a:t>“We highlight these limits to </a:t>
            </a:r>
            <a:r>
              <a:rPr lang="en-US" sz="2799" i="true" spc="-41">
                <a:solidFill>
                  <a:srgbClr val="FFFFFF"/>
                </a:solidFill>
                <a:latin typeface="Helvetica World Italics"/>
                <a:ea typeface="Helvetica World Italics"/>
                <a:cs typeface="Helvetica World Italics"/>
                <a:sym typeface="Helvetica World Italics"/>
              </a:rPr>
              <a:t>keep our recommendations realistic and defensible.”</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grpSp>
        <p:nvGrpSpPr>
          <p:cNvPr name="Group 2" id="2"/>
          <p:cNvGrpSpPr/>
          <p:nvPr/>
        </p:nvGrpSpPr>
        <p:grpSpPr>
          <a:xfrm rot="0">
            <a:off x="1028700" y="727075"/>
            <a:ext cx="16230600" cy="301625"/>
            <a:chOff x="0" y="0"/>
            <a:chExt cx="21640800" cy="402167"/>
          </a:xfrm>
        </p:grpSpPr>
        <p:sp>
          <p:nvSpPr>
            <p:cNvPr name="TextBox 3" id="3"/>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5" id="5"/>
          <p:cNvGrpSpPr/>
          <p:nvPr/>
        </p:nvGrpSpPr>
        <p:grpSpPr>
          <a:xfrm rot="0">
            <a:off x="1028700" y="9258300"/>
            <a:ext cx="16230600" cy="301625"/>
            <a:chOff x="0" y="0"/>
            <a:chExt cx="21640800" cy="402167"/>
          </a:xfrm>
        </p:grpSpPr>
        <p:sp>
          <p:nvSpPr>
            <p:cNvPr name="TextBox 6" id="6"/>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Amazon | Design Audit Report 1</a:t>
              </a:r>
            </a:p>
          </p:txBody>
        </p:sp>
        <p:sp>
          <p:nvSpPr>
            <p:cNvPr name="TextBox 7" id="7"/>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70</a:t>
              </a:r>
            </a:p>
          </p:txBody>
        </p:sp>
      </p:grpSp>
      <p:sp>
        <p:nvSpPr>
          <p:cNvPr name="TextBox 8" id="8"/>
          <p:cNvSpPr txBox="true"/>
          <p:nvPr/>
        </p:nvSpPr>
        <p:spPr>
          <a:xfrm rot="0">
            <a:off x="1028700" y="8115935"/>
            <a:ext cx="3869122" cy="1142365"/>
          </a:xfrm>
          <a:prstGeom prst="rect">
            <a:avLst/>
          </a:prstGeom>
        </p:spPr>
        <p:txBody>
          <a:bodyPr anchor="t" rtlCol="false" tIns="0" lIns="0" bIns="0" rIns="0">
            <a:spAutoFit/>
          </a:bodyPr>
          <a:lstStyle/>
          <a:p>
            <a:pPr algn="l">
              <a:lnSpc>
                <a:spcPts val="9223"/>
              </a:lnSpc>
            </a:pPr>
            <a:r>
              <a:rPr lang="en-US" sz="6588" spc="-98">
                <a:solidFill>
                  <a:srgbClr val="FFFFFF"/>
                </a:solidFill>
                <a:latin typeface="Helvetica World"/>
                <a:ea typeface="Helvetica World"/>
                <a:cs typeface="Helvetica World"/>
                <a:sym typeface="Helvetica World"/>
              </a:rPr>
              <a:t>Thank You</a:t>
            </a:r>
          </a:p>
        </p:txBody>
      </p:sp>
      <p:sp>
        <p:nvSpPr>
          <p:cNvPr name="TextBox 9" id="9"/>
          <p:cNvSpPr txBox="true"/>
          <p:nvPr/>
        </p:nvSpPr>
        <p:spPr>
          <a:xfrm rot="0">
            <a:off x="10990508" y="8249285"/>
            <a:ext cx="2305299" cy="962025"/>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Jaehong Hwang</a:t>
            </a:r>
          </a:p>
          <a:p>
            <a:pPr algn="l">
              <a:lnSpc>
                <a:spcPts val="1919"/>
              </a:lnSpc>
            </a:pPr>
            <a:r>
              <a:rPr lang="en-US" sz="1599" spc="-15">
                <a:solidFill>
                  <a:srgbClr val="FFFFFF"/>
                </a:solidFill>
                <a:latin typeface="Helvetica World"/>
                <a:ea typeface="Helvetica World"/>
                <a:cs typeface="Helvetica World"/>
                <a:sym typeface="Helvetica World"/>
              </a:rPr>
              <a:t>[Data Analyst/Research]</a:t>
            </a:r>
          </a:p>
          <a:p>
            <a:pPr algn="l">
              <a:lnSpc>
                <a:spcPts val="1919"/>
              </a:lnSpc>
            </a:pPr>
          </a:p>
          <a:p>
            <a:pPr algn="l">
              <a:lnSpc>
                <a:spcPts val="1919"/>
              </a:lnSpc>
            </a:pPr>
            <a:r>
              <a:rPr lang="en-US" sz="1599" spc="-15" u="sng">
                <a:solidFill>
                  <a:srgbClr val="FFFFFF"/>
                </a:solidFill>
                <a:latin typeface="Helvetica World"/>
                <a:ea typeface="Helvetica World"/>
                <a:cs typeface="Helvetica World"/>
                <a:sym typeface="Helvetica World"/>
              </a:rPr>
              <a:t>jaehonghwang@ocadu.ca</a:t>
            </a:r>
          </a:p>
        </p:txBody>
      </p:sp>
      <p:sp>
        <p:nvSpPr>
          <p:cNvPr name="TextBox 10" id="10"/>
          <p:cNvSpPr txBox="true"/>
          <p:nvPr/>
        </p:nvSpPr>
        <p:spPr>
          <a:xfrm rot="0">
            <a:off x="6530551" y="8249285"/>
            <a:ext cx="2277417" cy="962025"/>
          </a:xfrm>
          <a:prstGeom prst="rect">
            <a:avLst/>
          </a:prstGeom>
        </p:spPr>
        <p:txBody>
          <a:bodyPr anchor="t" rtlCol="false" tIns="0" lIns="0" bIns="0" rIns="0">
            <a:spAutoFit/>
          </a:bodyPr>
          <a:lstStyle/>
          <a:p>
            <a:pPr algn="l">
              <a:lnSpc>
                <a:spcPts val="1919"/>
              </a:lnSpc>
            </a:pPr>
            <a:r>
              <a:rPr lang="en-US" sz="1599" spc="-15">
                <a:solidFill>
                  <a:srgbClr val="FFFFFF"/>
                </a:solidFill>
                <a:latin typeface="Helvetica World"/>
                <a:ea typeface="Helvetica World"/>
                <a:cs typeface="Helvetica World"/>
                <a:sym typeface="Helvetica World"/>
              </a:rPr>
              <a:t>Michael Joongmin Park</a:t>
            </a:r>
          </a:p>
          <a:p>
            <a:pPr algn="l">
              <a:lnSpc>
                <a:spcPts val="1919"/>
              </a:lnSpc>
            </a:pPr>
            <a:r>
              <a:rPr lang="en-US" sz="1599" spc="-15">
                <a:solidFill>
                  <a:srgbClr val="FFFFFF"/>
                </a:solidFill>
                <a:latin typeface="Helvetica World"/>
                <a:ea typeface="Helvetica World"/>
                <a:cs typeface="Helvetica World"/>
                <a:sym typeface="Helvetica World"/>
              </a:rPr>
              <a:t>[Team Lead/Data Analyst]</a:t>
            </a:r>
          </a:p>
          <a:p>
            <a:pPr algn="l">
              <a:lnSpc>
                <a:spcPts val="1919"/>
              </a:lnSpc>
            </a:pPr>
          </a:p>
          <a:p>
            <a:pPr algn="l">
              <a:lnSpc>
                <a:spcPts val="1919"/>
              </a:lnSpc>
            </a:pPr>
            <a:r>
              <a:rPr lang="en-US" sz="1599" spc="-15" u="sng">
                <a:solidFill>
                  <a:srgbClr val="FFFFFF"/>
                </a:solidFill>
                <a:latin typeface="Helvetica World"/>
                <a:ea typeface="Helvetica World"/>
                <a:cs typeface="Helvetica World"/>
                <a:sym typeface="Helvetica World"/>
              </a:rPr>
              <a:t>michael.park@ocadu.ca</a:t>
            </a:r>
          </a:p>
        </p:txBody>
      </p:sp>
      <p:sp>
        <p:nvSpPr>
          <p:cNvPr name="Freeform 11" id="11"/>
          <p:cNvSpPr/>
          <p:nvPr/>
        </p:nvSpPr>
        <p:spPr>
          <a:xfrm flipH="false" flipV="false" rot="0">
            <a:off x="1028700" y="3635026"/>
            <a:ext cx="16230600" cy="3408426"/>
          </a:xfrm>
          <a:custGeom>
            <a:avLst/>
            <a:gdLst/>
            <a:ahLst/>
            <a:cxnLst/>
            <a:rect r="r" b="b" t="t" l="l"/>
            <a:pathLst>
              <a:path h="3408426" w="16230600">
                <a:moveTo>
                  <a:pt x="0" y="0"/>
                </a:moveTo>
                <a:lnTo>
                  <a:pt x="16230600" y="0"/>
                </a:lnTo>
                <a:lnTo>
                  <a:pt x="16230600" y="3408426"/>
                </a:lnTo>
                <a:lnTo>
                  <a:pt x="0" y="3408426"/>
                </a:lnTo>
                <a:lnTo>
                  <a:pt x="0" y="0"/>
                </a:lnTo>
                <a:close/>
              </a:path>
            </a:pathLst>
          </a:custGeom>
          <a:blipFill>
            <a:blip r:embed="rId2"/>
            <a:stretch>
              <a:fillRect l="0" t="0" r="0" b="0"/>
            </a:stretch>
          </a:blipFill>
        </p:spPr>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28700" y="1514475"/>
            <a:ext cx="16230600" cy="7248525"/>
          </a:xfrm>
          <a:prstGeom prst="rect">
            <a:avLst/>
          </a:prstGeom>
        </p:spPr>
        <p:txBody>
          <a:bodyPr anchor="t" rtlCol="false" tIns="0" lIns="0" bIns="0" rIns="0">
            <a:spAutoFit/>
          </a:bodyPr>
          <a:lstStyle/>
          <a:p>
            <a:pPr algn="l">
              <a:lnSpc>
                <a:spcPts val="1439"/>
              </a:lnSpc>
            </a:pPr>
            <a:r>
              <a:rPr lang="en-US" sz="1200" spc="-12">
                <a:solidFill>
                  <a:srgbClr val="FFFFFF"/>
                </a:solidFill>
                <a:latin typeface="Helvetica World"/>
                <a:ea typeface="Helvetica World"/>
                <a:cs typeface="Helvetica World"/>
                <a:sym typeface="Helvetica World"/>
              </a:rPr>
              <a:t>Amazon. (n.d.). Sustainability.</a:t>
            </a:r>
            <a:r>
              <a:rPr lang="en-US" sz="1200" spc="-12" u="sng">
                <a:solidFill>
                  <a:srgbClr val="FFFFFF"/>
                </a:solidFill>
                <a:latin typeface="Helvetica World"/>
                <a:ea typeface="Helvetica World"/>
                <a:cs typeface="Helvetica World"/>
                <a:sym typeface="Helvetica World"/>
                <a:hlinkClick r:id="rId2" tooltip="https://sustainability.aboutamazon.com"/>
              </a:rPr>
              <a:t> https://sustainability.aboutamazon.com/</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Amazon.com, Inc. (2025, May 1). Amazon.com announces first quarter 2025 results [Press release].</a:t>
            </a:r>
            <a:r>
              <a:rPr lang="en-US" sz="1200" spc="-12" u="sng">
                <a:solidFill>
                  <a:srgbClr val="FFFFFF"/>
                </a:solidFill>
                <a:latin typeface="Helvetica World"/>
                <a:ea typeface="Helvetica World"/>
                <a:cs typeface="Helvetica World"/>
                <a:sym typeface="Helvetica World"/>
                <a:hlinkClick r:id="rId3" tooltip="https://ir.aboutamazon.com/news-release/news-release-details/2025/Amazon.com-Announces-First-Quarter-Results/"/>
              </a:rPr>
              <a:t> https://ir.aboutamazon.com/news-release/news-release-details/2025/Amazon.com-Announces-First-Quarter-Results/</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Amazon.com, Inc. (2025, August 1). Amazon.com announces second quarter 2025 results [Press release].</a:t>
            </a:r>
            <a:r>
              <a:rPr lang="en-US" sz="1200" spc="-12" u="sng">
                <a:solidFill>
                  <a:srgbClr val="FFFFFF"/>
                </a:solidFill>
                <a:latin typeface="Helvetica World"/>
                <a:ea typeface="Helvetica World"/>
                <a:cs typeface="Helvetica World"/>
                <a:sym typeface="Helvetica World"/>
                <a:hlinkClick r:id="rId4" tooltip="https://ir.aboutamazon.com/news-release/news-release-details/2025/Amazon.com-Announces-Second-Quarter-Results/"/>
              </a:rPr>
              <a:t> https://ir.aboutamazon.com/news-release/news-release-details/2025/Amazon.com-Announces-Second-Quarter-Results/</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Amazon.com, Inc. (2025, October 31). Amazon.com announces third quarter 2025 results [Press release].</a:t>
            </a:r>
            <a:r>
              <a:rPr lang="en-US" sz="1200" spc="-12" u="sng">
                <a:solidFill>
                  <a:srgbClr val="FFFFFF"/>
                </a:solidFill>
                <a:latin typeface="Helvetica World"/>
                <a:ea typeface="Helvetica World"/>
                <a:cs typeface="Helvetica World"/>
                <a:sym typeface="Helvetica World"/>
                <a:hlinkClick r:id="rId5" tooltip="https://ir.aboutamazon.com/news-release/news-release-details/2025/Amazon.com-Announces-Third-Quarter-Results/"/>
              </a:rPr>
              <a:t> https://ir.aboutamazon.com/news-release/news-release-details/2025/Amazon.com-Announces-Third-Quarter-Results/</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Amazon.com, Inc. (2026, February 5). Amazon.com announces fourth quarter results [Press release].</a:t>
            </a:r>
            <a:r>
              <a:rPr lang="en-US" sz="1200" spc="-12" u="sng">
                <a:solidFill>
                  <a:srgbClr val="FFFFFF"/>
                </a:solidFill>
                <a:latin typeface="Helvetica World"/>
                <a:ea typeface="Helvetica World"/>
                <a:cs typeface="Helvetica World"/>
                <a:sym typeface="Helvetica World"/>
                <a:hlinkClick r:id="rId6" tooltip="https://ir.aboutamazon.com/news-release/news-release-details/2026/Amazon.com-Announces-Fourth-Quarter-Results/"/>
              </a:rPr>
              <a:t> https://ir.aboutamazon.com/news-release/news-release-details/2026/Amazon.com-Announces-Fourth-Quarter-Results/</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Amazon.com, Inc. (2026). Annual report pursuant to Section 13 or 15(d) of the Securities Exchange Act of 1934 for the fiscal year ended December 31, 2025 (Form 10-K). U.S. Securities and Exchange Commission.</a:t>
            </a:r>
            <a:r>
              <a:rPr lang="en-US" sz="1200" spc="-12" u="sng">
                <a:solidFill>
                  <a:srgbClr val="FFFFFF"/>
                </a:solidFill>
                <a:latin typeface="Helvetica World"/>
                <a:ea typeface="Helvetica World"/>
                <a:cs typeface="Helvetica World"/>
                <a:sym typeface="Helvetica World"/>
                <a:hlinkClick r:id="rId7" tooltip="https://www.sec.gov/edgar/"/>
              </a:rPr>
              <a:t> https://www.sec.gov/edgar/</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 Staff. (2025, December 1). Trainium3 UltraServers now available: Enabling customers to train and deploy AI models faster at lower cost. About Amazon.</a:t>
            </a:r>
            <a:r>
              <a:rPr lang="en-US" sz="1200" spc="-12" u="sng">
                <a:solidFill>
                  <a:srgbClr val="FFFFFF"/>
                </a:solidFill>
                <a:latin typeface="Helvetica World"/>
                <a:ea typeface="Helvetica World"/>
                <a:cs typeface="Helvetica World"/>
                <a:sym typeface="Helvetica World"/>
                <a:hlinkClick r:id="rId8" tooltip="https://www.aboutamazon.com/news/aws/trainium-3-ultraserver-faster-ai-training-lower-cost"/>
              </a:rPr>
              <a:t> https://www.aboutamazon.com/news/aws/trainium-3-ultraserver-faster-ai-training-lower-cost</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 Staff. (2025, December 3a). AWS introduces Graviton5: The company's most powerful and efficient CPU. About Amazon.</a:t>
            </a:r>
            <a:r>
              <a:rPr lang="en-US" sz="1200" spc="-12" u="sng">
                <a:solidFill>
                  <a:srgbClr val="FFFFFF"/>
                </a:solidFill>
                <a:latin typeface="Helvetica World"/>
                <a:ea typeface="Helvetica World"/>
                <a:cs typeface="Helvetica World"/>
                <a:sym typeface="Helvetica World"/>
                <a:hlinkClick r:id="rId9" tooltip="https://www.aboutamazon.com/news/aws/aws-graviton-5-cpu-amazon-ec2"/>
              </a:rPr>
              <a:t> https://www.aboutamazon.com/news/aws/aws-graviton-5-cpu-amazon-ec2</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Amazon Staff. (2025, December 3b). Frontier agents, Trainium chips, and Amazon Nova: Key announcements from AWS re:Invent 2025. About Amazon.</a:t>
            </a:r>
            <a:r>
              <a:rPr lang="en-US" sz="1200" spc="-12" u="sng">
                <a:solidFill>
                  <a:srgbClr val="FFFFFF"/>
                </a:solidFill>
                <a:latin typeface="Helvetica World"/>
                <a:ea typeface="Helvetica World"/>
                <a:cs typeface="Helvetica World"/>
                <a:sym typeface="Helvetica World"/>
                <a:hlinkClick r:id="rId10" tooltip="https://www.aboutamazon.com/news/aws/aws-re-invent-2025-ai-news-updates"/>
              </a:rPr>
              <a:t> https://www.aboutamazon.com/news/aws/aws-re-invent-2025-ai-news-updates</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Belt, D. (2023, March 15). Say hello to 103 new AWS Competency, Service Delivery, Service Ready, and MSP Partners added in February. AWS Partner Network Blog.</a:t>
            </a:r>
            <a:r>
              <a:rPr lang="en-US" sz="1200" spc="-12">
                <a:solidFill>
                  <a:srgbClr val="FFFFFF"/>
                </a:solidFill>
                <a:latin typeface="Helvetica World"/>
                <a:ea typeface="Helvetica World"/>
                <a:cs typeface="Helvetica World"/>
                <a:sym typeface="Helvetica World"/>
                <a:hlinkClick r:id="rId11" tooltip="https://aws.amazon.com/blogs/apn/say-hello-to-103-new-aws-competency-service-delivery-service-ready-and-msp-partners-added-in-february/"/>
              </a:rPr>
              <a:t> https://aws.amazon.com/blogs/apn/say-hello-to-103-new-aws-competency-service-delivery-service-ready-and-msp-partners-added-in-february/</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Coppola, D. (2025, February 24). Amazon - statistics &amp; facts. Statista.</a:t>
            </a:r>
            <a:r>
              <a:rPr lang="en-US" sz="1200" spc="-12">
                <a:solidFill>
                  <a:srgbClr val="FFFFFF"/>
                </a:solidFill>
                <a:latin typeface="Helvetica World"/>
                <a:ea typeface="Helvetica World"/>
                <a:cs typeface="Helvetica World"/>
                <a:sym typeface="Helvetica World"/>
                <a:hlinkClick r:id="rId12" tooltip="https://www.statista.com/topics/846/amazon/"/>
              </a:rPr>
              <a:t> https://www.statista.com/topics/846/amazon/</a:t>
            </a:r>
          </a:p>
          <a:p>
            <a:pPr algn="l">
              <a:lnSpc>
                <a:spcPts val="1439"/>
              </a:lnSpc>
            </a:pPr>
            <a:r>
              <a:rPr lang="en-US" sz="1200" spc="-12">
                <a:solidFill>
                  <a:srgbClr val="FFFFFF"/>
                </a:solidFill>
                <a:latin typeface="Helvetica World"/>
                <a:ea typeface="Helvetica World"/>
                <a:cs typeface="Helvetica World"/>
                <a:sym typeface="Helvetica World"/>
              </a:rPr>
              <a:t>Ma, Y. (2026, February 6). Amazon third-party seller share 2007-2025. Statista.</a:t>
            </a:r>
            <a:r>
              <a:rPr lang="en-US" sz="1200" spc="-12">
                <a:solidFill>
                  <a:srgbClr val="FFFFFF"/>
                </a:solidFill>
                <a:latin typeface="Helvetica World"/>
                <a:ea typeface="Helvetica World"/>
                <a:cs typeface="Helvetica World"/>
                <a:sym typeface="Helvetica World"/>
                <a:hlinkClick r:id="rId13" tooltip="https://www.statista.com/statistics/259782/third-party-seller-share-of-amazon-platform/"/>
              </a:rPr>
              <a:t> https://www.statista.com/statistics/259782/third-party-seller-share-of-amazon-platform/</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Nielsen Holdings. (2025, May). The Gauge: Monthly snapshot of TV and streaming viewership.</a:t>
            </a:r>
            <a:r>
              <a:rPr lang="en-US" sz="1200" spc="-12">
                <a:solidFill>
                  <a:srgbClr val="FFFFFF"/>
                </a:solidFill>
                <a:latin typeface="Helvetica World"/>
                <a:ea typeface="Helvetica World"/>
                <a:cs typeface="Helvetica World"/>
                <a:sym typeface="Helvetica World"/>
                <a:hlinkClick r:id="rId14" tooltip="https://www.nielsen.com/insights/2025/the-gauge/"/>
              </a:rPr>
              <a:t> https://www.nielsen.com/insights/2025/the-gauge/</a:t>
            </a:r>
          </a:p>
          <a:p>
            <a:pPr algn="l">
              <a:lnSpc>
                <a:spcPts val="1439"/>
              </a:lnSpc>
            </a:pPr>
            <a:r>
              <a:rPr lang="en-US" sz="1200" spc="-12">
                <a:solidFill>
                  <a:srgbClr val="FFFFFF"/>
                </a:solidFill>
                <a:latin typeface="Helvetica World"/>
                <a:ea typeface="Helvetica World"/>
                <a:cs typeface="Helvetica World"/>
                <a:sym typeface="Helvetica World"/>
              </a:rPr>
              <a:t>S&amp;P Global Market Intelligence. (2025). Amazon.com Inc.: Company financials.</a:t>
            </a:r>
            <a:r>
              <a:rPr lang="en-US" sz="1200" spc="-12">
                <a:solidFill>
                  <a:srgbClr val="FFFFFF"/>
                </a:solidFill>
                <a:latin typeface="Helvetica World"/>
                <a:ea typeface="Helvetica World"/>
                <a:cs typeface="Helvetica World"/>
                <a:sym typeface="Helvetica World"/>
                <a:hlinkClick r:id="rId15" tooltip="https://www.spglobal.com/marketintelligence/"/>
              </a:rPr>
              <a:t> https://www.spglobal.com/marketintelligence/</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Statista. (2025). Amazon: Annual net revenue by segment.</a:t>
            </a:r>
            <a:r>
              <a:rPr lang="en-US" sz="1200" spc="-12">
                <a:solidFill>
                  <a:srgbClr val="FFFFFF"/>
                </a:solidFill>
                <a:latin typeface="Helvetica World"/>
                <a:ea typeface="Helvetica World"/>
                <a:cs typeface="Helvetica World"/>
                <a:sym typeface="Helvetica World"/>
                <a:hlinkClick r:id="rId16" tooltip="https://www.statista.com/statistics/"/>
              </a:rPr>
              <a:t> https://www.statista.com/statistics/</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Stoll, J. (2026, February 4). Video streaming worldwide - statistics &amp; facts. Statista.</a:t>
            </a:r>
            <a:r>
              <a:rPr lang="en-US" sz="1200" spc="-12">
                <a:solidFill>
                  <a:srgbClr val="FFFFFF"/>
                </a:solidFill>
                <a:latin typeface="Helvetica World"/>
                <a:ea typeface="Helvetica World"/>
                <a:cs typeface="Helvetica World"/>
                <a:sym typeface="Helvetica World"/>
                <a:hlinkClick r:id="rId17" tooltip="https://www.statista.com/topics/7527/video-streaming-worldwide/"/>
              </a:rPr>
              <a:t> https://www.statista.com/topics/7527/video-streaming-worldwide/</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Synergy Research Group. (2025, November 19). Cloud market share trends - Big Three together hold 63% while Oracle and the neoclouds inch higher.</a:t>
            </a:r>
            <a:r>
              <a:rPr lang="en-US" sz="1200" spc="-12">
                <a:solidFill>
                  <a:srgbClr val="FFFFFF"/>
                </a:solidFill>
                <a:latin typeface="Helvetica World"/>
                <a:ea typeface="Helvetica World"/>
                <a:cs typeface="Helvetica World"/>
                <a:sym typeface="Helvetica World"/>
                <a:hlinkClick r:id="rId18" tooltip="https://www.srgresearch.com/articles/cloud-market-share-trends-big-three-together-hold-63-while-oracle-and-the-neoclouds-inch-higher"/>
              </a:rPr>
              <a:t> https://www.srgresearch.com/articles/cloud-market-share-trends-big-three-together-hold-63-while-oracle-and-the-neoclouds-inch-higher</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The Motley Fool. (2026, February 5). Amazon (AMZN) Q4 2025 earnings call transcript.</a:t>
            </a:r>
            <a:r>
              <a:rPr lang="en-US" sz="1200" spc="-12">
                <a:solidFill>
                  <a:srgbClr val="FFFFFF"/>
                </a:solidFill>
                <a:latin typeface="Helvetica World"/>
                <a:ea typeface="Helvetica World"/>
                <a:cs typeface="Helvetica World"/>
                <a:sym typeface="Helvetica World"/>
                <a:hlinkClick r:id="rId19" tooltip="https://www.fool.com/earnings/call-transcripts/2026/02/05/amazon-amzn-q4-2025-earnings-call-transcript/"/>
              </a:rPr>
              <a:t> https://www.fool.com/earnings/call-transcripts/2026/02/05/amazon-amzn-q4-2025-earnings-call-transcript/</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Wallach, J. (2025, April 18). Prime Video's ad-supported tier draws 315 million global viewers. Variety.</a:t>
            </a:r>
            <a:r>
              <a:rPr lang="en-US" sz="1200" spc="-12">
                <a:solidFill>
                  <a:srgbClr val="FFFFFF"/>
                </a:solidFill>
                <a:latin typeface="Helvetica World"/>
                <a:ea typeface="Helvetica World"/>
                <a:cs typeface="Helvetica World"/>
                <a:sym typeface="Helvetica World"/>
                <a:hlinkClick r:id="rId20" tooltip="https://variety.com"/>
              </a:rPr>
              <a:t> https://variety.com/</a:t>
            </a:r>
          </a:p>
          <a:p>
            <a:pPr algn="l">
              <a:lnSpc>
                <a:spcPts val="1439"/>
              </a:lnSpc>
            </a:pPr>
          </a:p>
          <a:p>
            <a:pPr algn="l">
              <a:lnSpc>
                <a:spcPts val="1439"/>
              </a:lnSpc>
            </a:pPr>
            <a:r>
              <a:rPr lang="en-US" sz="1200" spc="-12">
                <a:solidFill>
                  <a:srgbClr val="FFFFFF"/>
                </a:solidFill>
                <a:latin typeface="Helvetica World"/>
                <a:ea typeface="Helvetica World"/>
                <a:cs typeface="Helvetica World"/>
                <a:sym typeface="Helvetica World"/>
              </a:rPr>
              <a:t>Wallach, J. (2026, February 6). Amazon spent $22.4 billion on content in 2025. Variety.</a:t>
            </a:r>
            <a:r>
              <a:rPr lang="en-US" sz="1200" spc="-12">
                <a:solidFill>
                  <a:srgbClr val="FFFFFF"/>
                </a:solidFill>
                <a:latin typeface="Helvetica World"/>
                <a:ea typeface="Helvetica World"/>
                <a:cs typeface="Helvetica World"/>
                <a:sym typeface="Helvetica World"/>
                <a:hlinkClick r:id="rId21" tooltip="https://variety.com"/>
              </a:rPr>
              <a:t> https://variety.com/</a:t>
            </a:r>
          </a:p>
        </p:txBody>
      </p:sp>
      <p:grpSp>
        <p:nvGrpSpPr>
          <p:cNvPr name="Group 3" id="3"/>
          <p:cNvGrpSpPr/>
          <p:nvPr/>
        </p:nvGrpSpPr>
        <p:grpSpPr>
          <a:xfrm rot="0">
            <a:off x="1028700" y="727075"/>
            <a:ext cx="16230600" cy="301625"/>
            <a:chOff x="0" y="0"/>
            <a:chExt cx="21640800" cy="402167"/>
          </a:xfrm>
        </p:grpSpPr>
        <p:sp>
          <p:nvSpPr>
            <p:cNvPr name="TextBox 4" id="4"/>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February 9th, 2026 </a:t>
              </a:r>
            </a:p>
          </p:txBody>
        </p:sp>
      </p:grpSp>
      <p:grpSp>
        <p:nvGrpSpPr>
          <p:cNvPr name="Group 6" id="6"/>
          <p:cNvGrpSpPr/>
          <p:nvPr/>
        </p:nvGrpSpPr>
        <p:grpSpPr>
          <a:xfrm rot="0">
            <a:off x="1028700" y="9258300"/>
            <a:ext cx="16230600" cy="301625"/>
            <a:chOff x="0" y="0"/>
            <a:chExt cx="21640800" cy="402167"/>
          </a:xfrm>
        </p:grpSpPr>
        <p:sp>
          <p:nvSpPr>
            <p:cNvPr name="TextBox 7" id="7"/>
            <p:cNvSpPr txBox="true"/>
            <p:nvPr/>
          </p:nvSpPr>
          <p:spPr>
            <a:xfrm rot="0">
              <a:off x="0" y="-57150"/>
              <a:ext cx="10047829" cy="459317"/>
            </a:xfrm>
            <a:prstGeom prst="rect">
              <a:avLst/>
            </a:prstGeom>
          </p:spPr>
          <p:txBody>
            <a:bodyPr anchor="t" rtlCol="false" tIns="0" lIns="0" bIns="0" rIns="0">
              <a:spAutoFit/>
            </a:bodyPr>
            <a:lstStyle/>
            <a:p>
              <a:pPr algn="l">
                <a:lnSpc>
                  <a:spcPts val="2800"/>
                </a:lnSpc>
              </a:pPr>
              <a:r>
                <a:rPr lang="en-US" sz="2000" spc="-30">
                  <a:solidFill>
                    <a:srgbClr val="FFFFFF">
                      <a:alpha val="29804"/>
                    </a:srgbClr>
                  </a:solidFill>
                  <a:latin typeface="Helvetica World"/>
                  <a:ea typeface="Helvetica World"/>
                  <a:cs typeface="Helvetica World"/>
                  <a:sym typeface="Helvetica World"/>
                </a:rPr>
                <a:t>Works Cited</a:t>
              </a:r>
            </a:p>
          </p:txBody>
        </p:sp>
        <p:sp>
          <p:nvSpPr>
            <p:cNvPr name="TextBox 8" id="8"/>
            <p:cNvSpPr txBox="true"/>
            <p:nvPr/>
          </p:nvSpPr>
          <p:spPr>
            <a:xfrm rot="0">
              <a:off x="11592971" y="-57150"/>
              <a:ext cx="10047829" cy="459317"/>
            </a:xfrm>
            <a:prstGeom prst="rect">
              <a:avLst/>
            </a:prstGeom>
          </p:spPr>
          <p:txBody>
            <a:bodyPr anchor="t" rtlCol="false" tIns="0" lIns="0" bIns="0" rIns="0">
              <a:spAutoFit/>
            </a:bodyPr>
            <a:lstStyle/>
            <a:p>
              <a:pPr algn="r">
                <a:lnSpc>
                  <a:spcPts val="2800"/>
                </a:lnSpc>
              </a:pPr>
              <a:r>
                <a:rPr lang="en-US" sz="2000" spc="-30">
                  <a:solidFill>
                    <a:srgbClr val="FFFFFF">
                      <a:alpha val="29804"/>
                    </a:srgbClr>
                  </a:solidFill>
                  <a:latin typeface="Helvetica World"/>
                  <a:ea typeface="Helvetica World"/>
                  <a:cs typeface="Helvetica World"/>
                  <a:sym typeface="Helvetica World"/>
                </a:rPr>
                <a:t>71</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DAHC1ybyL2o</dc:identifier>
  <dcterms:modified xsi:type="dcterms:W3CDTF">2011-08-01T06:04:30Z</dcterms:modified>
  <cp:revision>1</cp:revision>
  <dc:title>Copy of Group 5 - Design Audit 2026</dc:title>
</cp:coreProperties>
</file>